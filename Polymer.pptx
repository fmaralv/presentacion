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3"/>
  </p:notesMasterIdLst>
  <p:sldIdLst>
    <p:sldId id="313" r:id="rId2"/>
    <p:sldId id="320" r:id="rId3"/>
    <p:sldId id="393" r:id="rId4"/>
    <p:sldId id="395" r:id="rId5"/>
    <p:sldId id="396" r:id="rId6"/>
    <p:sldId id="397" r:id="rId7"/>
    <p:sldId id="398" r:id="rId8"/>
    <p:sldId id="399" r:id="rId9"/>
    <p:sldId id="400" r:id="rId10"/>
    <p:sldId id="401" r:id="rId11"/>
    <p:sldId id="402" r:id="rId12"/>
    <p:sldId id="403" r:id="rId13"/>
    <p:sldId id="404" r:id="rId14"/>
    <p:sldId id="405" r:id="rId15"/>
    <p:sldId id="406" r:id="rId16"/>
    <p:sldId id="407" r:id="rId17"/>
    <p:sldId id="409" r:id="rId18"/>
    <p:sldId id="408" r:id="rId19"/>
    <p:sldId id="410" r:id="rId20"/>
    <p:sldId id="411" r:id="rId21"/>
    <p:sldId id="361" r:id="rId22"/>
    <p:sldId id="371" r:id="rId23"/>
    <p:sldId id="372" r:id="rId24"/>
    <p:sldId id="378" r:id="rId25"/>
    <p:sldId id="379" r:id="rId26"/>
    <p:sldId id="375" r:id="rId27"/>
    <p:sldId id="376" r:id="rId28"/>
    <p:sldId id="380" r:id="rId29"/>
    <p:sldId id="381" r:id="rId30"/>
    <p:sldId id="382" r:id="rId31"/>
    <p:sldId id="392" r:id="rId32"/>
    <p:sldId id="362" r:id="rId33"/>
    <p:sldId id="391" r:id="rId34"/>
    <p:sldId id="383" r:id="rId35"/>
    <p:sldId id="384" r:id="rId36"/>
    <p:sldId id="374" r:id="rId37"/>
    <p:sldId id="385" r:id="rId38"/>
    <p:sldId id="386" r:id="rId39"/>
    <p:sldId id="388" r:id="rId40"/>
    <p:sldId id="366" r:id="rId41"/>
    <p:sldId id="389" r:id="rId42"/>
    <p:sldId id="387" r:id="rId43"/>
    <p:sldId id="413" r:id="rId44"/>
    <p:sldId id="412" r:id="rId45"/>
    <p:sldId id="414" r:id="rId46"/>
    <p:sldId id="417" r:id="rId47"/>
    <p:sldId id="418" r:id="rId48"/>
    <p:sldId id="415" r:id="rId49"/>
    <p:sldId id="420" r:id="rId50"/>
    <p:sldId id="421" r:id="rId51"/>
    <p:sldId id="416" r:id="rId52"/>
    <p:sldId id="422" r:id="rId53"/>
    <p:sldId id="436" r:id="rId54"/>
    <p:sldId id="432" r:id="rId55"/>
    <p:sldId id="435" r:id="rId56"/>
    <p:sldId id="424" r:id="rId57"/>
    <p:sldId id="425" r:id="rId58"/>
    <p:sldId id="430" r:id="rId59"/>
    <p:sldId id="427" r:id="rId60"/>
    <p:sldId id="429" r:id="rId61"/>
    <p:sldId id="426" r:id="rId62"/>
    <p:sldId id="439" r:id="rId63"/>
    <p:sldId id="438" r:id="rId64"/>
    <p:sldId id="428" r:id="rId65"/>
    <p:sldId id="431" r:id="rId66"/>
    <p:sldId id="434" r:id="rId67"/>
    <p:sldId id="441" r:id="rId68"/>
    <p:sldId id="442" r:id="rId69"/>
    <p:sldId id="443" r:id="rId70"/>
    <p:sldId id="437" r:id="rId71"/>
    <p:sldId id="444" r:id="rId7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94" autoAdjust="0"/>
    <p:restoredTop sz="69489" autoAdjust="0"/>
  </p:normalViewPr>
  <p:slideViewPr>
    <p:cSldViewPr snapToGrid="0" snapToObjects="1">
      <p:cViewPr varScale="1">
        <p:scale>
          <a:sx n="83" d="100"/>
          <a:sy n="83" d="100"/>
        </p:scale>
        <p:origin x="-2368" y="-104"/>
      </p:cViewPr>
      <p:guideLst>
        <p:guide orient="horz" pos="2160"/>
        <p:guide pos="2880"/>
      </p:guideLst>
    </p:cSldViewPr>
  </p:slideViewPr>
  <p:outlineViewPr>
    <p:cViewPr>
      <p:scale>
        <a:sx n="33" d="100"/>
        <a:sy n="33" d="100"/>
      </p:scale>
      <p:origin x="0" y="0"/>
    </p:cViewPr>
  </p:outlineViewPr>
  <p:notesTextViewPr>
    <p:cViewPr>
      <p:scale>
        <a:sx n="100" d="100"/>
        <a:sy n="100" d="100"/>
      </p:scale>
      <p:origin x="0" y="1960"/>
    </p:cViewPr>
  </p:notesTextViewPr>
  <p:sorterViewPr>
    <p:cViewPr>
      <p:scale>
        <a:sx n="66" d="100"/>
        <a:sy n="66" d="100"/>
      </p:scale>
      <p:origin x="0" y="0"/>
    </p:cViewPr>
  </p:sorterViewPr>
  <p:notesViewPr>
    <p:cSldViewPr snapToGrid="0" snapToObjects="1">
      <p:cViewPr varScale="1">
        <p:scale>
          <a:sx n="84" d="100"/>
          <a:sy n="84" d="100"/>
        </p:scale>
        <p:origin x="-3008"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73" Type="http://schemas.openxmlformats.org/officeDocument/2006/relationships/notesMaster" Target="notesMasters/notesMaster1.xml"/><Relationship Id="rId74" Type="http://schemas.openxmlformats.org/officeDocument/2006/relationships/printerSettings" Target="printerSettings/printerSettings1.bin"/><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9D23E8-7F3D-5B4E-AFFD-6DC4D2E9164B}" type="datetimeFigureOut">
              <a:rPr lang="es-ES" smtClean="0"/>
              <a:t>13/11/18</a:t>
            </a:fld>
            <a:endParaRPr lang="es-ES"/>
          </a:p>
        </p:txBody>
      </p:sp>
      <p:sp>
        <p:nvSpPr>
          <p:cNvPr id="4" name="Marcador de imagen d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lang="es-ES"/>
          </a:p>
        </p:txBody>
      </p:sp>
      <p:sp>
        <p:nvSpPr>
          <p:cNvPr id="6" name="Marcador de pie de pá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DEE8439-D3F3-834F-944C-DB2C1DCB3234}" type="slidenum">
              <a:rPr lang="es-ES" smtClean="0"/>
              <a:t>‹Nr.›</a:t>
            </a:fld>
            <a:endParaRPr lang="es-ES"/>
          </a:p>
        </p:txBody>
      </p:sp>
    </p:spTree>
    <p:extLst>
      <p:ext uri="{BB962C8B-B14F-4D97-AF65-F5344CB8AC3E}">
        <p14:creationId xmlns:p14="http://schemas.microsoft.com/office/powerpoint/2010/main" val="152932192"/>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Prueba de notas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 (Style dentro de </a:t>
            </a:r>
            <a:r>
              <a:rPr lang="es-ES" sz="1200" b="0" i="0" u="none" strike="noStrike" baseline="0" dirty="0" err="1" smtClean="0">
                <a:solidFill>
                  <a:srgbClr val="333333"/>
                </a:solidFill>
                <a:latin typeface="‡ÿ)Í˛"/>
              </a:rPr>
              <a:t>Template</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no hay un camino de migración automático de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a:t>
            </a:r>
            <a:r>
              <a:rPr lang="es-ES" sz="1200" b="0" i="0" u="none" strike="noStrike" kern="1200" baseline="0" dirty="0" err="1" smtClean="0">
                <a:solidFill>
                  <a:schemeClr val="tx1"/>
                </a:solidFill>
                <a:latin typeface="+mn-lt"/>
                <a:ea typeface="+mn-ea"/>
                <a:cs typeface="+mn-cs"/>
              </a:rPr>
              <a:t>Polymer</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3.x usando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El camino automático permite la migración de componentes</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que usan </a:t>
            </a:r>
            <a:r>
              <a:rPr lang="es-ES" sz="1200" b="0" i="0" u="none" strike="noStrike" kern="1200" baseline="0" dirty="0" err="1" smtClean="0">
                <a:solidFill>
                  <a:schemeClr val="tx1"/>
                </a:solidFill>
                <a:latin typeface="+mn-lt"/>
                <a:ea typeface="+mn-ea"/>
                <a:cs typeface="+mn-cs"/>
              </a:rPr>
              <a:t>PolymerElement</a:t>
            </a:r>
            <a:r>
              <a:rPr lang="es-ES" sz="1200" b="0" i="0" u="none" strike="noStrike" kern="1200" baseline="0" dirty="0" smtClean="0">
                <a:solidFill>
                  <a:schemeClr val="tx1"/>
                </a:solidFill>
                <a:latin typeface="+mn-lt"/>
                <a:ea typeface="+mn-ea"/>
                <a:cs typeface="+mn-cs"/>
              </a:rPr>
              <a:t>. Si se desea obtener las</a:t>
            </a:r>
          </a:p>
          <a:p>
            <a:r>
              <a:rPr lang="es-ES" sz="1200" b="0" i="0" u="none" strike="noStrike" kern="1200" baseline="0" dirty="0" smtClean="0">
                <a:solidFill>
                  <a:schemeClr val="tx1"/>
                </a:solidFill>
                <a:latin typeface="+mn-lt"/>
                <a:ea typeface="+mn-ea"/>
                <a:cs typeface="+mn-cs"/>
              </a:rPr>
              <a:t>mejoras de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entonces habría que cambiar el código componente a componente.</a:t>
            </a:r>
          </a:p>
          <a:p>
            <a:r>
              <a:rPr lang="es-ES" sz="1200" b="0" i="0" u="none" strike="noStrike" kern="1200" baseline="0" dirty="0" smtClean="0">
                <a:solidFill>
                  <a:schemeClr val="tx1"/>
                </a:solidFill>
                <a:latin typeface="+mn-lt"/>
                <a:ea typeface="+mn-ea"/>
                <a:cs typeface="+mn-cs"/>
              </a:rPr>
              <a:t>Es un trabajo que se puede hacer poco a poco, ya que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PolymerElement</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pueden convivir perfectamente en un mismo proyecto y los componentes son</a:t>
            </a:r>
          </a:p>
          <a:p>
            <a:r>
              <a:rPr lang="es-ES" sz="1200" b="0" i="0" u="none" strike="noStrike" kern="1200" baseline="0" dirty="0" smtClean="0">
                <a:solidFill>
                  <a:schemeClr val="tx1"/>
                </a:solidFill>
                <a:latin typeface="+mn-lt"/>
                <a:ea typeface="+mn-ea"/>
                <a:cs typeface="+mn-cs"/>
              </a:rPr>
              <a:t>interoperables gracias a Web </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 en general</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Los componentes de Material-</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-web están realizados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y usan</a:t>
            </a:r>
          </a:p>
          <a:p>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Sin embargo, estos detalles de implementación son realmente indiferentes para</a:t>
            </a:r>
          </a:p>
          <a:p>
            <a:r>
              <a:rPr lang="es-ES" sz="1200" b="0" i="0" u="none" strike="noStrike" kern="1200" baseline="0" dirty="0" smtClean="0">
                <a:solidFill>
                  <a:schemeClr val="tx1"/>
                </a:solidFill>
                <a:latin typeface="+mn-lt"/>
                <a:ea typeface="+mn-ea"/>
                <a:cs typeface="+mn-cs"/>
              </a:rPr>
              <a:t>los desarrolladores, ya que puedes usar estos componentes en cualquier </a:t>
            </a:r>
            <a:r>
              <a:rPr lang="es-ES" sz="1200" b="0" i="0" u="none" strike="noStrike" kern="1200" baseline="0" dirty="0" err="1" smtClean="0">
                <a:solidFill>
                  <a:schemeClr val="tx1"/>
                </a:solidFill>
                <a:latin typeface="+mn-lt"/>
                <a:ea typeface="+mn-ea"/>
                <a:cs typeface="+mn-cs"/>
              </a:rPr>
              <a:t>framework</a:t>
            </a:r>
            <a:r>
              <a:rPr lang="es-ES" sz="1200" b="0" i="0" u="none" strike="noStrike" kern="1200" baseline="0" dirty="0" smtClean="0">
                <a:solidFill>
                  <a:schemeClr val="tx1"/>
                </a:solidFill>
                <a:latin typeface="+mn-lt"/>
                <a:ea typeface="+mn-ea"/>
                <a:cs typeface="+mn-cs"/>
              </a:rPr>
              <a:t> o librería</a:t>
            </a:r>
          </a:p>
          <a:p>
            <a:r>
              <a:rPr lang="es-ES" sz="1200" b="0" i="0" u="none" strike="noStrike" kern="1200" baseline="0" dirty="0" smtClean="0">
                <a:solidFill>
                  <a:schemeClr val="tx1"/>
                </a:solidFill>
                <a:latin typeface="+mn-lt"/>
                <a:ea typeface="+mn-ea"/>
                <a:cs typeface="+mn-cs"/>
              </a:rPr>
              <a:t>popular, gracias a la interoperabilidad de </a:t>
            </a:r>
            <a:r>
              <a:rPr lang="es-ES" sz="1200" b="0" i="0" u="none" strike="noStrike" kern="1200" baseline="0" dirty="0" err="1" smtClean="0">
                <a:solidFill>
                  <a:schemeClr val="tx1"/>
                </a:solidFill>
                <a:latin typeface="+mn-lt"/>
                <a:ea typeface="+mn-ea"/>
                <a:cs typeface="+mn-cs"/>
              </a:rPr>
              <a:t>WebComponents</a:t>
            </a:r>
            <a:r>
              <a:rPr lang="es-ES" sz="1200" b="0" i="0" u="none" strike="noStrike" kern="1200" baseline="0" dirty="0" smtClean="0">
                <a:solidFill>
                  <a:schemeClr val="tx1"/>
                </a:solidFill>
                <a:latin typeface="+mn-lt"/>
                <a:ea typeface="+mn-ea"/>
                <a:cs typeface="+mn-cs"/>
              </a:rPr>
              <a:t>, como </a:t>
            </a:r>
            <a:r>
              <a:rPr lang="es-ES" sz="1200" b="0" i="0" u="none" strike="noStrike" kern="1200" baseline="0" dirty="0" err="1" smtClean="0">
                <a:solidFill>
                  <a:schemeClr val="tx1"/>
                </a:solidFill>
                <a:latin typeface="+mn-lt"/>
                <a:ea typeface="+mn-ea"/>
                <a:cs typeface="+mn-cs"/>
              </a:rPr>
              <a:t>React</a:t>
            </a:r>
            <a:r>
              <a:rPr lang="es-ES" sz="1200" b="0" i="0" u="none" strike="noStrike" kern="1200" baseline="0" dirty="0" smtClean="0">
                <a:solidFill>
                  <a:schemeClr val="tx1"/>
                </a:solidFill>
                <a:latin typeface="+mn-lt"/>
                <a:ea typeface="+mn-ea"/>
                <a:cs typeface="+mn-cs"/>
              </a:rPr>
              <a:t>, Angular, </a:t>
            </a:r>
            <a:r>
              <a:rPr lang="es-ES" sz="1200" b="0" i="0" u="none" strike="noStrike" kern="1200" baseline="0" dirty="0" err="1" smtClean="0">
                <a:solidFill>
                  <a:schemeClr val="tx1"/>
                </a:solidFill>
                <a:latin typeface="+mn-lt"/>
                <a:ea typeface="+mn-ea"/>
                <a:cs typeface="+mn-cs"/>
              </a:rPr>
              <a:t>Vue</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smtClean="0">
                <a:solidFill>
                  <a:srgbClr val="FF0000"/>
                </a:solidFill>
              </a:rPr>
              <a:t>Explicar el </a:t>
            </a:r>
            <a:r>
              <a:rPr lang="es-ES" b="1" dirty="0" err="1" smtClean="0">
                <a:solidFill>
                  <a:srgbClr val="FF0000"/>
                </a:solidFill>
              </a:rPr>
              <a:t>Caret</a:t>
            </a:r>
            <a:r>
              <a:rPr lang="es-ES" b="1" dirty="0" smtClean="0">
                <a:solidFill>
                  <a:srgbClr val="FF0000"/>
                </a:solidFill>
              </a:rPr>
              <a:t> </a:t>
            </a:r>
            <a:r>
              <a:rPr lang="es-ES" b="1" dirty="0" err="1" smtClean="0">
                <a:solidFill>
                  <a:srgbClr val="FF0000"/>
                </a:solidFill>
              </a:rPr>
              <a:t>Range</a:t>
            </a:r>
            <a:r>
              <a:rPr lang="es-ES" b="1" baseline="0" dirty="0" smtClean="0">
                <a:solidFill>
                  <a:srgbClr val="FF0000"/>
                </a:solidFill>
              </a:rPr>
              <a:t> del </a:t>
            </a:r>
            <a:r>
              <a:rPr lang="es-ES" b="1" baseline="0" dirty="0" err="1" smtClean="0">
                <a:solidFill>
                  <a:srgbClr val="FF0000"/>
                </a:solidFill>
              </a:rPr>
              <a:t>package.json</a:t>
            </a:r>
            <a:endParaRPr lang="es-ES" b="1" dirty="0" smtClean="0">
              <a:solidFill>
                <a:srgbClr val="FF0000"/>
              </a:solidFill>
            </a:endParaRPr>
          </a:p>
          <a:p>
            <a:r>
              <a:rPr lang="es-ES" dirty="0" smtClean="0"/>
              <a:t>Por defecto se establece un </a:t>
            </a:r>
            <a:r>
              <a:rPr lang="es-ES" dirty="0" err="1" smtClean="0"/>
              <a:t>Caret</a:t>
            </a:r>
            <a:r>
              <a:rPr lang="es-ES" dirty="0" smtClean="0"/>
              <a:t> </a:t>
            </a:r>
            <a:r>
              <a:rPr lang="es-ES" dirty="0" err="1" smtClean="0"/>
              <a:t>Range</a:t>
            </a:r>
            <a:r>
              <a:rPr lang="es-ES" dirty="0" smtClean="0"/>
              <a:t>: •Ejemplos "^1.2.3"    "^0.2.5"    "^0.0.4" •</a:t>
            </a:r>
            <a:r>
              <a:rPr lang="es-ES" dirty="0" err="1" smtClean="0"/>
              <a:t>Allows</a:t>
            </a:r>
            <a:r>
              <a:rPr lang="es-ES" dirty="0" smtClean="0"/>
              <a:t> </a:t>
            </a:r>
            <a:r>
              <a:rPr lang="es-ES" dirty="0" err="1" smtClean="0"/>
              <a:t>changes</a:t>
            </a:r>
            <a:r>
              <a:rPr lang="es-ES" dirty="0" smtClean="0"/>
              <a:t> </a:t>
            </a:r>
            <a:r>
              <a:rPr lang="es-ES" dirty="0" err="1" smtClean="0"/>
              <a:t>that</a:t>
            </a:r>
            <a:r>
              <a:rPr lang="es-ES" dirty="0" smtClean="0"/>
              <a:t> do </a:t>
            </a:r>
            <a:r>
              <a:rPr lang="es-ES" dirty="0" err="1" smtClean="0"/>
              <a:t>not</a:t>
            </a:r>
            <a:r>
              <a:rPr lang="es-ES" dirty="0" smtClean="0"/>
              <a:t> </a:t>
            </a:r>
            <a:r>
              <a:rPr lang="es-ES" dirty="0" err="1" smtClean="0"/>
              <a:t>modify</a:t>
            </a:r>
            <a:r>
              <a:rPr lang="es-ES" dirty="0" smtClean="0"/>
              <a:t> </a:t>
            </a:r>
            <a:r>
              <a:rPr lang="es-ES" dirty="0" err="1" smtClean="0"/>
              <a:t>the</a:t>
            </a:r>
            <a:r>
              <a:rPr lang="es-ES" dirty="0" smtClean="0"/>
              <a:t> </a:t>
            </a:r>
            <a:r>
              <a:rPr lang="es-ES" dirty="0" err="1" smtClean="0"/>
              <a:t>left-most</a:t>
            </a:r>
            <a:r>
              <a:rPr lang="es-ES" dirty="0" smtClean="0"/>
              <a:t> non-</a:t>
            </a:r>
            <a:r>
              <a:rPr lang="es-ES" dirty="0" err="1" smtClean="0"/>
              <a:t>zero</a:t>
            </a:r>
            <a:r>
              <a:rPr lang="es-ES" dirty="0" smtClean="0"/>
              <a:t> </a:t>
            </a:r>
            <a:r>
              <a:rPr lang="es-ES" dirty="0" err="1" smtClean="0"/>
              <a:t>digit</a:t>
            </a:r>
            <a:r>
              <a:rPr lang="es-ES" dirty="0" smtClean="0"/>
              <a:t> in </a:t>
            </a:r>
            <a:r>
              <a:rPr lang="es-ES" dirty="0" err="1" smtClean="0"/>
              <a:t>the</a:t>
            </a:r>
            <a:r>
              <a:rPr lang="es-ES" dirty="0" smtClean="0"/>
              <a:t> [</a:t>
            </a:r>
            <a:r>
              <a:rPr lang="es-ES" dirty="0" err="1" smtClean="0"/>
              <a:t>major</a:t>
            </a:r>
            <a:r>
              <a:rPr lang="es-ES" dirty="0" smtClean="0"/>
              <a:t>, </a:t>
            </a:r>
            <a:r>
              <a:rPr lang="es-ES" dirty="0" err="1" smtClean="0"/>
              <a:t>minor</a:t>
            </a:r>
            <a:r>
              <a:rPr lang="es-ES" dirty="0" smtClean="0"/>
              <a:t>, </a:t>
            </a:r>
            <a:r>
              <a:rPr lang="es-ES" dirty="0" err="1" smtClean="0"/>
              <a:t>patch</a:t>
            </a:r>
            <a:r>
              <a:rPr lang="es-ES" dirty="0" smtClean="0"/>
              <a:t>] </a:t>
            </a:r>
            <a:r>
              <a:rPr lang="es-ES" dirty="0" err="1" smtClean="0"/>
              <a:t>tuple</a:t>
            </a:r>
            <a:r>
              <a:rPr lang="es-ES" dirty="0" smtClean="0"/>
              <a:t>.</a:t>
            </a:r>
          </a:p>
          <a:p>
            <a:endParaRPr lang="es-ES" dirty="0" smtClean="0"/>
          </a:p>
          <a:p>
            <a:r>
              <a:rPr lang="es-ES" dirty="0" smtClean="0"/>
              <a:t>~</a:t>
            </a:r>
            <a:r>
              <a:rPr lang="es-ES" dirty="0" err="1" smtClean="0"/>
              <a:t>version</a:t>
            </a:r>
            <a:r>
              <a:rPr lang="es-ES" dirty="0" smtClean="0"/>
              <a:t> "</a:t>
            </a:r>
            <a:r>
              <a:rPr lang="es-ES" dirty="0" err="1" smtClean="0"/>
              <a:t>Approximately</a:t>
            </a:r>
            <a:r>
              <a:rPr lang="es-ES" dirty="0" smtClean="0"/>
              <a:t> </a:t>
            </a:r>
            <a:r>
              <a:rPr lang="es-ES" dirty="0" err="1" smtClean="0"/>
              <a:t>equivalent</a:t>
            </a:r>
            <a:r>
              <a:rPr lang="es-ES" dirty="0" smtClean="0"/>
              <a:t> </a:t>
            </a:r>
            <a:r>
              <a:rPr lang="es-ES" dirty="0" err="1" smtClean="0"/>
              <a:t>to</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Tilde </a:t>
            </a:r>
            <a:r>
              <a:rPr lang="es-ES" dirty="0" err="1" smtClean="0"/>
              <a:t>Ranges</a:t>
            </a:r>
            <a:r>
              <a:rPr lang="es-ES" dirty="0" smtClean="0"/>
              <a:t> &amp; </a:t>
            </a:r>
            <a:r>
              <a:rPr lang="es-ES" dirty="0" err="1" smtClean="0"/>
              <a:t>semver</a:t>
            </a:r>
            <a:r>
              <a:rPr lang="es-ES" dirty="0" smtClean="0"/>
              <a:t> (7)</a:t>
            </a:r>
          </a:p>
          <a:p>
            <a:r>
              <a:rPr lang="es-ES" dirty="0" smtClean="0"/>
              <a:t>^</a:t>
            </a:r>
            <a:r>
              <a:rPr lang="es-ES" dirty="0" err="1" smtClean="0"/>
              <a:t>version</a:t>
            </a:r>
            <a:r>
              <a:rPr lang="es-ES" dirty="0" smtClean="0"/>
              <a:t> "Compatible </a:t>
            </a:r>
            <a:r>
              <a:rPr lang="es-ES" dirty="0" err="1" smtClean="0"/>
              <a:t>with</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a:t>
            </a:r>
            <a:r>
              <a:rPr lang="es-ES" dirty="0" err="1" smtClean="0"/>
              <a:t>Caret</a:t>
            </a:r>
            <a:r>
              <a:rPr lang="es-ES" dirty="0" smtClean="0"/>
              <a:t> </a:t>
            </a:r>
            <a:r>
              <a:rPr lang="es-ES" dirty="0" err="1" smtClean="0"/>
              <a:t>Ranges</a:t>
            </a:r>
            <a:r>
              <a:rPr lang="es-ES" dirty="0" smtClean="0"/>
              <a:t> &amp; </a:t>
            </a:r>
            <a:r>
              <a:rPr lang="es-ES" dirty="0" err="1" smtClean="0"/>
              <a:t>semver</a:t>
            </a:r>
            <a:r>
              <a:rPr lang="es-ES" dirty="0" smtClean="0"/>
              <a:t> (7)</a:t>
            </a:r>
          </a:p>
          <a:p>
            <a:r>
              <a:rPr lang="es-ES" dirty="0" err="1" smtClean="0"/>
              <a:t>version</a:t>
            </a:r>
            <a:r>
              <a:rPr lang="es-ES" dirty="0" smtClean="0"/>
              <a:t> </a:t>
            </a:r>
            <a:r>
              <a:rPr lang="es-ES" dirty="0" err="1" smtClean="0"/>
              <a:t>Must</a:t>
            </a:r>
            <a:r>
              <a:rPr lang="es-ES" dirty="0" smtClean="0"/>
              <a:t> match </a:t>
            </a:r>
            <a:r>
              <a:rPr lang="es-ES" dirty="0" err="1" smtClean="0"/>
              <a:t>version</a:t>
            </a:r>
            <a:r>
              <a:rPr lang="es-ES" dirty="0" smtClean="0"/>
              <a:t> </a:t>
            </a:r>
            <a:r>
              <a:rPr lang="es-ES" dirty="0" err="1" smtClean="0"/>
              <a:t>exactly</a:t>
            </a:r>
            <a:endParaRPr lang="es-ES" dirty="0" smtClean="0"/>
          </a:p>
          <a:p>
            <a:r>
              <a:rPr lang="es-ES" dirty="0" smtClean="0"/>
              <a:t>&gt;</a:t>
            </a:r>
            <a:r>
              <a:rPr lang="es-ES" dirty="0" err="1" smtClean="0"/>
              <a:t>version</a:t>
            </a:r>
            <a:r>
              <a:rPr lang="es-ES" dirty="0" smtClean="0"/>
              <a:t> </a:t>
            </a:r>
            <a:r>
              <a:rPr lang="es-ES" dirty="0" err="1" smtClean="0"/>
              <a:t>Must</a:t>
            </a:r>
            <a:r>
              <a:rPr lang="es-ES" dirty="0" smtClean="0"/>
              <a:t> be </a:t>
            </a:r>
            <a:r>
              <a:rPr lang="es-ES" dirty="0" err="1" smtClean="0"/>
              <a:t>greater</a:t>
            </a:r>
            <a:r>
              <a:rPr lang="es-ES" dirty="0" smtClean="0"/>
              <a:t> </a:t>
            </a:r>
            <a:r>
              <a:rPr lang="es-ES" dirty="0" err="1" smtClean="0"/>
              <a:t>than</a:t>
            </a:r>
            <a:r>
              <a:rPr lang="es-ES" dirty="0" smtClean="0"/>
              <a:t> </a:t>
            </a:r>
            <a:r>
              <a:rPr lang="es-ES" dirty="0" err="1" smtClean="0"/>
              <a:t>version</a:t>
            </a:r>
            <a:endParaRPr lang="es-ES" dirty="0" smtClean="0"/>
          </a:p>
          <a:p>
            <a:r>
              <a:rPr lang="es-ES" dirty="0" smtClean="0"/>
              <a:t>&gt;=</a:t>
            </a:r>
            <a:r>
              <a:rPr lang="es-ES" dirty="0" err="1" smtClean="0"/>
              <a:t>version</a:t>
            </a:r>
            <a:r>
              <a:rPr lang="es-ES" dirty="0" smtClean="0"/>
              <a:t> </a:t>
            </a:r>
            <a:r>
              <a:rPr lang="es-ES" dirty="0" err="1" smtClean="0"/>
              <a:t>etc</a:t>
            </a:r>
            <a:endParaRPr lang="es-ES" dirty="0" smtClean="0"/>
          </a:p>
          <a:p>
            <a:r>
              <a:rPr lang="es-ES" dirty="0" smtClean="0"/>
              <a:t>&lt;</a:t>
            </a:r>
            <a:r>
              <a:rPr lang="es-ES" dirty="0" err="1" smtClean="0"/>
              <a:t>version</a:t>
            </a:r>
            <a:endParaRPr lang="es-ES" dirty="0" smtClean="0"/>
          </a:p>
          <a:p>
            <a:r>
              <a:rPr lang="es-ES" dirty="0" smtClean="0"/>
              <a:t>&lt;=</a:t>
            </a:r>
            <a:r>
              <a:rPr lang="es-ES" dirty="0" err="1" smtClean="0"/>
              <a:t>version</a:t>
            </a:r>
            <a:endParaRPr lang="es-ES" dirty="0" smtClean="0"/>
          </a:p>
          <a:p>
            <a:r>
              <a:rPr lang="es-ES" dirty="0" smtClean="0"/>
              <a:t>1.2.x 1.2.0, 1.2.1, etc., </a:t>
            </a:r>
            <a:r>
              <a:rPr lang="es-ES" dirty="0" err="1" smtClean="0"/>
              <a:t>but</a:t>
            </a:r>
            <a:r>
              <a:rPr lang="es-ES" dirty="0" smtClean="0"/>
              <a:t> </a:t>
            </a:r>
            <a:r>
              <a:rPr lang="es-ES" dirty="0" err="1" smtClean="0"/>
              <a:t>not</a:t>
            </a:r>
            <a:r>
              <a:rPr lang="es-ES" dirty="0" smtClean="0"/>
              <a:t> 1.3.0</a:t>
            </a:r>
          </a:p>
          <a:p>
            <a:r>
              <a:rPr lang="es-ES" dirty="0" smtClean="0"/>
              <a:t>http://</a:t>
            </a:r>
            <a:r>
              <a:rPr lang="es-ES" dirty="0" err="1" smtClean="0"/>
              <a:t>sometarballurl</a:t>
            </a:r>
            <a:r>
              <a:rPr lang="es-ES" dirty="0" smtClean="0"/>
              <a:t> (</a:t>
            </a:r>
            <a:r>
              <a:rPr lang="es-ES" dirty="0" err="1" smtClean="0"/>
              <a:t>this</a:t>
            </a:r>
            <a:r>
              <a:rPr lang="es-ES" dirty="0" smtClean="0"/>
              <a:t> </a:t>
            </a:r>
            <a:r>
              <a:rPr lang="es-ES" dirty="0" err="1" smtClean="0"/>
              <a:t>may</a:t>
            </a:r>
            <a:r>
              <a:rPr lang="es-ES" dirty="0" smtClean="0"/>
              <a:t> be </a:t>
            </a:r>
            <a:r>
              <a:rPr lang="es-ES" dirty="0" err="1" smtClean="0"/>
              <a:t>the</a:t>
            </a:r>
            <a:r>
              <a:rPr lang="es-ES" dirty="0" smtClean="0"/>
              <a:t> URL of a </a:t>
            </a:r>
            <a:r>
              <a:rPr lang="es-ES" dirty="0" err="1" smtClean="0"/>
              <a:t>tarball</a:t>
            </a:r>
            <a:r>
              <a:rPr lang="es-ES" dirty="0" smtClean="0"/>
              <a:t> </a:t>
            </a:r>
            <a:r>
              <a:rPr lang="es-ES" dirty="0" err="1" smtClean="0"/>
              <a:t>which</a:t>
            </a:r>
            <a:r>
              <a:rPr lang="es-ES" dirty="0" smtClean="0"/>
              <a:t> </a:t>
            </a:r>
            <a:r>
              <a:rPr lang="es-ES" dirty="0" err="1" smtClean="0"/>
              <a:t>will</a:t>
            </a:r>
            <a:r>
              <a:rPr lang="es-ES" dirty="0" smtClean="0"/>
              <a:t> be </a:t>
            </a:r>
            <a:r>
              <a:rPr lang="es-ES" dirty="0" err="1" smtClean="0"/>
              <a:t>downloaded</a:t>
            </a:r>
            <a:r>
              <a:rPr lang="es-ES" dirty="0" smtClean="0"/>
              <a:t> and </a:t>
            </a:r>
            <a:r>
              <a:rPr lang="es-ES" dirty="0" err="1" smtClean="0"/>
              <a:t>installed</a:t>
            </a:r>
            <a:r>
              <a:rPr lang="es-ES" dirty="0" smtClean="0"/>
              <a:t> </a:t>
            </a:r>
            <a:r>
              <a:rPr lang="es-ES" dirty="0" err="1" smtClean="0"/>
              <a:t>locally</a:t>
            </a:r>
            <a:endParaRPr lang="es-ES" dirty="0" smtClean="0"/>
          </a:p>
          <a:p>
            <a:r>
              <a:rPr lang="es-ES" dirty="0" smtClean="0"/>
              <a:t>* </a:t>
            </a:r>
            <a:r>
              <a:rPr lang="es-ES" dirty="0" err="1" smtClean="0"/>
              <a:t>Matches</a:t>
            </a:r>
            <a:r>
              <a:rPr lang="es-ES" dirty="0" smtClean="0"/>
              <a:t> </a:t>
            </a:r>
            <a:r>
              <a:rPr lang="es-ES" dirty="0" err="1" smtClean="0"/>
              <a:t>any</a:t>
            </a:r>
            <a:r>
              <a:rPr lang="es-ES" dirty="0" smtClean="0"/>
              <a:t> </a:t>
            </a:r>
            <a:r>
              <a:rPr lang="es-ES" dirty="0" err="1" smtClean="0"/>
              <a:t>version</a:t>
            </a:r>
            <a:endParaRPr lang="es-ES" dirty="0" smtClean="0"/>
          </a:p>
          <a:p>
            <a:r>
              <a:rPr lang="es-ES" dirty="0" err="1" smtClean="0"/>
              <a:t>latest</a:t>
            </a:r>
            <a:r>
              <a:rPr lang="es-ES" dirty="0" smtClean="0"/>
              <a:t> </a:t>
            </a:r>
            <a:r>
              <a:rPr lang="es-ES" dirty="0" err="1" smtClean="0"/>
              <a:t>Obtains</a:t>
            </a:r>
            <a:r>
              <a:rPr lang="es-ES" dirty="0" smtClean="0"/>
              <a:t> </a:t>
            </a:r>
            <a:r>
              <a:rPr lang="es-ES" dirty="0" err="1" smtClean="0"/>
              <a:t>latest</a:t>
            </a:r>
            <a:r>
              <a:rPr lang="es-ES" dirty="0" smtClean="0"/>
              <a:t> </a:t>
            </a:r>
            <a:r>
              <a:rPr lang="es-ES" dirty="0" err="1" smtClean="0"/>
              <a:t>release</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manifiesto de aplicaciones web proporciona información sobre una aplicación (como nombre, autor, icono y descripción) en un documento simplificado. Su principal propósito es crear </a:t>
            </a:r>
            <a:r>
              <a:rPr lang="es-ES" dirty="0" err="1" smtClean="0"/>
              <a:t>progressive</a:t>
            </a:r>
            <a:r>
              <a:rPr lang="es-ES" dirty="0" smtClean="0"/>
              <a:t> web </a:t>
            </a:r>
            <a:r>
              <a:rPr lang="es-ES" dirty="0" err="1" smtClean="0"/>
              <a:t>apps</a:t>
            </a:r>
            <a:r>
              <a:rPr lang="es-ES" dirty="0" smtClean="0"/>
              <a:t>: aplicaciones web que se pueden instalar desde la pantalla principal de un dispositivo sin necesidad de hacerlo a </a:t>
            </a:r>
            <a:r>
              <a:rPr lang="es-ES" dirty="0" err="1" smtClean="0"/>
              <a:t>traves</a:t>
            </a:r>
            <a:r>
              <a:rPr lang="es-ES" dirty="0" smtClean="0"/>
              <a:t> de una </a:t>
            </a:r>
            <a:r>
              <a:rPr lang="es-ES" dirty="0" err="1" smtClean="0"/>
              <a:t>app</a:t>
            </a:r>
            <a:r>
              <a:rPr lang="es-ES" dirty="0" smtClean="0"/>
              <a:t> </a:t>
            </a:r>
            <a:r>
              <a:rPr lang="es-ES" dirty="0" err="1" smtClean="0"/>
              <a:t>store</a:t>
            </a:r>
            <a:r>
              <a:rPr lang="es-ES" dirty="0" smtClean="0"/>
              <a:t> (y otras ventajas como disponibilidad offline y enviar notificaciones </a:t>
            </a:r>
            <a:r>
              <a:rPr lang="es-ES" dirty="0" err="1" smtClean="0"/>
              <a:t>push</a:t>
            </a:r>
            <a:r>
              <a:rPr lang="es-ES" dirty="0" smtClean="0"/>
              <a:t> cuando cambia el contenido de la aplicación.)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Revisi</a:t>
            </a:r>
            <a:r>
              <a:rPr lang="es-ES" dirty="0" smtClean="0"/>
              <a:t>ón de código de las diferentes Demos.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71</a:t>
            </a:fld>
            <a:endParaRPr lang="es-ES"/>
          </a:p>
        </p:txBody>
      </p:sp>
    </p:spTree>
    <p:extLst>
      <p:ext uri="{BB962C8B-B14F-4D97-AF65-F5344CB8AC3E}">
        <p14:creationId xmlns:p14="http://schemas.microsoft.com/office/powerpoint/2010/main" val="19943667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365248"/>
            <a:ext cx="7772400" cy="978408"/>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dirty="0"/>
          </a:p>
        </p:txBody>
      </p:sp>
      <p:sp>
        <p:nvSpPr>
          <p:cNvPr id="3" name="Subtitle 2"/>
          <p:cNvSpPr>
            <a:spLocks noGrp="1"/>
          </p:cNvSpPr>
          <p:nvPr>
            <p:ph type="subTitle" idx="1"/>
          </p:nvPr>
        </p:nvSpPr>
        <p:spPr>
          <a:xfrm>
            <a:off x="685800" y="3352800"/>
            <a:ext cx="7772400" cy="877824"/>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Content Placeholder 2"/>
          <p:cNvSpPr>
            <a:spLocks noGrp="1"/>
          </p:cNvSpPr>
          <p:nvPr>
            <p:ph idx="1"/>
          </p:nvPr>
        </p:nvSpPr>
        <p:spPr>
          <a:xfrm>
            <a:off x="685800" y="1869141"/>
            <a:ext cx="7770813" cy="4257022"/>
          </a:xfrm>
        </p:spPr>
        <p:txBody>
          <a:bodyPr/>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sitiva de título con imagen">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267200"/>
            <a:ext cx="7772400" cy="977153"/>
          </a:xfrm>
        </p:spPr>
        <p:txBody>
          <a:bodyPr anchor="b" anchorCtr="0">
            <a:noAutofit/>
          </a:bodyPr>
          <a:lstStyle>
            <a:lvl1pPr>
              <a:defRPr sz="5400"/>
            </a:lvl1pPr>
          </a:lstStyle>
          <a:p>
            <a:r>
              <a:rPr lang="es-ES_tradnl" smtClean="0"/>
              <a:t>Clic para editar título</a:t>
            </a:r>
            <a:endParaRPr/>
          </a:p>
        </p:txBody>
      </p:sp>
      <p:sp>
        <p:nvSpPr>
          <p:cNvPr id="3" name="Subtitle 2"/>
          <p:cNvSpPr>
            <a:spLocks noGrp="1"/>
          </p:cNvSpPr>
          <p:nvPr>
            <p:ph type="subTitle" idx="1"/>
          </p:nvPr>
        </p:nvSpPr>
        <p:spPr>
          <a:xfrm>
            <a:off x="685799" y="5257800"/>
            <a:ext cx="7770813" cy="874058"/>
          </a:xfrm>
        </p:spPr>
        <p:txBody>
          <a:bodyPr>
            <a:normAutofit/>
          </a:bodyPr>
          <a:lstStyle>
            <a:lvl1pPr marL="0" indent="0" algn="ctr">
              <a:spcBef>
                <a:spcPts val="300"/>
              </a:spcBef>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
        <p:nvSpPr>
          <p:cNvPr id="8" name="Picture Placeholder 7"/>
          <p:cNvSpPr>
            <a:spLocks noGrp="1"/>
          </p:cNvSpPr>
          <p:nvPr>
            <p:ph type="pic" sz="quarter" idx="13"/>
          </p:nvPr>
        </p:nvSpPr>
        <p:spPr>
          <a:xfrm rot="21540000">
            <a:off x="2056196" y="424650"/>
            <a:ext cx="5031609" cy="337580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a:lstStyle>
            <a:lvl1pPr>
              <a:buFont typeface="Arial" pitchFamily="34" charset="0"/>
              <a:buNone/>
              <a:defRPr/>
            </a:lvl1pPr>
          </a:lstStyle>
          <a:p>
            <a:r>
              <a:rPr lang="es-ES_tradnl" smtClean="0"/>
              <a:t>Arrastre la imagen al marcador de posición o haga clic en el icono para agregar</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990600"/>
            <a:ext cx="7770813" cy="1743075"/>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Text Placeholder 2"/>
          <p:cNvSpPr>
            <a:spLocks noGrp="1"/>
          </p:cNvSpPr>
          <p:nvPr>
            <p:ph type="body" idx="1"/>
          </p:nvPr>
        </p:nvSpPr>
        <p:spPr>
          <a:xfrm>
            <a:off x="685800" y="2756647"/>
            <a:ext cx="7770813" cy="1281953"/>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_tradnl" smtClean="0"/>
              <a:t>Haga clic para modificar el estilo de texto del patrón</a:t>
            </a:r>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p>
            <a:r>
              <a:rPr lang="es-ES_tradnl" smtClean="0"/>
              <a:t>Clic para editar título</a:t>
            </a:r>
            <a:endParaRPr/>
          </a:p>
        </p:txBody>
      </p:sp>
      <p:sp>
        <p:nvSpPr>
          <p:cNvPr id="3" name="Content Placeholder 2"/>
          <p:cNvSpPr>
            <a:spLocks noGrp="1"/>
          </p:cNvSpPr>
          <p:nvPr>
            <p:ph sz="half" idx="1"/>
          </p:nvPr>
        </p:nvSpPr>
        <p:spPr>
          <a:xfrm>
            <a:off x="685800" y="1760538"/>
            <a:ext cx="3611880" cy="4365625"/>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Content Placeholder 3"/>
          <p:cNvSpPr>
            <a:spLocks noGrp="1"/>
          </p:cNvSpPr>
          <p:nvPr>
            <p:ph sz="half" idx="2"/>
          </p:nvPr>
        </p:nvSpPr>
        <p:spPr>
          <a:xfrm>
            <a:off x="4844733" y="1760538"/>
            <a:ext cx="3611880" cy="4365625"/>
          </a:xfrm>
        </p:spPr>
        <p:txBody>
          <a:bodyPr>
            <a:normAutofit/>
          </a:bodyPr>
          <a:lstStyle>
            <a:lvl1pPr>
              <a:defRPr sz="2200"/>
            </a:lvl1pPr>
            <a:lvl2pPr>
              <a:defRPr sz="2000"/>
            </a:lvl2pPr>
            <a:lvl3pPr>
              <a:defRPr sz="2000"/>
            </a:lvl3pPr>
            <a:lvl4pPr>
              <a:defRPr sz="2000"/>
            </a:lvl4pPr>
            <a:lvl5pPr>
              <a:defRPr sz="20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lvl1pPr>
              <a:defRPr/>
            </a:lvl1pPr>
          </a:lstStyle>
          <a:p>
            <a:r>
              <a:rPr lang="es-ES_tradnl" smtClean="0"/>
              <a:t>Clic para editar título</a:t>
            </a:r>
            <a:endParaRPr/>
          </a:p>
        </p:txBody>
      </p:sp>
      <p:sp>
        <p:nvSpPr>
          <p:cNvPr id="3" name="Text Placeholder 2"/>
          <p:cNvSpPr>
            <a:spLocks noGrp="1"/>
          </p:cNvSpPr>
          <p:nvPr>
            <p:ph type="body" idx="1"/>
          </p:nvPr>
        </p:nvSpPr>
        <p:spPr>
          <a:xfrm>
            <a:off x="685800"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4" name="Content Placeholder 3"/>
          <p:cNvSpPr>
            <a:spLocks noGrp="1"/>
          </p:cNvSpPr>
          <p:nvPr>
            <p:ph sz="half" idx="2"/>
          </p:nvPr>
        </p:nvSpPr>
        <p:spPr>
          <a:xfrm>
            <a:off x="685800"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Text Placeholder 4"/>
          <p:cNvSpPr>
            <a:spLocks noGrp="1"/>
          </p:cNvSpPr>
          <p:nvPr>
            <p:ph type="body" sz="quarter" idx="3"/>
          </p:nvPr>
        </p:nvSpPr>
        <p:spPr>
          <a:xfrm>
            <a:off x="4845526"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6" name="Content Placeholder 5"/>
          <p:cNvSpPr>
            <a:spLocks noGrp="1"/>
          </p:cNvSpPr>
          <p:nvPr>
            <p:ph sz="quarter" idx="4"/>
          </p:nvPr>
        </p:nvSpPr>
        <p:spPr>
          <a:xfrm>
            <a:off x="4845526"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7" name="Date Placeholder 6"/>
          <p:cNvSpPr>
            <a:spLocks noGrp="1"/>
          </p:cNvSpPr>
          <p:nvPr>
            <p:ph type="dt" sz="half" idx="10"/>
          </p:nvPr>
        </p:nvSpPr>
        <p:spPr/>
        <p:txBody>
          <a:bodyPr/>
          <a:lstStyle/>
          <a:p>
            <a:fld id="{651A0C47-018D-4460-B945-BFF7981B6CA6}" type="datetimeFigureOut">
              <a:rPr lang="en-US" smtClean="0"/>
              <a:t>13/11/18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1F5A0A-F6FC-4FFD-9B49-0DA8697211D9}" type="slidenum">
              <a:rPr lang="en-US" smtClean="0"/>
              <a:t>‹Nr.›</a:t>
            </a:fld>
            <a:endParaRPr lang="en-US"/>
          </a:p>
        </p:txBody>
      </p:sp>
      <p:cxnSp>
        <p:nvCxnSpPr>
          <p:cNvPr id="11" name="Straight Connector 10"/>
          <p:cNvCxnSpPr/>
          <p:nvPr/>
        </p:nvCxnSpPr>
        <p:spPr>
          <a:xfrm>
            <a:off x="786205"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936966"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Date Placeholder 2"/>
          <p:cNvSpPr>
            <a:spLocks noGrp="1"/>
          </p:cNvSpPr>
          <p:nvPr>
            <p:ph type="dt" sz="half" idx="10"/>
          </p:nvPr>
        </p:nvSpPr>
        <p:spPr/>
        <p:txBody>
          <a:bodyPr/>
          <a:lstStyle/>
          <a:p>
            <a:fld id="{651A0C47-018D-4460-B945-BFF7981B6CA6}" type="datetimeFigureOut">
              <a:rPr lang="en-US" smtClean="0"/>
              <a:t>13/11/18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1A0C47-018D-4460-B945-BFF7981B6CA6}" type="datetimeFigureOut">
              <a:rPr lang="en-US" smtClean="0"/>
              <a:t>13/11/18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58905" y="971550"/>
            <a:ext cx="3657600" cy="1162050"/>
          </a:xfrm>
        </p:spPr>
        <p:txBody>
          <a:bodyPr anchor="b">
            <a:noAutofit/>
          </a:bodyPr>
          <a:lstStyle>
            <a:lvl1pPr algn="l">
              <a:defRPr sz="3600" b="0"/>
            </a:lvl1pPr>
          </a:lstStyle>
          <a:p>
            <a:r>
              <a:rPr lang="es-ES_tradnl" smtClean="0"/>
              <a:t>Clic para editar título</a:t>
            </a:r>
            <a:endParaRPr/>
          </a:p>
        </p:txBody>
      </p:sp>
      <p:sp>
        <p:nvSpPr>
          <p:cNvPr id="3" name="Content Placeholder 2"/>
          <p:cNvSpPr>
            <a:spLocks noGrp="1"/>
          </p:cNvSpPr>
          <p:nvPr>
            <p:ph idx="1"/>
          </p:nvPr>
        </p:nvSpPr>
        <p:spPr>
          <a:xfrm>
            <a:off x="4800600" y="457200"/>
            <a:ext cx="3657600" cy="5668963"/>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Text Placeholder 3"/>
          <p:cNvSpPr>
            <a:spLocks noGrp="1"/>
          </p:cNvSpPr>
          <p:nvPr>
            <p:ph type="body" sz="half" idx="2"/>
          </p:nvPr>
        </p:nvSpPr>
        <p:spPr>
          <a:xfrm>
            <a:off x="658905" y="2133601"/>
            <a:ext cx="3657600" cy="3581400"/>
          </a:xfrm>
        </p:spPr>
        <p:txBody>
          <a:bodyPr>
            <a:normAutofit/>
          </a:bodyPr>
          <a:lstStyle>
            <a:lvl1pPr marL="0" indent="0">
              <a:spcBef>
                <a:spcPts val="100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805082" y="969264"/>
            <a:ext cx="3657600" cy="1161288"/>
          </a:xfrm>
        </p:spPr>
        <p:txBody>
          <a:bodyPr anchor="b">
            <a:noAutofit/>
          </a:bodyPr>
          <a:lstStyle>
            <a:lvl1pPr algn="l">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63388" y="510988"/>
            <a:ext cx="3657600" cy="5553636"/>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4799853" y="2130552"/>
            <a:ext cx="3657600" cy="3584448"/>
          </a:xfrm>
        </p:spPr>
        <p:txBody>
          <a:bodyPr vert="horz" lIns="91440" tIns="45720" rIns="91440" bIns="45720" rtlCol="0">
            <a:normAutofit/>
          </a:bodyPr>
          <a:lstStyle>
            <a:lvl1pPr marL="0" indent="0">
              <a:spcBef>
                <a:spcPts val="10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Imagen encima del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1376"/>
            <a:ext cx="7776882" cy="1014984"/>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1828800" y="457199"/>
            <a:ext cx="5486400" cy="3644153"/>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uión gráfic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5141"/>
            <a:ext cx="7776882" cy="1013011"/>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8580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51A0C47-018D-4460-B945-BFF7981B6CA6}" type="datetimeFigureOut">
              <a:rPr lang="en-US" smtClean="0"/>
              <a:t>13/11/18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
        <p:nvSpPr>
          <p:cNvPr id="11" name="Picture Placeholder 2"/>
          <p:cNvSpPr>
            <a:spLocks noGrp="1"/>
          </p:cNvSpPr>
          <p:nvPr>
            <p:ph type="pic" idx="13"/>
          </p:nvPr>
        </p:nvSpPr>
        <p:spPr>
          <a:xfrm>
            <a:off x="68580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6" name="Picture Placeholder 2"/>
          <p:cNvSpPr>
            <a:spLocks noGrp="1"/>
          </p:cNvSpPr>
          <p:nvPr>
            <p:ph type="pic" idx="14"/>
          </p:nvPr>
        </p:nvSpPr>
        <p:spPr>
          <a:xfrm>
            <a:off x="341249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7" name="Picture Placeholder 2"/>
          <p:cNvSpPr>
            <a:spLocks noGrp="1"/>
          </p:cNvSpPr>
          <p:nvPr>
            <p:ph type="pic" idx="15"/>
          </p:nvPr>
        </p:nvSpPr>
        <p:spPr>
          <a:xfrm>
            <a:off x="341249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8" name="Picture Placeholder 2"/>
          <p:cNvSpPr>
            <a:spLocks noGrp="1"/>
          </p:cNvSpPr>
          <p:nvPr>
            <p:ph type="pic" idx="16"/>
          </p:nvPr>
        </p:nvSpPr>
        <p:spPr>
          <a:xfrm>
            <a:off x="613918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9" name="Picture Placeholder 2"/>
          <p:cNvSpPr>
            <a:spLocks noGrp="1"/>
          </p:cNvSpPr>
          <p:nvPr>
            <p:ph type="pic" idx="17"/>
          </p:nvPr>
        </p:nvSpPr>
        <p:spPr>
          <a:xfrm>
            <a:off x="613918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Vertical Text Placeholder 2"/>
          <p:cNvSpPr>
            <a:spLocks noGrp="1"/>
          </p:cNvSpPr>
          <p:nvPr>
            <p:ph type="body" orient="vert" idx="1"/>
          </p:nvPr>
        </p:nvSpPr>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62800" y="533400"/>
            <a:ext cx="1600200" cy="5592763"/>
          </a:xfrm>
        </p:spPr>
        <p:txBody>
          <a:bodyPr vert="eaVert"/>
          <a:lstStyle/>
          <a:p>
            <a:r>
              <a:rPr lang="es-ES_tradnl" smtClean="0"/>
              <a:t>Clic para editar título</a:t>
            </a:r>
            <a:endParaRPr/>
          </a:p>
        </p:txBody>
      </p:sp>
      <p:sp>
        <p:nvSpPr>
          <p:cNvPr id="3" name="Vertical Text Placeholder 2"/>
          <p:cNvSpPr>
            <a:spLocks noGrp="1"/>
          </p:cNvSpPr>
          <p:nvPr>
            <p:ph type="body" orient="vert" idx="1"/>
          </p:nvPr>
        </p:nvSpPr>
        <p:spPr>
          <a:xfrm>
            <a:off x="685800" y="533400"/>
            <a:ext cx="6019800" cy="5592763"/>
          </a:xfrm>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651A0C47-018D-4460-B945-BFF7981B6CA6}" type="datetimeFigureOut">
              <a:rPr lang="en-US" smtClean="0"/>
              <a:t>13/11/18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0" y="121023"/>
            <a:ext cx="7770813" cy="1429871"/>
          </a:xfrm>
          <a:prstGeom prst="rect">
            <a:avLst/>
          </a:prstGeom>
        </p:spPr>
        <p:txBody>
          <a:bodyPr vert="horz" lIns="91440" tIns="45720" rIns="91440" bIns="45720" rtlCol="0" anchor="ctr" anchorCtr="0">
            <a:normAutofit/>
          </a:bodyPr>
          <a:lstStyle/>
          <a:p>
            <a:r>
              <a:rPr lang="es-ES_tradnl" smtClean="0"/>
              <a:t>Clic para editar título</a:t>
            </a:r>
            <a:endParaRPr/>
          </a:p>
        </p:txBody>
      </p:sp>
      <p:sp>
        <p:nvSpPr>
          <p:cNvPr id="3" name="Text Placeholder 2"/>
          <p:cNvSpPr>
            <a:spLocks noGrp="1"/>
          </p:cNvSpPr>
          <p:nvPr>
            <p:ph type="body" idx="1"/>
          </p:nvPr>
        </p:nvSpPr>
        <p:spPr>
          <a:xfrm>
            <a:off x="685800" y="1752600"/>
            <a:ext cx="7770813" cy="4373563"/>
          </a:xfrm>
          <a:prstGeom prst="rect">
            <a:avLst/>
          </a:prstGeom>
        </p:spPr>
        <p:txBody>
          <a:bodyPr vert="horz" lIns="91440" tIns="45720" rIns="91440" bIns="45720" rtlCol="0">
            <a:normAutofit/>
          </a:body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2"/>
          </p:nvPr>
        </p:nvSpPr>
        <p:spPr>
          <a:xfrm>
            <a:off x="6620435" y="6356350"/>
            <a:ext cx="2133600" cy="365125"/>
          </a:xfrm>
          <a:prstGeom prst="rect">
            <a:avLst/>
          </a:prstGeom>
        </p:spPr>
        <p:txBody>
          <a:bodyPr vert="horz" lIns="91440" tIns="45720" rIns="91440" bIns="45720" rtlCol="0" anchor="ctr"/>
          <a:lstStyle>
            <a:lvl1pPr algn="r">
              <a:defRPr sz="1200">
                <a:solidFill>
                  <a:schemeClr val="tx1">
                    <a:tint val="75000"/>
                  </a:schemeClr>
                </a:solidFill>
                <a:effectLst>
                  <a:outerShdw blurRad="50800" dist="38100" dir="5400000" sx="101000" sy="101000" algn="t" rotWithShape="0">
                    <a:prstClr val="black">
                      <a:alpha val="40000"/>
                    </a:prstClr>
                  </a:outerShdw>
                </a:effectLst>
              </a:defRPr>
            </a:lvl1pPr>
          </a:lstStyle>
          <a:p>
            <a:fld id="{651A0C47-018D-4460-B945-BFF7981B6CA6}" type="datetimeFigureOut">
              <a:rPr lang="en-US" smtClean="0"/>
              <a:t>13/11/18</a:t>
            </a:fld>
            <a:endParaRPr lang="en-US"/>
          </a:p>
        </p:txBody>
      </p:sp>
      <p:sp>
        <p:nvSpPr>
          <p:cNvPr id="5" name="Footer Placeholder 4"/>
          <p:cNvSpPr>
            <a:spLocks noGrp="1"/>
          </p:cNvSpPr>
          <p:nvPr>
            <p:ph type="ftr" sz="quarter" idx="3"/>
          </p:nvPr>
        </p:nvSpPr>
        <p:spPr>
          <a:xfrm>
            <a:off x="354105" y="6356350"/>
            <a:ext cx="2895600" cy="365125"/>
          </a:xfrm>
          <a:prstGeom prst="rect">
            <a:avLst/>
          </a:prstGeom>
        </p:spPr>
        <p:txBody>
          <a:bodyPr vert="horz" lIns="91440" tIns="45720" rIns="91440" bIns="45720" rtlCol="0" anchor="ctr"/>
          <a:lstStyle>
            <a:lvl1pPr algn="l">
              <a:defRPr sz="1200">
                <a:solidFill>
                  <a:schemeClr val="tx1">
                    <a:tint val="75000"/>
                  </a:schemeClr>
                </a:solidFill>
                <a:effectLst>
                  <a:outerShdw blurRad="50800" dist="38100" dir="5400000" sx="101000" sy="101000" algn="t" rotWithShape="0">
                    <a:prstClr val="black">
                      <a:alpha val="40000"/>
                    </a:prstClr>
                  </a:outerShdw>
                </a:effectLst>
              </a:defRPr>
            </a:lvl1pPr>
          </a:lstStyle>
          <a:p>
            <a:endParaRPr lang="en-US"/>
          </a:p>
        </p:txBody>
      </p:sp>
      <p:sp>
        <p:nvSpPr>
          <p:cNvPr id="6" name="Slide Number Placeholder 5"/>
          <p:cNvSpPr>
            <a:spLocks noGrp="1"/>
          </p:cNvSpPr>
          <p:nvPr>
            <p:ph type="sldNum" sz="quarter" idx="4"/>
          </p:nvPr>
        </p:nvSpPr>
        <p:spPr>
          <a:xfrm>
            <a:off x="4229100" y="6356350"/>
            <a:ext cx="685800" cy="365125"/>
          </a:xfrm>
          <a:prstGeom prst="rect">
            <a:avLst/>
          </a:prstGeom>
        </p:spPr>
        <p:txBody>
          <a:bodyPr vert="horz" lIns="91440" tIns="45720" rIns="91440" bIns="45720" rtlCol="0" anchor="ctr"/>
          <a:lstStyle>
            <a:lvl1pPr algn="ctr">
              <a:defRPr sz="1200">
                <a:solidFill>
                  <a:schemeClr val="tx1">
                    <a:tint val="75000"/>
                  </a:schemeClr>
                </a:solidFill>
                <a:effectLst>
                  <a:outerShdw blurRad="50800" dist="38100" dir="5400000" sx="101000" sy="101000" algn="t" rotWithShape="0">
                    <a:prstClr val="black">
                      <a:alpha val="40000"/>
                    </a:prstClr>
                  </a:outerShdw>
                </a:effectLst>
              </a:defRPr>
            </a:lvl1pPr>
          </a:lstStyle>
          <a:p>
            <a:fld id="{9C1F5A0A-F6FC-4FFD-9B49-0DA8697211D9}" type="slidenum">
              <a:rPr lang="en-US" smtClean="0"/>
              <a:t>‹Nr.›</a:t>
            </a:fld>
            <a:endParaRPr lang="en-US"/>
          </a:p>
        </p:txBody>
      </p:sp>
    </p:spTree>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txStyles>
    <p:titleStyle>
      <a:lvl1pPr algn="ctr" defTabSz="914400" rtl="0" eaLnBrk="1" latinLnBrk="0" hangingPunct="1">
        <a:spcBef>
          <a:spcPct val="0"/>
        </a:spcBef>
        <a:buNone/>
        <a:defRPr sz="48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p:titleStyle>
    <p:bodyStyle>
      <a:lvl1pPr marL="342900" indent="-342900" algn="l" defTabSz="914400" rtl="0" eaLnBrk="1" latinLnBrk="0" hangingPunct="1">
        <a:spcBef>
          <a:spcPts val="2000"/>
        </a:spcBef>
        <a:buFontTx/>
        <a:buBlip>
          <a:blip r:embed="rId16"/>
        </a:buBlip>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685800" indent="-336550" algn="l" defTabSz="914400" rtl="0" eaLnBrk="1" latinLnBrk="0" hangingPunct="1">
        <a:spcBef>
          <a:spcPts val="600"/>
        </a:spcBef>
        <a:buFontTx/>
        <a:buBlip>
          <a:blip r:embed="rId16"/>
        </a:buBlip>
        <a:defRPr sz="2000" kern="1200">
          <a:solidFill>
            <a:schemeClr val="tx1"/>
          </a:solidFill>
          <a:effectLst>
            <a:outerShdw blurRad="50800" dist="50800" dir="5400000" sx="101000" sy="101000" algn="t" rotWithShape="0">
              <a:prstClr val="black">
                <a:alpha val="40000"/>
              </a:prstClr>
            </a:outerShdw>
          </a:effectLst>
          <a:latin typeface="+mn-lt"/>
          <a:ea typeface="+mn-ea"/>
          <a:cs typeface="+mn-cs"/>
        </a:defRPr>
      </a:lvl2pPr>
      <a:lvl3pPr marL="10350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3pPr>
      <a:lvl4pPr marL="1371600" indent="-3365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4pPr>
      <a:lvl5pPr marL="17208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5pPr>
      <a:lvl6pPr marL="20558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6pPr>
      <a:lvl7pPr marL="23987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7pPr>
      <a:lvl8pPr marL="2743200"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8pPr>
      <a:lvl9pPr marL="3087688" indent="-336550" algn="l" defTabSz="914400" rtl="0" eaLnBrk="1" latinLnBrk="0" hangingPunct="1">
        <a:spcBef>
          <a:spcPct val="20000"/>
        </a:spcBef>
        <a:buFontTx/>
        <a:buBlip>
          <a:blip r:embed="rId16"/>
        </a:buBlip>
        <a:defRPr lang="en-US" sz="1800" kern="1200" dirty="0">
          <a:solidFill>
            <a:schemeClr val="tx1"/>
          </a:solidFill>
          <a:effectLst>
            <a:outerShdw blurRad="50800" dist="50800" dir="5400000" sx="101000" sy="101000" algn="t" rotWithShape="0">
              <a:prstClr val="black">
                <a:alpha val="40000"/>
              </a:prstClr>
            </a:outerShdw>
          </a:effectLst>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8.png"/><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9.png"/><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5.png"/><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9.png"/><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github.com/WebComponents/webcomponentsjs" TargetMode="External"/><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www.html5rocks.com/en/tutorials/webcomponents/import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0.png"/><Relationship Id="rId1" Type="http://schemas.openxmlformats.org/officeDocument/2006/relationships/slideLayout" Target="../slideLayouts/slideLayout1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git.org/components/polymer/polymer-element.html" TargetMode="External"/><Relationship Id="rId1" Type="http://schemas.openxmlformats.org/officeDocument/2006/relationships/slideLayout" Target="../slideLayouts/slideLayout1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lit-element.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3.0/start/install-3-0" TargetMode="External"/><Relationship Id="rId6" Type="http://schemas.openxmlformats.org/officeDocument/2006/relationships/hyperlink" Target="https://www.polymer-project.org/2.0/docs/tools/polymer-cli%23windows-10" TargetMode="External"/><Relationship Id="rId1" Type="http://schemas.openxmlformats.org/officeDocument/2006/relationships/slideLayout" Target="../slideLayouts/slideLayout1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 TargetMode="External"/><Relationship Id="rId1" Type="http://schemas.openxmlformats.org/officeDocument/2006/relationships/slideLayout" Target="../slideLayouts/slideLayout1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4.png"/><Relationship Id="rId1" Type="http://schemas.openxmlformats.org/officeDocument/2006/relationships/slideLayout" Target="../slideLayouts/slideLayout1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json%23entrypoint" TargetMode="External"/><Relationship Id="rId1" Type="http://schemas.openxmlformats.org/officeDocument/2006/relationships/slideLayout" Target="../slideLayouts/slideLayout1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developer.mozilla.org/en-US/docs/Web/Apps/Progressive" TargetMode="External"/><Relationship Id="rId6" Type="http://schemas.openxmlformats.org/officeDocument/2006/relationships/hyperlink" Target="https://developer.mozilla.org/es/docs/Web/Manifest" TargetMode="External"/><Relationship Id="rId1" Type="http://schemas.openxmlformats.org/officeDocument/2006/relationships/slideLayout" Target="../slideLayouts/slideLayout1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23lint" TargetMode="External"/><Relationship Id="rId1" Type="http://schemas.openxmlformats.org/officeDocument/2006/relationships/slideLayout" Target="../slideLayouts/slideLayout1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apps/build-for-production" TargetMode="External"/><Relationship Id="rId1" Type="http://schemas.openxmlformats.org/officeDocument/2006/relationships/slideLayout" Target="../slideLayouts/slideLayout1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upgrade" TargetMode="External"/><Relationship Id="rId1" Type="http://schemas.openxmlformats.org/officeDocument/2006/relationships/slideLayout" Target="../slideLayouts/slideLayout1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2.0/docs/devguide/properties" TargetMode="External"/><Relationship Id="rId1" Type="http://schemas.openxmlformats.org/officeDocument/2006/relationships/slideLayout" Target="../slideLayouts/slideLayout1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12" name="CuadroTexto 11"/>
          <p:cNvSpPr txBox="1"/>
          <p:nvPr/>
        </p:nvSpPr>
        <p:spPr>
          <a:xfrm>
            <a:off x="1753810" y="969230"/>
            <a:ext cx="5263021" cy="646331"/>
          </a:xfrm>
          <a:prstGeom prst="rect">
            <a:avLst/>
          </a:prstGeom>
          <a:noFill/>
        </p:spPr>
        <p:txBody>
          <a:bodyPr wrap="square" rtlCol="0">
            <a:spAutoFit/>
          </a:bodyPr>
          <a:lstStyle/>
          <a:p>
            <a:pPr algn="ctr"/>
            <a:r>
              <a:rPr lang="es-ES" sz="3600" u="sng" dirty="0" err="1" smtClean="0">
                <a:latin typeface="Arial Black"/>
                <a:cs typeface="Arial Black"/>
              </a:rPr>
              <a:t>Polymer</a:t>
            </a:r>
            <a:endParaRPr lang="es-ES" sz="3600" u="sng" dirty="0">
              <a:latin typeface="Arial Black"/>
              <a:cs typeface="Arial Black"/>
            </a:endParaRPr>
          </a:p>
        </p:txBody>
      </p:sp>
      <p:sp>
        <p:nvSpPr>
          <p:cNvPr id="19" name="Rectángulo 18"/>
          <p:cNvSpPr/>
          <p:nvPr/>
        </p:nvSpPr>
        <p:spPr>
          <a:xfrm>
            <a:off x="5727757" y="6359088"/>
            <a:ext cx="3239682" cy="338554"/>
          </a:xfrm>
          <a:prstGeom prst="rect">
            <a:avLst/>
          </a:prstGeom>
        </p:spPr>
        <p:txBody>
          <a:bodyPr wrap="square">
            <a:spAutoFit/>
          </a:bodyPr>
          <a:lstStyle/>
          <a:p>
            <a:pPr algn="ctr"/>
            <a:r>
              <a:rPr lang="es-ES" sz="1600" u="sng" dirty="0" smtClean="0">
                <a:latin typeface="Helvetica"/>
                <a:ea typeface="Lucida Grande"/>
                <a:cs typeface="Helvetica"/>
              </a:rPr>
              <a:t>Felipe Martínez Álvarez @2018 </a:t>
            </a:r>
            <a:endParaRPr lang="es-ES" sz="1600" u="sng" dirty="0">
              <a:latin typeface="Helvetica"/>
              <a:cs typeface="Helvetica"/>
            </a:endParaRPr>
          </a:p>
        </p:txBody>
      </p:sp>
      <p:pic>
        <p:nvPicPr>
          <p:cNvPr id="2" name="Imagen 1"/>
          <p:cNvPicPr>
            <a:picLocks noChangeAspect="1"/>
          </p:cNvPicPr>
          <p:nvPr/>
        </p:nvPicPr>
        <p:blipFill>
          <a:blip r:embed="rId3"/>
          <a:stretch>
            <a:fillRect/>
          </a:stretch>
        </p:blipFill>
        <p:spPr>
          <a:xfrm>
            <a:off x="2602086" y="2167753"/>
            <a:ext cx="3639056" cy="2531517"/>
          </a:xfrm>
          <a:prstGeom prst="rect">
            <a:avLst/>
          </a:prstGeom>
        </p:spPr>
      </p:pic>
    </p:spTree>
    <p:extLst>
      <p:ext uri="{BB962C8B-B14F-4D97-AF65-F5344CB8AC3E}">
        <p14:creationId xmlns:p14="http://schemas.microsoft.com/office/powerpoint/2010/main" val="3268153829"/>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Introducción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5" name="Imagen 14"/>
          <p:cNvPicPr>
            <a:picLocks noChangeAspect="1"/>
          </p:cNvPicPr>
          <p:nvPr/>
        </p:nvPicPr>
        <p:blipFill>
          <a:blip r:embed="rId5"/>
          <a:stretch>
            <a:fillRect/>
          </a:stretch>
        </p:blipFill>
        <p:spPr>
          <a:xfrm>
            <a:off x="505396" y="1825824"/>
            <a:ext cx="7739743" cy="2602847"/>
          </a:xfrm>
          <a:prstGeom prst="rect">
            <a:avLst/>
          </a:prstGeom>
        </p:spPr>
      </p:pic>
    </p:spTree>
    <p:extLst>
      <p:ext uri="{BB962C8B-B14F-4D97-AF65-F5344CB8AC3E}">
        <p14:creationId xmlns:p14="http://schemas.microsoft.com/office/powerpoint/2010/main" val="3700519645"/>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1" name="Imagen 10"/>
          <p:cNvPicPr>
            <a:picLocks noChangeAspect="1"/>
          </p:cNvPicPr>
          <p:nvPr/>
        </p:nvPicPr>
        <p:blipFill>
          <a:blip r:embed="rId5"/>
          <a:stretch>
            <a:fillRect/>
          </a:stretch>
        </p:blipFill>
        <p:spPr>
          <a:xfrm>
            <a:off x="1187539" y="2077956"/>
            <a:ext cx="6350000" cy="3009900"/>
          </a:xfrm>
          <a:prstGeom prst="rect">
            <a:avLst/>
          </a:prstGeom>
        </p:spPr>
      </p:pic>
    </p:spTree>
    <p:extLst>
      <p:ext uri="{BB962C8B-B14F-4D97-AF65-F5344CB8AC3E}">
        <p14:creationId xmlns:p14="http://schemas.microsoft.com/office/powerpoint/2010/main" val="4290930787"/>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305474" y="2052556"/>
            <a:ext cx="6350000" cy="3060700"/>
          </a:xfrm>
          <a:prstGeom prst="rect">
            <a:avLst/>
          </a:prstGeom>
        </p:spPr>
      </p:pic>
    </p:spTree>
    <p:extLst>
      <p:ext uri="{BB962C8B-B14F-4D97-AF65-F5344CB8AC3E}">
        <p14:creationId xmlns:p14="http://schemas.microsoft.com/office/powerpoint/2010/main" val="342631231"/>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Activar Funciones Experimentales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probar directamente código ES6 en la consola de tu navegador. Escribe en la barra de direcciones </a:t>
            </a:r>
            <a:r>
              <a:rPr lang="es-ES" dirty="0" err="1">
                <a:solidFill>
                  <a:srgbClr val="FFFFFF"/>
                </a:solidFill>
                <a:latin typeface="Helvetica"/>
                <a:cs typeface="Helvetica"/>
              </a:rPr>
              <a:t>chrome</a:t>
            </a:r>
            <a:r>
              <a:rPr lang="es-ES" dirty="0">
                <a:solidFill>
                  <a:srgbClr val="FFFFFF"/>
                </a:solidFill>
                <a:latin typeface="Helvetica"/>
                <a:cs typeface="Helvetica"/>
              </a:rPr>
              <a:t>://</a:t>
            </a:r>
            <a:r>
              <a:rPr lang="es-ES" dirty="0" err="1">
                <a:solidFill>
                  <a:srgbClr val="FFFFFF"/>
                </a:solidFill>
                <a:latin typeface="Helvetica"/>
                <a:cs typeface="Helvetica"/>
              </a:rPr>
              <a:t>flags</a:t>
            </a:r>
            <a:r>
              <a:rPr lang="es-ES" dirty="0">
                <a:solidFill>
                  <a:srgbClr val="FFFFFF"/>
                </a:solidFill>
                <a:latin typeface="Helvetica"/>
                <a:cs typeface="Helvetica"/>
              </a:rPr>
              <a:t> y tendrás una página como ésta:</a:t>
            </a:r>
          </a:p>
        </p:txBody>
      </p:sp>
      <p:pic>
        <p:nvPicPr>
          <p:cNvPr id="12" name="Imagen 11"/>
          <p:cNvPicPr>
            <a:picLocks noChangeAspect="1"/>
          </p:cNvPicPr>
          <p:nvPr/>
        </p:nvPicPr>
        <p:blipFill>
          <a:blip r:embed="rId5"/>
          <a:stretch>
            <a:fillRect/>
          </a:stretch>
        </p:blipFill>
        <p:spPr>
          <a:xfrm>
            <a:off x="1290506" y="2413422"/>
            <a:ext cx="6350000" cy="4305300"/>
          </a:xfrm>
          <a:prstGeom prst="rect">
            <a:avLst/>
          </a:prstGeom>
        </p:spPr>
      </p:pic>
    </p:spTree>
    <p:extLst>
      <p:ext uri="{BB962C8B-B14F-4D97-AF65-F5344CB8AC3E}">
        <p14:creationId xmlns:p14="http://schemas.microsoft.com/office/powerpoint/2010/main" val="2558346978"/>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Novedades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es-ES" dirty="0">
                <a:solidFill>
                  <a:srgbClr val="FFFFFF"/>
                </a:solidFill>
                <a:latin typeface="Helvetica"/>
                <a:cs typeface="Helvetica"/>
              </a:rPr>
              <a:t>Función </a:t>
            </a:r>
            <a:r>
              <a:rPr lang="es-ES" dirty="0" err="1" smtClean="0">
                <a:solidFill>
                  <a:srgbClr val="FFFFFF"/>
                </a:solidFill>
                <a:latin typeface="Helvetica"/>
                <a:cs typeface="Helvetica"/>
              </a:rPr>
              <a:t>Arrow</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smtClean="0">
                <a:solidFill>
                  <a:srgbClr val="FFFFFF"/>
                </a:solidFill>
                <a:latin typeface="Helvetica"/>
                <a:cs typeface="Helvetica"/>
              </a:rPr>
              <a:t>Clases</a:t>
            </a:r>
          </a:p>
          <a:p>
            <a:pPr marL="285750" indent="-285750" algn="just">
              <a:lnSpc>
                <a:spcPct val="130000"/>
              </a:lnSpc>
              <a:buFont typeface="Arial"/>
              <a:buChar char="•"/>
            </a:pPr>
            <a:r>
              <a:rPr lang="es-ES" dirty="0" err="1" smtClean="0">
                <a:solidFill>
                  <a:srgbClr val="FFFFFF"/>
                </a:solidFill>
                <a:latin typeface="Helvetica"/>
                <a:cs typeface="Helvetica"/>
              </a:rPr>
              <a:t>This</a:t>
            </a:r>
            <a:r>
              <a:rPr lang="es-ES" dirty="0" smtClean="0">
                <a:solidFill>
                  <a:srgbClr val="FFFFFF"/>
                </a:solidFill>
                <a:latin typeface="Helvetica"/>
                <a:cs typeface="Helvetica"/>
              </a:rPr>
              <a:t> </a:t>
            </a:r>
          </a:p>
          <a:p>
            <a:pPr marL="285750" indent="-285750" algn="just">
              <a:lnSpc>
                <a:spcPct val="130000"/>
              </a:lnSpc>
              <a:buFont typeface="Arial"/>
              <a:buChar char="•"/>
            </a:pPr>
            <a:r>
              <a:rPr lang="es-ES" dirty="0" err="1">
                <a:solidFill>
                  <a:srgbClr val="FFFFFF"/>
                </a:solidFill>
                <a:latin typeface="Helvetica"/>
                <a:cs typeface="Helvetica"/>
              </a:rPr>
              <a:t>let</a:t>
            </a:r>
            <a:r>
              <a:rPr lang="es-ES" dirty="0">
                <a:solidFill>
                  <a:srgbClr val="FFFFFF"/>
                </a:solidFill>
                <a:latin typeface="Helvetica"/>
                <a:cs typeface="Helvetica"/>
              </a:rPr>
              <a:t> y </a:t>
            </a:r>
            <a:r>
              <a:rPr lang="es-ES" dirty="0" err="1" smtClean="0">
                <a:solidFill>
                  <a:srgbClr val="FFFFFF"/>
                </a:solidFill>
                <a:latin typeface="Helvetica"/>
                <a:cs typeface="Helvetica"/>
              </a:rPr>
              <a:t>const</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Template</a:t>
            </a:r>
            <a:r>
              <a:rPr lang="es-ES" dirty="0">
                <a:solidFill>
                  <a:srgbClr val="FFFFFF"/>
                </a:solidFill>
                <a:latin typeface="Helvetica"/>
                <a:cs typeface="Helvetica"/>
              </a:rPr>
              <a:t> </a:t>
            </a:r>
            <a:r>
              <a:rPr lang="es-ES" dirty="0" err="1" smtClean="0">
                <a:solidFill>
                  <a:srgbClr val="FFFFFF"/>
                </a:solidFill>
                <a:latin typeface="Helvetica"/>
                <a:cs typeface="Helvetica"/>
              </a:rPr>
              <a:t>Strings</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Destructuring</a:t>
            </a:r>
            <a:endParaRPr lang="es-ES" dirty="0">
              <a:solidFill>
                <a:srgbClr val="FFFFFF"/>
              </a:solidFill>
              <a:latin typeface="Helvetica"/>
              <a:cs typeface="Helvetica"/>
            </a:endParaRPr>
          </a:p>
          <a:p>
            <a:pPr marL="285750" indent="-285750" algn="just">
              <a:lnSpc>
                <a:spcPct val="130000"/>
              </a:lnSpc>
              <a:buFont typeface="Arial"/>
              <a:buChar char="•"/>
            </a:pPr>
            <a:r>
              <a:rPr lang="es-ES" dirty="0">
                <a:solidFill>
                  <a:srgbClr val="FFFFFF"/>
                </a:solidFill>
                <a:latin typeface="Helvetica"/>
                <a:cs typeface="Helvetica"/>
              </a:rPr>
              <a:t>Valores por </a:t>
            </a:r>
            <a:r>
              <a:rPr lang="es-ES" dirty="0" smtClean="0">
                <a:solidFill>
                  <a:srgbClr val="FFFFFF"/>
                </a:solidFill>
                <a:latin typeface="Helvetica"/>
                <a:cs typeface="Helvetica"/>
              </a:rPr>
              <a:t>defecto</a:t>
            </a:r>
          </a:p>
          <a:p>
            <a:pPr marL="285750" indent="-285750" algn="just">
              <a:lnSpc>
                <a:spcPct val="130000"/>
              </a:lnSpc>
              <a:buFont typeface="Arial"/>
              <a:buChar char="•"/>
            </a:pPr>
            <a:r>
              <a:rPr lang="es-ES" dirty="0" smtClean="0">
                <a:solidFill>
                  <a:srgbClr val="FFFFFF"/>
                </a:solidFill>
                <a:latin typeface="Helvetica"/>
                <a:cs typeface="Helvetica"/>
              </a:rPr>
              <a:t>Módulos</a:t>
            </a:r>
          </a:p>
          <a:p>
            <a:pPr marL="285750" indent="-285750" algn="just">
              <a:lnSpc>
                <a:spcPct val="130000"/>
              </a:lnSpc>
              <a:buFont typeface="Arial"/>
              <a:buChar char="•"/>
            </a:pPr>
            <a:r>
              <a:rPr lang="es-ES" dirty="0" smtClean="0">
                <a:solidFill>
                  <a:srgbClr val="FFFFFF"/>
                </a:solidFill>
                <a:latin typeface="Helvetica"/>
                <a:cs typeface="Helvetica"/>
              </a:rPr>
              <a:t>Promesas</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marL="285750" indent="-285750" algn="just">
              <a:lnSpc>
                <a:spcPct val="130000"/>
              </a:lnSpc>
              <a:buFont typeface="Arial"/>
              <a:buChar char="•"/>
            </a:pPr>
            <a:endParaRPr lang="es-ES" dirty="0" smtClean="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p:txBody>
      </p:sp>
    </p:spTree>
    <p:extLst>
      <p:ext uri="{BB962C8B-B14F-4D97-AF65-F5344CB8AC3E}">
        <p14:creationId xmlns:p14="http://schemas.microsoft.com/office/powerpoint/2010/main" val="2490668794"/>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Función </a:t>
            </a:r>
            <a:r>
              <a:rPr lang="es-ES" sz="2400" dirty="0" err="1">
                <a:solidFill>
                  <a:srgbClr val="FFFFFF"/>
                </a:solidFill>
                <a:latin typeface="Helvetica"/>
                <a:cs typeface="Helvetica"/>
              </a:rPr>
              <a:t>Arrow</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51374" y="1690294"/>
            <a:ext cx="7903322" cy="2031325"/>
          </a:xfrm>
          <a:prstGeom prst="rect">
            <a:avLst/>
          </a:prstGeom>
          <a:solidFill>
            <a:schemeClr val="bg2">
              <a:lumMod val="75000"/>
              <a:lumOff val="25000"/>
            </a:schemeClr>
          </a:solidFill>
          <a:ln w="12700" cmpd="sng">
            <a:solidFill>
              <a:srgbClr val="FF6600"/>
            </a:solidFill>
          </a:ln>
        </p:spPr>
        <p:txBody>
          <a:bodyPr wrap="square">
            <a:spAutoFit/>
          </a:bodyPr>
          <a:lstStyle/>
          <a:p>
            <a:r>
              <a:rPr lang="es-ES" dirty="0"/>
              <a:t>// ES5</a:t>
            </a:r>
          </a:p>
          <a:p>
            <a:r>
              <a:rPr lang="es-ES" dirty="0"/>
              <a:t>// Imaginemos una variable data que incluye un </a:t>
            </a:r>
            <a:r>
              <a:rPr lang="es-ES" dirty="0" err="1"/>
              <a:t>array</a:t>
            </a:r>
            <a:r>
              <a:rPr lang="es-ES" dirty="0"/>
              <a:t> de </a:t>
            </a:r>
            <a:r>
              <a:rPr lang="es-ES" dirty="0" err="1"/>
              <a:t>objectos</a:t>
            </a:r>
            <a:endParaRPr lang="es-ES" dirty="0"/>
          </a:p>
          <a:p>
            <a:r>
              <a:rPr lang="es-ES" dirty="0" err="1"/>
              <a:t>var</a:t>
            </a:r>
            <a:r>
              <a:rPr lang="es-ES" dirty="0"/>
              <a:t> data = [{...}, {...}, {...}, ...];</a:t>
            </a:r>
          </a:p>
          <a:p>
            <a:r>
              <a:rPr lang="es-ES" dirty="0" err="1"/>
              <a:t>data.forEach</a:t>
            </a:r>
            <a:r>
              <a:rPr lang="es-ES" dirty="0"/>
              <a:t>(</a:t>
            </a:r>
            <a:r>
              <a:rPr lang="es-ES" dirty="0" err="1"/>
              <a:t>function</a:t>
            </a:r>
            <a:r>
              <a:rPr lang="es-ES" dirty="0"/>
              <a:t>(</a:t>
            </a:r>
            <a:r>
              <a:rPr lang="es-ES" dirty="0" err="1"/>
              <a:t>elem</a:t>
            </a:r>
            <a:r>
              <a:rPr lang="es-ES" dirty="0"/>
              <a:t>){</a:t>
            </a:r>
          </a:p>
          <a:p>
            <a:r>
              <a:rPr lang="es-ES" dirty="0"/>
              <a:t>	// Tratamos el elemento</a:t>
            </a:r>
          </a:p>
          <a:p>
            <a:r>
              <a:rPr lang="es-ES" dirty="0"/>
              <a:t>    </a:t>
            </a:r>
            <a:r>
              <a:rPr lang="es-ES" dirty="0" err="1"/>
              <a:t>console.log</a:t>
            </a:r>
            <a:r>
              <a:rPr lang="es-ES" dirty="0"/>
              <a:t>(</a:t>
            </a:r>
            <a:r>
              <a:rPr lang="es-ES" dirty="0" err="1"/>
              <a:t>elem</a:t>
            </a:r>
            <a:r>
              <a:rPr lang="es-ES" dirty="0"/>
              <a:t>)</a:t>
            </a:r>
          </a:p>
          <a:p>
            <a:r>
              <a:rPr lang="es-ES" dirty="0"/>
              <a:t>});</a:t>
            </a:r>
          </a:p>
        </p:txBody>
      </p:sp>
      <p:sp>
        <p:nvSpPr>
          <p:cNvPr id="16" name="Rectángulo 15"/>
          <p:cNvSpPr/>
          <p:nvPr/>
        </p:nvSpPr>
        <p:spPr>
          <a:xfrm>
            <a:off x="551374" y="3880669"/>
            <a:ext cx="7903322" cy="1477328"/>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a:latin typeface="Calisto MT"/>
                <a:cs typeface="Calisto MT"/>
              </a:rPr>
              <a:t>var data = [{...}, {...}, {...}, ...];</a:t>
            </a:r>
          </a:p>
          <a:p>
            <a:r>
              <a:rPr lang="mr-IN" dirty="0">
                <a:latin typeface="Calisto MT"/>
                <a:cs typeface="Calisto MT"/>
              </a:rPr>
              <a:t>data.forEach(elem =&gt; {</a:t>
            </a:r>
          </a:p>
          <a:p>
            <a:r>
              <a:rPr lang="mr-IN" dirty="0">
                <a:latin typeface="Calisto MT"/>
                <a:cs typeface="Calisto MT"/>
              </a:rPr>
              <a:t>	console.log(elem);</a:t>
            </a:r>
          </a:p>
          <a:p>
            <a:r>
              <a:rPr lang="mr-IN" dirty="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70015251"/>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Clases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48048" y="1592286"/>
            <a:ext cx="7903322"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classLibro</a:t>
            </a:r>
            <a:r>
              <a:rPr lang="es-ES" sz="1400" dirty="0">
                <a:cs typeface="Calisto MT"/>
              </a:rPr>
              <a:t>{</a:t>
            </a:r>
          </a:p>
          <a:p>
            <a:r>
              <a:rPr lang="es-ES" sz="1400" dirty="0">
                <a:cs typeface="Calisto MT"/>
              </a:rPr>
              <a:t> constructor(</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this.autor</a:t>
            </a:r>
            <a:r>
              <a:rPr lang="es-ES" sz="1400" dirty="0">
                <a:cs typeface="Calisto MT"/>
              </a:rPr>
              <a:t>=autor;</a:t>
            </a:r>
          </a:p>
          <a:p>
            <a:r>
              <a:rPr lang="es-ES" sz="1400" dirty="0">
                <a:cs typeface="Calisto MT"/>
              </a:rPr>
              <a:t> 	</a:t>
            </a:r>
            <a:r>
              <a:rPr lang="es-ES" sz="1400" dirty="0" err="1">
                <a:cs typeface="Calisto MT"/>
              </a:rPr>
              <a:t>this.titulo</a:t>
            </a:r>
            <a:r>
              <a:rPr lang="es-ES" sz="1400" dirty="0">
                <a:cs typeface="Calisto MT"/>
              </a:rPr>
              <a:t>=titulo;</a:t>
            </a:r>
          </a:p>
          <a:p>
            <a:r>
              <a:rPr lang="es-ES" sz="1400" dirty="0">
                <a:cs typeface="Calisto MT"/>
              </a:rPr>
              <a:t> 	}</a:t>
            </a:r>
          </a:p>
          <a:p>
            <a:endParaRPr lang="es-ES" sz="1400" dirty="0">
              <a:cs typeface="Calisto MT"/>
            </a:endParaRPr>
          </a:p>
          <a:p>
            <a:r>
              <a:rPr lang="es-ES" sz="1400" dirty="0">
                <a:cs typeface="Calisto MT"/>
              </a:rPr>
              <a:t> mostrar(){</a:t>
            </a:r>
          </a:p>
          <a:p>
            <a:r>
              <a:rPr lang="es-ES" sz="1400" dirty="0">
                <a:cs typeface="Calisto MT"/>
              </a:rPr>
              <a:t> 	</a:t>
            </a:r>
            <a:r>
              <a:rPr lang="es-ES" sz="1400" dirty="0" err="1">
                <a:cs typeface="Calisto MT"/>
              </a:rPr>
              <a:t>console.log</a:t>
            </a:r>
            <a:r>
              <a:rPr lang="es-ES" sz="1400" dirty="0">
                <a:cs typeface="Calisto MT"/>
              </a:rPr>
              <a:t>(</a:t>
            </a:r>
            <a:r>
              <a:rPr lang="es-ES" sz="1400" dirty="0" err="1">
                <a:cs typeface="Calisto MT"/>
              </a:rPr>
              <a:t>this</a:t>
            </a:r>
            <a:r>
              <a:rPr lang="es-ES" sz="1400" dirty="0">
                <a:cs typeface="Calisto MT"/>
              </a:rPr>
              <a:t>);</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classLibroTecnico</a:t>
            </a:r>
            <a:r>
              <a:rPr lang="es-ES" sz="1400" dirty="0">
                <a:cs typeface="Calisto MT"/>
              </a:rPr>
              <a:t> </a:t>
            </a:r>
            <a:r>
              <a:rPr lang="es-ES" sz="1400" dirty="0" err="1">
                <a:cs typeface="Calisto MT"/>
              </a:rPr>
              <a:t>extends</a:t>
            </a:r>
            <a:r>
              <a:rPr lang="es-ES" sz="1400" dirty="0">
                <a:cs typeface="Calisto MT"/>
              </a:rPr>
              <a:t> Libro{</a:t>
            </a:r>
          </a:p>
          <a:p>
            <a:r>
              <a:rPr lang="es-ES" sz="1400" dirty="0">
                <a:cs typeface="Calisto MT"/>
              </a:rPr>
              <a:t> 	constructor(</a:t>
            </a:r>
            <a:r>
              <a:rPr lang="es-ES" sz="1400" dirty="0" err="1">
                <a:cs typeface="Calisto MT"/>
              </a:rPr>
              <a:t>autor,titulo,tema</a:t>
            </a:r>
            <a:r>
              <a:rPr lang="es-ES" sz="1400" dirty="0">
                <a:cs typeface="Calisto MT"/>
              </a:rPr>
              <a:t>){</a:t>
            </a:r>
          </a:p>
          <a:p>
            <a:r>
              <a:rPr lang="es-ES" sz="1400" dirty="0">
                <a:cs typeface="Calisto MT"/>
              </a:rPr>
              <a:t> 		</a:t>
            </a:r>
            <a:r>
              <a:rPr lang="es-ES" sz="1400" dirty="0" err="1">
                <a:cs typeface="Calisto MT"/>
              </a:rPr>
              <a:t>super</a:t>
            </a:r>
            <a:r>
              <a:rPr lang="es-ES" sz="1400" dirty="0">
                <a:cs typeface="Calisto MT"/>
              </a:rPr>
              <a:t>(</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this.tema</a:t>
            </a:r>
            <a:r>
              <a:rPr lang="es-ES" sz="1400" dirty="0">
                <a:cs typeface="Calisto MT"/>
              </a:rPr>
              <a:t>=tema;</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constoLibro</a:t>
            </a:r>
            <a:r>
              <a:rPr lang="es-ES" sz="1400" dirty="0">
                <a:cs typeface="Calisto MT"/>
              </a:rPr>
              <a:t>=</a:t>
            </a:r>
            <a:r>
              <a:rPr lang="es-ES" sz="1400" dirty="0" err="1">
                <a:cs typeface="Calisto MT"/>
              </a:rPr>
              <a:t>newLibroTecnico</a:t>
            </a:r>
            <a:r>
              <a:rPr lang="es-ES" sz="1400" dirty="0">
                <a:cs typeface="Calisto MT"/>
              </a:rPr>
              <a:t>("</a:t>
            </a:r>
            <a:r>
              <a:rPr lang="es-ES" sz="1400" dirty="0" err="1">
                <a:cs typeface="Calisto MT"/>
              </a:rPr>
              <a:t>J.Pérez","Angular</a:t>
            </a:r>
            <a:r>
              <a:rPr lang="es-ES" sz="1400" dirty="0">
                <a:cs typeface="Calisto MT"/>
              </a:rPr>
              <a:t> </a:t>
            </a:r>
            <a:r>
              <a:rPr lang="es-ES" sz="1400" dirty="0" err="1">
                <a:cs typeface="Calisto MT"/>
              </a:rPr>
              <a:t>Facil</a:t>
            </a:r>
            <a:r>
              <a:rPr lang="es-ES" sz="1400" dirty="0">
                <a:cs typeface="Calisto MT"/>
              </a:rPr>
              <a:t>","</a:t>
            </a:r>
            <a:r>
              <a:rPr lang="es-ES" sz="1400" dirty="0" err="1">
                <a:cs typeface="Calisto MT"/>
              </a:rPr>
              <a:t>Programacion</a:t>
            </a:r>
            <a:r>
              <a:rPr lang="es-ES" sz="1400" dirty="0">
                <a:cs typeface="Calisto MT"/>
              </a:rPr>
              <a:t>")</a:t>
            </a:r>
          </a:p>
          <a:p>
            <a:endParaRPr lang="es-ES" sz="1400" dirty="0">
              <a:cs typeface="Calisto MT"/>
            </a:endParaRPr>
          </a:p>
          <a:p>
            <a:r>
              <a:rPr lang="es-ES" sz="1400" dirty="0">
                <a:cs typeface="Calisto MT"/>
              </a:rPr>
              <a:t> </a:t>
            </a:r>
            <a:r>
              <a:rPr lang="es-ES" sz="1400" dirty="0" err="1">
                <a:cs typeface="Calisto MT"/>
              </a:rPr>
              <a:t>oLibro.editorial</a:t>
            </a:r>
            <a:r>
              <a:rPr lang="es-ES" sz="1400" dirty="0">
                <a:cs typeface="Calisto MT"/>
              </a:rPr>
              <a:t>="Anaya";</a:t>
            </a:r>
          </a:p>
          <a:p>
            <a:endParaRPr lang="es-ES" sz="1400" dirty="0">
              <a:cs typeface="Calisto MT"/>
            </a:endParaRPr>
          </a:p>
          <a:p>
            <a:r>
              <a:rPr lang="es-ES" sz="1400" dirty="0">
                <a:cs typeface="Calisto MT"/>
              </a:rPr>
              <a:t> </a:t>
            </a:r>
            <a:r>
              <a:rPr lang="es-ES" sz="1400" dirty="0" err="1">
                <a:cs typeface="Calisto MT"/>
              </a:rPr>
              <a:t>oLibro.mostrar</a:t>
            </a:r>
            <a:r>
              <a:rPr lang="es-ES" sz="1400" dirty="0">
                <a:cs typeface="Calisto MT"/>
              </a:rPr>
              <a:t>();</a:t>
            </a:r>
          </a:p>
        </p:txBody>
      </p:sp>
    </p:spTree>
    <p:extLst>
      <p:ext uri="{BB962C8B-B14F-4D97-AF65-F5344CB8AC3E}">
        <p14:creationId xmlns:p14="http://schemas.microsoft.com/office/powerpoint/2010/main" val="3295158106"/>
      </p:ext>
    </p:extLst>
  </p:cSld>
  <p:clrMapOvr>
    <a:masterClrMapping/>
  </p:clrMapOvr>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smtClean="0">
                <a:solidFill>
                  <a:srgbClr val="FFFFFF"/>
                </a:solidFill>
                <a:latin typeface="Helvetica"/>
                <a:cs typeface="Helvetica"/>
              </a:rPr>
              <a:t>This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447370859"/>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This</a:t>
            </a:r>
            <a:r>
              <a:rPr lang="es-ES" sz="2400" dirty="0" smtClean="0">
                <a:solidFill>
                  <a:srgbClr val="FFFFFF"/>
                </a:solidFill>
                <a:latin typeface="Helvetica"/>
                <a:cs typeface="Helvetica"/>
              </a:rPr>
              <a:t> </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Tree>
    <p:extLst>
      <p:ext uri="{BB962C8B-B14F-4D97-AF65-F5344CB8AC3E}">
        <p14:creationId xmlns:p14="http://schemas.microsoft.com/office/powerpoint/2010/main" val="3175439833"/>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let</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246769"/>
          </a:xfrm>
          <a:prstGeom prst="rect">
            <a:avLst/>
          </a:prstGeom>
          <a:solidFill>
            <a:schemeClr val="bg2">
              <a:lumMod val="75000"/>
              <a:lumOff val="25000"/>
            </a:schemeClr>
          </a:solidFill>
          <a:ln w="12700" cmpd="sng">
            <a:solidFill>
              <a:srgbClr val="FF6600"/>
            </a:solidFill>
          </a:ln>
        </p:spPr>
        <p:txBody>
          <a:bodyPr wrap="square">
            <a:spAutoFit/>
          </a:bodyPr>
          <a:lstStyle/>
          <a:p>
            <a:r>
              <a:rPr lang="es-ES" sz="1400" dirty="0">
                <a:cs typeface="Calisto MT"/>
              </a:rPr>
              <a:t>//ES5</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 x no está definida aún.</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var</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 Imprime "hola mundo", porque "</a:t>
            </a:r>
            <a:r>
              <a:rPr lang="es-ES" sz="1400" dirty="0" err="1">
                <a:cs typeface="Calisto MT"/>
              </a:rPr>
              <a:t>var</a:t>
            </a:r>
            <a:r>
              <a:rPr lang="es-ES" sz="1400" dirty="0">
                <a:cs typeface="Calisto MT"/>
              </a:rPr>
              <a:t>" hace que sea global</a:t>
            </a:r>
          </a:p>
          <a:p>
            <a:r>
              <a:rPr lang="es-ES" sz="1400" dirty="0">
                <a:cs typeface="Calisto MT"/>
              </a:rPr>
              <a:t>    // a la función;</a:t>
            </a:r>
          </a:p>
          <a:p>
            <a:r>
              <a:rPr lang="es-ES" sz="1400" dirty="0">
                <a:cs typeface="Calisto MT"/>
              </a:rPr>
              <a:t>})();</a:t>
            </a:r>
          </a:p>
        </p:txBody>
      </p:sp>
      <p:sp>
        <p:nvSpPr>
          <p:cNvPr id="15" name="Rectángulo 14"/>
          <p:cNvSpPr/>
          <p:nvPr/>
        </p:nvSpPr>
        <p:spPr>
          <a:xfrm>
            <a:off x="505396" y="4086278"/>
            <a:ext cx="7903322"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let</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//Da error, porque "x" ha sido definida dentro del "</a:t>
            </a:r>
            <a:r>
              <a:rPr lang="es-ES" sz="1400" dirty="0" err="1">
                <a:cs typeface="Calisto MT"/>
              </a:rPr>
              <a:t>if</a:t>
            </a:r>
            <a:r>
              <a:rPr lang="es-ES" sz="1400" dirty="0">
                <a:cs typeface="Calisto MT"/>
              </a:rPr>
              <a:t>"</a:t>
            </a:r>
          </a:p>
          <a:p>
            <a:r>
              <a:rPr lang="es-ES" sz="1400" dirty="0">
                <a:cs typeface="Calisto MT"/>
              </a:rPr>
              <a:t>})();</a:t>
            </a:r>
            <a:endParaRPr lang="es-ES" sz="1400" dirty="0">
              <a:latin typeface="Calisto MT"/>
              <a:cs typeface="Calisto MT"/>
            </a:endParaRPr>
          </a:p>
        </p:txBody>
      </p:sp>
    </p:spTree>
    <p:extLst>
      <p:ext uri="{BB962C8B-B14F-4D97-AF65-F5344CB8AC3E}">
        <p14:creationId xmlns:p14="http://schemas.microsoft.com/office/powerpoint/2010/main" val="480601722"/>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const</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05396" y="2883244"/>
            <a:ext cx="7903322" cy="2677656"/>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a:t>
            </a:r>
          </a:p>
          <a:p>
            <a:r>
              <a:rPr lang="es-ES" sz="1400" dirty="0">
                <a:cs typeface="Calisto MT"/>
              </a:rPr>
              <a:t>    PI = 3.15; </a:t>
            </a:r>
          </a:p>
          <a:p>
            <a:r>
              <a:rPr lang="es-ES" sz="1400" dirty="0">
                <a:cs typeface="Calisto MT"/>
              </a:rPr>
              <a:t>    // ERROR, porque ha de asignarse un valor en la </a:t>
            </a:r>
          </a:p>
          <a:p>
            <a:r>
              <a:rPr lang="es-ES" sz="1400" dirty="0">
                <a:cs typeface="Calisto MT"/>
              </a:rPr>
              <a:t>    // declaración</a:t>
            </a:r>
          </a:p>
          <a:p>
            <a:r>
              <a:rPr lang="es-ES" sz="1400" dirty="0">
                <a:cs typeface="Calisto MT"/>
              </a:rPr>
              <a:t>})();</a:t>
            </a:r>
          </a:p>
          <a:p>
            <a:endParaRPr lang="es-ES" sz="1400" dirty="0">
              <a:cs typeface="Calisto MT"/>
            </a:endParaRP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 = 3.15;</a:t>
            </a:r>
          </a:p>
          <a:p>
            <a:r>
              <a:rPr lang="es-ES" sz="1400" dirty="0">
                <a:cs typeface="Calisto MT"/>
              </a:rPr>
              <a:t>    PI = 3.14159;</a:t>
            </a:r>
          </a:p>
          <a:p>
            <a:r>
              <a:rPr lang="es-ES" sz="1400" dirty="0">
                <a:cs typeface="Calisto MT"/>
              </a:rPr>
              <a:t>    // ERROR de nuevo, porque es sólo-lectura</a:t>
            </a:r>
          </a:p>
          <a:p>
            <a:r>
              <a:rPr lang="es-ES" sz="1400" dirty="0">
                <a:cs typeface="Calisto MT"/>
              </a:rPr>
              <a:t>})();</a:t>
            </a:r>
            <a:endParaRPr lang="es-ES" sz="1400" dirty="0">
              <a:latin typeface="Calisto MT"/>
              <a:cs typeface="Calisto MT"/>
            </a:endParaRPr>
          </a:p>
        </p:txBody>
      </p:sp>
      <p:sp>
        <p:nvSpPr>
          <p:cNvPr id="16" name="Rectángulo 15"/>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Ahora con </a:t>
            </a:r>
            <a:r>
              <a:rPr lang="es-ES" dirty="0" err="1">
                <a:solidFill>
                  <a:srgbClr val="FFFFFF"/>
                </a:solidFill>
                <a:latin typeface="Helvetica"/>
                <a:cs typeface="Helvetica"/>
              </a:rPr>
              <a:t>const</a:t>
            </a:r>
            <a:r>
              <a:rPr lang="es-ES" dirty="0">
                <a:solidFill>
                  <a:srgbClr val="FFFFFF"/>
                </a:solidFill>
                <a:latin typeface="Helvetica"/>
                <a:cs typeface="Helvetica"/>
              </a:rPr>
              <a:t> podemos crear constantes que sólo se puedan leer y no modificar a lo largo del código</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Tree>
    <p:extLst>
      <p:ext uri="{BB962C8B-B14F-4D97-AF65-F5344CB8AC3E}">
        <p14:creationId xmlns:p14="http://schemas.microsoft.com/office/powerpoint/2010/main" val="1680590354"/>
      </p:ext>
    </p:extLst>
  </p:cSld>
  <p:clrMapOvr>
    <a:masterClrMapping/>
  </p:clrMapOvr>
  <p:timing>
    <p:tnLst>
      <p:par>
        <p:cTn xmlns:p14="http://schemas.microsoft.com/office/powerpoint/2010/mai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Template</a:t>
            </a:r>
            <a:r>
              <a:rPr lang="es-ES" sz="2400" dirty="0">
                <a:solidFill>
                  <a:srgbClr val="FFFFFF"/>
                </a:solidFill>
                <a:latin typeface="Helvetica"/>
                <a:cs typeface="Helvetica"/>
              </a:rPr>
              <a:t> </a:t>
            </a:r>
            <a:r>
              <a:rPr lang="es-ES" sz="2400" dirty="0" err="1">
                <a:solidFill>
                  <a:srgbClr val="FFFFFF"/>
                </a:solidFill>
                <a:latin typeface="Helvetica"/>
                <a:cs typeface="Helvetica"/>
              </a:rPr>
              <a:t>Strings</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5" y="2721413"/>
            <a:ext cx="4082398" cy="1384995"/>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err="1">
                <a:cs typeface="Calisto MT"/>
              </a:rPr>
              <a:t>let</a:t>
            </a:r>
            <a:r>
              <a:rPr lang="es-ES" sz="1400" dirty="0">
                <a:cs typeface="Calisto MT"/>
              </a:rPr>
              <a:t> nombre1 = "JavaScript";</a:t>
            </a:r>
          </a:p>
          <a:p>
            <a:r>
              <a:rPr lang="es-ES" sz="1400" dirty="0" err="1">
                <a:cs typeface="Calisto MT"/>
              </a:rPr>
              <a:t>let</a:t>
            </a:r>
            <a:r>
              <a:rPr lang="es-ES" sz="1400" dirty="0">
                <a:cs typeface="Calisto MT"/>
              </a:rPr>
              <a:t> nombre2 = "</a:t>
            </a:r>
            <a:r>
              <a:rPr lang="es-ES" sz="1400" dirty="0" err="1">
                <a:cs typeface="Calisto MT"/>
              </a:rPr>
              <a:t>awesome</a:t>
            </a:r>
            <a:r>
              <a:rPr lang="es-ES" sz="1400" dirty="0">
                <a:cs typeface="Calisto MT"/>
              </a:rPr>
              <a:t>";</a:t>
            </a:r>
          </a:p>
          <a:p>
            <a:r>
              <a:rPr lang="es-ES" sz="1400" dirty="0" err="1">
                <a:cs typeface="Calisto MT"/>
              </a:rPr>
              <a:t>console.log</a:t>
            </a:r>
            <a:r>
              <a:rPr lang="es-ES" sz="1400" dirty="0">
                <a:cs typeface="Calisto MT"/>
              </a:rPr>
              <a:t>(`Sólo quiero decir que ${nombre1} </a:t>
            </a:r>
            <a:r>
              <a:rPr lang="es-ES" sz="1400" dirty="0" err="1">
                <a:cs typeface="Calisto MT"/>
              </a:rPr>
              <a:t>is</a:t>
            </a:r>
            <a:r>
              <a:rPr lang="es-ES" sz="1400" dirty="0">
                <a:cs typeface="Calisto MT"/>
              </a:rPr>
              <a:t> ${nombre2`);</a:t>
            </a:r>
          </a:p>
          <a:p>
            <a:r>
              <a:rPr lang="es-ES" sz="1400" dirty="0">
                <a:cs typeface="Calisto MT"/>
              </a:rPr>
              <a:t>// Solo quiero decir que JavaScript </a:t>
            </a:r>
            <a:r>
              <a:rPr lang="es-ES" sz="1400" dirty="0" err="1">
                <a:cs typeface="Calisto MT"/>
              </a:rPr>
              <a:t>is</a:t>
            </a:r>
            <a:r>
              <a:rPr lang="es-ES" sz="1400" dirty="0">
                <a:cs typeface="Calisto MT"/>
              </a:rPr>
              <a:t> </a:t>
            </a:r>
            <a:r>
              <a:rPr lang="es-ES" sz="1400" dirty="0" err="1">
                <a:cs typeface="Calisto MT"/>
              </a:rPr>
              <a:t>awesome</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Con ES6 podemos interpolar </a:t>
            </a:r>
            <a:r>
              <a:rPr lang="es-ES" dirty="0" err="1">
                <a:solidFill>
                  <a:srgbClr val="FFFFFF"/>
                </a:solidFill>
                <a:latin typeface="Helvetica"/>
                <a:cs typeface="Helvetica"/>
              </a:rPr>
              <a:t>Strings</a:t>
            </a:r>
            <a:r>
              <a:rPr lang="es-ES" dirty="0">
                <a:solidFill>
                  <a:srgbClr val="FFFFFF"/>
                </a:solidFill>
                <a:latin typeface="Helvetica"/>
                <a:cs typeface="Helvetica"/>
              </a:rPr>
              <a:t> de una forma más sencilla que como estábamos haciendo hasta ahora.</a:t>
            </a:r>
          </a:p>
        </p:txBody>
      </p:sp>
      <p:sp>
        <p:nvSpPr>
          <p:cNvPr id="16" name="Rectángulo 15"/>
          <p:cNvSpPr/>
          <p:nvPr/>
        </p:nvSpPr>
        <p:spPr>
          <a:xfrm>
            <a:off x="4959048" y="2721413"/>
            <a:ext cx="3736256" cy="2893100"/>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var</a:t>
            </a:r>
            <a:r>
              <a:rPr lang="es-ES" sz="1400" dirty="0">
                <a:cs typeface="Calisto MT"/>
              </a:rPr>
              <a:t> saludo = "ola " +</a:t>
            </a:r>
          </a:p>
          <a:p>
            <a:r>
              <a:rPr lang="es-ES" sz="1400" dirty="0">
                <a:cs typeface="Calisto MT"/>
              </a:rPr>
              <a:t>"que " +</a:t>
            </a:r>
          </a:p>
          <a:p>
            <a:r>
              <a:rPr lang="es-ES" sz="1400" dirty="0">
                <a:cs typeface="Calisto MT"/>
              </a:rPr>
              <a:t>"ase ";</a:t>
            </a:r>
          </a:p>
          <a:p>
            <a:endParaRPr lang="es-ES" sz="1400" dirty="0">
              <a:cs typeface="Calisto MT"/>
            </a:endParaRPr>
          </a:p>
          <a:p>
            <a:r>
              <a:rPr lang="es-ES" sz="1400" dirty="0">
                <a:cs typeface="Calisto MT"/>
              </a:rPr>
              <a:t>//ES6</a:t>
            </a:r>
          </a:p>
          <a:p>
            <a:r>
              <a:rPr lang="es-ES" sz="1400" dirty="0" err="1">
                <a:cs typeface="Calisto MT"/>
              </a:rPr>
              <a:t>var</a:t>
            </a:r>
            <a:r>
              <a:rPr lang="es-ES" sz="1400" dirty="0">
                <a:cs typeface="Calisto MT"/>
              </a:rPr>
              <a:t> saludo = "ola</a:t>
            </a:r>
          </a:p>
          <a:p>
            <a:r>
              <a:rPr lang="es-ES" sz="1400" dirty="0">
                <a:cs typeface="Calisto MT"/>
              </a:rPr>
              <a:t>que</a:t>
            </a:r>
          </a:p>
          <a:p>
            <a:r>
              <a:rPr lang="es-ES" sz="1400" dirty="0">
                <a:cs typeface="Calisto MT"/>
              </a:rPr>
              <a:t>ase";</a:t>
            </a:r>
          </a:p>
          <a:p>
            <a:endParaRPr lang="es-ES" sz="1400" dirty="0">
              <a:cs typeface="Calisto MT"/>
            </a:endParaRPr>
          </a:p>
          <a:p>
            <a:r>
              <a:rPr lang="es-ES" sz="1400" dirty="0" err="1">
                <a:cs typeface="Calisto MT"/>
              </a:rPr>
              <a:t>console.log</a:t>
            </a:r>
            <a:r>
              <a:rPr lang="es-ES" sz="1400" dirty="0">
                <a:cs typeface="Calisto MT"/>
              </a:rPr>
              <a:t>("hola</a:t>
            </a:r>
          </a:p>
          <a:p>
            <a:r>
              <a:rPr lang="es-ES" sz="1400" dirty="0">
                <a:cs typeface="Calisto MT"/>
              </a:rPr>
              <a:t>que</a:t>
            </a:r>
          </a:p>
          <a:p>
            <a:r>
              <a:rPr lang="es-ES" sz="1400" dirty="0">
                <a:cs typeface="Calisto MT"/>
              </a:rPr>
              <a:t>ase");</a:t>
            </a:r>
            <a:endParaRPr lang="es-ES" sz="1400" dirty="0">
              <a:latin typeface="Calisto MT"/>
              <a:cs typeface="Calisto MT"/>
            </a:endParaRPr>
          </a:p>
        </p:txBody>
      </p:sp>
    </p:spTree>
    <p:extLst>
      <p:ext uri="{BB962C8B-B14F-4D97-AF65-F5344CB8AC3E}">
        <p14:creationId xmlns:p14="http://schemas.microsoft.com/office/powerpoint/2010/main" val="694468484"/>
      </p:ext>
    </p:extLst>
  </p:cSld>
  <p:clrMapOvr>
    <a:masterClrMapping/>
  </p:clrMapOvr>
  <p:timing>
    <p:tnLst>
      <p:par>
        <p:cTn xmlns:p14="http://schemas.microsoft.com/office/powerpoint/2010/mai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Destructuring</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7" name="Rectángulo 16"/>
          <p:cNvSpPr/>
          <p:nvPr/>
        </p:nvSpPr>
        <p:spPr>
          <a:xfrm>
            <a:off x="4717144" y="2564178"/>
            <a:ext cx="387047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t>
            </a:r>
            <a:r>
              <a:rPr lang="es-ES" sz="1400" dirty="0" err="1">
                <a:cs typeface="Calisto MT"/>
              </a:rPr>
              <a:t>foo</a:t>
            </a:r>
            <a:r>
              <a:rPr lang="es-ES" sz="1400" dirty="0">
                <a:cs typeface="Calisto MT"/>
              </a:rPr>
              <a:t> =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["175", "75"];</a:t>
            </a:r>
          </a:p>
          <a:p>
            <a:r>
              <a:rPr lang="es-ES" sz="1400" dirty="0">
                <a:cs typeface="Calisto MT"/>
              </a:rPr>
              <a:t>};</a:t>
            </a:r>
          </a:p>
          <a:p>
            <a:r>
              <a:rPr lang="es-ES" sz="1400" dirty="0" err="1">
                <a:cs typeface="Calisto MT"/>
              </a:rPr>
              <a:t>var</a:t>
            </a:r>
            <a:r>
              <a:rPr lang="es-ES" sz="1400" dirty="0">
                <a:cs typeface="Calisto MT"/>
              </a:rPr>
              <a:t> [estatura, peso] = </a:t>
            </a:r>
            <a:r>
              <a:rPr lang="es-ES" sz="1400" dirty="0" err="1">
                <a:cs typeface="Calisto MT"/>
              </a:rPr>
              <a:t>foo</a:t>
            </a:r>
            <a:r>
              <a:rPr lang="es-ES" sz="1400" dirty="0">
                <a:cs typeface="Calisto MT"/>
              </a:rPr>
              <a:t>();</a:t>
            </a:r>
          </a:p>
          <a:p>
            <a:r>
              <a:rPr lang="es-ES" sz="1400" dirty="0" err="1">
                <a:cs typeface="Calisto MT"/>
              </a:rPr>
              <a:t>console.log</a:t>
            </a:r>
            <a:r>
              <a:rPr lang="es-ES" sz="1400" dirty="0">
                <a:cs typeface="Calisto MT"/>
              </a:rPr>
              <a:t>(estatura); //175</a:t>
            </a:r>
          </a:p>
          <a:p>
            <a:r>
              <a:rPr lang="es-ES" sz="1400" dirty="0" err="1">
                <a:cs typeface="Calisto MT"/>
              </a:rPr>
              <a:t>console.log</a:t>
            </a:r>
            <a:r>
              <a:rPr lang="es-ES" sz="1400" dirty="0">
                <a:cs typeface="Calisto MT"/>
              </a:rPr>
              <a:t>(peso); //75[a,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Tree>
    <p:extLst>
      <p:ext uri="{BB962C8B-B14F-4D97-AF65-F5344CB8AC3E}">
        <p14:creationId xmlns:p14="http://schemas.microsoft.com/office/powerpoint/2010/main" val="1537492441"/>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Valores por defecto</a:t>
            </a: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60043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function</a:t>
            </a:r>
            <a:r>
              <a:rPr lang="es-ES" sz="1400" dirty="0">
                <a:cs typeface="Calisto MT"/>
              </a:rPr>
              <a:t>(valor) {</a:t>
            </a:r>
          </a:p>
          <a:p>
            <a:r>
              <a:rPr lang="es-ES" sz="1400" dirty="0">
                <a:cs typeface="Calisto MT"/>
              </a:rPr>
              <a:t>	valor = valor || "</a:t>
            </a:r>
            <a:r>
              <a:rPr lang="es-ES" sz="1400" dirty="0" err="1">
                <a:cs typeface="Calisto MT"/>
              </a:rPr>
              <a:t>foo</a:t>
            </a:r>
            <a:r>
              <a:rPr lang="es-ES" sz="1400" dirty="0">
                <a:cs typeface="Calisto MT"/>
              </a:rPr>
              <a:t>";</a:t>
            </a:r>
          </a:p>
          <a:p>
            <a:r>
              <a:rPr lang="es-ES" sz="1400" dirty="0">
                <a:cs typeface="Calisto MT"/>
              </a:rPr>
              <a:t>}</a:t>
            </a:r>
          </a:p>
          <a:p>
            <a:endParaRPr lang="es-ES" sz="1400" dirty="0">
              <a:cs typeface="Calisto MT"/>
            </a:endParaRPr>
          </a:p>
          <a:p>
            <a:r>
              <a:rPr lang="es-ES" sz="1400" dirty="0">
                <a:cs typeface="Calisto MT"/>
              </a:rPr>
              <a:t>//ES6</a:t>
            </a:r>
          </a:p>
          <a:p>
            <a:r>
              <a:rPr lang="es-ES" sz="1400" dirty="0" err="1">
                <a:cs typeface="Calisto MT"/>
              </a:rPr>
              <a:t>function</a:t>
            </a:r>
            <a:r>
              <a:rPr lang="es-ES" sz="1400" dirty="0">
                <a:cs typeface="Calisto MT"/>
              </a:rPr>
              <a:t>(valor = "</a:t>
            </a:r>
            <a:r>
              <a:rPr lang="es-ES" sz="1400" dirty="0" err="1">
                <a:cs typeface="Calisto MT"/>
              </a:rPr>
              <a:t>foo</a:t>
            </a:r>
            <a:r>
              <a:rPr lang="es-ES" sz="1400" dirty="0">
                <a:cs typeface="Calisto MT"/>
              </a:rPr>
              <a:t>") {...};</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Tree>
    <p:extLst>
      <p:ext uri="{BB962C8B-B14F-4D97-AF65-F5344CB8AC3E}">
        <p14:creationId xmlns:p14="http://schemas.microsoft.com/office/powerpoint/2010/main" val="127054292"/>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Módulos</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16301" cy="2462213"/>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lib</a:t>
            </a:r>
            <a:r>
              <a:rPr lang="es-ES" sz="1400" dirty="0">
                <a:cs typeface="Calisto MT"/>
              </a:rPr>
              <a:t>/</a:t>
            </a:r>
            <a:r>
              <a:rPr lang="es-ES" sz="1400" dirty="0" err="1">
                <a:cs typeface="Calisto MT"/>
              </a:rPr>
              <a:t>person.js</a:t>
            </a:r>
            <a:endParaRPr lang="es-ES" sz="1400" dirty="0">
              <a:cs typeface="Calisto MT"/>
            </a:endParaRPr>
          </a:p>
          <a:p>
            <a:r>
              <a:rPr lang="es-ES" sz="1400" dirty="0">
                <a:cs typeface="Calisto MT"/>
              </a:rPr>
              <a:t>module "</a:t>
            </a:r>
            <a:r>
              <a:rPr lang="es-ES" sz="1400" dirty="0" err="1">
                <a:cs typeface="Calisto MT"/>
              </a:rPr>
              <a:t>person</a:t>
            </a:r>
            <a:r>
              <a:rPr lang="es-ES" sz="1400" dirty="0">
                <a:cs typeface="Calisto MT"/>
              </a:rPr>
              <a:t>" {</a:t>
            </a:r>
          </a:p>
          <a:p>
            <a:r>
              <a:rPr lang="es-ES" sz="1400" dirty="0">
                <a:cs typeface="Calisto MT"/>
              </a:rPr>
              <a:t>	</a:t>
            </a:r>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    	</a:t>
            </a:r>
            <a:r>
              <a:rPr lang="es-ES" sz="1400" dirty="0" err="1">
                <a:cs typeface="Calisto MT"/>
              </a:rPr>
              <a:t>return</a:t>
            </a:r>
            <a:r>
              <a:rPr lang="es-ES" sz="1400" dirty="0">
                <a:cs typeface="Calisto MT"/>
              </a:rPr>
              <a:t> nombre;</a:t>
            </a:r>
          </a:p>
          <a:p>
            <a:r>
              <a:rPr lang="es-ES" sz="1400" dirty="0">
                <a:cs typeface="Calisto MT"/>
              </a:rPr>
              <a:t>    }</a:t>
            </a:r>
          </a:p>
          <a:p>
            <a:r>
              <a:rPr lang="es-ES" sz="1400" dirty="0" smtClean="0">
                <a:cs typeface="Calisto MT"/>
              </a:rPr>
              <a:t>}</a:t>
            </a:r>
          </a:p>
          <a:p>
            <a:endParaRPr lang="es-ES" sz="1400" dirty="0" smtClean="0">
              <a:cs typeface="Calisto MT"/>
            </a:endParaRPr>
          </a:p>
          <a:p>
            <a:r>
              <a:rPr lang="es-ES" sz="1400" dirty="0" smtClean="0">
                <a:latin typeface="Calisto MT"/>
                <a:cs typeface="Calisto MT"/>
              </a:rPr>
              <a:t>o también se puede hacer así</a:t>
            </a:r>
            <a:endParaRPr lang="es-ES" sz="1400" dirty="0">
              <a:latin typeface="Calisto MT"/>
              <a:cs typeface="Calisto MT"/>
            </a:endParaRPr>
          </a:p>
          <a:p>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o también, si solo es una función la que tiene el módulo: </a:t>
            </a:r>
            <a:r>
              <a:rPr lang="es-ES" sz="1400" dirty="0" err="1">
                <a:cs typeface="Calisto MT"/>
              </a:rPr>
              <a:t>export</a:t>
            </a:r>
            <a:r>
              <a:rPr lang="es-ES" sz="1400" dirty="0">
                <a:cs typeface="Calisto MT"/>
              </a:rPr>
              <a:t> default </a:t>
            </a:r>
            <a:r>
              <a:rPr lang="es-ES" sz="1400" dirty="0" err="1">
                <a:cs typeface="Calisto MT"/>
              </a:rPr>
              <a:t>function</a:t>
            </a:r>
            <a:r>
              <a:rPr lang="es-ES" sz="1400" dirty="0">
                <a:cs typeface="Calisto MT"/>
              </a:rPr>
              <a:t>(nombre) {...};</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Llamamos a las funciones desde los propios Scripts, sin tener que importarlos en el </a:t>
            </a:r>
            <a:r>
              <a:rPr lang="es-ES" dirty="0" smtClean="0">
                <a:solidFill>
                  <a:srgbClr val="FFFFFF"/>
                </a:solidFill>
                <a:latin typeface="Helvetica"/>
                <a:cs typeface="Helvetica"/>
              </a:rPr>
              <a:t>HTML.</a:t>
            </a:r>
            <a:endParaRPr lang="es-ES" dirty="0">
              <a:solidFill>
                <a:srgbClr val="FFFFFF"/>
              </a:solidFill>
              <a:latin typeface="Helvetica"/>
              <a:cs typeface="Helvetica"/>
            </a:endParaRPr>
          </a:p>
        </p:txBody>
      </p:sp>
      <p:sp>
        <p:nvSpPr>
          <p:cNvPr id="16" name="Rectángulo 15"/>
          <p:cNvSpPr/>
          <p:nvPr/>
        </p:nvSpPr>
        <p:spPr>
          <a:xfrm>
            <a:off x="4601984" y="2564178"/>
            <a:ext cx="4093320"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app.js</a:t>
            </a:r>
            <a:endParaRPr lang="es-ES" sz="1400" dirty="0">
              <a:cs typeface="Calisto MT"/>
            </a:endParaRPr>
          </a:p>
          <a:p>
            <a:r>
              <a:rPr lang="es-ES" sz="1400" dirty="0" err="1">
                <a:cs typeface="Calisto MT"/>
              </a:rPr>
              <a:t>import</a:t>
            </a:r>
            <a:r>
              <a:rPr lang="es-ES" sz="1400" dirty="0">
                <a:cs typeface="Calisto MT"/>
              </a:rPr>
              <a:t> { </a:t>
            </a:r>
            <a:r>
              <a:rPr lang="es-ES" sz="1400" dirty="0" err="1">
                <a:cs typeface="Calisto MT"/>
              </a:rPr>
              <a:t>hello</a:t>
            </a:r>
            <a:r>
              <a:rPr lang="es-ES" sz="1400" dirty="0">
                <a:cs typeface="Calisto MT"/>
              </a:rPr>
              <a:t> } </a:t>
            </a:r>
            <a:r>
              <a:rPr lang="es-ES" sz="1400" dirty="0" err="1">
                <a:cs typeface="Calisto MT"/>
              </a:rPr>
              <a:t>from</a:t>
            </a:r>
            <a:r>
              <a:rPr lang="es-ES" sz="1400" dirty="0">
                <a:cs typeface="Calisto MT"/>
              </a:rPr>
              <a:t> "</a:t>
            </a:r>
            <a:r>
              <a:rPr lang="es-ES" sz="1400" dirty="0" err="1">
                <a:cs typeface="Calisto MT"/>
              </a:rPr>
              <a:t>person</a:t>
            </a:r>
            <a:r>
              <a:rPr lang="es-ES" sz="1400" dirty="0">
                <a:cs typeface="Calisto MT"/>
              </a:rPr>
              <a:t>";</a:t>
            </a:r>
          </a:p>
          <a:p>
            <a:r>
              <a:rPr lang="es-ES" sz="1400" dirty="0" err="1">
                <a:cs typeface="Calisto MT"/>
              </a:rPr>
              <a:t>var</a:t>
            </a:r>
            <a:r>
              <a:rPr lang="es-ES" sz="1400" dirty="0">
                <a:cs typeface="Calisto MT"/>
              </a:rPr>
              <a:t> </a:t>
            </a:r>
            <a:r>
              <a:rPr lang="es-ES" sz="1400" dirty="0" err="1">
                <a:cs typeface="Calisto MT"/>
              </a:rPr>
              <a:t>app</a:t>
            </a:r>
            <a:r>
              <a:rPr lang="es-ES" sz="1400" dirty="0">
                <a:cs typeface="Calisto MT"/>
              </a:rPr>
              <a:t> = {</a:t>
            </a:r>
          </a:p>
          <a:p>
            <a:r>
              <a:rPr lang="es-ES" sz="1400" dirty="0">
                <a:cs typeface="Calisto MT"/>
              </a:rPr>
              <a:t>	</a:t>
            </a:r>
            <a:r>
              <a:rPr lang="es-ES" sz="1400" dirty="0" err="1">
                <a:cs typeface="Calisto MT"/>
              </a:rPr>
              <a:t>foo</a:t>
            </a:r>
            <a:r>
              <a:rPr lang="es-ES" sz="1400" dirty="0">
                <a:cs typeface="Calisto MT"/>
              </a:rPr>
              <a:t>: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hello</a:t>
            </a:r>
            <a:r>
              <a:rPr lang="es-ES" sz="1400" dirty="0">
                <a:cs typeface="Calisto MT"/>
              </a:rPr>
              <a:t>("Carlos");</a:t>
            </a:r>
          </a:p>
          <a:p>
            <a:r>
              <a:rPr lang="es-ES" sz="1400" dirty="0">
                <a:cs typeface="Calisto MT"/>
              </a:rPr>
              <a:t>    }</a:t>
            </a:r>
          </a:p>
          <a:p>
            <a:r>
              <a:rPr lang="es-ES" sz="1400" dirty="0">
                <a:cs typeface="Calisto MT"/>
              </a:rPr>
              <a:t>}</a:t>
            </a:r>
          </a:p>
          <a:p>
            <a:r>
              <a:rPr lang="es-ES" sz="1400" dirty="0" err="1">
                <a:cs typeface="Calisto MT"/>
              </a:rPr>
              <a:t>export</a:t>
            </a:r>
            <a:r>
              <a:rPr lang="es-ES" sz="1400" dirty="0">
                <a:cs typeface="Calisto MT"/>
              </a:rPr>
              <a:t> </a:t>
            </a:r>
            <a:r>
              <a:rPr lang="es-ES" sz="1400" dirty="0" err="1">
                <a:cs typeface="Calisto MT"/>
              </a:rPr>
              <a:t>app</a:t>
            </a:r>
            <a:r>
              <a:rPr lang="es-ES" sz="1400" dirty="0">
                <a:cs typeface="Calisto MT"/>
              </a:rPr>
              <a:t>;</a:t>
            </a:r>
            <a:endParaRPr lang="es-ES" sz="1400" dirty="0">
              <a:latin typeface="Calisto MT"/>
              <a:cs typeface="Calisto MT"/>
            </a:endParaRPr>
          </a:p>
        </p:txBody>
      </p:sp>
    </p:spTree>
    <p:extLst>
      <p:ext uri="{BB962C8B-B14F-4D97-AF65-F5344CB8AC3E}">
        <p14:creationId xmlns:p14="http://schemas.microsoft.com/office/powerpoint/2010/main" val="3198358128"/>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Promesas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51017" y="1797350"/>
            <a:ext cx="6751747" cy="3970318"/>
          </a:xfrm>
          <a:prstGeom prst="rect">
            <a:avLst/>
          </a:prstGeom>
          <a:solidFill>
            <a:schemeClr val="bg2">
              <a:lumMod val="75000"/>
              <a:lumOff val="25000"/>
            </a:schemeClr>
          </a:solidFill>
          <a:ln w="12700" cmpd="sng">
            <a:solidFill>
              <a:srgbClr val="3366FF"/>
            </a:solidFill>
          </a:ln>
        </p:spPr>
        <p:txBody>
          <a:bodyPr wrap="square">
            <a:spAutoFit/>
          </a:bodyPr>
          <a:lstStyle/>
          <a:p>
            <a:r>
              <a:rPr lang="mr-IN" sz="1400" dirty="0">
                <a:cs typeface="Calisto MT"/>
              </a:rPr>
              <a:t>function hacerAlgoPromesa (){</a:t>
            </a:r>
          </a:p>
          <a:p>
            <a:r>
              <a:rPr lang="mr-IN" sz="1400" dirty="0">
                <a:cs typeface="Calisto MT"/>
              </a:rPr>
              <a:t>    return new Promise (function (resolve, reject) {        </a:t>
            </a:r>
          </a:p>
          <a:p>
            <a:r>
              <a:rPr lang="mr-IN" sz="1400" dirty="0">
                <a:cs typeface="Calisto MT"/>
              </a:rPr>
              <a:t>        setTimeout(</a:t>
            </a:r>
          </a:p>
          <a:p>
            <a:r>
              <a:rPr lang="mr-IN" sz="1400" dirty="0">
                <a:cs typeface="Calisto MT"/>
              </a:rPr>
              <a:t>            () =&gt; {</a:t>
            </a:r>
          </a:p>
          <a:p>
            <a:r>
              <a:rPr lang="mr-IN" sz="1400" dirty="0">
                <a:cs typeface="Calisto MT"/>
              </a:rPr>
              <a:t>                console.log ( 'hacer algo que ha ocupado un tiempo...');</a:t>
            </a:r>
          </a:p>
          <a:p>
            <a:r>
              <a:rPr lang="mr-IN" sz="1400" dirty="0">
                <a:cs typeface="Calisto MT"/>
              </a:rPr>
              <a:t>                let number = Math.random()</a:t>
            </a:r>
          </a:p>
          <a:p>
            <a:r>
              <a:rPr lang="mr-IN" sz="1400" dirty="0">
                <a:cs typeface="Calisto MT"/>
              </a:rPr>
              <a:t>                if (number &lt; 0.7) {</a:t>
            </a:r>
          </a:p>
          <a:p>
            <a:r>
              <a:rPr lang="mr-IN" sz="1400" dirty="0">
                <a:cs typeface="Calisto MT"/>
              </a:rPr>
              <a:t>                    resolve(number) // correcto</a:t>
            </a:r>
          </a:p>
          <a:p>
            <a:r>
              <a:rPr lang="mr-IN" sz="1400" dirty="0">
                <a:cs typeface="Calisto MT"/>
              </a:rPr>
              <a:t>                }  else {</a:t>
            </a:r>
          </a:p>
          <a:p>
            <a:r>
              <a:rPr lang="mr-IN" sz="1400" dirty="0">
                <a:cs typeface="Calisto MT"/>
              </a:rPr>
              <a:t>                    reject(number) // incorrecto</a:t>
            </a:r>
          </a:p>
          <a:p>
            <a:r>
              <a:rPr lang="mr-IN" sz="1400" dirty="0">
                <a:cs typeface="Calisto MT"/>
              </a:rPr>
              <a:t>                }</a:t>
            </a:r>
          </a:p>
          <a:p>
            <a:r>
              <a:rPr lang="mr-IN" sz="1400" dirty="0">
                <a:cs typeface="Calisto MT"/>
              </a:rPr>
              <a:t>            },  2000);</a:t>
            </a:r>
          </a:p>
          <a:p>
            <a:r>
              <a:rPr lang="mr-IN" sz="1400" dirty="0">
                <a:cs typeface="Calisto MT"/>
              </a:rPr>
              <a:t>    })</a:t>
            </a:r>
          </a:p>
          <a:p>
            <a:r>
              <a:rPr lang="mr-IN" sz="1400" dirty="0">
                <a:cs typeface="Calisto MT"/>
              </a:rPr>
              <a:t> </a:t>
            </a:r>
            <a:r>
              <a:rPr lang="mr-IN" sz="1400" dirty="0" smtClean="0">
                <a:cs typeface="Calisto MT"/>
              </a:rPr>
              <a:t>}</a:t>
            </a:r>
            <a:endParaRPr lang="es-ES_tradnl" sz="1400" dirty="0" smtClean="0">
              <a:cs typeface="Calisto MT"/>
            </a:endParaRPr>
          </a:p>
          <a:p>
            <a:endParaRPr lang="es-ES_tradnl" sz="1400" dirty="0">
              <a:cs typeface="Calisto MT"/>
            </a:endParaRPr>
          </a:p>
          <a:p>
            <a:r>
              <a:rPr lang="es-ES_tradnl" sz="1400" dirty="0" err="1">
                <a:cs typeface="Calisto MT"/>
              </a:rPr>
              <a:t>hacerAlgoPromesa</a:t>
            </a:r>
            <a:r>
              <a:rPr lang="es-ES_tradnl" sz="1400" dirty="0">
                <a:cs typeface="Calisto MT"/>
              </a:rPr>
              <a:t>()</a:t>
            </a:r>
          </a:p>
          <a:p>
            <a:r>
              <a:rPr lang="es-ES_tradnl" sz="1400" dirty="0">
                <a:cs typeface="Calisto MT"/>
              </a:rPr>
              <a:t>    .</a:t>
            </a:r>
            <a:r>
              <a:rPr lang="es-ES_tradnl" sz="1400" dirty="0" err="1">
                <a:cs typeface="Calisto MT"/>
              </a:rPr>
              <a:t>then</a:t>
            </a:r>
            <a:r>
              <a:rPr lang="es-ES_tradnl" sz="1400" dirty="0">
                <a:cs typeface="Calisto MT"/>
              </a:rPr>
              <a:t>( (data) =&gt; {</a:t>
            </a:r>
            <a:r>
              <a:rPr lang="es-ES_tradnl" sz="1400" dirty="0" err="1">
                <a:cs typeface="Calisto MT"/>
              </a:rPr>
              <a:t>console.log</a:t>
            </a:r>
            <a:r>
              <a:rPr lang="es-ES_tradnl" sz="1400" dirty="0">
                <a:cs typeface="Calisto MT"/>
              </a:rPr>
              <a:t>('El resultado es', data)})</a:t>
            </a:r>
          </a:p>
          <a:p>
            <a:r>
              <a:rPr lang="es-ES_tradnl" sz="1400" dirty="0">
                <a:cs typeface="Calisto MT"/>
              </a:rPr>
              <a:t>    .catch( (error) =&gt; {</a:t>
            </a:r>
            <a:r>
              <a:rPr lang="es-ES_tradnl" sz="1400" dirty="0" err="1">
                <a:cs typeface="Calisto MT"/>
              </a:rPr>
              <a:t>console.log</a:t>
            </a:r>
            <a:r>
              <a:rPr lang="es-ES_tradnl" sz="1400" dirty="0">
                <a:cs typeface="Calisto MT"/>
              </a:rPr>
              <a:t>('Error', error)})</a:t>
            </a:r>
            <a:endParaRPr lang="es-ES" sz="1400" dirty="0">
              <a:latin typeface="Calisto MT"/>
              <a:cs typeface="Calisto MT"/>
            </a:endParaRPr>
          </a:p>
        </p:txBody>
      </p:sp>
    </p:spTree>
    <p:extLst>
      <p:ext uri="{BB962C8B-B14F-4D97-AF65-F5344CB8AC3E}">
        <p14:creationId xmlns:p14="http://schemas.microsoft.com/office/powerpoint/2010/main" val="3959074881"/>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Transpilar</a:t>
            </a:r>
            <a:r>
              <a:rPr lang="es-ES" sz="2000" dirty="0">
                <a:solidFill>
                  <a:srgbClr val="FFFFFF"/>
                </a:solidFill>
                <a:latin typeface="Helvetica"/>
                <a:ea typeface="Lucida Grande"/>
                <a:cs typeface="Helvetica"/>
              </a:rPr>
              <a:t> Vs Compilar</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smtClean="0">
                <a:solidFill>
                  <a:srgbClr val="FFFFFF"/>
                </a:solidFill>
                <a:latin typeface="Helvetica"/>
                <a:cs typeface="Helvetica"/>
              </a:rPr>
              <a:t>Transpilar</a:t>
            </a:r>
            <a:r>
              <a:rPr lang="es-ES" sz="2400" dirty="0" smtClean="0">
                <a:solidFill>
                  <a:srgbClr val="FFFFFF"/>
                </a:solidFill>
                <a:latin typeface="Helvetica"/>
                <a:cs typeface="Helvetica"/>
              </a:rPr>
              <a:t> </a:t>
            </a:r>
            <a:r>
              <a:rPr lang="es-ES" sz="2400" dirty="0">
                <a:solidFill>
                  <a:srgbClr val="FFFFFF"/>
                </a:solidFill>
                <a:latin typeface="Helvetica"/>
                <a:cs typeface="Helvetica"/>
              </a:rPr>
              <a:t>Vs Compilar</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 b="1" u="sng" dirty="0">
                <a:solidFill>
                  <a:srgbClr val="FFFFFF"/>
                </a:solidFill>
                <a:latin typeface="Helvetica"/>
                <a:cs typeface="Helvetica"/>
              </a:rPr>
              <a:t>Compilar: </a:t>
            </a:r>
            <a:r>
              <a:rPr lang="es-ES" dirty="0">
                <a:solidFill>
                  <a:srgbClr val="FFFFFF"/>
                </a:solidFill>
                <a:latin typeface="Helvetica"/>
                <a:cs typeface="Helvetica"/>
              </a:rPr>
              <a:t>es el proceso de transformar Código de Alto Nivel, es decir código que se entendible por personas con conocimientos en programación, a código que la maquina pueda entender, es decir código Máquina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b="1" u="sng" dirty="0" err="1" smtClean="0">
                <a:solidFill>
                  <a:srgbClr val="FFFFFF"/>
                </a:solidFill>
                <a:latin typeface="Helvetica"/>
                <a:cs typeface="Helvetica"/>
              </a:rPr>
              <a:t>Transpilar</a:t>
            </a:r>
            <a:r>
              <a:rPr lang="es-ES" b="1" u="sng" dirty="0" smtClean="0">
                <a:solidFill>
                  <a:srgbClr val="FFFFFF"/>
                </a:solidFill>
                <a:latin typeface="Helvetica"/>
                <a:cs typeface="Helvetica"/>
              </a:rPr>
              <a:t>: </a:t>
            </a:r>
            <a:r>
              <a:rPr lang="es-ES" dirty="0" smtClean="0">
                <a:solidFill>
                  <a:srgbClr val="FFFFFF"/>
                </a:solidFill>
                <a:latin typeface="Helvetica"/>
                <a:cs typeface="Helvetica"/>
              </a:rPr>
              <a:t>por </a:t>
            </a:r>
            <a:r>
              <a:rPr lang="es-ES" dirty="0">
                <a:solidFill>
                  <a:srgbClr val="FFFFFF"/>
                </a:solidFill>
                <a:latin typeface="Helvetica"/>
                <a:cs typeface="Helvetica"/>
              </a:rPr>
              <a:t>otra parte es el proceso en el que transformamos Código de un lenguaje de programación a otro, similar a compilar, pero la diferencia esta en que el código que se transforma, tienen el mismo nivel, es decir que al final, es convertir código al mismo nivel de abstracción. </a:t>
            </a:r>
          </a:p>
        </p:txBody>
      </p:sp>
    </p:spTree>
    <p:extLst>
      <p:ext uri="{BB962C8B-B14F-4D97-AF65-F5344CB8AC3E}">
        <p14:creationId xmlns:p14="http://schemas.microsoft.com/office/powerpoint/2010/main" val="2668943692"/>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Definición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los </a:t>
            </a:r>
            <a:r>
              <a:rPr lang="es-ES" dirty="0" smtClean="0">
                <a:solidFill>
                  <a:srgbClr val="FFFFFF"/>
                </a:solidFill>
                <a:latin typeface="Helvetica"/>
                <a:cs typeface="Helvetica"/>
              </a:rPr>
              <a:t>últimos </a:t>
            </a:r>
            <a:r>
              <a:rPr lang="es-ES" dirty="0">
                <a:solidFill>
                  <a:srgbClr val="FFFFFF"/>
                </a:solidFill>
                <a:latin typeface="Helvetica"/>
                <a:cs typeface="Helvetica"/>
              </a:rPr>
              <a:t>años se ha venido observando un claro movimiento hacia la </a:t>
            </a:r>
            <a:r>
              <a:rPr lang="es-ES" dirty="0" err="1">
                <a:solidFill>
                  <a:srgbClr val="FFFFFF"/>
                </a:solidFill>
                <a:latin typeface="Helvetica"/>
                <a:cs typeface="Helvetica"/>
              </a:rPr>
              <a:t>modularización</a:t>
            </a:r>
            <a:r>
              <a:rPr lang="es-ES" dirty="0">
                <a:solidFill>
                  <a:srgbClr val="FFFFFF"/>
                </a:solidFill>
                <a:latin typeface="Helvetica"/>
                <a:cs typeface="Helvetica"/>
              </a:rPr>
              <a:t> </a:t>
            </a:r>
            <a:r>
              <a:rPr lang="es-ES" dirty="0" smtClean="0">
                <a:solidFill>
                  <a:srgbClr val="FFFFFF"/>
                </a:solidFill>
                <a:latin typeface="Helvetica"/>
                <a:cs typeface="Helvetica"/>
              </a:rPr>
              <a:t>de la </a:t>
            </a:r>
            <a:r>
              <a:rPr lang="es-ES" dirty="0">
                <a:solidFill>
                  <a:srgbClr val="FFFFFF"/>
                </a:solidFill>
                <a:latin typeface="Helvetica"/>
                <a:cs typeface="Helvetica"/>
              </a:rPr>
              <a:t>Web</a:t>
            </a:r>
            <a:r>
              <a:rPr lang="es-ES" dirty="0" smtClean="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Como </a:t>
            </a:r>
            <a:r>
              <a:rPr lang="es-ES" dirty="0">
                <a:solidFill>
                  <a:srgbClr val="FFFFFF"/>
                </a:solidFill>
                <a:latin typeface="Helvetica"/>
                <a:cs typeface="Helvetica"/>
              </a:rPr>
              <a:t>consecuencia de los esfuerzos de </a:t>
            </a:r>
            <a:r>
              <a:rPr lang="es-ES" dirty="0" err="1">
                <a:solidFill>
                  <a:srgbClr val="FFFFFF"/>
                </a:solidFill>
                <a:latin typeface="Helvetica"/>
                <a:cs typeface="Helvetica"/>
              </a:rPr>
              <a:t>modularización</a:t>
            </a:r>
            <a:r>
              <a:rPr lang="es-ES" dirty="0">
                <a:solidFill>
                  <a:srgbClr val="FFFFFF"/>
                </a:solidFill>
                <a:latin typeface="Helvetica"/>
                <a:cs typeface="Helvetica"/>
              </a:rPr>
              <a:t> y </a:t>
            </a:r>
            <a:r>
              <a:rPr lang="es-ES" dirty="0" smtClean="0">
                <a:solidFill>
                  <a:srgbClr val="FFFFFF"/>
                </a:solidFill>
                <a:latin typeface="Helvetica"/>
                <a:cs typeface="Helvetica"/>
              </a:rPr>
              <a:t>reutilización </a:t>
            </a:r>
            <a:r>
              <a:rPr lang="es-ES" dirty="0">
                <a:solidFill>
                  <a:srgbClr val="FFFFFF"/>
                </a:solidFill>
                <a:latin typeface="Helvetica"/>
                <a:cs typeface="Helvetica"/>
              </a:rPr>
              <a:t>anteriores surge, de </a:t>
            </a:r>
            <a:r>
              <a:rPr lang="es-ES" dirty="0" smtClean="0">
                <a:solidFill>
                  <a:srgbClr val="FFFFFF"/>
                </a:solidFill>
                <a:latin typeface="Helvetica"/>
                <a:cs typeface="Helvetica"/>
              </a:rPr>
              <a:t>la mano </a:t>
            </a:r>
            <a:r>
              <a:rPr lang="es-ES" dirty="0">
                <a:solidFill>
                  <a:srgbClr val="FFFFFF"/>
                </a:solidFill>
                <a:latin typeface="Helvetica"/>
                <a:cs typeface="Helvetica"/>
              </a:rPr>
              <a:t>de la W3C, el estándar de Componentes Web que pretende recoger estas inquietudes </a:t>
            </a:r>
            <a:r>
              <a:rPr lang="es-ES" dirty="0" smtClean="0">
                <a:solidFill>
                  <a:srgbClr val="FFFFFF"/>
                </a:solidFill>
                <a:latin typeface="Helvetica"/>
                <a:cs typeface="Helvetica"/>
              </a:rPr>
              <a:t>y resolver </a:t>
            </a:r>
            <a:r>
              <a:rPr lang="es-ES" dirty="0">
                <a:solidFill>
                  <a:srgbClr val="FFFFFF"/>
                </a:solidFill>
                <a:latin typeface="Helvetica"/>
                <a:cs typeface="Helvetica"/>
              </a:rPr>
              <a:t>algunos de los problemas que presentan las soluciones propuestas hasta la </a:t>
            </a:r>
            <a:r>
              <a:rPr lang="es-ES" dirty="0" smtClean="0">
                <a:solidFill>
                  <a:srgbClr val="FFFFFF"/>
                </a:solidFill>
                <a:latin typeface="Helvetica"/>
                <a:cs typeface="Helvetica"/>
              </a:rPr>
              <a:t>fecha (Encapsulamiento, modularidad , extensibilidad , </a:t>
            </a:r>
            <a:r>
              <a:rPr lang="es-ES" dirty="0" err="1" smtClean="0">
                <a:solidFill>
                  <a:srgbClr val="FFFFFF"/>
                </a:solidFill>
                <a:latin typeface="Helvetica"/>
                <a:cs typeface="Helvetica"/>
              </a:rPr>
              <a:t>templates</a:t>
            </a:r>
            <a:r>
              <a:rPr lang="es-ES" dirty="0">
                <a:solidFill>
                  <a:srgbClr val="FFFFFF"/>
                </a:solidFill>
                <a:latin typeface="Helvetica"/>
                <a:cs typeface="Helvetica"/>
              </a:rPr>
              <a:t>)</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Un </a:t>
            </a:r>
            <a:r>
              <a:rPr lang="es-ES" dirty="0">
                <a:solidFill>
                  <a:srgbClr val="FFFFFF"/>
                </a:solidFill>
                <a:latin typeface="Helvetica"/>
                <a:cs typeface="Helvetica"/>
              </a:rPr>
              <a:t>Componente Web proporciona </a:t>
            </a:r>
            <a:r>
              <a:rPr lang="es-ES" u="sng" dirty="0">
                <a:solidFill>
                  <a:srgbClr val="FFFFFF"/>
                </a:solidFill>
                <a:latin typeface="Helvetica"/>
                <a:cs typeface="Helvetica"/>
              </a:rPr>
              <a:t>un mecanismo para construir nuevos elementos DOM personalizados</a:t>
            </a:r>
            <a:r>
              <a:rPr lang="es-ES" dirty="0">
                <a:solidFill>
                  <a:srgbClr val="FFFFFF"/>
                </a:solidFill>
                <a:latin typeface="Helvetica"/>
                <a:cs typeface="Helvetica"/>
              </a:rPr>
              <a:t> que incluyen semántica funcional nueva además de una estructura sintáctica potencialmente diferente.</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258696191"/>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Objetivo</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debemos olvidar que nuestro </a:t>
            </a:r>
            <a:r>
              <a:rPr lang="es-ES" dirty="0" smtClean="0">
                <a:solidFill>
                  <a:srgbClr val="FFFFFF"/>
                </a:solidFill>
                <a:latin typeface="Helvetica"/>
                <a:cs typeface="Helvetica"/>
              </a:rPr>
              <a:t>último objetivo </a:t>
            </a:r>
            <a:r>
              <a:rPr lang="es-ES" dirty="0">
                <a:solidFill>
                  <a:srgbClr val="FFFFFF"/>
                </a:solidFill>
                <a:latin typeface="Helvetica"/>
                <a:cs typeface="Helvetica"/>
              </a:rPr>
              <a:t>cuando construimos componentes Web </a:t>
            </a:r>
            <a:r>
              <a:rPr lang="es-ES" dirty="0" smtClean="0">
                <a:solidFill>
                  <a:srgbClr val="FFFFFF"/>
                </a:solidFill>
                <a:latin typeface="Helvetica"/>
                <a:cs typeface="Helvetica"/>
              </a:rPr>
              <a:t>es elaborar </a:t>
            </a:r>
            <a:r>
              <a:rPr lang="es-ES" dirty="0">
                <a:solidFill>
                  <a:srgbClr val="FFFFFF"/>
                </a:solidFill>
                <a:latin typeface="Helvetica"/>
                <a:cs typeface="Helvetica"/>
              </a:rPr>
              <a:t>sistemas funcionales complejos que puedan operar sobre la Web como plataforma.</a:t>
            </a:r>
          </a:p>
          <a:p>
            <a:pPr algn="just">
              <a:lnSpc>
                <a:spcPct val="130000"/>
              </a:lnSpc>
            </a:pPr>
            <a:r>
              <a:rPr lang="es-ES" dirty="0">
                <a:solidFill>
                  <a:srgbClr val="FFFFFF"/>
                </a:solidFill>
                <a:latin typeface="Helvetica"/>
                <a:cs typeface="Helvetica"/>
              </a:rPr>
              <a:t>Para hacer frente este problema es necesario poner foco de atención en la relación </a:t>
            </a:r>
            <a:r>
              <a:rPr lang="es-ES" dirty="0" smtClean="0">
                <a:solidFill>
                  <a:srgbClr val="FFFFFF"/>
                </a:solidFill>
                <a:latin typeface="Helvetica"/>
                <a:cs typeface="Helvetica"/>
              </a:rPr>
              <a:t>de coordinación </a:t>
            </a:r>
            <a:r>
              <a:rPr lang="es-ES" dirty="0">
                <a:solidFill>
                  <a:srgbClr val="FFFFFF"/>
                </a:solidFill>
                <a:latin typeface="Helvetica"/>
                <a:cs typeface="Helvetica"/>
              </a:rPr>
              <a:t>inherente que debe establecerse entre los servicios para dar lugar </a:t>
            </a:r>
            <a:r>
              <a:rPr lang="es-ES" dirty="0" smtClean="0">
                <a:solidFill>
                  <a:srgbClr val="FFFFFF"/>
                </a:solidFill>
                <a:latin typeface="Helvetica"/>
                <a:cs typeface="Helvetica"/>
              </a:rPr>
              <a:t>a componentes </a:t>
            </a:r>
            <a:r>
              <a:rPr lang="es-ES" dirty="0">
                <a:solidFill>
                  <a:srgbClr val="FFFFFF"/>
                </a:solidFill>
                <a:latin typeface="Helvetica"/>
                <a:cs typeface="Helvetica"/>
              </a:rPr>
              <a:t>que ofrezcan servicios de mayor valor</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Objetivo:</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418238" y="4001926"/>
            <a:ext cx="4170438" cy="2337570"/>
          </a:xfrm>
          <a:prstGeom prst="rect">
            <a:avLst/>
          </a:prstGeom>
        </p:spPr>
      </p:pic>
    </p:spTree>
    <p:extLst>
      <p:ext uri="{BB962C8B-B14F-4D97-AF65-F5344CB8AC3E}">
        <p14:creationId xmlns:p14="http://schemas.microsoft.com/office/powerpoint/2010/main" val="2680438043"/>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modelo de componentes para la Web definido por la W3C consiste en </a:t>
            </a:r>
            <a:r>
              <a:rPr lang="es-ES" dirty="0" smtClean="0">
                <a:solidFill>
                  <a:srgbClr val="FFFFFF"/>
                </a:solidFill>
                <a:latin typeface="Helvetica"/>
                <a:cs typeface="Helvetica"/>
              </a:rPr>
              <a:t>cuatro especificaciones </a:t>
            </a:r>
            <a:r>
              <a:rPr lang="es-ES" dirty="0">
                <a:solidFill>
                  <a:srgbClr val="FFFFFF"/>
                </a:solidFill>
                <a:latin typeface="Helvetica"/>
                <a:cs typeface="Helvetica"/>
              </a:rPr>
              <a:t>tecnológicamente independientes que cubren </a:t>
            </a:r>
            <a:r>
              <a:rPr lang="es-ES" dirty="0" smtClean="0">
                <a:solidFill>
                  <a:srgbClr val="FFFFFF"/>
                </a:solidFill>
                <a:latin typeface="Helvetica"/>
                <a:cs typeface="Helvetica"/>
              </a:rPr>
              <a:t>distintos </a:t>
            </a:r>
            <a:r>
              <a:rPr lang="es-ES" dirty="0">
                <a:solidFill>
                  <a:srgbClr val="FFFFFF"/>
                </a:solidFill>
                <a:latin typeface="Helvetica"/>
                <a:cs typeface="Helvetica"/>
              </a:rPr>
              <a:t>aspectos del </a:t>
            </a:r>
            <a:r>
              <a:rPr lang="es-ES" dirty="0" smtClean="0">
                <a:solidFill>
                  <a:srgbClr val="FFFFFF"/>
                </a:solidFill>
                <a:latin typeface="Helvetica"/>
                <a:cs typeface="Helvetica"/>
              </a:rPr>
              <a:t>proceso constructivo.</a:t>
            </a:r>
          </a:p>
          <a:p>
            <a:pPr algn="just">
              <a:lnSpc>
                <a:spcPct val="130000"/>
              </a:lnSpc>
            </a:pP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080906" y="2803101"/>
            <a:ext cx="3276600" cy="1678834"/>
          </a:xfrm>
          <a:prstGeom prst="rect">
            <a:avLst/>
          </a:prstGeom>
        </p:spPr>
      </p:pic>
      <p:pic>
        <p:nvPicPr>
          <p:cNvPr id="12" name="Imagen 11"/>
          <p:cNvPicPr>
            <a:picLocks noChangeAspect="1"/>
          </p:cNvPicPr>
          <p:nvPr/>
        </p:nvPicPr>
        <p:blipFill>
          <a:blip r:embed="rId6"/>
          <a:stretch>
            <a:fillRect/>
          </a:stretch>
        </p:blipFill>
        <p:spPr>
          <a:xfrm>
            <a:off x="1068206" y="4548796"/>
            <a:ext cx="3289300" cy="1790700"/>
          </a:xfrm>
          <a:prstGeom prst="rect">
            <a:avLst/>
          </a:prstGeom>
        </p:spPr>
      </p:pic>
      <p:pic>
        <p:nvPicPr>
          <p:cNvPr id="15" name="Imagen 14"/>
          <p:cNvPicPr>
            <a:picLocks noChangeAspect="1"/>
          </p:cNvPicPr>
          <p:nvPr/>
        </p:nvPicPr>
        <p:blipFill>
          <a:blip r:embed="rId7"/>
          <a:stretch>
            <a:fillRect/>
          </a:stretch>
        </p:blipFill>
        <p:spPr>
          <a:xfrm>
            <a:off x="4474321" y="2791006"/>
            <a:ext cx="3357016" cy="1714500"/>
          </a:xfrm>
          <a:prstGeom prst="rect">
            <a:avLst/>
          </a:prstGeom>
        </p:spPr>
      </p:pic>
      <p:pic>
        <p:nvPicPr>
          <p:cNvPr id="16" name="Imagen 15"/>
          <p:cNvPicPr>
            <a:picLocks noChangeAspect="1"/>
          </p:cNvPicPr>
          <p:nvPr/>
        </p:nvPicPr>
        <p:blipFill>
          <a:blip r:embed="rId8"/>
          <a:stretch>
            <a:fillRect/>
          </a:stretch>
        </p:blipFill>
        <p:spPr>
          <a:xfrm>
            <a:off x="4462226" y="4559120"/>
            <a:ext cx="3369111" cy="1794408"/>
          </a:xfrm>
          <a:prstGeom prst="rect">
            <a:avLst/>
          </a:prstGeom>
        </p:spPr>
      </p:pic>
    </p:spTree>
    <p:extLst>
      <p:ext uri="{BB962C8B-B14F-4D97-AF65-F5344CB8AC3E}">
        <p14:creationId xmlns:p14="http://schemas.microsoft.com/office/powerpoint/2010/main" val="2035785893"/>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Con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los programadores web pueden crear nuevas etiquetas HTML, reforzar las que existen o ampliar los componentes de otros desarrolladores. Aporta una estrategia web basada en estándares para crear componentes reutilizables usando solo JS/HTML/CSS básicos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Para definir un nuevo elemento HTML, necesitamos el poder de JavaScript.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El </a:t>
            </a:r>
            <a:r>
              <a:rPr lang="es-ES" dirty="0" smtClean="0">
                <a:solidFill>
                  <a:srgbClr val="FFFFFF"/>
                </a:solidFill>
                <a:latin typeface="Helvetica"/>
                <a:cs typeface="Helvetica"/>
              </a:rPr>
              <a:t>elemento </a:t>
            </a:r>
            <a:r>
              <a:rPr lang="es-ES" dirty="0" err="1" smtClean="0">
                <a:solidFill>
                  <a:srgbClr val="FFFFFF"/>
                </a:solidFill>
                <a:latin typeface="Helvetica"/>
                <a:cs typeface="Helvetica"/>
              </a:rPr>
              <a:t>customElements</a:t>
            </a:r>
            <a:r>
              <a:rPr lang="es-ES" dirty="0" smtClean="0">
                <a:solidFill>
                  <a:srgbClr val="FFFFFF"/>
                </a:solidFill>
                <a:latin typeface="Helvetica"/>
                <a:cs typeface="Helvetica"/>
              </a:rPr>
              <a:t> global se usa para definir </a:t>
            </a:r>
            <a:r>
              <a:rPr lang="es-ES" dirty="0">
                <a:solidFill>
                  <a:srgbClr val="FFFFFF"/>
                </a:solidFill>
                <a:latin typeface="Helvetica"/>
                <a:cs typeface="Helvetica"/>
              </a:rPr>
              <a:t>un elemento personalizado y </a:t>
            </a:r>
            <a:r>
              <a:rPr lang="es-ES" dirty="0" smtClean="0">
                <a:solidFill>
                  <a:srgbClr val="FFFFFF"/>
                </a:solidFill>
                <a:latin typeface="Helvetica"/>
                <a:cs typeface="Helvetica"/>
              </a:rPr>
              <a:t>notificar </a:t>
            </a:r>
            <a:r>
              <a:rPr lang="es-ES" dirty="0">
                <a:solidFill>
                  <a:srgbClr val="FFFFFF"/>
                </a:solidFill>
                <a:latin typeface="Helvetica"/>
                <a:cs typeface="Helvetica"/>
              </a:rPr>
              <a:t>al navegador sobre una nueva etiqueta. Llama a </a:t>
            </a:r>
            <a:r>
              <a:rPr lang="es-ES" dirty="0" err="1">
                <a:solidFill>
                  <a:srgbClr val="FFFFFF"/>
                </a:solidFill>
                <a:latin typeface="Helvetica"/>
                <a:cs typeface="Helvetica"/>
              </a:rPr>
              <a:t>customElements.define</a:t>
            </a:r>
            <a:r>
              <a:rPr lang="es-ES" dirty="0">
                <a:solidFill>
                  <a:srgbClr val="FFFFFF"/>
                </a:solidFill>
                <a:latin typeface="Helvetica"/>
                <a:cs typeface="Helvetica"/>
              </a:rPr>
              <a:t>() con el nombre de etiqueta que desees crear y una </a:t>
            </a:r>
            <a:r>
              <a:rPr lang="es-ES" dirty="0" err="1">
                <a:solidFill>
                  <a:srgbClr val="FFFFFF"/>
                </a:solidFill>
                <a:latin typeface="Helvetica"/>
                <a:cs typeface="Helvetica"/>
              </a:rPr>
              <a:t>class</a:t>
            </a:r>
            <a:r>
              <a:rPr lang="es-ES" dirty="0">
                <a:solidFill>
                  <a:srgbClr val="FFFFFF"/>
                </a:solidFill>
                <a:latin typeface="Helvetica"/>
                <a:cs typeface="Helvetica"/>
              </a:rPr>
              <a:t> JavaScript que extienda el </a:t>
            </a:r>
            <a:r>
              <a:rPr lang="es-ES" dirty="0" err="1">
                <a:solidFill>
                  <a:srgbClr val="FFFFFF"/>
                </a:solidFill>
                <a:latin typeface="Helvetica"/>
                <a:cs typeface="Helvetica"/>
              </a:rPr>
              <a:t>HTMLElement</a:t>
            </a:r>
            <a:r>
              <a:rPr lang="es-ES" dirty="0">
                <a:solidFill>
                  <a:srgbClr val="FFFFFF"/>
                </a:solidFill>
                <a:latin typeface="Helvetica"/>
                <a:cs typeface="Helvetica"/>
              </a:rPr>
              <a:t> básico.</a:t>
            </a: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639316811"/>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funcionalidad de un elemento personalizado se define mediante un ES2015 </a:t>
            </a:r>
            <a:r>
              <a:rPr lang="es-ES" dirty="0" err="1">
                <a:solidFill>
                  <a:srgbClr val="FFFFFF"/>
                </a:solidFill>
                <a:latin typeface="Helvetica"/>
                <a:cs typeface="Helvetica"/>
              </a:rPr>
              <a:t>class</a:t>
            </a:r>
            <a:r>
              <a:rPr lang="es-ES" dirty="0">
                <a:solidFill>
                  <a:srgbClr val="FFFFFF"/>
                </a:solidFill>
                <a:latin typeface="Helvetica"/>
                <a:cs typeface="Helvetica"/>
              </a:rPr>
              <a:t> que extiende </a:t>
            </a:r>
            <a:r>
              <a:rPr lang="es-ES" dirty="0" err="1">
                <a:solidFill>
                  <a:srgbClr val="FFFFFF"/>
                </a:solidFill>
                <a:latin typeface="Helvetica"/>
                <a:cs typeface="Helvetica"/>
              </a:rPr>
              <a:t>HTMLElement</a:t>
            </a:r>
            <a:r>
              <a:rPr lang="es-ES" dirty="0">
                <a:solidFill>
                  <a:srgbClr val="FFFFFF"/>
                </a:solidFill>
                <a:latin typeface="Helvetica"/>
                <a:cs typeface="Helvetica"/>
              </a:rPr>
              <a:t>. La extensión de </a:t>
            </a:r>
            <a:r>
              <a:rPr lang="es-ES" dirty="0" err="1">
                <a:solidFill>
                  <a:srgbClr val="FFFFFF"/>
                </a:solidFill>
                <a:latin typeface="Helvetica"/>
                <a:cs typeface="Helvetica"/>
              </a:rPr>
              <a:t>HTMLElement</a:t>
            </a:r>
            <a:r>
              <a:rPr lang="es-ES" dirty="0">
                <a:solidFill>
                  <a:srgbClr val="FFFFFF"/>
                </a:solidFill>
                <a:latin typeface="Helvetica"/>
                <a:cs typeface="Helvetica"/>
              </a:rPr>
              <a:t> garantiza que el elemento personalizado herede toda la API de DOM, lo cual significa que las propiedades o los métodos que agregues a la clase formarán parte de la interfaz del DOM del elemento. Básicamente, usa la clase a fin de crear una JavaScript API pública para tu etiqueta.</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487716" y="4001561"/>
            <a:ext cx="6168570" cy="2031325"/>
          </a:xfrm>
          <a:prstGeom prst="rect">
            <a:avLst/>
          </a:prstGeom>
          <a:solidFill>
            <a:schemeClr val="bg2">
              <a:lumMod val="75000"/>
              <a:lumOff val="25000"/>
            </a:schemeClr>
          </a:solidFill>
          <a:ln w="12700" cmpd="sng">
            <a:solidFill>
              <a:srgbClr val="3366FF"/>
            </a:solidFill>
          </a:ln>
        </p:spPr>
        <p:txBody>
          <a:bodyPr wrap="square">
            <a:spAutoFit/>
          </a:bodyPr>
          <a:lstStyle/>
          <a:p>
            <a:r>
              <a:rPr lang="es-ES" dirty="0" err="1"/>
              <a:t>class</a:t>
            </a:r>
            <a:r>
              <a:rPr lang="es-ES" dirty="0"/>
              <a:t> </a:t>
            </a:r>
            <a:r>
              <a:rPr lang="es-ES" dirty="0" err="1"/>
              <a:t>AppSample</a:t>
            </a:r>
            <a:r>
              <a:rPr lang="es-ES" dirty="0"/>
              <a:t> </a:t>
            </a:r>
            <a:r>
              <a:rPr lang="es-ES" dirty="0" err="1"/>
              <a:t>extends</a:t>
            </a:r>
            <a:r>
              <a:rPr lang="es-ES" dirty="0"/>
              <a:t> </a:t>
            </a:r>
            <a:r>
              <a:rPr lang="es-ES" dirty="0" err="1"/>
              <a:t>HTMLElement</a:t>
            </a:r>
            <a:r>
              <a:rPr lang="es-ES" dirty="0"/>
              <a:t> </a:t>
            </a:r>
            <a:r>
              <a:rPr lang="es-ES" dirty="0" smtClean="0"/>
              <a:t>{</a:t>
            </a:r>
          </a:p>
          <a:p>
            <a:r>
              <a:rPr lang="es-ES" dirty="0" smtClean="0"/>
              <a:t>constructor </a:t>
            </a:r>
            <a:r>
              <a:rPr lang="es-ES" dirty="0"/>
              <a:t>(</a:t>
            </a:r>
            <a:r>
              <a:rPr lang="es-ES" dirty="0" smtClean="0"/>
              <a:t>) {</a:t>
            </a:r>
          </a:p>
          <a:p>
            <a:r>
              <a:rPr lang="es-ES" dirty="0" err="1" smtClean="0"/>
              <a:t>super</a:t>
            </a:r>
            <a:r>
              <a:rPr lang="es-ES" dirty="0"/>
              <a:t>(</a:t>
            </a:r>
            <a:r>
              <a:rPr lang="es-ES" dirty="0" smtClean="0"/>
              <a:t>)</a:t>
            </a:r>
          </a:p>
          <a:p>
            <a:r>
              <a:rPr lang="es-ES" dirty="0" err="1" smtClean="0"/>
              <a:t>console.log</a:t>
            </a:r>
            <a:r>
              <a:rPr lang="es-ES" dirty="0"/>
              <a:t>("Creado el componente"</a:t>
            </a:r>
            <a:r>
              <a:rPr lang="es-ES" dirty="0" smtClean="0"/>
              <a:t>)</a:t>
            </a:r>
          </a:p>
          <a:p>
            <a:r>
              <a:rPr lang="es-ES" dirty="0" smtClean="0"/>
              <a:t>}</a:t>
            </a:r>
          </a:p>
          <a:p>
            <a:endParaRPr lang="es-ES" dirty="0"/>
          </a:p>
          <a:p>
            <a:r>
              <a:rPr lang="es-ES" dirty="0" err="1" smtClean="0"/>
              <a:t>customElements.define</a:t>
            </a:r>
            <a:r>
              <a:rPr lang="es-ES" dirty="0"/>
              <a:t>('</a:t>
            </a:r>
            <a:r>
              <a:rPr lang="es-ES" dirty="0" err="1"/>
              <a:t>app-sample</a:t>
            </a:r>
            <a:r>
              <a:rPr lang="es-ES" dirty="0"/>
              <a:t>', </a:t>
            </a:r>
            <a:r>
              <a:rPr lang="es-ES" dirty="0" err="1"/>
              <a:t>AppSample</a:t>
            </a:r>
            <a:r>
              <a:rPr lang="es-ES" dirty="0" smtClean="0"/>
              <a:t>)</a:t>
            </a:r>
            <a:endParaRPr lang="es-ES" dirty="0"/>
          </a:p>
        </p:txBody>
      </p:sp>
    </p:spTree>
    <p:extLst>
      <p:ext uri="{BB962C8B-B14F-4D97-AF65-F5344CB8AC3E}">
        <p14:creationId xmlns:p14="http://schemas.microsoft.com/office/powerpoint/2010/main" val="4261282364"/>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este ejemplo, se crea un panel lateral con una propiedad open, una propiedad </a:t>
            </a:r>
            <a:r>
              <a:rPr lang="es-ES" dirty="0" err="1">
                <a:solidFill>
                  <a:srgbClr val="FFFFFF"/>
                </a:solidFill>
                <a:latin typeface="Helvetica"/>
                <a:cs typeface="Helvetica"/>
              </a:rPr>
              <a:t>disabled</a:t>
            </a:r>
            <a:r>
              <a:rPr lang="es-ES" dirty="0">
                <a:solidFill>
                  <a:srgbClr val="FFFFFF"/>
                </a:solidFill>
                <a:latin typeface="Helvetica"/>
                <a:cs typeface="Helvetica"/>
              </a:rPr>
              <a:t> y un método </a:t>
            </a:r>
            <a:r>
              <a:rPr lang="es-ES" dirty="0" err="1">
                <a:solidFill>
                  <a:srgbClr val="FFFFFF"/>
                </a:solidFill>
                <a:latin typeface="Helvetica"/>
                <a:cs typeface="Helvetica"/>
              </a:rPr>
              <a:t>toggleDrawer</a:t>
            </a:r>
            <a:r>
              <a:rPr lang="es-ES" dirty="0">
                <a:solidFill>
                  <a:srgbClr val="FFFFFF"/>
                </a:solidFill>
                <a:latin typeface="Helvetica"/>
                <a:cs typeface="Helvetica"/>
              </a:rPr>
              <a:t>().</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343051" y="2523980"/>
            <a:ext cx="6168570" cy="3539431"/>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AppDrawer</a:t>
            </a:r>
            <a:r>
              <a:rPr lang="es-ES" sz="1400" dirty="0"/>
              <a:t> </a:t>
            </a:r>
            <a:r>
              <a:rPr lang="es-ES" sz="1400" dirty="0" err="1"/>
              <a:t>extends</a:t>
            </a:r>
            <a:r>
              <a:rPr lang="es-ES" sz="1400" dirty="0"/>
              <a:t> </a:t>
            </a:r>
            <a:r>
              <a:rPr lang="es-ES" sz="1400" dirty="0" err="1"/>
              <a:t>HTMLElement</a:t>
            </a:r>
            <a:r>
              <a:rPr lang="es-ES" sz="1400" dirty="0"/>
              <a:t> {</a:t>
            </a:r>
          </a:p>
          <a:p>
            <a:endParaRPr lang="es-ES" sz="1400" dirty="0"/>
          </a:p>
          <a:p>
            <a:r>
              <a:rPr lang="es-ES" sz="1400" dirty="0"/>
              <a:t>  // A </a:t>
            </a:r>
            <a:r>
              <a:rPr lang="es-ES" sz="1400" dirty="0" err="1"/>
              <a:t>getter</a:t>
            </a:r>
            <a:r>
              <a:rPr lang="es-ES" sz="1400" dirty="0"/>
              <a:t>/setter </a:t>
            </a:r>
            <a:r>
              <a:rPr lang="es-ES" sz="1400" dirty="0" err="1"/>
              <a:t>for</a:t>
            </a:r>
            <a:r>
              <a:rPr lang="es-ES" sz="1400" dirty="0"/>
              <a:t> </a:t>
            </a:r>
            <a:r>
              <a:rPr lang="es-ES" sz="1400" dirty="0" err="1"/>
              <a:t>an</a:t>
            </a:r>
            <a:r>
              <a:rPr lang="es-ES" sz="1400" dirty="0"/>
              <a:t> open </a:t>
            </a:r>
            <a:r>
              <a:rPr lang="es-ES" sz="1400" dirty="0" err="1"/>
              <a:t>property</a:t>
            </a:r>
            <a:r>
              <a:rPr lang="es-ES" sz="1400" dirty="0"/>
              <a:t>.</a:t>
            </a:r>
          </a:p>
          <a:p>
            <a:r>
              <a:rPr lang="es-ES" sz="1400" dirty="0"/>
              <a:t>  </a:t>
            </a:r>
            <a:r>
              <a:rPr lang="es-ES" sz="1400" dirty="0" err="1"/>
              <a:t>get</a:t>
            </a:r>
            <a:r>
              <a:rPr lang="es-ES" sz="1400" dirty="0"/>
              <a:t> open() {</a:t>
            </a:r>
          </a:p>
          <a:p>
            <a:r>
              <a:rPr lang="es-ES" sz="1400" dirty="0"/>
              <a:t>    </a:t>
            </a:r>
            <a:r>
              <a:rPr lang="es-ES" sz="1400" dirty="0" err="1"/>
              <a:t>return</a:t>
            </a:r>
            <a:r>
              <a:rPr lang="es-ES" sz="1400" dirty="0"/>
              <a:t> </a:t>
            </a:r>
            <a:r>
              <a:rPr lang="es-ES" sz="1400" dirty="0" err="1"/>
              <a:t>this.hasAttribute</a:t>
            </a:r>
            <a:r>
              <a:rPr lang="es-ES" sz="1400" dirty="0"/>
              <a:t>('open');</a:t>
            </a:r>
          </a:p>
          <a:p>
            <a:r>
              <a:rPr lang="es-ES" sz="1400" dirty="0"/>
              <a:t>  }</a:t>
            </a:r>
          </a:p>
          <a:p>
            <a:endParaRPr lang="es-ES" sz="1400" dirty="0"/>
          </a:p>
          <a:p>
            <a:r>
              <a:rPr lang="es-ES" sz="1400" dirty="0"/>
              <a:t>  set open(val)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open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('open',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('open');</a:t>
            </a:r>
          </a:p>
          <a:p>
            <a:r>
              <a:rPr lang="es-ES" sz="1400" dirty="0"/>
              <a:t>    }</a:t>
            </a:r>
          </a:p>
          <a:p>
            <a:r>
              <a:rPr lang="es-ES" sz="1400" dirty="0"/>
              <a:t>    </a:t>
            </a:r>
            <a:r>
              <a:rPr lang="es-ES" sz="1400" dirty="0" err="1"/>
              <a:t>this.toggleDrawer</a:t>
            </a:r>
            <a:r>
              <a:rPr lang="es-ES" sz="1400" dirty="0"/>
              <a:t>();</a:t>
            </a:r>
          </a:p>
          <a:p>
            <a:r>
              <a:rPr lang="es-ES" sz="1400" dirty="0"/>
              <a:t>  </a:t>
            </a:r>
            <a:r>
              <a:rPr lang="es-ES" sz="1400" dirty="0" smtClean="0"/>
              <a:t>}</a:t>
            </a:r>
            <a:endParaRPr lang="es-ES" sz="1400" dirty="0"/>
          </a:p>
        </p:txBody>
      </p:sp>
    </p:spTree>
    <p:extLst>
      <p:ext uri="{BB962C8B-B14F-4D97-AF65-F5344CB8AC3E}">
        <p14:creationId xmlns:p14="http://schemas.microsoft.com/office/powerpoint/2010/main" val="3404876841"/>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729240" y="1120693"/>
            <a:ext cx="3834190" cy="3539431"/>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a:p>
          <a:p>
            <a:r>
              <a:rPr lang="es-ES" sz="1400" dirty="0"/>
              <a:t>    // </a:t>
            </a:r>
            <a:r>
              <a:rPr lang="es-ES" sz="1400" dirty="0" err="1"/>
              <a:t>Setup</a:t>
            </a:r>
            <a:r>
              <a:rPr lang="es-ES" sz="1400" dirty="0"/>
              <a:t> a </a:t>
            </a:r>
            <a:r>
              <a:rPr lang="es-ES" sz="1400" dirty="0" err="1"/>
              <a:t>click</a:t>
            </a:r>
            <a:r>
              <a:rPr lang="es-ES" sz="1400" dirty="0"/>
              <a:t> </a:t>
            </a:r>
            <a:r>
              <a:rPr lang="es-ES" sz="1400" dirty="0" err="1"/>
              <a:t>listener</a:t>
            </a:r>
            <a:r>
              <a:rPr lang="es-ES" sz="1400" dirty="0"/>
              <a:t> </a:t>
            </a:r>
            <a:r>
              <a:rPr lang="es-ES" sz="1400" dirty="0" err="1"/>
              <a:t>on</a:t>
            </a:r>
            <a:r>
              <a:rPr lang="es-ES" sz="1400" dirty="0"/>
              <a:t> &lt;</a:t>
            </a:r>
            <a:r>
              <a:rPr lang="es-ES" sz="1400" dirty="0" err="1"/>
              <a:t>app-drawer</a:t>
            </a:r>
            <a:r>
              <a:rPr lang="es-ES" sz="1400" dirty="0"/>
              <a:t>&gt; </a:t>
            </a:r>
            <a:r>
              <a:rPr lang="es-ES" sz="1400" dirty="0" err="1"/>
              <a:t>itself</a:t>
            </a:r>
            <a:r>
              <a:rPr lang="es-ES" sz="1400" dirty="0"/>
              <a:t>.</a:t>
            </a:r>
          </a:p>
          <a:p>
            <a:r>
              <a:rPr lang="es-ES" sz="1400" dirty="0"/>
              <a:t>    </a:t>
            </a:r>
            <a:r>
              <a:rPr lang="es-ES" sz="1400" dirty="0" err="1"/>
              <a:t>this.addEventListener</a:t>
            </a:r>
            <a:r>
              <a:rPr lang="es-ES" sz="1400" dirty="0"/>
              <a:t>('</a:t>
            </a:r>
            <a:r>
              <a:rPr lang="es-ES" sz="1400" dirty="0" err="1"/>
              <a:t>click</a:t>
            </a:r>
            <a:r>
              <a:rPr lang="es-ES" sz="1400" dirty="0"/>
              <a:t>', e =&gt; {</a:t>
            </a:r>
          </a:p>
          <a:p>
            <a:r>
              <a:rPr lang="es-ES" sz="1400" dirty="0"/>
              <a:t>      // </a:t>
            </a:r>
            <a:r>
              <a:rPr lang="es-ES" sz="1400" dirty="0" err="1"/>
              <a:t>Don't</a:t>
            </a:r>
            <a:r>
              <a:rPr lang="es-ES" sz="1400" dirty="0"/>
              <a:t> </a:t>
            </a:r>
            <a:r>
              <a:rPr lang="es-ES" sz="1400" dirty="0" err="1"/>
              <a:t>toggle</a:t>
            </a:r>
            <a:r>
              <a:rPr lang="es-ES" sz="1400" dirty="0"/>
              <a:t> </a:t>
            </a:r>
            <a:r>
              <a:rPr lang="es-ES" sz="1400" dirty="0" err="1"/>
              <a:t>the</a:t>
            </a:r>
            <a:r>
              <a:rPr lang="es-ES" sz="1400" dirty="0"/>
              <a:t> </a:t>
            </a:r>
            <a:r>
              <a:rPr lang="es-ES" sz="1400" dirty="0" err="1"/>
              <a:t>drawer</a:t>
            </a:r>
            <a:r>
              <a:rPr lang="es-ES" sz="1400" dirty="0"/>
              <a:t> </a:t>
            </a:r>
            <a:r>
              <a:rPr lang="es-ES" sz="1400" dirty="0" err="1"/>
              <a:t>if</a:t>
            </a:r>
            <a:r>
              <a:rPr lang="es-ES" sz="1400" dirty="0"/>
              <a:t> </a:t>
            </a:r>
            <a:r>
              <a:rPr lang="es-ES" sz="1400" dirty="0" err="1"/>
              <a:t>it's</a:t>
            </a:r>
            <a:r>
              <a:rPr lang="es-ES" sz="1400" dirty="0"/>
              <a:t> </a:t>
            </a:r>
            <a:r>
              <a:rPr lang="es-ES" sz="1400" dirty="0" err="1"/>
              <a:t>disabled</a:t>
            </a:r>
            <a:r>
              <a:rPr lang="es-ES" sz="1400" dirty="0"/>
              <a:t>.</a:t>
            </a:r>
          </a:p>
          <a:p>
            <a:r>
              <a:rPr lang="es-ES" sz="1400" dirty="0"/>
              <a:t>      </a:t>
            </a:r>
            <a:r>
              <a:rPr lang="es-ES" sz="1400" dirty="0" err="1"/>
              <a:t>if</a:t>
            </a:r>
            <a:r>
              <a:rPr lang="es-ES" sz="1400" dirty="0"/>
              <a:t> (</a:t>
            </a:r>
            <a:r>
              <a:rPr lang="es-ES" sz="1400" dirty="0" err="1"/>
              <a:t>this.disabled</a:t>
            </a:r>
            <a:r>
              <a:rPr lang="es-ES" sz="1400" dirty="0"/>
              <a:t>) {</a:t>
            </a:r>
          </a:p>
          <a:p>
            <a:r>
              <a:rPr lang="es-ES" sz="1400" dirty="0"/>
              <a:t>        </a:t>
            </a:r>
            <a:r>
              <a:rPr lang="es-ES" sz="1400" dirty="0" err="1"/>
              <a:t>return</a:t>
            </a:r>
            <a:r>
              <a:rPr lang="es-ES" sz="1400" dirty="0"/>
              <a:t>;</a:t>
            </a:r>
          </a:p>
          <a:p>
            <a:r>
              <a:rPr lang="es-ES" sz="1400" dirty="0"/>
              <a:t>      }</a:t>
            </a:r>
          </a:p>
          <a:p>
            <a:r>
              <a:rPr lang="es-ES" sz="1400" dirty="0"/>
              <a:t>      </a:t>
            </a:r>
            <a:r>
              <a:rPr lang="es-ES" sz="1400" dirty="0" err="1"/>
              <a:t>this.toggleDrawer</a:t>
            </a:r>
            <a:r>
              <a:rPr lang="es-ES" sz="1400" dirty="0"/>
              <a:t>();</a:t>
            </a:r>
          </a:p>
          <a:p>
            <a:r>
              <a:rPr lang="es-ES" sz="1400" dirty="0"/>
              <a:t>    });</a:t>
            </a:r>
          </a:p>
          <a:p>
            <a:r>
              <a:rPr lang="es-ES" sz="1400" dirty="0"/>
              <a:t>  }</a:t>
            </a:r>
          </a:p>
          <a:p>
            <a:endParaRPr lang="es-ES" sz="1400" dirty="0"/>
          </a:p>
          <a:p>
            <a:r>
              <a:rPr lang="es-ES" sz="1400" dirty="0"/>
              <a:t>  </a:t>
            </a:r>
            <a:r>
              <a:rPr lang="es-ES" sz="1400" dirty="0" err="1"/>
              <a:t>toggleDrawer</a:t>
            </a:r>
            <a:r>
              <a:rPr lang="es-ES" sz="1400" dirty="0"/>
              <a:t>() {</a:t>
            </a:r>
          </a:p>
          <a:p>
            <a:r>
              <a:rPr lang="es-ES" sz="1400" dirty="0"/>
              <a:t>    ...</a:t>
            </a:r>
          </a:p>
          <a:p>
            <a:r>
              <a:rPr lang="es-ES" sz="1400" dirty="0"/>
              <a:t>  }</a:t>
            </a:r>
          </a:p>
          <a:p>
            <a:r>
              <a:rPr lang="es-ES" sz="1400" dirty="0"/>
              <a:t>}</a:t>
            </a:r>
          </a:p>
        </p:txBody>
      </p:sp>
      <p:sp>
        <p:nvSpPr>
          <p:cNvPr id="15" name="Rectángulo 14"/>
          <p:cNvSpPr/>
          <p:nvPr/>
        </p:nvSpPr>
        <p:spPr>
          <a:xfrm>
            <a:off x="494623" y="1120693"/>
            <a:ext cx="3980615"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smtClean="0"/>
              <a:t>  /</a:t>
            </a:r>
            <a:r>
              <a:rPr lang="es-ES" sz="1400" dirty="0"/>
              <a:t>/ A </a:t>
            </a:r>
            <a:r>
              <a:rPr lang="es-ES" sz="1400" dirty="0" err="1"/>
              <a:t>getter</a:t>
            </a:r>
            <a:r>
              <a:rPr lang="es-ES" sz="1400" dirty="0"/>
              <a:t>/setter </a:t>
            </a:r>
            <a:r>
              <a:rPr lang="es-ES" sz="1400" dirty="0" err="1"/>
              <a:t>for</a:t>
            </a:r>
            <a:r>
              <a:rPr lang="es-ES" sz="1400" dirty="0"/>
              <a:t> a </a:t>
            </a:r>
            <a:r>
              <a:rPr lang="es-ES" sz="1400" dirty="0" err="1"/>
              <a:t>disabled</a:t>
            </a:r>
            <a:r>
              <a:rPr lang="es-ES" sz="1400" dirty="0"/>
              <a:t> </a:t>
            </a:r>
            <a:r>
              <a:rPr lang="es-ES" sz="1400" dirty="0" err="1"/>
              <a:t>property</a:t>
            </a:r>
            <a:r>
              <a:rPr lang="es-ES" sz="1400" dirty="0"/>
              <a:t>.</a:t>
            </a:r>
          </a:p>
          <a:p>
            <a:r>
              <a:rPr lang="es-ES" sz="1400" dirty="0"/>
              <a:t>  </a:t>
            </a:r>
            <a:r>
              <a:rPr lang="es-ES" sz="1400" dirty="0" err="1"/>
              <a:t>get</a:t>
            </a:r>
            <a:r>
              <a:rPr lang="es-ES" sz="1400" dirty="0"/>
              <a:t> </a:t>
            </a:r>
            <a:r>
              <a:rPr lang="es-ES" sz="1400" dirty="0" err="1"/>
              <a:t>disabled</a:t>
            </a:r>
            <a:r>
              <a:rPr lang="es-ES" sz="1400" dirty="0"/>
              <a:t>() {</a:t>
            </a:r>
          </a:p>
          <a:p>
            <a:r>
              <a:rPr lang="es-ES" sz="1400" dirty="0"/>
              <a:t>    </a:t>
            </a:r>
            <a:r>
              <a:rPr lang="es-ES" sz="1400" dirty="0" err="1"/>
              <a:t>return</a:t>
            </a:r>
            <a:r>
              <a:rPr lang="es-ES" sz="1400" dirty="0"/>
              <a:t> </a:t>
            </a:r>
            <a:r>
              <a:rPr lang="es-ES" sz="1400" dirty="0" err="1"/>
              <a:t>this.hasAttribute</a:t>
            </a:r>
            <a:r>
              <a:rPr lang="es-ES" sz="1400" dirty="0"/>
              <a:t>('</a:t>
            </a:r>
            <a:r>
              <a:rPr lang="es-ES" sz="1400" dirty="0" err="1"/>
              <a:t>disabled</a:t>
            </a:r>
            <a:r>
              <a:rPr lang="es-ES" sz="1400" dirty="0"/>
              <a:t>');</a:t>
            </a:r>
          </a:p>
          <a:p>
            <a:r>
              <a:rPr lang="es-ES" sz="1400" dirty="0"/>
              <a:t>  </a:t>
            </a:r>
            <a:r>
              <a:rPr lang="es-ES" sz="1400" dirty="0" smtClean="0"/>
              <a:t>}</a:t>
            </a:r>
            <a:endParaRPr lang="es-ES" sz="1400" dirty="0"/>
          </a:p>
          <a:p>
            <a:r>
              <a:rPr lang="es-ES" sz="1400" dirty="0"/>
              <a:t>  set </a:t>
            </a:r>
            <a:r>
              <a:rPr lang="es-ES" sz="1400" dirty="0" err="1"/>
              <a:t>disabled</a:t>
            </a:r>
            <a:r>
              <a:rPr lang="es-ES" sz="1400" dirty="0"/>
              <a:t>(val)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a:t>
            </a:r>
            <a:r>
              <a:rPr lang="es-ES" sz="1400" dirty="0" err="1"/>
              <a:t>disabled</a:t>
            </a:r>
            <a:r>
              <a:rPr lang="es-ES" sz="1400" dirty="0"/>
              <a:t>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a:t>
            </a:r>
            <a:r>
              <a:rPr lang="es-ES" sz="1400" dirty="0" err="1"/>
              <a:t>disabled</a:t>
            </a:r>
            <a:r>
              <a:rPr lang="es-ES" sz="1400" dirty="0"/>
              <a:t>',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a:t>
            </a:r>
            <a:r>
              <a:rPr lang="es-ES" sz="1400" dirty="0" err="1"/>
              <a:t>disabled</a:t>
            </a:r>
            <a:r>
              <a:rPr lang="es-ES" sz="1400" dirty="0"/>
              <a:t>');</a:t>
            </a:r>
          </a:p>
          <a:p>
            <a:r>
              <a:rPr lang="es-ES" sz="1400" dirty="0"/>
              <a:t>    }</a:t>
            </a:r>
          </a:p>
          <a:p>
            <a:r>
              <a:rPr lang="es-ES" sz="1400" dirty="0"/>
              <a:t>  </a:t>
            </a:r>
            <a:r>
              <a:rPr lang="es-ES" sz="1400" dirty="0" smtClean="0"/>
              <a:t>}</a:t>
            </a:r>
            <a:endParaRPr lang="es-ES" sz="1400" dirty="0"/>
          </a:p>
          <a:p>
            <a:r>
              <a:rPr lang="es-ES" sz="1400" dirty="0"/>
              <a:t>  // Can define constructor </a:t>
            </a:r>
            <a:r>
              <a:rPr lang="es-ES" sz="1400" dirty="0" err="1"/>
              <a:t>arguments</a:t>
            </a:r>
            <a:r>
              <a:rPr lang="es-ES" sz="1400" dirty="0"/>
              <a:t> </a:t>
            </a:r>
            <a:r>
              <a:rPr lang="es-ES" sz="1400" dirty="0" err="1"/>
              <a:t>if</a:t>
            </a:r>
            <a:r>
              <a:rPr lang="es-ES" sz="1400" dirty="0"/>
              <a:t> </a:t>
            </a:r>
            <a:r>
              <a:rPr lang="es-ES" sz="1400" dirty="0" err="1"/>
              <a:t>you</a:t>
            </a:r>
            <a:r>
              <a:rPr lang="es-ES" sz="1400" dirty="0"/>
              <a:t> </a:t>
            </a:r>
            <a:r>
              <a:rPr lang="es-ES" sz="1400" dirty="0" err="1"/>
              <a:t>wish</a:t>
            </a:r>
            <a:r>
              <a:rPr lang="es-ES" sz="1400" dirty="0"/>
              <a:t>.</a:t>
            </a:r>
          </a:p>
          <a:p>
            <a:r>
              <a:rPr lang="es-ES" sz="1400" dirty="0"/>
              <a:t>  constructor() {</a:t>
            </a:r>
          </a:p>
          <a:p>
            <a:r>
              <a:rPr lang="es-ES" sz="1400" dirty="0"/>
              <a:t>    // </a:t>
            </a:r>
            <a:r>
              <a:rPr lang="es-ES" sz="1400" dirty="0" err="1"/>
              <a:t>If</a:t>
            </a:r>
            <a:r>
              <a:rPr lang="es-ES" sz="1400" dirty="0"/>
              <a:t> </a:t>
            </a:r>
            <a:r>
              <a:rPr lang="es-ES" sz="1400" dirty="0" err="1"/>
              <a:t>you</a:t>
            </a:r>
            <a:r>
              <a:rPr lang="es-ES" sz="1400" dirty="0"/>
              <a:t> define a constructor,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a:t>
            </a:r>
          </a:p>
          <a:p>
            <a:r>
              <a:rPr lang="es-ES" sz="1400" dirty="0"/>
              <a:t>    // </a:t>
            </a:r>
            <a:r>
              <a:rPr lang="es-ES" sz="1400" dirty="0" err="1"/>
              <a:t>This</a:t>
            </a:r>
            <a:r>
              <a:rPr lang="es-ES" sz="1400" dirty="0"/>
              <a:t> </a:t>
            </a:r>
            <a:r>
              <a:rPr lang="es-ES" sz="1400" dirty="0" err="1"/>
              <a:t>is</a:t>
            </a:r>
            <a:r>
              <a:rPr lang="es-ES" sz="1400" dirty="0"/>
              <a:t> </a:t>
            </a:r>
            <a:r>
              <a:rPr lang="es-ES" sz="1400" dirty="0" err="1"/>
              <a:t>specific</a:t>
            </a:r>
            <a:r>
              <a:rPr lang="es-ES" sz="1400" dirty="0"/>
              <a:t> </a:t>
            </a:r>
            <a:r>
              <a:rPr lang="es-ES" sz="1400" dirty="0" err="1"/>
              <a:t>to</a:t>
            </a:r>
            <a:r>
              <a:rPr lang="es-ES" sz="1400" dirty="0"/>
              <a:t> CE and </a:t>
            </a:r>
            <a:r>
              <a:rPr lang="es-ES" sz="1400" dirty="0" err="1"/>
              <a:t>required</a:t>
            </a:r>
            <a:r>
              <a:rPr lang="es-ES" sz="1400" dirty="0"/>
              <a:t> </a:t>
            </a:r>
            <a:r>
              <a:rPr lang="es-ES" sz="1400" dirty="0" err="1"/>
              <a:t>by</a:t>
            </a:r>
            <a:r>
              <a:rPr lang="es-ES" sz="1400" dirty="0"/>
              <a:t> </a:t>
            </a:r>
            <a:r>
              <a:rPr lang="es-ES" sz="1400" dirty="0" err="1"/>
              <a:t>the</a:t>
            </a:r>
            <a:r>
              <a:rPr lang="es-ES" sz="1400" dirty="0"/>
              <a:t> </a:t>
            </a:r>
            <a:r>
              <a:rPr lang="es-ES" sz="1400" dirty="0" err="1"/>
              <a:t>spec</a:t>
            </a:r>
            <a:r>
              <a:rPr lang="es-ES" sz="1400" dirty="0"/>
              <a:t>.</a:t>
            </a:r>
          </a:p>
          <a:p>
            <a:r>
              <a:rPr lang="es-ES" sz="1400" dirty="0"/>
              <a:t>    </a:t>
            </a:r>
            <a:r>
              <a:rPr lang="es-ES" sz="1400" dirty="0" err="1"/>
              <a:t>super</a:t>
            </a:r>
            <a:r>
              <a:rPr lang="es-ES" sz="1400" dirty="0"/>
              <a:t>()</a:t>
            </a:r>
            <a:r>
              <a:rPr lang="es-ES" sz="1400" dirty="0" smtClean="0"/>
              <a:t>;</a:t>
            </a:r>
            <a:endParaRPr lang="es-ES" sz="1400" dirty="0"/>
          </a:p>
        </p:txBody>
      </p:sp>
    </p:spTree>
    <p:extLst>
      <p:ext uri="{BB962C8B-B14F-4D97-AF65-F5344CB8AC3E}">
        <p14:creationId xmlns:p14="http://schemas.microsoft.com/office/powerpoint/2010/main" val="623212293"/>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marL="342900" indent="-342900" algn="just">
              <a:lnSpc>
                <a:spcPct val="130000"/>
              </a:lnSpc>
              <a:buFont typeface="+mj-lt"/>
              <a:buAutoNum type="arabicPeriod"/>
            </a:pPr>
            <a:r>
              <a:rPr lang="es-ES" dirty="0">
                <a:solidFill>
                  <a:srgbClr val="FFFFFF"/>
                </a:solidFill>
                <a:latin typeface="Helvetica"/>
                <a:cs typeface="Helvetica"/>
              </a:rPr>
              <a:t>El nombre de un elemento personalizado debe contener un guión (-). </a:t>
            </a:r>
            <a:endParaRPr lang="es-ES" dirty="0" smtClean="0">
              <a:solidFill>
                <a:srgbClr val="FFFFFF"/>
              </a:solidFill>
              <a:latin typeface="Helvetica"/>
              <a:cs typeface="Helvetica"/>
            </a:endParaRPr>
          </a:p>
          <a:p>
            <a:pPr lvl="1" algn="just">
              <a:lnSpc>
                <a:spcPct val="130000"/>
              </a:lnSpc>
            </a:pPr>
            <a:r>
              <a:rPr lang="es-ES" dirty="0" err="1">
                <a:solidFill>
                  <a:srgbClr val="FFFFFF"/>
                </a:solidFill>
                <a:latin typeface="Helvetica"/>
                <a:cs typeface="Helvetica"/>
              </a:rPr>
              <a:t>Ej</a:t>
            </a:r>
            <a:r>
              <a:rPr lang="es-ES" dirty="0">
                <a:solidFill>
                  <a:srgbClr val="FFFFFF"/>
                </a:solidFill>
                <a:latin typeface="Helvetica"/>
                <a:cs typeface="Helvetica"/>
              </a:rPr>
              <a:t> : &lt;x-</a:t>
            </a:r>
            <a:r>
              <a:rPr lang="es-ES" dirty="0" err="1">
                <a:solidFill>
                  <a:srgbClr val="FFFFFF"/>
                </a:solidFill>
                <a:latin typeface="Helvetica"/>
                <a:cs typeface="Helvetica"/>
              </a:rPr>
              <a:t>tags</a:t>
            </a:r>
            <a:r>
              <a:rPr lang="es-ES" dirty="0">
                <a:solidFill>
                  <a:srgbClr val="FFFFFF"/>
                </a:solidFill>
                <a:latin typeface="Helvetica"/>
                <a:cs typeface="Helvetica"/>
              </a:rPr>
              <a:t>&gt;, &lt;</a:t>
            </a:r>
            <a:r>
              <a:rPr lang="es-ES" dirty="0" err="1">
                <a:solidFill>
                  <a:srgbClr val="FFFFFF"/>
                </a:solidFill>
                <a:latin typeface="Helvetica"/>
                <a:cs typeface="Helvetica"/>
              </a:rPr>
              <a:t>my-element</a:t>
            </a:r>
            <a:r>
              <a:rPr lang="es-ES" dirty="0" smtClean="0">
                <a:solidFill>
                  <a:srgbClr val="FFFFFF"/>
                </a:solidFill>
                <a:latin typeface="Helvetica"/>
                <a:cs typeface="Helvetica"/>
              </a:rPr>
              <a:t>&gt;</a:t>
            </a:r>
          </a:p>
          <a:p>
            <a:pPr marL="342900" indent="-342900" algn="just">
              <a:lnSpc>
                <a:spcPct val="130000"/>
              </a:lnSpc>
              <a:buFont typeface="+mj-lt"/>
              <a:buAutoNum type="arabicPeriod"/>
            </a:pPr>
            <a:r>
              <a:rPr lang="es-ES" dirty="0">
                <a:solidFill>
                  <a:srgbClr val="FFFFFF"/>
                </a:solidFill>
                <a:latin typeface="Helvetica"/>
                <a:cs typeface="Helvetica"/>
              </a:rPr>
              <a:t>Puedes registrar la misma etiqueta más de una vez. Si intentas hacerlo, se generará una </a:t>
            </a:r>
            <a:r>
              <a:rPr lang="es-ES" dirty="0" err="1">
                <a:solidFill>
                  <a:srgbClr val="FFFFFF"/>
                </a:solidFill>
                <a:latin typeface="Helvetica"/>
                <a:cs typeface="Helvetica"/>
              </a:rPr>
              <a:t>DOMException</a:t>
            </a:r>
            <a:r>
              <a:rPr lang="es-ES" dirty="0" smtClean="0">
                <a:solidFill>
                  <a:srgbClr val="FFFFFF"/>
                </a:solidFill>
                <a:latin typeface="Helvetica"/>
                <a:cs typeface="Helvetica"/>
              </a:rPr>
              <a:t>.</a:t>
            </a:r>
          </a:p>
          <a:p>
            <a:pPr marL="342900" indent="-342900" algn="just">
              <a:lnSpc>
                <a:spcPct val="130000"/>
              </a:lnSpc>
              <a:buFont typeface="+mj-lt"/>
              <a:buAutoNum type="arabicPeriod"/>
            </a:pPr>
            <a:r>
              <a:rPr lang="es-ES" dirty="0">
                <a:solidFill>
                  <a:srgbClr val="FFFFFF"/>
                </a:solidFill>
                <a:latin typeface="Helvetica"/>
                <a:cs typeface="Helvetica"/>
              </a:rPr>
              <a:t>Los elementos personalizados no se pueden cerrar </a:t>
            </a:r>
            <a:r>
              <a:rPr lang="es-ES" dirty="0" smtClean="0">
                <a:solidFill>
                  <a:srgbClr val="FFFFFF"/>
                </a:solidFill>
                <a:latin typeface="Helvetica"/>
                <a:cs typeface="Helvetica"/>
              </a:rPr>
              <a:t>automáticamente</a:t>
            </a:r>
          </a:p>
          <a:p>
            <a:pPr algn="just">
              <a:lnSpc>
                <a:spcPct val="130000"/>
              </a:lnSpc>
            </a:pPr>
            <a:r>
              <a:rPr lang="es-ES" dirty="0">
                <a:solidFill>
                  <a:srgbClr val="FFFFFF"/>
                </a:solidFill>
                <a:latin typeface="Helvetica"/>
                <a:cs typeface="Helvetica"/>
              </a:rPr>
              <a:t> </a:t>
            </a:r>
            <a:r>
              <a:rPr lang="es-ES" dirty="0" smtClean="0">
                <a:solidFill>
                  <a:srgbClr val="FFFFFF"/>
                </a:solidFill>
                <a:latin typeface="Helvetica"/>
                <a:cs typeface="Helvetica"/>
              </a:rPr>
              <a:t>    Escribe </a:t>
            </a:r>
            <a:r>
              <a:rPr lang="es-ES" dirty="0">
                <a:solidFill>
                  <a:srgbClr val="FFFFFF"/>
                </a:solidFill>
                <a:latin typeface="Helvetica"/>
                <a:cs typeface="Helvetica"/>
              </a:rPr>
              <a:t>siempre una etiqueta de cierre (&lt;</a:t>
            </a:r>
            <a:r>
              <a:rPr lang="es-ES" dirty="0" err="1">
                <a:solidFill>
                  <a:srgbClr val="FFFFFF"/>
                </a:solidFill>
                <a:latin typeface="Helvetica"/>
                <a:cs typeface="Helvetica"/>
              </a:rPr>
              <a:t>app-drawer</a:t>
            </a:r>
            <a:r>
              <a:rPr lang="es-ES" dirty="0">
                <a:solidFill>
                  <a:srgbClr val="FFFFFF"/>
                </a:solidFill>
                <a:latin typeface="Helvetica"/>
                <a:cs typeface="Helvetica"/>
              </a:rPr>
              <a:t>&gt;&lt;/</a:t>
            </a:r>
            <a:r>
              <a:rPr lang="es-ES" dirty="0" err="1">
                <a:solidFill>
                  <a:srgbClr val="FFFFFF"/>
                </a:solidFill>
                <a:latin typeface="Helvetica"/>
                <a:cs typeface="Helvetica"/>
              </a:rPr>
              <a:t>app-drawer</a:t>
            </a:r>
            <a:r>
              <a:rPr lang="es-ES" dirty="0">
                <a:solidFill>
                  <a:srgbClr val="FFFFFF"/>
                </a:solidFill>
                <a:latin typeface="Helvetica"/>
                <a:cs typeface="Helvetica"/>
              </a:rPr>
              <a:t>&gt;).</a:t>
            </a:r>
          </a:p>
          <a:p>
            <a:pPr algn="just">
              <a:lnSpc>
                <a:spcPct val="130000"/>
              </a:lnSpc>
            </a:pPr>
            <a:r>
              <a:rPr lang="es-ES" dirty="0">
                <a:solidFill>
                  <a:srgbClr val="FFFFFF"/>
                </a:solidFill>
                <a:latin typeface="Helvetica"/>
                <a:cs typeface="Helvetica"/>
              </a:rPr>
              <a:t>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&gt;</a:t>
            </a:r>
            <a:r>
              <a:rPr lang="es-ES" sz="2000" u="sng" dirty="0" smtClean="0">
                <a:solidFill>
                  <a:srgbClr val="FFFFFF"/>
                </a:solidFill>
              </a:rPr>
              <a:t> </a:t>
            </a:r>
            <a:r>
              <a:rPr lang="es-ES" sz="2200" u="sng" dirty="0" smtClean="0">
                <a:latin typeface="Arial Black"/>
                <a:cs typeface="Arial Black"/>
              </a:rPr>
              <a:t>Reglas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841558376"/>
      </p:ext>
    </p:extLst>
  </p:cSld>
  <p:clrMapOvr>
    <a:masterClrMapping/>
  </p:clrMapOvr>
  <p:timing>
    <p:tnLst>
      <p:par>
        <p:cTn xmlns:p14="http://schemas.microsoft.com/office/powerpoint/2010/mai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es útil para crear nuevos elementos HTML, pero también lo es para extender otros elementos personalizados o incluso el HTML integrado del navegador.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un elemento personalizado</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016526"/>
            <a:ext cx="788726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FancyDrawer</a:t>
            </a:r>
            <a:r>
              <a:rPr lang="es-ES" sz="1400" dirty="0"/>
              <a:t> </a:t>
            </a:r>
            <a:r>
              <a:rPr lang="es-ES" sz="1400" dirty="0" err="1"/>
              <a:t>extends</a:t>
            </a:r>
            <a:r>
              <a:rPr lang="es-ES" sz="1400" dirty="0"/>
              <a:t> </a:t>
            </a:r>
            <a:r>
              <a:rPr lang="es-ES" sz="1400" dirty="0" err="1"/>
              <a:t>AppDrawer</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 </a:t>
            </a:r>
            <a:r>
              <a:rPr lang="es-ES" sz="1400" dirty="0" err="1"/>
              <a:t>This</a:t>
            </a:r>
            <a:r>
              <a:rPr lang="es-ES" sz="1400" dirty="0"/>
              <a:t> </a:t>
            </a:r>
            <a:r>
              <a:rPr lang="es-ES" sz="1400" dirty="0" err="1"/>
              <a:t>also</a:t>
            </a:r>
            <a:r>
              <a:rPr lang="es-ES" sz="1400" dirty="0"/>
              <a:t> </a:t>
            </a:r>
            <a:r>
              <a:rPr lang="es-ES" sz="1400" dirty="0" err="1"/>
              <a:t>calls</a:t>
            </a:r>
            <a:r>
              <a:rPr lang="es-ES" sz="1400" dirty="0"/>
              <a:t> </a:t>
            </a:r>
            <a:r>
              <a:rPr lang="es-ES" sz="1400" dirty="0" err="1"/>
              <a:t>the</a:t>
            </a:r>
            <a:r>
              <a:rPr lang="es-ES" sz="1400" dirty="0"/>
              <a:t> extended </a:t>
            </a:r>
            <a:r>
              <a:rPr lang="es-ES" sz="1400" dirty="0" err="1"/>
              <a:t>class</a:t>
            </a:r>
            <a:r>
              <a:rPr lang="es-ES" sz="1400" dirty="0"/>
              <a:t>' constructor.</a:t>
            </a:r>
          </a:p>
          <a:p>
            <a:r>
              <a:rPr lang="es-ES" sz="1400" dirty="0"/>
              <a:t>    ...</a:t>
            </a:r>
          </a:p>
          <a:p>
            <a:r>
              <a:rPr lang="es-ES" sz="1400" dirty="0"/>
              <a:t>  </a:t>
            </a:r>
            <a:r>
              <a:rPr lang="es-ES" sz="1400" dirty="0" smtClean="0"/>
              <a:t>}</a:t>
            </a:r>
            <a:endParaRPr lang="es-ES" sz="1400" dirty="0"/>
          </a:p>
          <a:p>
            <a:r>
              <a:rPr lang="es-ES" sz="1400" dirty="0"/>
              <a:t>  </a:t>
            </a:r>
            <a:r>
              <a:rPr lang="es-ES" sz="1400" dirty="0" err="1"/>
              <a:t>toggleDrawer</a:t>
            </a:r>
            <a:r>
              <a:rPr lang="es-ES" sz="1400" dirty="0"/>
              <a:t>() {</a:t>
            </a:r>
          </a:p>
          <a:p>
            <a:r>
              <a:rPr lang="es-ES" sz="1400" dirty="0"/>
              <a:t>    // </a:t>
            </a:r>
            <a:r>
              <a:rPr lang="es-ES" sz="1400" dirty="0" err="1"/>
              <a:t>Possibly</a:t>
            </a:r>
            <a:r>
              <a:rPr lang="es-ES" sz="1400" dirty="0"/>
              <a:t> </a:t>
            </a:r>
            <a:r>
              <a:rPr lang="es-ES" sz="1400" dirty="0" err="1"/>
              <a:t>different</a:t>
            </a:r>
            <a:r>
              <a:rPr lang="es-ES" sz="1400" dirty="0"/>
              <a:t> </a:t>
            </a:r>
            <a:r>
              <a:rPr lang="es-ES" sz="1400" dirty="0" err="1"/>
              <a:t>toggle</a:t>
            </a:r>
            <a:r>
              <a:rPr lang="es-ES" sz="1400" dirty="0"/>
              <a:t> </a:t>
            </a:r>
            <a:r>
              <a:rPr lang="es-ES" sz="1400" dirty="0" err="1"/>
              <a:t>implementation</a:t>
            </a:r>
            <a:r>
              <a:rPr lang="es-ES" sz="1400" dirty="0"/>
              <a:t>?</a:t>
            </a:r>
          </a:p>
          <a:p>
            <a:r>
              <a:rPr lang="es-ES" sz="1400" dirty="0"/>
              <a:t>    // Use ES2015 </a:t>
            </a:r>
            <a:r>
              <a:rPr lang="es-ES" sz="1400" dirty="0" err="1"/>
              <a:t>if</a:t>
            </a:r>
            <a:r>
              <a:rPr lang="es-ES" sz="1400" dirty="0"/>
              <a:t> </a:t>
            </a:r>
            <a:r>
              <a:rPr lang="es-ES" sz="1400" dirty="0" err="1"/>
              <a:t>you</a:t>
            </a:r>
            <a:r>
              <a:rPr lang="es-ES" sz="1400" dirty="0"/>
              <a:t> </a:t>
            </a:r>
            <a:r>
              <a:rPr lang="es-ES" sz="1400" dirty="0" err="1"/>
              <a:t>need</a:t>
            </a:r>
            <a:r>
              <a:rPr lang="es-ES" sz="1400" dirty="0"/>
              <a:t> </a:t>
            </a:r>
            <a:r>
              <a:rPr lang="es-ES" sz="1400" dirty="0" err="1"/>
              <a:t>to</a:t>
            </a:r>
            <a:r>
              <a:rPr lang="es-ES" sz="1400" dirty="0"/>
              <a:t> </a:t>
            </a:r>
            <a:r>
              <a:rPr lang="es-ES" sz="1400" dirty="0" err="1"/>
              <a:t>call</a:t>
            </a:r>
            <a:r>
              <a:rPr lang="es-ES" sz="1400" dirty="0"/>
              <a:t> </a:t>
            </a:r>
            <a:r>
              <a:rPr lang="es-ES" sz="1400" dirty="0" err="1"/>
              <a:t>the</a:t>
            </a:r>
            <a:r>
              <a:rPr lang="es-ES" sz="1400" dirty="0"/>
              <a:t> </a:t>
            </a:r>
            <a:r>
              <a:rPr lang="es-ES" sz="1400" dirty="0" err="1"/>
              <a:t>parent</a:t>
            </a:r>
            <a:r>
              <a:rPr lang="es-ES" sz="1400" dirty="0"/>
              <a:t> </a:t>
            </a:r>
            <a:r>
              <a:rPr lang="es-ES" sz="1400" dirty="0" err="1" smtClean="0"/>
              <a:t>method</a:t>
            </a:r>
            <a:r>
              <a:rPr lang="es-ES" sz="1400" dirty="0" smtClean="0"/>
              <a:t>. </a:t>
            </a:r>
            <a:r>
              <a:rPr lang="es-ES" sz="1400" dirty="0" err="1" smtClean="0"/>
              <a:t>super.toggleDrawer</a:t>
            </a:r>
            <a:r>
              <a:rPr lang="es-ES" sz="1400" dirty="0"/>
              <a:t>()</a:t>
            </a:r>
          </a:p>
          <a:p>
            <a:r>
              <a:rPr lang="es-ES" sz="1400" dirty="0"/>
              <a:t>  </a:t>
            </a:r>
            <a:r>
              <a:rPr lang="es-ES" sz="1400" dirty="0" smtClean="0"/>
              <a:t>}</a:t>
            </a:r>
            <a:endParaRPr lang="es-ES" sz="1400" dirty="0"/>
          </a:p>
          <a:p>
            <a:r>
              <a:rPr lang="es-ES" sz="1400" dirty="0"/>
              <a:t>  </a:t>
            </a:r>
            <a:r>
              <a:rPr lang="es-ES" sz="1400" dirty="0" err="1"/>
              <a:t>anotherMethod</a:t>
            </a:r>
            <a:r>
              <a:rPr lang="es-ES" sz="1400" dirty="0"/>
              <a:t>() {</a:t>
            </a:r>
          </a:p>
          <a:p>
            <a:r>
              <a:rPr lang="es-ES" sz="1400" dirty="0"/>
              <a:t>    ...</a:t>
            </a:r>
          </a:p>
          <a:p>
            <a:r>
              <a:rPr lang="es-ES" sz="1400" dirty="0"/>
              <a:t>  }</a:t>
            </a:r>
          </a:p>
          <a:p>
            <a:r>
              <a:rPr lang="es-ES" sz="1400" dirty="0" smtClean="0"/>
              <a:t>}</a:t>
            </a:r>
            <a:endParaRPr lang="es-ES" sz="1400" dirty="0"/>
          </a:p>
          <a:p>
            <a:r>
              <a:rPr lang="es-ES" sz="1400" dirty="0" err="1"/>
              <a:t>customElements.define</a:t>
            </a:r>
            <a:r>
              <a:rPr lang="es-ES" sz="1400" dirty="0"/>
              <a:t>('</a:t>
            </a:r>
            <a:r>
              <a:rPr lang="es-ES" sz="1400" dirty="0" err="1"/>
              <a:t>fancy-app-drawer</a:t>
            </a:r>
            <a:r>
              <a:rPr lang="es-ES" sz="1400" dirty="0"/>
              <a:t>', </a:t>
            </a:r>
            <a:r>
              <a:rPr lang="es-ES" sz="1400" dirty="0" err="1"/>
              <a:t>FancyDrawer</a:t>
            </a:r>
            <a:r>
              <a:rPr lang="es-ES" sz="1400" dirty="0"/>
              <a:t>);</a:t>
            </a:r>
          </a:p>
        </p:txBody>
      </p:sp>
    </p:spTree>
    <p:extLst>
      <p:ext uri="{BB962C8B-B14F-4D97-AF65-F5344CB8AC3E}">
        <p14:creationId xmlns:p14="http://schemas.microsoft.com/office/powerpoint/2010/main" val="1287538190"/>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integrado es un elemento que extiende una de las etiquetas HTML integradas del navegador. El principal beneficio de extender un elemento existente es contar con todas sus características (propiedades del DOM, métodos y accesibilidad). </a:t>
            </a: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452880"/>
            <a:ext cx="7887266" cy="2246769"/>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 </a:t>
            </a:r>
            <a:r>
              <a:rPr lang="es-ES" sz="1400" dirty="0" err="1"/>
              <a:t>See</a:t>
            </a:r>
            <a:r>
              <a:rPr lang="es-ES" sz="1400" dirty="0"/>
              <a:t> </a:t>
            </a:r>
            <a:r>
              <a:rPr lang="es-ES" sz="1400" dirty="0" err="1"/>
              <a:t>https</a:t>
            </a:r>
            <a:r>
              <a:rPr lang="es-ES" sz="1400" dirty="0"/>
              <a:t>://</a:t>
            </a:r>
            <a:r>
              <a:rPr lang="es-ES" sz="1400" dirty="0" err="1"/>
              <a:t>html.spec.whatwg.org</a:t>
            </a:r>
            <a:r>
              <a:rPr lang="es-ES" sz="1400" dirty="0"/>
              <a:t>/</a:t>
            </a:r>
            <a:r>
              <a:rPr lang="es-ES" sz="1400" dirty="0" err="1"/>
              <a:t>multipage</a:t>
            </a:r>
            <a:r>
              <a:rPr lang="es-ES" sz="1400" dirty="0"/>
              <a:t>/</a:t>
            </a:r>
            <a:r>
              <a:rPr lang="es-ES" sz="1400" dirty="0" err="1"/>
              <a:t>indices.html#element-interfaces</a:t>
            </a:r>
            <a:endParaRPr lang="es-ES" sz="1400" dirty="0"/>
          </a:p>
          <a:p>
            <a:r>
              <a:rPr lang="es-ES" sz="1400" dirty="0"/>
              <a:t>// </a:t>
            </a:r>
            <a:r>
              <a:rPr lang="es-ES" sz="1400" dirty="0" err="1"/>
              <a:t>for</a:t>
            </a:r>
            <a:r>
              <a:rPr lang="es-ES" sz="1400" dirty="0"/>
              <a:t> </a:t>
            </a:r>
            <a:r>
              <a:rPr lang="es-ES" sz="1400" dirty="0" err="1"/>
              <a:t>the</a:t>
            </a:r>
            <a:r>
              <a:rPr lang="es-ES" sz="1400" dirty="0"/>
              <a:t> </a:t>
            </a:r>
            <a:r>
              <a:rPr lang="es-ES" sz="1400" dirty="0" err="1"/>
              <a:t>list</a:t>
            </a:r>
            <a:r>
              <a:rPr lang="es-ES" sz="1400" dirty="0"/>
              <a:t> of </a:t>
            </a:r>
            <a:r>
              <a:rPr lang="es-ES" sz="1400" dirty="0" err="1"/>
              <a:t>other</a:t>
            </a:r>
            <a:r>
              <a:rPr lang="es-ES" sz="1400" dirty="0"/>
              <a:t> DOM interfaces</a:t>
            </a:r>
            <a:r>
              <a:rPr lang="es-ES" sz="1400" dirty="0" smtClean="0"/>
              <a:t>.</a:t>
            </a:r>
          </a:p>
          <a:p>
            <a:endParaRPr lang="es-ES" sz="1400" dirty="0"/>
          </a:p>
          <a:p>
            <a:r>
              <a:rPr lang="es-ES" sz="1400" dirty="0" err="1"/>
              <a:t>class</a:t>
            </a:r>
            <a:r>
              <a:rPr lang="es-ES" sz="1400" dirty="0"/>
              <a:t> </a:t>
            </a:r>
            <a:r>
              <a:rPr lang="es-ES" sz="1400" dirty="0" err="1"/>
              <a:t>FancyButton</a:t>
            </a:r>
            <a:r>
              <a:rPr lang="es-ES" sz="1400" dirty="0"/>
              <a:t> </a:t>
            </a:r>
            <a:r>
              <a:rPr lang="es-ES" sz="1400" dirty="0" err="1"/>
              <a:t>extends</a:t>
            </a:r>
            <a:r>
              <a:rPr lang="es-ES" sz="1400" dirty="0"/>
              <a:t> </a:t>
            </a:r>
            <a:r>
              <a:rPr lang="es-ES" sz="1400" dirty="0" err="1"/>
              <a:t>HTMLButtonElement</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a:t>
            </a:r>
          </a:p>
          <a:p>
            <a:r>
              <a:rPr lang="es-ES" sz="1400" dirty="0"/>
              <a:t>    </a:t>
            </a:r>
            <a:r>
              <a:rPr lang="es-ES" sz="1400" dirty="0" err="1"/>
              <a:t>this.addEventListener</a:t>
            </a:r>
            <a:r>
              <a:rPr lang="es-ES" sz="1400" dirty="0"/>
              <a:t>('</a:t>
            </a:r>
            <a:r>
              <a:rPr lang="es-ES" sz="1400" dirty="0" err="1"/>
              <a:t>click</a:t>
            </a:r>
            <a:r>
              <a:rPr lang="es-ES" sz="1400" dirty="0"/>
              <a:t>', e =&gt; </a:t>
            </a:r>
            <a:r>
              <a:rPr lang="es-ES" sz="1400" dirty="0" err="1"/>
              <a:t>this.drawRipple</a:t>
            </a:r>
            <a:r>
              <a:rPr lang="es-ES" sz="1400" dirty="0"/>
              <a:t>(</a:t>
            </a:r>
            <a:r>
              <a:rPr lang="es-ES" sz="1400" dirty="0" err="1"/>
              <a:t>e.offsetX</a:t>
            </a:r>
            <a:r>
              <a:rPr lang="es-ES" sz="1400" dirty="0"/>
              <a:t>, </a:t>
            </a:r>
            <a:r>
              <a:rPr lang="es-ES" sz="1400" dirty="0" err="1"/>
              <a:t>e.offsetY</a:t>
            </a:r>
            <a:r>
              <a:rPr lang="es-ES" sz="1400" dirty="0"/>
              <a:t>));</a:t>
            </a:r>
          </a:p>
          <a:p>
            <a:r>
              <a:rPr lang="es-ES" sz="1400" dirty="0"/>
              <a:t>  }</a:t>
            </a:r>
          </a:p>
          <a:p>
            <a:endParaRPr lang="es-ES" sz="1400" dirty="0"/>
          </a:p>
          <a:p>
            <a:r>
              <a:rPr lang="es-ES" sz="1400" dirty="0"/>
              <a:t> </a:t>
            </a:r>
          </a:p>
        </p:txBody>
      </p:sp>
    </p:spTree>
    <p:extLst>
      <p:ext uri="{BB962C8B-B14F-4D97-AF65-F5344CB8AC3E}">
        <p14:creationId xmlns:p14="http://schemas.microsoft.com/office/powerpoint/2010/main" val="3306514336"/>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1612022"/>
            <a:ext cx="7887266" cy="3323987"/>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smtClean="0"/>
          </a:p>
          <a:p>
            <a:r>
              <a:rPr lang="es-ES" sz="1400" dirty="0" smtClean="0"/>
              <a:t>  </a:t>
            </a:r>
            <a:r>
              <a:rPr lang="es-ES" sz="1400" dirty="0"/>
              <a:t>// Material </a:t>
            </a:r>
            <a:r>
              <a:rPr lang="es-ES" sz="1400" dirty="0" err="1"/>
              <a:t>design</a:t>
            </a:r>
            <a:r>
              <a:rPr lang="es-ES" sz="1400" dirty="0"/>
              <a:t> </a:t>
            </a:r>
            <a:r>
              <a:rPr lang="es-ES" sz="1400" dirty="0" err="1"/>
              <a:t>ripple</a:t>
            </a:r>
            <a:r>
              <a:rPr lang="es-ES" sz="1400" dirty="0"/>
              <a:t> </a:t>
            </a:r>
            <a:r>
              <a:rPr lang="es-ES" sz="1400" dirty="0" err="1"/>
              <a:t>animation</a:t>
            </a:r>
            <a:r>
              <a:rPr lang="es-ES" sz="1400" dirty="0"/>
              <a:t>.</a:t>
            </a:r>
          </a:p>
          <a:p>
            <a:r>
              <a:rPr lang="es-ES" sz="1400" dirty="0"/>
              <a:t>  </a:t>
            </a:r>
            <a:r>
              <a:rPr lang="es-ES" sz="1400" dirty="0" err="1"/>
              <a:t>drawRipple</a:t>
            </a:r>
            <a:r>
              <a:rPr lang="es-ES" sz="1400" dirty="0"/>
              <a:t>(x, y) {</a:t>
            </a:r>
          </a:p>
          <a:p>
            <a:r>
              <a:rPr lang="es-ES" sz="1400" dirty="0"/>
              <a:t>    </a:t>
            </a:r>
            <a:r>
              <a:rPr lang="es-ES" sz="1400" dirty="0" err="1"/>
              <a:t>let</a:t>
            </a:r>
            <a:r>
              <a:rPr lang="es-ES" sz="1400" dirty="0"/>
              <a:t> div = </a:t>
            </a:r>
            <a:r>
              <a:rPr lang="es-ES" sz="1400" dirty="0" err="1"/>
              <a:t>document.createElement</a:t>
            </a:r>
            <a:r>
              <a:rPr lang="es-ES" sz="1400" dirty="0"/>
              <a:t>('div');</a:t>
            </a:r>
          </a:p>
          <a:p>
            <a:r>
              <a:rPr lang="es-ES" sz="1400" dirty="0"/>
              <a:t>    </a:t>
            </a:r>
            <a:r>
              <a:rPr lang="es-ES" sz="1400" dirty="0" err="1"/>
              <a:t>div.classList.add</a:t>
            </a:r>
            <a:r>
              <a:rPr lang="es-ES" sz="1400" dirty="0"/>
              <a:t>('</a:t>
            </a:r>
            <a:r>
              <a:rPr lang="es-ES" sz="1400" dirty="0" err="1"/>
              <a:t>ripple</a:t>
            </a:r>
            <a:r>
              <a:rPr lang="es-ES" sz="1400" dirty="0"/>
              <a:t>');</a:t>
            </a:r>
          </a:p>
          <a:p>
            <a:r>
              <a:rPr lang="es-ES" sz="1400" dirty="0"/>
              <a:t>    </a:t>
            </a:r>
            <a:r>
              <a:rPr lang="es-ES" sz="1400" dirty="0" err="1"/>
              <a:t>this.appendChild</a:t>
            </a:r>
            <a:r>
              <a:rPr lang="es-ES" sz="1400" dirty="0"/>
              <a:t>(div);</a:t>
            </a:r>
          </a:p>
          <a:p>
            <a:r>
              <a:rPr lang="es-ES" sz="1400" dirty="0"/>
              <a:t>    </a:t>
            </a:r>
            <a:r>
              <a:rPr lang="es-ES" sz="1400" dirty="0" err="1"/>
              <a:t>div.style.top</a:t>
            </a:r>
            <a:r>
              <a:rPr lang="es-ES" sz="1400" dirty="0"/>
              <a:t> = `${y - </a:t>
            </a:r>
            <a:r>
              <a:rPr lang="es-ES" sz="1400" dirty="0" err="1"/>
              <a:t>div.clientHeight</a:t>
            </a:r>
            <a:r>
              <a:rPr lang="es-ES" sz="1400" dirty="0"/>
              <a:t>/2}</a:t>
            </a:r>
            <a:r>
              <a:rPr lang="es-ES" sz="1400" dirty="0" err="1"/>
              <a:t>px</a:t>
            </a:r>
            <a:r>
              <a:rPr lang="es-ES" sz="1400" dirty="0"/>
              <a:t>`;</a:t>
            </a:r>
          </a:p>
          <a:p>
            <a:r>
              <a:rPr lang="es-ES" sz="1400" dirty="0"/>
              <a:t>    </a:t>
            </a:r>
            <a:r>
              <a:rPr lang="es-ES" sz="1400" dirty="0" err="1"/>
              <a:t>div.style.left</a:t>
            </a:r>
            <a:r>
              <a:rPr lang="es-ES" sz="1400" dirty="0"/>
              <a:t> = `${x - </a:t>
            </a:r>
            <a:r>
              <a:rPr lang="es-ES" sz="1400" dirty="0" err="1"/>
              <a:t>div.clientWidth</a:t>
            </a:r>
            <a:r>
              <a:rPr lang="es-ES" sz="1400" dirty="0"/>
              <a:t>/2}</a:t>
            </a:r>
            <a:r>
              <a:rPr lang="es-ES" sz="1400" dirty="0" err="1"/>
              <a:t>px</a:t>
            </a:r>
            <a:r>
              <a:rPr lang="es-ES" sz="1400" dirty="0"/>
              <a:t>`;</a:t>
            </a:r>
          </a:p>
          <a:p>
            <a:r>
              <a:rPr lang="es-ES" sz="1400" dirty="0"/>
              <a:t>    </a:t>
            </a:r>
            <a:r>
              <a:rPr lang="es-ES" sz="1400" dirty="0" err="1"/>
              <a:t>div.style.backgroundColor</a:t>
            </a:r>
            <a:r>
              <a:rPr lang="es-ES" sz="1400" dirty="0"/>
              <a:t> = '</a:t>
            </a:r>
            <a:r>
              <a:rPr lang="es-ES" sz="1400" dirty="0" err="1"/>
              <a:t>currentColor</a:t>
            </a:r>
            <a:r>
              <a:rPr lang="es-ES" sz="1400" dirty="0"/>
              <a:t>';</a:t>
            </a:r>
          </a:p>
          <a:p>
            <a:r>
              <a:rPr lang="es-ES" sz="1400" dirty="0"/>
              <a:t>    </a:t>
            </a:r>
            <a:r>
              <a:rPr lang="es-ES" sz="1400" dirty="0" err="1"/>
              <a:t>div.classList.add</a:t>
            </a:r>
            <a:r>
              <a:rPr lang="es-ES" sz="1400" dirty="0"/>
              <a:t>('</a:t>
            </a:r>
            <a:r>
              <a:rPr lang="es-ES" sz="1400" dirty="0" err="1"/>
              <a:t>run</a:t>
            </a:r>
            <a:r>
              <a:rPr lang="es-ES" sz="1400" dirty="0"/>
              <a:t>');</a:t>
            </a:r>
          </a:p>
          <a:p>
            <a:r>
              <a:rPr lang="es-ES" sz="1400" dirty="0"/>
              <a:t>    </a:t>
            </a:r>
            <a:r>
              <a:rPr lang="es-ES" sz="1400" dirty="0" err="1"/>
              <a:t>div.addEventListener</a:t>
            </a:r>
            <a:r>
              <a:rPr lang="es-ES" sz="1400" dirty="0"/>
              <a:t>('</a:t>
            </a:r>
            <a:r>
              <a:rPr lang="es-ES" sz="1400" dirty="0" err="1"/>
              <a:t>transitionend</a:t>
            </a:r>
            <a:r>
              <a:rPr lang="es-ES" sz="1400" dirty="0"/>
              <a:t>', e =&gt; </a:t>
            </a:r>
            <a:r>
              <a:rPr lang="es-ES" sz="1400" dirty="0" err="1"/>
              <a:t>div.remove</a:t>
            </a:r>
            <a:r>
              <a:rPr lang="es-ES" sz="1400" dirty="0"/>
              <a:t>());</a:t>
            </a:r>
          </a:p>
          <a:p>
            <a:r>
              <a:rPr lang="es-ES" sz="1400" dirty="0"/>
              <a:t>  }</a:t>
            </a:r>
          </a:p>
          <a:p>
            <a:r>
              <a:rPr lang="es-ES" sz="1400" dirty="0"/>
              <a:t>}</a:t>
            </a:r>
          </a:p>
          <a:p>
            <a:endParaRPr lang="es-ES" sz="1400" dirty="0"/>
          </a:p>
          <a:p>
            <a:r>
              <a:rPr lang="es-ES" sz="1400" dirty="0" err="1"/>
              <a:t>customElements.define</a:t>
            </a:r>
            <a:r>
              <a:rPr lang="es-ES" sz="1400" dirty="0"/>
              <a:t>('</a:t>
            </a:r>
            <a:r>
              <a:rPr lang="es-ES" sz="1400" dirty="0" err="1"/>
              <a:t>fancy-button</a:t>
            </a:r>
            <a:r>
              <a:rPr lang="es-ES" sz="1400" dirty="0"/>
              <a:t>', </a:t>
            </a:r>
            <a:r>
              <a:rPr lang="es-ES" sz="1400" dirty="0" err="1"/>
              <a:t>FancyButton</a:t>
            </a:r>
            <a:r>
              <a:rPr lang="es-ES" sz="1400" dirty="0"/>
              <a:t>, {</a:t>
            </a:r>
            <a:r>
              <a:rPr lang="es-ES" sz="1400" dirty="0" err="1"/>
              <a:t>extends</a:t>
            </a:r>
            <a:r>
              <a:rPr lang="es-ES" sz="1400" dirty="0"/>
              <a:t>: '</a:t>
            </a:r>
            <a:r>
              <a:rPr lang="es-ES" sz="1400" dirty="0" err="1"/>
              <a:t>button</a:t>
            </a:r>
            <a:r>
              <a:rPr lang="es-ES" sz="1400" dirty="0"/>
              <a:t>'});</a:t>
            </a:r>
          </a:p>
        </p:txBody>
      </p:sp>
      <p:sp>
        <p:nvSpPr>
          <p:cNvPr id="15" name="Rectángulo 14"/>
          <p:cNvSpPr/>
          <p:nvPr/>
        </p:nvSpPr>
        <p:spPr>
          <a:xfrm>
            <a:off x="492433" y="4939883"/>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Observa que la llamada a define() cambia ligeramente al extender un elemento nativo. El tercer parámetro obligatorio indica al navegador la etiqueta que </a:t>
            </a:r>
            <a:r>
              <a:rPr lang="es-ES" dirty="0" smtClean="0">
                <a:solidFill>
                  <a:srgbClr val="FFFFFF"/>
                </a:solidFill>
                <a:latin typeface="Helvetica"/>
                <a:cs typeface="Helvetica"/>
              </a:rPr>
              <a:t>extenderás</a:t>
            </a:r>
            <a:r>
              <a:rPr lang="es-ES" dirty="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Tree>
    <p:extLst>
      <p:ext uri="{BB962C8B-B14F-4D97-AF65-F5344CB8AC3E}">
        <p14:creationId xmlns:p14="http://schemas.microsoft.com/office/powerpoint/2010/main" val="4198447596"/>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Reacciones de los elementos personalizados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565312"/>
            <a:ext cx="8202871" cy="1878976"/>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puede definir enlaces de ciclo de vida especiales para ejecutar código durante momentos interesantes de su existencia. Estos enlaces se llaman reacciones de elementos personalizados.</a:t>
            </a: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pic>
        <p:nvPicPr>
          <p:cNvPr id="11" name="Imagen 10"/>
          <p:cNvPicPr>
            <a:picLocks noChangeAspect="1"/>
          </p:cNvPicPr>
          <p:nvPr/>
        </p:nvPicPr>
        <p:blipFill>
          <a:blip r:embed="rId5"/>
          <a:stretch>
            <a:fillRect/>
          </a:stretch>
        </p:blipFill>
        <p:spPr>
          <a:xfrm>
            <a:off x="553776" y="2848644"/>
            <a:ext cx="8105241" cy="3378956"/>
          </a:xfrm>
          <a:prstGeom prst="rect">
            <a:avLst/>
          </a:prstGeom>
        </p:spPr>
      </p:pic>
    </p:spTree>
    <p:extLst>
      <p:ext uri="{BB962C8B-B14F-4D97-AF65-F5344CB8AC3E}">
        <p14:creationId xmlns:p14="http://schemas.microsoft.com/office/powerpoint/2010/main" val="3328726496"/>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Definiremos una nueva variante de nodo DOM llamado Shadow Host. Un Shadow Host es </a:t>
            </a:r>
            <a:r>
              <a:rPr lang="es-ES" dirty="0" smtClean="0">
                <a:solidFill>
                  <a:srgbClr val="FFFFFF"/>
                </a:solidFill>
                <a:latin typeface="Helvetica"/>
                <a:cs typeface="Helvetica"/>
              </a:rPr>
              <a:t>un nodo </a:t>
            </a:r>
            <a:r>
              <a:rPr lang="es-ES" dirty="0">
                <a:solidFill>
                  <a:srgbClr val="FFFFFF"/>
                </a:solidFill>
                <a:latin typeface="Helvetica"/>
                <a:cs typeface="Helvetica"/>
              </a:rPr>
              <a:t>DOM que </a:t>
            </a:r>
            <a:r>
              <a:rPr lang="es-ES" dirty="0" smtClean="0">
                <a:solidFill>
                  <a:srgbClr val="FFFFFF"/>
                </a:solidFill>
                <a:latin typeface="Helvetica"/>
                <a:cs typeface="Helvetica"/>
              </a:rPr>
              <a:t>contiene </a:t>
            </a:r>
            <a:r>
              <a:rPr lang="es-ES" dirty="0">
                <a:solidFill>
                  <a:srgbClr val="FFFFFF"/>
                </a:solidFill>
                <a:latin typeface="Helvetica"/>
                <a:cs typeface="Helvetica"/>
              </a:rPr>
              <a:t>un atributo hacia un nuevo nodo DOM llamado </a:t>
            </a:r>
            <a:r>
              <a:rPr lang="es-ES" b="1" u="sng" dirty="0">
                <a:solidFill>
                  <a:srgbClr val="FFFFFF"/>
                </a:solidFill>
                <a:latin typeface="Helvetica"/>
                <a:cs typeface="Helvetica"/>
              </a:rPr>
              <a:t>Shadow </a:t>
            </a:r>
            <a:r>
              <a:rPr lang="es-ES" b="1" u="sng" dirty="0" err="1">
                <a:solidFill>
                  <a:srgbClr val="FFFFFF"/>
                </a:solidFill>
                <a:latin typeface="Helvetica"/>
                <a:cs typeface="Helvetica"/>
              </a:rPr>
              <a:t>Root</a:t>
            </a:r>
            <a:r>
              <a:rPr lang="es-ES" u="sng" dirty="0">
                <a:solidFill>
                  <a:srgbClr val="FFFFFF"/>
                </a:solidFill>
                <a:latin typeface="Helvetica"/>
                <a:cs typeface="Helvetica"/>
              </a:rPr>
              <a:t>. </a:t>
            </a:r>
            <a:r>
              <a:rPr lang="es-ES" dirty="0">
                <a:solidFill>
                  <a:srgbClr val="FFFFFF"/>
                </a:solidFill>
                <a:latin typeface="Helvetica"/>
                <a:cs typeface="Helvetica"/>
              </a:rPr>
              <a:t>De </a:t>
            </a:r>
            <a:r>
              <a:rPr lang="es-ES" dirty="0" smtClean="0">
                <a:solidFill>
                  <a:srgbClr val="FFFFFF"/>
                </a:solidFill>
                <a:latin typeface="Helvetica"/>
                <a:cs typeface="Helvetica"/>
              </a:rPr>
              <a:t>él se </a:t>
            </a:r>
            <a:r>
              <a:rPr lang="es-ES" dirty="0">
                <a:solidFill>
                  <a:srgbClr val="FFFFFF"/>
                </a:solidFill>
                <a:latin typeface="Helvetica"/>
                <a:cs typeface="Helvetica"/>
              </a:rPr>
              <a:t>puede hacer depender un subárbol DOM que transcurre en paralelo al documento </a:t>
            </a:r>
            <a:r>
              <a:rPr lang="es-ES" dirty="0" smtClean="0">
                <a:solidFill>
                  <a:srgbClr val="FFFFFF"/>
                </a:solidFill>
                <a:latin typeface="Helvetica"/>
                <a:cs typeface="Helvetica"/>
              </a:rPr>
              <a:t>llamado Shadow </a:t>
            </a:r>
            <a:r>
              <a:rPr lang="es-ES" dirty="0">
                <a:solidFill>
                  <a:srgbClr val="FFFFFF"/>
                </a:solidFill>
                <a:latin typeface="Helvetica"/>
                <a:cs typeface="Helvetica"/>
              </a:rPr>
              <a:t>DOM.</a:t>
            </a: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6" name="Imagen 15"/>
          <p:cNvPicPr>
            <a:picLocks noChangeAspect="1"/>
          </p:cNvPicPr>
          <p:nvPr/>
        </p:nvPicPr>
        <p:blipFill>
          <a:blip r:embed="rId5"/>
          <a:stretch>
            <a:fillRect/>
          </a:stretch>
        </p:blipFill>
        <p:spPr>
          <a:xfrm>
            <a:off x="2739571" y="3338456"/>
            <a:ext cx="3525762" cy="2912134"/>
          </a:xfrm>
          <a:prstGeom prst="rect">
            <a:avLst/>
          </a:prstGeom>
        </p:spPr>
      </p:pic>
      <p:pic>
        <p:nvPicPr>
          <p:cNvPr id="19" name="Imagen 18"/>
          <p:cNvPicPr>
            <a:picLocks noChangeAspect="1"/>
          </p:cNvPicPr>
          <p:nvPr/>
        </p:nvPicPr>
        <p:blipFill>
          <a:blip r:embed="rId6"/>
          <a:stretch>
            <a:fillRect/>
          </a:stretch>
        </p:blipFill>
        <p:spPr>
          <a:xfrm>
            <a:off x="6451171" y="3338456"/>
            <a:ext cx="2120900" cy="368300"/>
          </a:xfrm>
          <a:prstGeom prst="rect">
            <a:avLst/>
          </a:prstGeom>
        </p:spPr>
      </p:pic>
      <p:pic>
        <p:nvPicPr>
          <p:cNvPr id="22" name="Imagen 21"/>
          <p:cNvPicPr>
            <a:picLocks noChangeAspect="1"/>
          </p:cNvPicPr>
          <p:nvPr/>
        </p:nvPicPr>
        <p:blipFill>
          <a:blip r:embed="rId7"/>
          <a:stretch>
            <a:fillRect/>
          </a:stretch>
        </p:blipFill>
        <p:spPr>
          <a:xfrm>
            <a:off x="6425771" y="3853816"/>
            <a:ext cx="2146300" cy="317500"/>
          </a:xfrm>
          <a:prstGeom prst="rect">
            <a:avLst/>
          </a:prstGeom>
        </p:spPr>
      </p:pic>
    </p:spTree>
    <p:extLst>
      <p:ext uri="{BB962C8B-B14F-4D97-AF65-F5344CB8AC3E}">
        <p14:creationId xmlns:p14="http://schemas.microsoft.com/office/powerpoint/2010/main" val="2396892761"/>
      </p:ext>
    </p:extLst>
  </p:cSld>
  <p:clrMapOvr>
    <a:masterClrMapping/>
  </p:clrMapOvr>
  <p:timing>
    <p:tnLst>
      <p:par>
        <p:cTn xmlns:p14="http://schemas.microsoft.com/office/powerpoint/2010/mai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Light </a:t>
            </a:r>
            <a:r>
              <a:rPr lang="es-ES" dirty="0" smtClean="0">
                <a:solidFill>
                  <a:srgbClr val="FFFFFF"/>
                </a:solidFill>
                <a:latin typeface="Helvetica"/>
                <a:cs typeface="Helvetica"/>
              </a:rPr>
              <a:t>DOM:</a:t>
            </a:r>
          </a:p>
          <a:p>
            <a:pPr algn="just">
              <a:lnSpc>
                <a:spcPct val="130000"/>
              </a:lnSpc>
            </a:pPr>
            <a:r>
              <a:rPr lang="es-ES" dirty="0">
                <a:solidFill>
                  <a:srgbClr val="FFFFFF"/>
                </a:solidFill>
                <a:latin typeface="Helvetica"/>
                <a:cs typeface="Helvetica"/>
              </a:rPr>
              <a:t>Es el lenguaje de marcado que escribe un usuario de tu componente. El DOM vive afuera del </a:t>
            </a:r>
            <a:r>
              <a:rPr lang="es-ES" dirty="0" err="1">
                <a:solidFill>
                  <a:srgbClr val="FFFFFF"/>
                </a:solidFill>
                <a:latin typeface="Helvetica"/>
                <a:cs typeface="Helvetica"/>
              </a:rPr>
              <a:t>shadow</a:t>
            </a:r>
            <a:r>
              <a:rPr lang="es-ES" dirty="0">
                <a:solidFill>
                  <a:srgbClr val="FFFFFF"/>
                </a:solidFill>
                <a:latin typeface="Helvetica"/>
                <a:cs typeface="Helvetica"/>
              </a:rPr>
              <a:t> DOM del componente. Consta de los campos secundarios reales del elemento.</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Shadow DOM:</a:t>
            </a:r>
          </a:p>
          <a:p>
            <a:pPr algn="just">
              <a:lnSpc>
                <a:spcPct val="130000"/>
              </a:lnSpc>
            </a:pPr>
            <a:r>
              <a:rPr lang="es-ES" dirty="0">
                <a:solidFill>
                  <a:srgbClr val="FFFFFF"/>
                </a:solidFill>
                <a:latin typeface="Helvetica"/>
                <a:cs typeface="Helvetica"/>
              </a:rPr>
              <a:t>Es el DOM que escribe el autor del componente. Shadow DOM es local del componente y define su estructura interna, CSS con ámbito, y encapsula tus detalles de implementación. También puede definir cómo representar el lenguaje de marcado que creó el consumidor de tu componente.</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light DOM y </a:t>
            </a:r>
            <a:r>
              <a:rPr lang="es-ES" sz="2200" u="sng" dirty="0" err="1">
                <a:latin typeface="Arial Black"/>
                <a:cs typeface="Arial Black"/>
              </a:rPr>
              <a:t>shadow</a:t>
            </a:r>
            <a:r>
              <a:rPr lang="es-ES" sz="2200" u="sng" dirty="0">
                <a:latin typeface="Arial Black"/>
                <a:cs typeface="Arial Black"/>
              </a:rPr>
              <a:t> DOM</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396759326"/>
      </p:ext>
    </p:extLst>
  </p:cSld>
  <p:clrMapOvr>
    <a:masterClrMapping/>
  </p:clrMapOvr>
  <p:timing>
    <p:tnLst>
      <p:par>
        <p:cTn xmlns:p14="http://schemas.microsoft.com/office/powerpoint/2010/mai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resultado de que el navegador distribuya el light DOM del usuario en tu </a:t>
            </a:r>
            <a:r>
              <a:rPr lang="es-ES" dirty="0" err="1">
                <a:solidFill>
                  <a:srgbClr val="FFFFFF"/>
                </a:solidFill>
                <a:latin typeface="Helvetica"/>
                <a:cs typeface="Helvetica"/>
              </a:rPr>
              <a:t>shadow</a:t>
            </a:r>
            <a:r>
              <a:rPr lang="es-ES" dirty="0">
                <a:solidFill>
                  <a:srgbClr val="FFFFFF"/>
                </a:solidFill>
                <a:latin typeface="Helvetica"/>
                <a:cs typeface="Helvetica"/>
              </a:rPr>
              <a:t> DOM, representando el producto final. El árbol plano es lo que en última instancia ves en las </a:t>
            </a:r>
            <a:r>
              <a:rPr lang="es-ES" dirty="0" err="1">
                <a:solidFill>
                  <a:srgbClr val="FFFFFF"/>
                </a:solidFill>
                <a:latin typeface="Helvetica"/>
                <a:cs typeface="Helvetica"/>
              </a:rPr>
              <a:t>DevTools</a:t>
            </a:r>
            <a:r>
              <a:rPr lang="es-ES" dirty="0">
                <a:solidFill>
                  <a:srgbClr val="FFFFFF"/>
                </a:solidFill>
                <a:latin typeface="Helvetica"/>
                <a:cs typeface="Helvetica"/>
              </a:rPr>
              <a:t> y lo que se representa en la página.</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Árbol del DOM plano</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956103557"/>
      </p:ext>
    </p:extLst>
  </p:cSld>
  <p:clrMapOvr>
    <a:masterClrMapping/>
  </p:clrMapOvr>
  <p:timing>
    <p:tnLst>
      <p:par>
        <p:cTn xmlns:p14="http://schemas.microsoft.com/office/powerpoint/2010/mai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1158779"/>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a:t>
            </a:r>
            <a:r>
              <a:rPr lang="es-ES" dirty="0" smtClean="0">
                <a:solidFill>
                  <a:srgbClr val="FFFFFF"/>
                </a:solidFill>
                <a:latin typeface="Helvetica"/>
                <a:cs typeface="Helvetica"/>
              </a:rPr>
              <a:t>convertir </a:t>
            </a:r>
            <a:r>
              <a:rPr lang="es-ES" dirty="0">
                <a:solidFill>
                  <a:srgbClr val="FFFFFF"/>
                </a:solidFill>
                <a:latin typeface="Helvetica"/>
                <a:cs typeface="Helvetica"/>
              </a:rPr>
              <a:t>un nodo normal en un </a:t>
            </a:r>
            <a:r>
              <a:rPr lang="es-ES" dirty="0" err="1">
                <a:solidFill>
                  <a:srgbClr val="FFFFFF"/>
                </a:solidFill>
                <a:latin typeface="Helvetica"/>
                <a:cs typeface="Helvetica"/>
              </a:rPr>
              <a:t>shadow</a:t>
            </a:r>
            <a:r>
              <a:rPr lang="es-ES" dirty="0">
                <a:solidFill>
                  <a:srgbClr val="FFFFFF"/>
                </a:solidFill>
                <a:latin typeface="Helvetica"/>
                <a:cs typeface="Helvetica"/>
              </a:rPr>
              <a:t> host es necesario incluir un atributo hacia </a:t>
            </a:r>
            <a:r>
              <a:rPr lang="es-ES" dirty="0" smtClean="0">
                <a:solidFill>
                  <a:srgbClr val="FFFFFF"/>
                </a:solidFill>
                <a:latin typeface="Helvetica"/>
                <a:cs typeface="Helvetica"/>
              </a:rPr>
              <a:t>un </a:t>
            </a:r>
            <a:r>
              <a:rPr lang="es-ES" dirty="0" err="1" smtClean="0">
                <a:solidFill>
                  <a:srgbClr val="FFFFFF"/>
                </a:solidFill>
                <a:latin typeface="Helvetica"/>
                <a:cs typeface="Helvetica"/>
              </a:rPr>
              <a:t>shadow</a:t>
            </a:r>
            <a:r>
              <a:rPr lang="es-ES" dirty="0" smtClean="0">
                <a:solidFill>
                  <a:srgbClr val="FFFFFF"/>
                </a:solidFill>
                <a:latin typeface="Helvetica"/>
                <a:cs typeface="Helvetica"/>
              </a:rPr>
              <a:t> </a:t>
            </a:r>
            <a:r>
              <a:rPr lang="es-ES" dirty="0" err="1">
                <a:solidFill>
                  <a:srgbClr val="FFFFFF"/>
                </a:solidFill>
                <a:latin typeface="Helvetica"/>
                <a:cs typeface="Helvetica"/>
              </a:rPr>
              <a:t>root</a:t>
            </a:r>
            <a:r>
              <a:rPr lang="es-ES" dirty="0">
                <a:solidFill>
                  <a:srgbClr val="FFFFFF"/>
                </a:solidFill>
                <a:latin typeface="Helvetica"/>
                <a:cs typeface="Helvetica"/>
              </a:rPr>
              <a:t>. Esto se hace </a:t>
            </a:r>
            <a:r>
              <a:rPr lang="es-ES" dirty="0" smtClean="0">
                <a:solidFill>
                  <a:srgbClr val="FFFFFF"/>
                </a:solidFill>
                <a:latin typeface="Helvetica"/>
                <a:cs typeface="Helvetica"/>
              </a:rPr>
              <a:t>mediante una llamada al método </a:t>
            </a:r>
            <a:r>
              <a:rPr lang="es-ES" dirty="0" err="1" smtClean="0">
                <a:solidFill>
                  <a:srgbClr val="FFFFFF"/>
                </a:solidFill>
                <a:latin typeface="Helvetica"/>
                <a:cs typeface="Helvetica"/>
              </a:rPr>
              <a:t>attachShadow</a:t>
            </a:r>
            <a:r>
              <a:rPr lang="es-ES" dirty="0">
                <a:solidFill>
                  <a:srgbClr val="FFFFFF"/>
                </a:solidFill>
                <a:latin typeface="Helvetica"/>
                <a:cs typeface="Helvetica"/>
              </a:rPr>
              <a:t>(</a:t>
            </a:r>
            <a:r>
              <a:rPr lang="es-ES" dirty="0" smtClean="0">
                <a:solidFill>
                  <a:srgbClr val="FFFFFF"/>
                </a:solidFill>
                <a:latin typeface="Helvetica"/>
                <a:cs typeface="Helvetica"/>
              </a:rPr>
              <a:t>) dentro del constructor.</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2828482"/>
            <a:ext cx="8094318" cy="3539430"/>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err="1"/>
              <a:t>customElements.define</a:t>
            </a:r>
            <a:r>
              <a:rPr lang="es-ES" sz="1600" dirty="0"/>
              <a:t>('x-</a:t>
            </a:r>
            <a:r>
              <a:rPr lang="es-ES" sz="1600" dirty="0" err="1"/>
              <a:t>foo</a:t>
            </a:r>
            <a:r>
              <a:rPr lang="es-ES" sz="1600" dirty="0"/>
              <a:t>-</a:t>
            </a:r>
            <a:r>
              <a:rPr lang="es-ES" sz="1600" dirty="0" err="1"/>
              <a:t>shadowdom</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endParaRPr lang="es-ES" sz="1600" dirty="0"/>
          </a:p>
          <a:p>
            <a:r>
              <a:rPr lang="es-ES" sz="1600" dirty="0"/>
              <a:t>    // </a:t>
            </a:r>
            <a:r>
              <a:rPr lang="es-ES" sz="1600" dirty="0" err="1"/>
              <a:t>Attach</a:t>
            </a:r>
            <a:r>
              <a:rPr lang="es-ES" sz="1600" dirty="0"/>
              <a:t> a </a:t>
            </a:r>
            <a:r>
              <a:rPr lang="es-ES" sz="1600" dirty="0" err="1"/>
              <a:t>shadow</a:t>
            </a:r>
            <a:r>
              <a:rPr lang="es-ES" sz="1600" dirty="0"/>
              <a:t> </a:t>
            </a:r>
            <a:r>
              <a:rPr lang="es-ES" sz="1600" dirty="0" err="1"/>
              <a:t>root</a:t>
            </a:r>
            <a:r>
              <a:rPr lang="es-ES" sz="1600" dirty="0"/>
              <a:t> </a:t>
            </a:r>
            <a:r>
              <a:rPr lang="es-ES" sz="1600" dirty="0" err="1"/>
              <a:t>to</a:t>
            </a:r>
            <a:r>
              <a:rPr lang="es-ES" sz="1600" dirty="0"/>
              <a:t> </a:t>
            </a:r>
            <a:r>
              <a:rPr lang="es-ES" sz="1600" dirty="0" err="1"/>
              <a:t>the</a:t>
            </a:r>
            <a:r>
              <a:rPr lang="es-ES" sz="1600" dirty="0"/>
              <a:t> </a:t>
            </a:r>
            <a:r>
              <a:rPr lang="es-ES" sz="1600" dirty="0" err="1"/>
              <a:t>element</a:t>
            </a:r>
            <a:r>
              <a:rPr lang="es-ES" sz="1600" dirty="0"/>
              <a:t>.</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shadowRoot.innerHTML</a:t>
            </a:r>
            <a:r>
              <a:rPr lang="es-ES" sz="1600" dirty="0"/>
              <a:t> = `</a:t>
            </a:r>
          </a:p>
          <a:p>
            <a:r>
              <a:rPr lang="es-ES" sz="1600" dirty="0"/>
              <a:t>      &lt;</a:t>
            </a:r>
            <a:r>
              <a:rPr lang="es-ES" sz="1600" dirty="0" err="1"/>
              <a:t>style</a:t>
            </a:r>
            <a:r>
              <a:rPr lang="es-ES" sz="1600" dirty="0"/>
              <a:t>&gt;:host { ... }&lt;/</a:t>
            </a:r>
            <a:r>
              <a:rPr lang="es-ES" sz="1600" dirty="0" err="1"/>
              <a:t>style</a:t>
            </a:r>
            <a:r>
              <a:rPr lang="es-ES" sz="1600" dirty="0"/>
              <a:t>&gt; &lt;!-- look </a:t>
            </a:r>
            <a:r>
              <a:rPr lang="es-ES" sz="1600" dirty="0" err="1"/>
              <a:t>ma</a:t>
            </a:r>
            <a:r>
              <a:rPr lang="es-ES" sz="1600" dirty="0"/>
              <a:t>, </a:t>
            </a:r>
            <a:r>
              <a:rPr lang="es-ES" sz="1600" dirty="0" err="1"/>
              <a:t>scoped</a:t>
            </a:r>
            <a:r>
              <a:rPr lang="es-ES" sz="1600" dirty="0"/>
              <a:t> </a:t>
            </a:r>
            <a:r>
              <a:rPr lang="es-ES" sz="1600" dirty="0" err="1"/>
              <a:t>styles</a:t>
            </a:r>
            <a:r>
              <a:rPr lang="es-ES" sz="1600" dirty="0"/>
              <a:t> --&gt;</a:t>
            </a:r>
          </a:p>
          <a:p>
            <a:r>
              <a:rPr lang="es-ES" sz="1600" dirty="0"/>
              <a:t>      &lt;b&gt;</a:t>
            </a:r>
            <a:r>
              <a:rPr lang="es-ES" sz="1600" dirty="0" err="1"/>
              <a:t>I'm</a:t>
            </a:r>
            <a:r>
              <a:rPr lang="es-ES" sz="1600" dirty="0"/>
              <a:t> in </a:t>
            </a:r>
            <a:r>
              <a:rPr lang="es-ES" sz="1600" dirty="0" err="1"/>
              <a:t>shadow</a:t>
            </a:r>
            <a:r>
              <a:rPr lang="es-ES" sz="1600" dirty="0"/>
              <a:t> </a:t>
            </a:r>
            <a:r>
              <a:rPr lang="es-ES" sz="1600" dirty="0" err="1"/>
              <a:t>dom</a:t>
            </a:r>
            <a:r>
              <a:rPr lang="es-ES" sz="1600" dirty="0"/>
              <a:t>!&lt;/b&gt;</a:t>
            </a:r>
          </a:p>
          <a:p>
            <a:r>
              <a:rPr lang="es-ES" sz="1600" dirty="0"/>
              <a:t>      &lt;slot&gt;&lt;/slot&gt;</a:t>
            </a:r>
          </a:p>
          <a:p>
            <a:r>
              <a:rPr lang="es-ES" sz="1600" dirty="0"/>
              <a:t>    `;</a:t>
            </a:r>
          </a:p>
          <a:p>
            <a:r>
              <a:rPr lang="es-ES" sz="1600" dirty="0"/>
              <a:t>  }</a:t>
            </a:r>
          </a:p>
          <a:p>
            <a:r>
              <a:rPr lang="es-ES" sz="1600" dirty="0"/>
              <a:t>  ...</a:t>
            </a:r>
          </a:p>
          <a:p>
            <a:r>
              <a:rPr lang="es-ES" sz="1600" dirty="0"/>
              <a: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2115604924"/>
      </p:ext>
    </p:extLst>
  </p:cSld>
  <p:clrMapOvr>
    <a:masterClrMapping/>
  </p:clrMapOvr>
  <p:timing>
    <p:tnLst>
      <p:par>
        <p:cTn xmlns:p14="http://schemas.microsoft.com/office/powerpoint/2010/mai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6200161"/>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es poco frecuente encontrar situaciones en las que es necesario instanciar dos </a:t>
            </a:r>
            <a:r>
              <a:rPr lang="es-ES" dirty="0" smtClean="0">
                <a:solidFill>
                  <a:srgbClr val="FFFFFF"/>
                </a:solidFill>
                <a:latin typeface="Helvetica"/>
                <a:cs typeface="Helvetica"/>
              </a:rPr>
              <a:t>ocurrencias diferentes </a:t>
            </a:r>
            <a:r>
              <a:rPr lang="es-ES" dirty="0">
                <a:solidFill>
                  <a:srgbClr val="FFFFFF"/>
                </a:solidFill>
                <a:latin typeface="Helvetica"/>
                <a:cs typeface="Helvetica"/>
              </a:rPr>
              <a:t>de un mismo componente sobre la misma página, aunque sea con light </a:t>
            </a:r>
            <a:r>
              <a:rPr lang="es-ES" dirty="0" smtClean="0">
                <a:solidFill>
                  <a:srgbClr val="FFFFFF"/>
                </a:solidFill>
                <a:latin typeface="Helvetica"/>
                <a:cs typeface="Helvetica"/>
              </a:rPr>
              <a:t>DOM diferentes</a:t>
            </a:r>
            <a:r>
              <a:rPr lang="es-ES" dirty="0">
                <a:solidFill>
                  <a:srgbClr val="FFFFFF"/>
                </a:solidFill>
                <a:latin typeface="Helvetica"/>
                <a:cs typeface="Helvetica"/>
              </a:rPr>
              <a:t>. ¿Pomo podemos evitar el trabajo de reescribir el </a:t>
            </a:r>
            <a:r>
              <a:rPr lang="es-ES" dirty="0" err="1">
                <a:solidFill>
                  <a:srgbClr val="FFFFFF"/>
                </a:solidFill>
                <a:latin typeface="Helvetica"/>
                <a:cs typeface="Helvetica"/>
              </a:rPr>
              <a:t>shadow</a:t>
            </a:r>
            <a:r>
              <a:rPr lang="es-ES" dirty="0">
                <a:solidFill>
                  <a:srgbClr val="FFFFFF"/>
                </a:solidFill>
                <a:latin typeface="Helvetica"/>
                <a:cs typeface="Helvetica"/>
              </a:rPr>
              <a:t> DOM entero para </a:t>
            </a:r>
            <a:r>
              <a:rPr lang="es-ES" dirty="0" smtClean="0">
                <a:solidFill>
                  <a:srgbClr val="FFFFFF"/>
                </a:solidFill>
                <a:latin typeface="Helvetica"/>
                <a:cs typeface="Helvetica"/>
              </a:rPr>
              <a:t>cada instancia </a:t>
            </a:r>
            <a:r>
              <a:rPr lang="es-ES" dirty="0">
                <a:solidFill>
                  <a:srgbClr val="FFFFFF"/>
                </a:solidFill>
                <a:latin typeface="Helvetica"/>
                <a:cs typeface="Helvetica"/>
              </a:rPr>
              <a:t>de forma eficaz y segura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r>
              <a:rPr lang="es-ES" dirty="0">
                <a:solidFill>
                  <a:srgbClr val="FFFFFF"/>
                </a:solidFill>
                <a:latin typeface="Helvetica"/>
                <a:cs typeface="Helvetica"/>
              </a:rPr>
              <a:t>Una </a:t>
            </a:r>
            <a:r>
              <a:rPr lang="es-ES" dirty="0" smtClean="0">
                <a:solidFill>
                  <a:srgbClr val="FFFFFF"/>
                </a:solidFill>
                <a:latin typeface="Helvetica"/>
                <a:cs typeface="Helvetica"/>
              </a:rPr>
              <a:t>plantilla </a:t>
            </a:r>
            <a:r>
              <a:rPr lang="es-ES" dirty="0">
                <a:solidFill>
                  <a:srgbClr val="FFFFFF"/>
                </a:solidFill>
                <a:latin typeface="Helvetica"/>
                <a:cs typeface="Helvetica"/>
              </a:rPr>
              <a:t>&lt;</a:t>
            </a:r>
            <a:r>
              <a:rPr lang="es-ES" dirty="0" err="1">
                <a:solidFill>
                  <a:srgbClr val="FFFFFF"/>
                </a:solidFill>
                <a:latin typeface="Helvetica"/>
                <a:cs typeface="Helvetica"/>
              </a:rPr>
              <a:t>template</a:t>
            </a:r>
            <a:r>
              <a:rPr lang="es-ES" dirty="0">
                <a:solidFill>
                  <a:srgbClr val="FFFFFF"/>
                </a:solidFill>
                <a:latin typeface="Helvetica"/>
                <a:cs typeface="Helvetica"/>
              </a:rPr>
              <a:t>&gt; es un nuevo </a:t>
            </a:r>
            <a:r>
              <a:rPr lang="es-ES" dirty="0" smtClean="0">
                <a:solidFill>
                  <a:srgbClr val="FFFFFF"/>
                </a:solidFill>
                <a:latin typeface="Helvetica"/>
                <a:cs typeface="Helvetica"/>
              </a:rPr>
              <a:t>tipo </a:t>
            </a:r>
            <a:r>
              <a:rPr lang="es-ES" dirty="0">
                <a:solidFill>
                  <a:srgbClr val="FFFFFF"/>
                </a:solidFill>
                <a:latin typeface="Helvetica"/>
                <a:cs typeface="Helvetica"/>
              </a:rPr>
              <a:t>de </a:t>
            </a:r>
            <a:r>
              <a:rPr lang="es-ES" dirty="0" smtClean="0">
                <a:solidFill>
                  <a:srgbClr val="FFFFFF"/>
                </a:solidFill>
                <a:latin typeface="Helvetica"/>
                <a:cs typeface="Helvetica"/>
              </a:rPr>
              <a:t>etiqueta </a:t>
            </a:r>
            <a:r>
              <a:rPr lang="es-ES" dirty="0">
                <a:solidFill>
                  <a:srgbClr val="FFFFFF"/>
                </a:solidFill>
                <a:latin typeface="Helvetica"/>
                <a:cs typeface="Helvetica"/>
              </a:rPr>
              <a:t>que puede incluir cualquier </a:t>
            </a:r>
            <a:r>
              <a:rPr lang="es-ES" dirty="0" smtClean="0">
                <a:solidFill>
                  <a:srgbClr val="FFFFFF"/>
                </a:solidFill>
                <a:latin typeface="Helvetica"/>
                <a:cs typeface="Helvetica"/>
              </a:rPr>
              <a:t>contenido HTML </a:t>
            </a:r>
            <a:r>
              <a:rPr lang="es-ES" dirty="0">
                <a:solidFill>
                  <a:srgbClr val="FFFFFF"/>
                </a:solidFill>
                <a:latin typeface="Helvetica"/>
                <a:cs typeface="Helvetica"/>
              </a:rPr>
              <a:t>y puede ubicarse en cualquier parte del documento. </a:t>
            </a:r>
            <a:r>
              <a:rPr lang="es-ES" dirty="0" smtClean="0">
                <a:solidFill>
                  <a:srgbClr val="FFFFFF"/>
                </a:solidFill>
                <a:latin typeface="Helvetica"/>
                <a:cs typeface="Helvetica"/>
              </a:rPr>
              <a:t>No </a:t>
            </a:r>
            <a:r>
              <a:rPr lang="es-ES" dirty="0">
                <a:solidFill>
                  <a:srgbClr val="FFFFFF"/>
                </a:solidFill>
                <a:latin typeface="Helvetica"/>
                <a:cs typeface="Helvetica"/>
              </a:rPr>
              <a:t>son visibles en el DOM hasta que se </a:t>
            </a:r>
            <a:r>
              <a:rPr lang="es-ES" dirty="0" smtClean="0">
                <a:solidFill>
                  <a:srgbClr val="FFFFFF"/>
                </a:solidFill>
                <a:latin typeface="Helvetica"/>
                <a:cs typeface="Helvetica"/>
              </a:rPr>
              <a:t>invocan.</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4" name="Imagen 13"/>
          <p:cNvPicPr>
            <a:picLocks noChangeAspect="1"/>
          </p:cNvPicPr>
          <p:nvPr/>
        </p:nvPicPr>
        <p:blipFill>
          <a:blip r:embed="rId5"/>
          <a:stretch>
            <a:fillRect/>
          </a:stretch>
        </p:blipFill>
        <p:spPr>
          <a:xfrm>
            <a:off x="2683329" y="3456518"/>
            <a:ext cx="3618290" cy="1643866"/>
          </a:xfrm>
          <a:prstGeom prst="rect">
            <a:avLst/>
          </a:prstGeom>
        </p:spPr>
      </p:pic>
    </p:spTree>
    <p:extLst>
      <p:ext uri="{BB962C8B-B14F-4D97-AF65-F5344CB8AC3E}">
        <p14:creationId xmlns:p14="http://schemas.microsoft.com/office/powerpoint/2010/main" val="2527292482"/>
      </p:ext>
    </p:extLst>
  </p:cSld>
  <p:clrMapOvr>
    <a:masterClrMapping/>
  </p:clrMapOvr>
  <p:timing>
    <p:tnLst>
      <p:par>
        <p:cTn xmlns:p14="http://schemas.microsoft.com/office/powerpoint/2010/mai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r>
              <a:rPr lang="es-ES" sz="2200" u="sng" dirty="0" smtClean="0">
                <a:latin typeface="Arial Black"/>
                <a:cs typeface="Arial Black"/>
              </a:rPr>
              <a:t> &gt; Creación </a:t>
            </a:r>
            <a:r>
              <a:rPr lang="es-ES" sz="2200" u="sng" dirty="0">
                <a:latin typeface="Arial Black"/>
                <a:cs typeface="Arial Black"/>
              </a:rPr>
              <a:t>de </a:t>
            </a:r>
            <a:r>
              <a:rPr lang="es-ES" sz="2200" u="sng" dirty="0" smtClean="0">
                <a:latin typeface="Arial Black"/>
                <a:cs typeface="Arial Black"/>
              </a:rPr>
              <a:t>elementos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600986" y="1546390"/>
            <a:ext cx="8094318" cy="4770537"/>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smtClean="0"/>
              <a:t>&lt;</a:t>
            </a:r>
            <a:r>
              <a:rPr lang="es-ES" sz="1600" dirty="0" err="1" smtClean="0"/>
              <a:t>template</a:t>
            </a:r>
            <a:r>
              <a:rPr lang="es-ES" sz="1600" dirty="0" smtClean="0"/>
              <a:t> </a:t>
            </a:r>
            <a:r>
              <a:rPr lang="es-ES" sz="1600" dirty="0"/>
              <a:t>id="x-</a:t>
            </a:r>
            <a:r>
              <a:rPr lang="es-ES" sz="1600" dirty="0" err="1"/>
              <a:t>foo</a:t>
            </a:r>
            <a:r>
              <a:rPr lang="es-ES" sz="1600" dirty="0"/>
              <a:t>-</a:t>
            </a:r>
            <a:r>
              <a:rPr lang="es-ES" sz="1600" dirty="0" err="1"/>
              <a:t>from-template</a:t>
            </a:r>
            <a:r>
              <a:rPr lang="es-ES" sz="1600" dirty="0"/>
              <a:t>"&gt;</a:t>
            </a:r>
          </a:p>
          <a:p>
            <a:r>
              <a:rPr lang="es-ES" sz="1600" dirty="0"/>
              <a:t>  &lt;</a:t>
            </a:r>
            <a:r>
              <a:rPr lang="es-ES" sz="1600" dirty="0" err="1"/>
              <a:t>style</a:t>
            </a:r>
            <a:r>
              <a:rPr lang="es-ES" sz="1600" dirty="0"/>
              <a:t>&gt;</a:t>
            </a:r>
          </a:p>
          <a:p>
            <a:r>
              <a:rPr lang="es-ES" sz="1600" dirty="0"/>
              <a:t>    p { color: </a:t>
            </a:r>
            <a:r>
              <a:rPr lang="es-ES" sz="1600" dirty="0" err="1"/>
              <a:t>orange</a:t>
            </a:r>
            <a:r>
              <a:rPr lang="es-ES" sz="1600" dirty="0"/>
              <a:t>; }</a:t>
            </a:r>
          </a:p>
          <a:p>
            <a:r>
              <a:rPr lang="es-ES" sz="1600" dirty="0"/>
              <a:t>  &lt;/</a:t>
            </a:r>
            <a:r>
              <a:rPr lang="es-ES" sz="1600" dirty="0" err="1"/>
              <a:t>style</a:t>
            </a:r>
            <a:r>
              <a:rPr lang="es-ES" sz="1600" dirty="0"/>
              <a:t>&gt;</a:t>
            </a:r>
          </a:p>
          <a:p>
            <a:r>
              <a:rPr lang="es-ES" sz="1600" dirty="0"/>
              <a:t>  &lt;p&gt;</a:t>
            </a:r>
            <a:r>
              <a:rPr lang="es-ES" sz="1600" dirty="0" err="1"/>
              <a:t>I'm</a:t>
            </a:r>
            <a:r>
              <a:rPr lang="es-ES" sz="1600" dirty="0"/>
              <a:t> in Shadow DOM. </a:t>
            </a:r>
            <a:r>
              <a:rPr lang="es-ES" sz="1600" dirty="0" err="1"/>
              <a:t>My</a:t>
            </a:r>
            <a:r>
              <a:rPr lang="es-ES" sz="1600" dirty="0"/>
              <a:t> </a:t>
            </a:r>
            <a:r>
              <a:rPr lang="es-ES" sz="1600" dirty="0" err="1"/>
              <a:t>markup</a:t>
            </a:r>
            <a:r>
              <a:rPr lang="es-ES" sz="1600" dirty="0"/>
              <a:t> </a:t>
            </a:r>
            <a:r>
              <a:rPr lang="es-ES" sz="1600" dirty="0" err="1"/>
              <a:t>was</a:t>
            </a:r>
            <a:r>
              <a:rPr lang="es-ES" sz="1600" dirty="0"/>
              <a:t> </a:t>
            </a:r>
            <a:r>
              <a:rPr lang="es-ES" sz="1600" dirty="0" err="1"/>
              <a:t>stamped</a:t>
            </a:r>
            <a:r>
              <a:rPr lang="es-ES" sz="1600" dirty="0"/>
              <a:t> </a:t>
            </a:r>
            <a:r>
              <a:rPr lang="es-ES" sz="1600" dirty="0" err="1"/>
              <a:t>from</a:t>
            </a:r>
            <a:r>
              <a:rPr lang="es-ES" sz="1600" dirty="0"/>
              <a:t> a &amp;</a:t>
            </a:r>
            <a:r>
              <a:rPr lang="es-ES" sz="1600" dirty="0" err="1"/>
              <a:t>lt;template&amp;gt</a:t>
            </a:r>
            <a:r>
              <a:rPr lang="es-ES" sz="1600" dirty="0"/>
              <a:t>;.&lt;/p&gt;</a:t>
            </a:r>
          </a:p>
          <a:p>
            <a:r>
              <a:rPr lang="es-ES" sz="1600" dirty="0"/>
              <a:t>&lt;/</a:t>
            </a:r>
            <a:r>
              <a:rPr lang="es-ES" sz="1600" dirty="0" err="1"/>
              <a:t>template</a:t>
            </a:r>
            <a:r>
              <a:rPr lang="es-ES" sz="1600" dirty="0"/>
              <a:t>&gt;</a:t>
            </a:r>
          </a:p>
          <a:p>
            <a:endParaRPr lang="es-ES" sz="1600" dirty="0"/>
          </a:p>
          <a:p>
            <a:r>
              <a:rPr lang="es-ES" sz="1600" dirty="0"/>
              <a:t>&lt;script&gt;</a:t>
            </a:r>
          </a:p>
          <a:p>
            <a:r>
              <a:rPr lang="es-ES" sz="1600" dirty="0"/>
              <a:t>  </a:t>
            </a:r>
            <a:r>
              <a:rPr lang="es-ES" sz="1600" dirty="0" err="1"/>
              <a:t>customElements.define</a:t>
            </a:r>
            <a:r>
              <a:rPr lang="es-ES" sz="1600" dirty="0"/>
              <a:t>('x-</a:t>
            </a:r>
            <a:r>
              <a:rPr lang="es-ES" sz="1600" dirty="0" err="1"/>
              <a:t>foo</a:t>
            </a:r>
            <a:r>
              <a:rPr lang="es-ES" sz="1600" dirty="0"/>
              <a:t>-</a:t>
            </a:r>
            <a:r>
              <a:rPr lang="es-ES" sz="1600" dirty="0" err="1"/>
              <a:t>from-template</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const</a:t>
            </a:r>
            <a:r>
              <a:rPr lang="es-ES" sz="1600" dirty="0"/>
              <a:t> t = </a:t>
            </a:r>
            <a:r>
              <a:rPr lang="es-ES" sz="1600" dirty="0" err="1"/>
              <a:t>document.querySelector</a:t>
            </a:r>
            <a:r>
              <a:rPr lang="es-ES" sz="1600" dirty="0"/>
              <a:t>('#x-</a:t>
            </a:r>
            <a:r>
              <a:rPr lang="es-ES" sz="1600" dirty="0" err="1"/>
              <a:t>foo</a:t>
            </a:r>
            <a:r>
              <a:rPr lang="es-ES" sz="1600" dirty="0"/>
              <a:t>-</a:t>
            </a:r>
            <a:r>
              <a:rPr lang="es-ES" sz="1600" dirty="0" err="1"/>
              <a:t>from-template</a:t>
            </a:r>
            <a:r>
              <a:rPr lang="es-ES" sz="1600" dirty="0"/>
              <a:t>');</a:t>
            </a:r>
          </a:p>
          <a:p>
            <a:r>
              <a:rPr lang="es-ES" sz="1600" dirty="0"/>
              <a:t>      </a:t>
            </a:r>
            <a:r>
              <a:rPr lang="es-ES" sz="1600" dirty="0" err="1"/>
              <a:t>const</a:t>
            </a:r>
            <a:r>
              <a:rPr lang="es-ES" sz="1600" dirty="0"/>
              <a:t> </a:t>
            </a:r>
            <a:r>
              <a:rPr lang="es-ES" sz="1600" dirty="0" err="1"/>
              <a:t>instance</a:t>
            </a:r>
            <a:r>
              <a:rPr lang="es-ES" sz="1600" dirty="0"/>
              <a:t> = </a:t>
            </a:r>
            <a:r>
              <a:rPr lang="es-ES" sz="1600" dirty="0" err="1"/>
              <a:t>t.content.cloneNode</a:t>
            </a:r>
            <a:r>
              <a:rPr lang="es-ES" sz="1600" dirty="0"/>
              <a:t>(true);</a:t>
            </a:r>
          </a:p>
          <a:p>
            <a:r>
              <a:rPr lang="es-ES" sz="1600" dirty="0"/>
              <a:t>      </a:t>
            </a:r>
            <a:r>
              <a:rPr lang="es-ES" sz="1600" dirty="0" err="1"/>
              <a:t>shadowRoot.appendChild</a:t>
            </a:r>
            <a:r>
              <a:rPr lang="es-ES" sz="1600" dirty="0"/>
              <a:t>(</a:t>
            </a:r>
            <a:r>
              <a:rPr lang="es-ES" sz="1600" dirty="0" err="1"/>
              <a:t>instance</a:t>
            </a:r>
            <a:r>
              <a:rPr lang="es-ES" sz="1600" dirty="0"/>
              <a:t>);</a:t>
            </a:r>
          </a:p>
          <a:p>
            <a:r>
              <a:rPr lang="es-ES" sz="1600" dirty="0"/>
              <a:t>    }</a:t>
            </a:r>
          </a:p>
          <a:p>
            <a:r>
              <a:rPr lang="es-ES" sz="1600" dirty="0"/>
              <a:t>    ...</a:t>
            </a:r>
          </a:p>
          <a:p>
            <a:r>
              <a:rPr lang="es-ES" sz="1600" dirty="0"/>
              <a:t>  });</a:t>
            </a:r>
          </a:p>
          <a:p>
            <a:r>
              <a:rPr lang="es-ES" sz="1600" dirty="0"/>
              <a:t>&lt;/script&gt;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217786315"/>
      </p:ext>
    </p:extLst>
  </p:cSld>
  <p:clrMapOvr>
    <a:masterClrMapping/>
  </p:clrMapOvr>
  <p:timing>
    <p:tnLst>
      <p:par>
        <p:cTn xmlns:p14="http://schemas.microsoft.com/office/powerpoint/2010/mai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Cómo aplicar estilo a un elemento personalizado</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492433" y="2413422"/>
            <a:ext cx="4139489" cy="3785652"/>
          </a:xfrm>
          <a:prstGeom prst="rect">
            <a:avLst/>
          </a:prstGeom>
          <a:solidFill>
            <a:schemeClr val="bg2">
              <a:lumMod val="75000"/>
              <a:lumOff val="25000"/>
            </a:schemeClr>
          </a:solidFill>
          <a:ln w="12700" cmpd="sng">
            <a:solidFill>
              <a:srgbClr val="3366FF"/>
            </a:solidFill>
          </a:ln>
        </p:spPr>
        <p:txBody>
          <a:bodyPr wrap="square">
            <a:spAutoFit/>
          </a:bodyPr>
          <a:lstStyle/>
          <a:p>
            <a:r>
              <a:rPr lang="en-US" sz="1600" dirty="0" smtClean="0"/>
              <a:t>&lt;</a:t>
            </a:r>
            <a:r>
              <a:rPr lang="en-US" sz="1600" dirty="0"/>
              <a:t>style&gt;</a:t>
            </a:r>
          </a:p>
          <a:p>
            <a:r>
              <a:rPr lang="en-US" sz="1600" dirty="0"/>
              <a:t>  app-drawer {</a:t>
            </a:r>
          </a:p>
          <a:p>
            <a:r>
              <a:rPr lang="en-US" sz="1600" dirty="0"/>
              <a:t>    display: flex;</a:t>
            </a:r>
          </a:p>
          <a:p>
            <a:r>
              <a:rPr lang="en-US" sz="1600" dirty="0"/>
              <a:t>  }</a:t>
            </a:r>
          </a:p>
          <a:p>
            <a:r>
              <a:rPr lang="en-US" sz="1600" dirty="0"/>
              <a:t>  panel-item {</a:t>
            </a:r>
          </a:p>
          <a:p>
            <a:r>
              <a:rPr lang="en-US" sz="1600" dirty="0"/>
              <a:t>    transition: opacity 400ms ease-in-out;</a:t>
            </a:r>
          </a:p>
          <a:p>
            <a:r>
              <a:rPr lang="en-US" sz="1600" dirty="0" smtClean="0"/>
              <a:t>}</a:t>
            </a:r>
            <a:endParaRPr lang="en-US" sz="1600" dirty="0"/>
          </a:p>
          <a:p>
            <a:r>
              <a:rPr lang="en-US" sz="1600" dirty="0"/>
              <a:t>  </a:t>
            </a:r>
            <a:r>
              <a:rPr lang="en-US" sz="1600" dirty="0" err="1"/>
              <a:t>panel-item:hover</a:t>
            </a:r>
            <a:r>
              <a:rPr lang="en-US" sz="1600" dirty="0"/>
              <a:t> {</a:t>
            </a:r>
          </a:p>
          <a:p>
            <a:r>
              <a:rPr lang="en-US" sz="1600" dirty="0" smtClean="0"/>
              <a:t>   background</a:t>
            </a:r>
            <a:r>
              <a:rPr lang="en-US" sz="1600" dirty="0"/>
              <a:t>: </a:t>
            </a:r>
            <a:r>
              <a:rPr lang="en-US" sz="1600" dirty="0" err="1"/>
              <a:t>rgb</a:t>
            </a:r>
            <a:r>
              <a:rPr lang="en-US" sz="1600" dirty="0"/>
              <a:t>(255, 0, 255);</a:t>
            </a:r>
          </a:p>
          <a:p>
            <a:r>
              <a:rPr lang="en-US" sz="1600" dirty="0"/>
              <a:t>    color: white;</a:t>
            </a:r>
          </a:p>
          <a:p>
            <a:r>
              <a:rPr lang="en-US" sz="1600" dirty="0"/>
              <a:t>  }</a:t>
            </a:r>
          </a:p>
          <a:p>
            <a:r>
              <a:rPr lang="en-US" sz="1600" dirty="0"/>
              <a:t>  app-panel &gt; panel-item {</a:t>
            </a:r>
          </a:p>
          <a:p>
            <a:r>
              <a:rPr lang="en-US" sz="1600" dirty="0"/>
              <a:t>    padding: 5px;</a:t>
            </a:r>
          </a:p>
          <a:p>
            <a:r>
              <a:rPr lang="en-US" sz="1600" dirty="0" smtClean="0"/>
              <a:t>}</a:t>
            </a:r>
            <a:endParaRPr lang="en-US" sz="1600" dirty="0"/>
          </a:p>
          <a:p>
            <a:r>
              <a:rPr lang="en-US" sz="1600" dirty="0"/>
              <a:t>&lt;/style</a:t>
            </a:r>
            <a:r>
              <a:rPr lang="en-US" sz="1600" dirty="0" smtClean="0"/>
              <a:t>&gt;</a:t>
            </a:r>
            <a:endParaRPr lang="en-US" sz="1600" dirty="0"/>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El usuario puede aplicar estilo personalizado a cualquier elemento prevaleciendo estos sobre los propios estilos definidos en el elemento</a:t>
            </a:r>
            <a:endParaRPr lang="es-ES" dirty="0">
              <a:solidFill>
                <a:srgbClr val="FFFFFF"/>
              </a:solidFill>
              <a:latin typeface="Helvetica"/>
              <a:cs typeface="Helvetica"/>
            </a:endParaRPr>
          </a:p>
        </p:txBody>
      </p:sp>
      <p:sp>
        <p:nvSpPr>
          <p:cNvPr id="16" name="Rectángulo 15"/>
          <p:cNvSpPr/>
          <p:nvPr/>
        </p:nvSpPr>
        <p:spPr>
          <a:xfrm>
            <a:off x="4867161" y="2428744"/>
            <a:ext cx="2809300" cy="2308324"/>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600" dirty="0"/>
          </a:p>
          <a:p>
            <a:r>
              <a:rPr lang="en-US" sz="1600" dirty="0"/>
              <a:t>&lt;app-drawer&gt;</a:t>
            </a:r>
          </a:p>
          <a:p>
            <a:r>
              <a:rPr lang="en-US" sz="1600" dirty="0"/>
              <a:t>  &lt;panel-item&gt;Do&lt;/panel-item&gt;</a:t>
            </a:r>
          </a:p>
          <a:p>
            <a:r>
              <a:rPr lang="en-US" sz="1600" dirty="0"/>
              <a:t>  &lt;panel-item&gt;Re&lt;/panel-item&gt;</a:t>
            </a:r>
          </a:p>
          <a:p>
            <a:r>
              <a:rPr lang="en-US" sz="1600" dirty="0"/>
              <a:t>  &lt;panel-item&gt;</a:t>
            </a:r>
            <a:r>
              <a:rPr lang="en-US" sz="1600" dirty="0" err="1"/>
              <a:t>Mi</a:t>
            </a:r>
            <a:r>
              <a:rPr lang="en-US" sz="1600" dirty="0"/>
              <a:t>&lt;/panel-item&gt;</a:t>
            </a:r>
          </a:p>
          <a:p>
            <a:r>
              <a:rPr lang="en-US" sz="1600" dirty="0"/>
              <a:t>&lt;/app-drawer&gt;</a:t>
            </a:r>
            <a:endParaRPr lang="es-ES" sz="1600" dirty="0">
              <a:solidFill>
                <a:srgbClr val="FFFFFF"/>
              </a:solidFill>
              <a:latin typeface="Helvetica"/>
              <a:cs typeface="Helvetica"/>
            </a:endParaRPr>
          </a:p>
        </p:txBody>
      </p:sp>
    </p:spTree>
    <p:extLst>
      <p:ext uri="{BB962C8B-B14F-4D97-AF65-F5344CB8AC3E}">
        <p14:creationId xmlns:p14="http://schemas.microsoft.com/office/powerpoint/2010/main" val="1095054426"/>
      </p:ext>
    </p:extLst>
  </p:cSld>
  <p:clrMapOvr>
    <a:masterClrMapping/>
  </p:clrMapOvr>
  <p:timing>
    <p:tnLst>
      <p:par>
        <p:cTn xmlns:p14="http://schemas.microsoft.com/office/powerpoint/2010/mai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Compatibilidad con navegadores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119865"/>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La definición del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de creación de componentes web ha variado en los últimos años, en </a:t>
            </a:r>
            <a:r>
              <a:rPr lang="es-ES" dirty="0" err="1">
                <a:solidFill>
                  <a:srgbClr val="FFFFFF"/>
                </a:solidFill>
                <a:latin typeface="Helvetica"/>
                <a:cs typeface="Helvetica"/>
              </a:rPr>
              <a:t>Chrome</a:t>
            </a:r>
            <a:r>
              <a:rPr lang="es-ES" dirty="0">
                <a:solidFill>
                  <a:srgbClr val="FFFFFF"/>
                </a:solidFill>
                <a:latin typeface="Helvetica"/>
                <a:cs typeface="Helvetica"/>
              </a:rPr>
              <a:t> 36 (y versiones posteriores) se implementó una </a:t>
            </a:r>
            <a:r>
              <a:rPr lang="es-ES" dirty="0" smtClean="0">
                <a:solidFill>
                  <a:srgbClr val="FFFFFF"/>
                </a:solidFill>
                <a:latin typeface="Helvetica"/>
                <a:cs typeface="Helvetica"/>
              </a:rPr>
              <a:t>versión (v0) </a:t>
            </a:r>
            <a:r>
              <a:rPr lang="es-ES" dirty="0">
                <a:solidFill>
                  <a:srgbClr val="FFFFFF"/>
                </a:solidFill>
                <a:latin typeface="Helvetica"/>
                <a:cs typeface="Helvetica"/>
              </a:rPr>
              <a:t>de 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en la cual se usa </a:t>
            </a:r>
            <a:r>
              <a:rPr lang="es-ES" dirty="0" err="1">
                <a:solidFill>
                  <a:srgbClr val="FFFFFF"/>
                </a:solidFill>
                <a:latin typeface="Helvetica"/>
                <a:cs typeface="Helvetica"/>
              </a:rPr>
              <a:t>document.registerElement</a:t>
            </a:r>
            <a:r>
              <a:rPr lang="es-ES" dirty="0">
                <a:solidFill>
                  <a:srgbClr val="FFFFFF"/>
                </a:solidFill>
                <a:latin typeface="Helvetica"/>
                <a:cs typeface="Helvetica"/>
              </a:rPr>
              <a:t>() en lugar de </a:t>
            </a:r>
            <a:r>
              <a:rPr lang="es-ES" dirty="0" err="1">
                <a:solidFill>
                  <a:srgbClr val="FFFFFF"/>
                </a:solidFill>
                <a:latin typeface="Helvetica"/>
                <a:cs typeface="Helvetica"/>
              </a:rPr>
              <a:t>customElements.define</a:t>
            </a:r>
            <a:r>
              <a:rPr lang="es-ES" dirty="0">
                <a:solidFill>
                  <a:srgbClr val="FFFFFF"/>
                </a:solidFill>
                <a:latin typeface="Helvetica"/>
                <a:cs typeface="Helvetica"/>
              </a:rPr>
              <a:t>(). Hoy se considera una versión en desuso de la estándar, llamada v0. </a:t>
            </a:r>
            <a:r>
              <a:rPr lang="es-ES" dirty="0" err="1">
                <a:solidFill>
                  <a:srgbClr val="FFFFFF"/>
                </a:solidFill>
                <a:latin typeface="Helvetica"/>
                <a:cs typeface="Helvetica"/>
              </a:rPr>
              <a:t>customElements.define</a:t>
            </a:r>
            <a:r>
              <a:rPr lang="es-ES" dirty="0">
                <a:solidFill>
                  <a:srgbClr val="FFFFFF"/>
                </a:solidFill>
                <a:latin typeface="Helvetica"/>
                <a:cs typeface="Helvetica"/>
              </a:rPr>
              <a:t>() es el nuevo atractivo y lo que los proveedores de navegadores están comenzando a implementar. Se llama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v1</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Hasta que haya compatibilidad general con navegadores, </a:t>
            </a:r>
            <a:r>
              <a:rPr lang="es-ES" dirty="0" smtClean="0">
                <a:solidFill>
                  <a:srgbClr val="FFFFFF"/>
                </a:solidFill>
                <a:latin typeface="Helvetica"/>
                <a:cs typeface="Helvetica"/>
              </a:rPr>
              <a:t>se puede hacer uso de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para soportar componentes web en aquellos navegadores que no lo soportan por defecto.</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3253477804"/>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Polyfills</a:t>
            </a:r>
            <a:endParaRPr lang="es-ES"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Librerías </a:t>
            </a:r>
            <a:r>
              <a:rPr lang="es-ES" dirty="0">
                <a:solidFill>
                  <a:srgbClr val="FFFFFF"/>
                </a:solidFill>
                <a:latin typeface="Helvetica"/>
                <a:cs typeface="Helvetica"/>
              </a:rPr>
              <a:t>de </a:t>
            </a:r>
            <a:r>
              <a:rPr lang="es-ES" dirty="0" err="1">
                <a:solidFill>
                  <a:srgbClr val="FFFFFF"/>
                </a:solidFill>
                <a:latin typeface="Helvetica"/>
                <a:cs typeface="Helvetica"/>
              </a:rPr>
              <a:t>Javascript</a:t>
            </a:r>
            <a:r>
              <a:rPr lang="es-ES" dirty="0">
                <a:solidFill>
                  <a:srgbClr val="FFFFFF"/>
                </a:solidFill>
                <a:latin typeface="Helvetica"/>
                <a:cs typeface="Helvetica"/>
              </a:rPr>
              <a:t> para implementar soporte a navegadores todavía no compatibles con una </a:t>
            </a:r>
            <a:r>
              <a:rPr lang="es-ES" dirty="0" smtClean="0">
                <a:solidFill>
                  <a:srgbClr val="FFFFFF"/>
                </a:solidFill>
                <a:latin typeface="Helvetica"/>
                <a:cs typeface="Helvetica"/>
              </a:rPr>
              <a:t>tecnología permitiendo ampliar </a:t>
            </a:r>
            <a:r>
              <a:rPr lang="es-ES" dirty="0">
                <a:solidFill>
                  <a:srgbClr val="FFFFFF"/>
                </a:solidFill>
                <a:latin typeface="Helvetica"/>
                <a:cs typeface="Helvetica"/>
              </a:rPr>
              <a:t>la compatibilidad a todos navegadores del </a:t>
            </a:r>
            <a:r>
              <a:rPr lang="es-ES" dirty="0" smtClean="0">
                <a:solidFill>
                  <a:srgbClr val="FFFFFF"/>
                </a:solidFill>
                <a:latin typeface="Helvetica"/>
                <a:cs typeface="Helvetica"/>
              </a:rPr>
              <a:t>mercado.</a:t>
            </a: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Podemos encontrar el detalle de los diferentes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en la web oficial del proyecto de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hlinkClick r:id="rId5"/>
              </a:rPr>
              <a:t>https://github.com/WebComponents/</a:t>
            </a:r>
            <a:r>
              <a:rPr lang="es-ES" dirty="0" smtClean="0">
                <a:solidFill>
                  <a:srgbClr val="FFFFFF"/>
                </a:solidFill>
                <a:latin typeface="Helvetica"/>
                <a:cs typeface="Helvetica"/>
                <a:hlinkClick r:id="rId5"/>
              </a:rPr>
              <a:t>webcomponentsjs</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disponibles:</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bundle.js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loader.js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r>
              <a:rPr lang="es-ES" dirty="0" err="1" smtClean="0">
                <a:solidFill>
                  <a:srgbClr val="FFFFFF"/>
                </a:solidFill>
                <a:latin typeface="Helvetica"/>
                <a:cs typeface="Helvetica"/>
              </a:rPr>
              <a:t>Asincrono</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3995242406"/>
      </p:ext>
    </p:extLst>
  </p:cSld>
  <p:clrMapOvr>
    <a:masterClrMapping/>
  </p:clrMapOvr>
  <p:timing>
    <p:tnLst>
      <p:par>
        <p:cTn xmlns:p14="http://schemas.microsoft.com/office/powerpoint/2010/mai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Este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nos permite incluir y </a:t>
            </a:r>
            <a:r>
              <a:rPr lang="es-ES" dirty="0" err="1" smtClean="0">
                <a:solidFill>
                  <a:srgbClr val="FFFFFF"/>
                </a:solidFill>
                <a:latin typeface="Helvetica"/>
                <a:cs typeface="Helvetica"/>
              </a:rPr>
              <a:t>reutizar</a:t>
            </a:r>
            <a:r>
              <a:rPr lang="es-ES" dirty="0" smtClean="0">
                <a:solidFill>
                  <a:srgbClr val="FFFFFF"/>
                </a:solidFill>
                <a:latin typeface="Helvetica"/>
                <a:cs typeface="Helvetica"/>
              </a:rPr>
              <a:t> HTML en otros documentos  ofreciendo oportunidades </a:t>
            </a:r>
            <a:r>
              <a:rPr lang="es-ES" dirty="0">
                <a:solidFill>
                  <a:srgbClr val="FFFFFF"/>
                </a:solidFill>
                <a:latin typeface="Helvetica"/>
                <a:cs typeface="Helvetica"/>
              </a:rPr>
              <a:t>para el empaquetamiento de colecciones de recursos y manera que </a:t>
            </a:r>
            <a:r>
              <a:rPr lang="es-ES" dirty="0" smtClean="0">
                <a:solidFill>
                  <a:srgbClr val="FFFFFF"/>
                </a:solidFill>
                <a:latin typeface="Helvetica"/>
                <a:cs typeface="Helvetica"/>
              </a:rPr>
              <a:t>éstos puedan </a:t>
            </a:r>
            <a:r>
              <a:rPr lang="es-ES" dirty="0">
                <a:solidFill>
                  <a:srgbClr val="FFFFFF"/>
                </a:solidFill>
                <a:latin typeface="Helvetica"/>
                <a:cs typeface="Helvetica"/>
              </a:rPr>
              <a:t>ser entregados al cliente final a través de una única </a:t>
            </a:r>
            <a:r>
              <a:rPr lang="es-ES" dirty="0" err="1">
                <a:solidFill>
                  <a:srgbClr val="FFFFFF"/>
                </a:solidFill>
                <a:latin typeface="Helvetica"/>
                <a:cs typeface="Helvetica"/>
              </a:rPr>
              <a:t>import</a:t>
            </a:r>
            <a:r>
              <a:rPr lang="es-ES" dirty="0">
                <a:solidFill>
                  <a:srgbClr val="FFFFFF"/>
                </a:solidFill>
                <a:latin typeface="Helvetica"/>
                <a:cs typeface="Helvetica"/>
              </a:rPr>
              <a:t> </a:t>
            </a:r>
            <a:r>
              <a:rPr lang="es-ES" dirty="0" err="1" smtClean="0">
                <a:solidFill>
                  <a:srgbClr val="FFFFFF"/>
                </a:solidFill>
                <a:latin typeface="Helvetica"/>
                <a:cs typeface="Helvetica"/>
              </a:rPr>
              <a:t>location</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Mas </a:t>
            </a:r>
            <a:r>
              <a:rPr lang="es-ES" dirty="0" err="1" smtClean="0">
                <a:solidFill>
                  <a:srgbClr val="FFFFFF"/>
                </a:solidFill>
                <a:latin typeface="Helvetica"/>
                <a:cs typeface="Helvetica"/>
              </a:rPr>
              <a:t>informacion</a:t>
            </a:r>
            <a:r>
              <a:rPr lang="es-ES" dirty="0" smtClean="0">
                <a:solidFill>
                  <a:srgbClr val="FFFFFF"/>
                </a:solidFill>
                <a:latin typeface="Helvetica"/>
                <a:cs typeface="Helvetica"/>
              </a:rPr>
              <a:t> sobre eventos asociados y uso con </a:t>
            </a:r>
            <a:r>
              <a:rPr lang="es-ES" dirty="0" err="1" smtClean="0">
                <a:solidFill>
                  <a:srgbClr val="FFFFFF"/>
                </a:solidFill>
                <a:latin typeface="Helvetica"/>
                <a:cs typeface="Helvetica"/>
              </a:rPr>
              <a:t>templates</a:t>
            </a:r>
            <a:r>
              <a:rPr lang="es-ES" dirty="0" smtClean="0">
                <a:solidFill>
                  <a:srgbClr val="FFFFFF"/>
                </a:solidFill>
                <a:latin typeface="Helvetica"/>
                <a:cs typeface="Helvetica"/>
              </a:rPr>
              <a:t>:</a:t>
            </a:r>
          </a:p>
          <a:p>
            <a:pPr algn="just">
              <a:lnSpc>
                <a:spcPct val="130000"/>
              </a:lnSpc>
            </a:pPr>
            <a:r>
              <a:rPr lang="es-ES" dirty="0">
                <a:solidFill>
                  <a:srgbClr val="FFFFFF"/>
                </a:solidFill>
                <a:latin typeface="Helvetica"/>
                <a:cs typeface="Helvetica"/>
                <a:hlinkClick r:id="rId4"/>
              </a:rPr>
              <a:t>https://www.html5rocks.com/en/tutorials/webcomponents/imports</a:t>
            </a:r>
            <a:r>
              <a:rPr lang="es-ES" dirty="0" smtClean="0">
                <a:solidFill>
                  <a:srgbClr val="FFFFFF"/>
                </a:solidFill>
                <a:latin typeface="Helvetica"/>
                <a:cs typeface="Helvetica"/>
                <a:hlinkClick r:id="rId4"/>
              </a:rPr>
              <a:t>/</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Tree>
    <p:extLst>
      <p:ext uri="{BB962C8B-B14F-4D97-AF65-F5344CB8AC3E}">
        <p14:creationId xmlns:p14="http://schemas.microsoft.com/office/powerpoint/2010/main" val="2721172080"/>
      </p:ext>
    </p:extLst>
  </p:cSld>
  <p:clrMapOvr>
    <a:masterClrMapping/>
  </p:clrMapOvr>
  <p:timing>
    <p:tnLst>
      <p:par>
        <p:cTn xmlns:p14="http://schemas.microsoft.com/office/powerpoint/2010/mai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505396" y="1657048"/>
            <a:ext cx="8309208" cy="3971305"/>
          </a:xfrm>
          <a:prstGeom prst="rect">
            <a:avLst/>
          </a:prstGeom>
        </p:spPr>
      </p:pic>
    </p:spTree>
    <p:extLst>
      <p:ext uri="{BB962C8B-B14F-4D97-AF65-F5344CB8AC3E}">
        <p14:creationId xmlns:p14="http://schemas.microsoft.com/office/powerpoint/2010/main" val="2063557507"/>
      </p:ext>
    </p:extLst>
  </p:cSld>
  <p:clrMapOvr>
    <a:masterClrMapping/>
  </p:clrMapOvr>
  <p:timing>
    <p:tnLst>
      <p:par>
        <p:cTn xmlns:p14="http://schemas.microsoft.com/office/powerpoint/2010/mai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Demo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Demo &gt; </a:t>
            </a:r>
            <a:r>
              <a:rPr lang="es-ES" sz="2200" u="sng" dirty="0" err="1" smtClean="0">
                <a:latin typeface="Arial Black"/>
                <a:cs typeface="Arial Black"/>
              </a:rPr>
              <a:t>Tooltip</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Creación de un </a:t>
            </a:r>
            <a:r>
              <a:rPr lang="es-ES" dirty="0" err="1" smtClean="0">
                <a:solidFill>
                  <a:srgbClr val="FFFFFF"/>
                </a:solidFill>
                <a:latin typeface="Helvetica"/>
                <a:cs typeface="Helvetica"/>
              </a:rPr>
              <a:t>tooltip</a:t>
            </a:r>
            <a:r>
              <a:rPr lang="es-ES" dirty="0" smtClean="0">
                <a:solidFill>
                  <a:srgbClr val="FFFFFF"/>
                </a:solidFill>
                <a:latin typeface="Helvetica"/>
                <a:cs typeface="Helvetica"/>
              </a:rPr>
              <a:t> mediante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Tree>
    <p:extLst>
      <p:ext uri="{BB962C8B-B14F-4D97-AF65-F5344CB8AC3E}">
        <p14:creationId xmlns:p14="http://schemas.microsoft.com/office/powerpoint/2010/main" val="2315844801"/>
      </p:ext>
    </p:extLst>
  </p:cSld>
  <p:clrMapOvr>
    <a:masterClrMapping/>
  </p:clrMapOvr>
  <p:timing>
    <p:tnLst>
      <p:par>
        <p:cTn xmlns:p14="http://schemas.microsoft.com/office/powerpoint/2010/mai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Frameworks</a:t>
            </a:r>
            <a:r>
              <a:rPr lang="es-ES" sz="2000" dirty="0" smtClean="0">
                <a:solidFill>
                  <a:srgbClr val="FFFFFF"/>
                </a:solidFill>
                <a:latin typeface="Helvetica"/>
                <a:ea typeface="Lucida Grande"/>
                <a:cs typeface="Helvetica"/>
              </a:rPr>
              <a:t> &amp; </a:t>
            </a:r>
            <a:r>
              <a:rPr lang="es-ES" sz="2000" dirty="0" err="1" smtClean="0">
                <a:solidFill>
                  <a:srgbClr val="FFFFFF"/>
                </a:solidFill>
                <a:latin typeface="Helvetica"/>
                <a:ea typeface="Lucida Grande"/>
                <a:cs typeface="Helvetica"/>
              </a:rPr>
              <a:t>Librerias</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a:solidFill>
                  <a:srgbClr val="FFFFFF"/>
                </a:solidFill>
                <a:latin typeface="Helvetica"/>
                <a:ea typeface="Lucida Grande"/>
                <a:cs typeface="Helvetica"/>
              </a:rPr>
              <a:t>Frameworks</a:t>
            </a:r>
            <a:r>
              <a:rPr lang="es-ES" sz="2400" dirty="0">
                <a:solidFill>
                  <a:srgbClr val="FFFFFF"/>
                </a:solidFill>
                <a:latin typeface="Helvetica"/>
                <a:ea typeface="Lucida Grande"/>
                <a:cs typeface="Helvetica"/>
              </a:rPr>
              <a:t> &amp; </a:t>
            </a:r>
            <a:r>
              <a:rPr lang="es-ES" sz="2400" dirty="0" err="1">
                <a:solidFill>
                  <a:srgbClr val="FFFFFF"/>
                </a:solidFill>
                <a:latin typeface="Helvetica"/>
                <a:ea typeface="Lucida Grande"/>
                <a:cs typeface="Helvetica"/>
              </a:rPr>
              <a:t>Librerias</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endParaRPr lang="es-ES" dirty="0">
              <a:solidFill>
                <a:srgbClr val="FFFFFF"/>
              </a:solidFill>
              <a:latin typeface="Helvetica"/>
              <a:cs typeface="Helvetica"/>
            </a:endParaRPr>
          </a:p>
        </p:txBody>
      </p:sp>
      <p:pic>
        <p:nvPicPr>
          <p:cNvPr id="3" name="Imagen 2"/>
          <p:cNvPicPr>
            <a:picLocks noChangeAspect="1"/>
          </p:cNvPicPr>
          <p:nvPr/>
        </p:nvPicPr>
        <p:blipFill>
          <a:blip r:embed="rId5"/>
          <a:stretch>
            <a:fillRect/>
          </a:stretch>
        </p:blipFill>
        <p:spPr>
          <a:xfrm>
            <a:off x="621899" y="1838476"/>
            <a:ext cx="2241234" cy="2241234"/>
          </a:xfrm>
          <a:prstGeom prst="rect">
            <a:avLst/>
          </a:prstGeom>
        </p:spPr>
      </p:pic>
      <p:pic>
        <p:nvPicPr>
          <p:cNvPr id="17" name="Imagen 16"/>
          <p:cNvPicPr>
            <a:picLocks noChangeAspect="1"/>
          </p:cNvPicPr>
          <p:nvPr/>
        </p:nvPicPr>
        <p:blipFill>
          <a:blip r:embed="rId6"/>
          <a:stretch>
            <a:fillRect/>
          </a:stretch>
        </p:blipFill>
        <p:spPr>
          <a:xfrm>
            <a:off x="1983620" y="4266004"/>
            <a:ext cx="4100284" cy="1376875"/>
          </a:xfrm>
          <a:prstGeom prst="rect">
            <a:avLst/>
          </a:prstGeom>
        </p:spPr>
      </p:pic>
      <p:pic>
        <p:nvPicPr>
          <p:cNvPr id="19" name="Imagen 18"/>
          <p:cNvPicPr>
            <a:picLocks noChangeAspect="1"/>
          </p:cNvPicPr>
          <p:nvPr/>
        </p:nvPicPr>
        <p:blipFill>
          <a:blip r:embed="rId4"/>
          <a:stretch>
            <a:fillRect/>
          </a:stretch>
        </p:blipFill>
        <p:spPr>
          <a:xfrm>
            <a:off x="3320007" y="2233859"/>
            <a:ext cx="2116939" cy="1472653"/>
          </a:xfrm>
          <a:prstGeom prst="rect">
            <a:avLst/>
          </a:prstGeom>
        </p:spPr>
      </p:pic>
      <p:pic>
        <p:nvPicPr>
          <p:cNvPr id="21" name="Imagen 20"/>
          <p:cNvPicPr>
            <a:picLocks noChangeAspect="1"/>
          </p:cNvPicPr>
          <p:nvPr/>
        </p:nvPicPr>
        <p:blipFill>
          <a:blip r:embed="rId7"/>
          <a:stretch>
            <a:fillRect/>
          </a:stretch>
        </p:blipFill>
        <p:spPr>
          <a:xfrm>
            <a:off x="6180666" y="2233859"/>
            <a:ext cx="1887393" cy="1635740"/>
          </a:xfrm>
          <a:prstGeom prst="rect">
            <a:avLst/>
          </a:prstGeom>
        </p:spPr>
      </p:pic>
    </p:spTree>
    <p:extLst>
      <p:ext uri="{BB962C8B-B14F-4D97-AF65-F5344CB8AC3E}">
        <p14:creationId xmlns:p14="http://schemas.microsoft.com/office/powerpoint/2010/main" val="1679242618"/>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Introducción</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potente librería para desarrollo de sitios web del lado del </a:t>
            </a:r>
            <a:r>
              <a:rPr lang="es-ES" dirty="0" smtClean="0">
                <a:solidFill>
                  <a:srgbClr val="FFFFFF"/>
                </a:solidFill>
                <a:latin typeface="Helvetica"/>
                <a:cs typeface="Helvetica"/>
              </a:rPr>
              <a:t>cliente , basada </a:t>
            </a:r>
            <a:r>
              <a:rPr lang="es-ES" dirty="0">
                <a:solidFill>
                  <a:srgbClr val="FFFFFF"/>
                </a:solidFill>
                <a:latin typeface="Helvetica"/>
                <a:cs typeface="Helvetica"/>
              </a:rPr>
              <a:t>en los estándares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librería para realizar Web </a:t>
            </a:r>
            <a:r>
              <a:rPr lang="es-ES" dirty="0" err="1">
                <a:solidFill>
                  <a:srgbClr val="FFFFFF"/>
                </a:solidFill>
                <a:latin typeface="Helvetica"/>
                <a:cs typeface="Helvetica"/>
              </a:rPr>
              <a:t>Components</a:t>
            </a:r>
            <a:r>
              <a:rPr lang="es-ES" dirty="0">
                <a:solidFill>
                  <a:srgbClr val="FFFFFF"/>
                </a:solidFill>
                <a:latin typeface="Helvetica"/>
                <a:cs typeface="Helvetica"/>
              </a:rPr>
              <a:t> de una manera más rápida </a:t>
            </a:r>
            <a:r>
              <a:rPr lang="es-ES" dirty="0" smtClean="0">
                <a:solidFill>
                  <a:srgbClr val="FFFFFF"/>
                </a:solidFill>
                <a:latin typeface="Helvetica"/>
                <a:cs typeface="Helvetica"/>
              </a:rPr>
              <a:t>y productiva</a:t>
            </a:r>
            <a:r>
              <a:rPr lang="es-ES" dirty="0">
                <a:solidFill>
                  <a:srgbClr val="FFFFFF"/>
                </a:solidFill>
                <a:latin typeface="Helvetica"/>
                <a:cs typeface="Helvetica"/>
              </a:rPr>
              <a:t>, que además contiene un amplio catálogo de elementos disponibles para basar </a:t>
            </a:r>
            <a:r>
              <a:rPr lang="es-ES" dirty="0" smtClean="0">
                <a:solidFill>
                  <a:srgbClr val="FFFFFF"/>
                </a:solidFill>
                <a:latin typeface="Helvetica"/>
                <a:cs typeface="Helvetica"/>
              </a:rPr>
              <a:t>el desarrollo </a:t>
            </a:r>
            <a:r>
              <a:rPr lang="es-ES" dirty="0">
                <a:solidFill>
                  <a:srgbClr val="FFFFFF"/>
                </a:solidFill>
                <a:latin typeface="Helvetica"/>
                <a:cs typeface="Helvetica"/>
              </a:rPr>
              <a:t>de nuevos componentes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Polymer</a:t>
            </a:r>
            <a:r>
              <a:rPr lang="es-ES" dirty="0" smtClean="0">
                <a:solidFill>
                  <a:srgbClr val="FFFFFF"/>
                </a:solidFill>
                <a:latin typeface="Helvetica"/>
                <a:cs typeface="Helvetica"/>
              </a:rPr>
              <a:t> </a:t>
            </a:r>
            <a:r>
              <a:rPr lang="es-ES" dirty="0">
                <a:solidFill>
                  <a:srgbClr val="FFFFFF"/>
                </a:solidFill>
                <a:latin typeface="Helvetica"/>
                <a:cs typeface="Helvetica"/>
              </a:rPr>
              <a:t>se diferencia, con respecto a </a:t>
            </a:r>
            <a:r>
              <a:rPr lang="es-ES" dirty="0" err="1">
                <a:solidFill>
                  <a:srgbClr val="FFFFFF"/>
                </a:solidFill>
                <a:latin typeface="Helvetica"/>
                <a:cs typeface="Helvetica"/>
              </a:rPr>
              <a:t>AngularJS</a:t>
            </a:r>
            <a:r>
              <a:rPr lang="es-ES" dirty="0">
                <a:solidFill>
                  <a:srgbClr val="FFFFFF"/>
                </a:solidFill>
                <a:latin typeface="Helvetica"/>
                <a:cs typeface="Helvetica"/>
              </a:rPr>
              <a:t> o </a:t>
            </a:r>
            <a:r>
              <a:rPr lang="es-ES" dirty="0" err="1">
                <a:solidFill>
                  <a:srgbClr val="FFFFFF"/>
                </a:solidFill>
                <a:latin typeface="Helvetica"/>
                <a:cs typeface="Helvetica"/>
              </a:rPr>
              <a:t>ReactJS</a:t>
            </a:r>
            <a:r>
              <a:rPr lang="es-ES" dirty="0" smtClean="0">
                <a:solidFill>
                  <a:srgbClr val="FFFFFF"/>
                </a:solidFill>
                <a:latin typeface="Helvetica"/>
                <a:cs typeface="Helvetica"/>
              </a:rPr>
              <a:t>, por </a:t>
            </a:r>
            <a:r>
              <a:rPr lang="es-ES" dirty="0">
                <a:solidFill>
                  <a:srgbClr val="FFFFFF"/>
                </a:solidFill>
                <a:latin typeface="Helvetica"/>
                <a:cs typeface="Helvetica"/>
              </a:rPr>
              <a:t>estar construido encima de las especificaciones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lvl="5" algn="just">
              <a:lnSpc>
                <a:spcPct val="130000"/>
              </a:lnSpc>
            </a:pPr>
            <a:r>
              <a:rPr lang="es-ES" dirty="0" err="1">
                <a:solidFill>
                  <a:srgbClr val="FFFFFF"/>
                </a:solidFill>
                <a:latin typeface="Helvetica"/>
                <a:cs typeface="Helvetica"/>
                <a:hlinkClick r:id="rId5"/>
              </a:rPr>
              <a:t>https</a:t>
            </a:r>
            <a:r>
              <a:rPr lang="es-ES" dirty="0">
                <a:solidFill>
                  <a:srgbClr val="FFFFFF"/>
                </a:solidFill>
                <a:latin typeface="Helvetica"/>
                <a:cs typeface="Helvetica"/>
                <a:hlinkClick r:id="rId5"/>
              </a:rPr>
              <a:t>://</a:t>
            </a:r>
            <a:r>
              <a:rPr lang="es-ES" dirty="0" err="1">
                <a:solidFill>
                  <a:srgbClr val="FFFFFF"/>
                </a:solidFill>
                <a:latin typeface="Helvetica"/>
                <a:cs typeface="Helvetica"/>
                <a:hlinkClick r:id="rId5"/>
              </a:rPr>
              <a:t>www.polymer-project.org</a:t>
            </a:r>
            <a:endParaRPr lang="es-ES" dirty="0">
              <a:solidFill>
                <a:srgbClr val="FFFFFF"/>
              </a:solidFill>
              <a:latin typeface="Helvetica"/>
              <a:cs typeface="Helvetica"/>
            </a:endParaRPr>
          </a:p>
        </p:txBody>
      </p:sp>
    </p:spTree>
    <p:extLst>
      <p:ext uri="{BB962C8B-B14F-4D97-AF65-F5344CB8AC3E}">
        <p14:creationId xmlns:p14="http://schemas.microsoft.com/office/powerpoint/2010/main" val="3605017056"/>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1.0 </a:t>
            </a:r>
            <a:r>
              <a:rPr lang="nb-NO" sz="2400" dirty="0" smtClean="0">
                <a:solidFill>
                  <a:srgbClr val="FFFFFF"/>
                </a:solidFill>
                <a:latin typeface="Helvetica"/>
                <a:cs typeface="Helvetica"/>
              </a:rPr>
              <a:t>&gt; 2015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smtClean="0"/>
              <a:t>Polyfills</a:t>
            </a:r>
            <a:r>
              <a:rPr lang="nb-NO" dirty="0" smtClean="0"/>
              <a:t>.</a:t>
            </a:r>
          </a:p>
          <a:p>
            <a:pPr marL="285750" indent="-285750" algn="just">
              <a:lnSpc>
                <a:spcPct val="130000"/>
              </a:lnSpc>
              <a:buFont typeface="Arial"/>
              <a:buChar char="•"/>
            </a:pPr>
            <a:r>
              <a:rPr lang="nb-NO" dirty="0" err="1" smtClean="0"/>
              <a:t>Registro</a:t>
            </a:r>
            <a:r>
              <a:rPr lang="nb-NO" dirty="0" smtClean="0"/>
              <a:t> de </a:t>
            </a:r>
            <a:r>
              <a:rPr lang="nb-NO" dirty="0" err="1" smtClean="0"/>
              <a:t>elementos</a:t>
            </a:r>
            <a:r>
              <a:rPr lang="nb-NO" dirty="0" smtClean="0"/>
              <a:t> </a:t>
            </a:r>
            <a:r>
              <a:rPr lang="nb-NO" dirty="0" err="1" smtClean="0"/>
              <a:t>mediante</a:t>
            </a:r>
            <a:r>
              <a:rPr lang="nb-NO" dirty="0"/>
              <a:t> </a:t>
            </a:r>
            <a:r>
              <a:rPr lang="nb-NO" dirty="0" err="1" smtClean="0"/>
              <a:t>document.createElement</a:t>
            </a:r>
            <a:r>
              <a:rPr lang="nb-NO" dirty="0" smtClean="0"/>
              <a:t>.</a:t>
            </a:r>
          </a:p>
          <a:p>
            <a:pPr marL="285750" indent="-285750" algn="just">
              <a:lnSpc>
                <a:spcPct val="130000"/>
              </a:lnSpc>
              <a:buFont typeface="Arial"/>
              <a:buChar char="•"/>
            </a:pPr>
            <a:r>
              <a:rPr lang="nb-NO" dirty="0" err="1" smtClean="0"/>
              <a:t>Clase</a:t>
            </a:r>
            <a:r>
              <a:rPr lang="nb-NO" dirty="0" smtClean="0"/>
              <a:t> base sobre la </a:t>
            </a:r>
            <a:r>
              <a:rPr lang="nb-NO" dirty="0" err="1" smtClean="0"/>
              <a:t>que</a:t>
            </a:r>
            <a:r>
              <a:rPr lang="nb-NO" dirty="0" smtClean="0"/>
              <a:t> se </a:t>
            </a:r>
            <a:r>
              <a:rPr lang="nb-NO" dirty="0" err="1" smtClean="0"/>
              <a:t>extiende</a:t>
            </a:r>
            <a:r>
              <a:rPr lang="nb-NO" dirty="0"/>
              <a:t> (</a:t>
            </a:r>
            <a:r>
              <a:rPr lang="nb-NO" dirty="0" err="1" smtClean="0"/>
              <a:t>HTMLElement</a:t>
            </a:r>
            <a:r>
              <a:rPr lang="nb-NO" dirty="0" smtClean="0"/>
              <a:t>)</a:t>
            </a:r>
          </a:p>
          <a:p>
            <a:pPr marL="285750" indent="-285750" algn="just">
              <a:lnSpc>
                <a:spcPct val="130000"/>
              </a:lnSpc>
              <a:buFont typeface="Arial"/>
              <a:buChar char="•"/>
            </a:pPr>
            <a:r>
              <a:rPr lang="nb-NO" dirty="0" smtClean="0"/>
              <a:t>Uso </a:t>
            </a:r>
            <a:r>
              <a:rPr lang="nb-NO" dirty="0" smtClean="0"/>
              <a:t>de </a:t>
            </a:r>
            <a:r>
              <a:rPr lang="nb-NO" dirty="0" err="1" smtClean="0"/>
              <a:t>Bowel</a:t>
            </a:r>
            <a:r>
              <a:rPr lang="nb-NO" dirty="0" smtClean="0"/>
              <a:t> para </a:t>
            </a:r>
            <a:r>
              <a:rPr lang="nb-NO" dirty="0" err="1" smtClean="0"/>
              <a:t>gesti</a:t>
            </a:r>
            <a:r>
              <a:rPr lang="nb-NO" dirty="0" err="1" smtClean="0"/>
              <a:t>ó</a:t>
            </a:r>
            <a:r>
              <a:rPr lang="nb-NO" dirty="0" err="1" smtClean="0"/>
              <a:t>n</a:t>
            </a:r>
            <a:r>
              <a:rPr lang="nb-NO" dirty="0" smtClean="0"/>
              <a:t> </a:t>
            </a:r>
            <a:r>
              <a:rPr lang="nb-NO" dirty="0" smtClean="0"/>
              <a:t>de </a:t>
            </a:r>
            <a:r>
              <a:rPr lang="nb-NO" dirty="0" err="1" smtClean="0"/>
              <a:t>dependencias</a:t>
            </a:r>
            <a:r>
              <a:rPr lang="nb-NO" dirty="0" smtClean="0"/>
              <a:t>.</a:t>
            </a:r>
          </a:p>
          <a:p>
            <a:pPr marL="285750" indent="-285750" algn="just">
              <a:lnSpc>
                <a:spcPct val="130000"/>
              </a:lnSpc>
              <a:buFont typeface="Arial"/>
              <a:buChar char="•"/>
            </a:pPr>
            <a:r>
              <a:rPr lang="nb-NO" dirty="0" err="1"/>
              <a:t>Librería</a:t>
            </a:r>
            <a:r>
              <a:rPr lang="nb-NO" dirty="0"/>
              <a:t> </a:t>
            </a:r>
            <a:r>
              <a:rPr lang="nb-NO" dirty="0"/>
              <a:t>de </a:t>
            </a:r>
            <a:r>
              <a:rPr lang="nb-NO" dirty="0" err="1"/>
              <a:t>elementos</a:t>
            </a:r>
            <a:r>
              <a:rPr lang="nb-NO" dirty="0"/>
              <a:t> </a:t>
            </a:r>
            <a:r>
              <a:rPr lang="nb-NO" dirty="0" err="1"/>
              <a:t>clasificados</a:t>
            </a:r>
            <a:r>
              <a:rPr lang="nb-NO" dirty="0"/>
              <a:t> </a:t>
            </a:r>
            <a:r>
              <a:rPr lang="nb-NO" dirty="0"/>
              <a:t>p</a:t>
            </a:r>
            <a:r>
              <a:rPr lang="nb-NO" dirty="0"/>
              <a:t>ara Web/</a:t>
            </a:r>
            <a:r>
              <a:rPr lang="nb-NO" dirty="0"/>
              <a:t>mobile </a:t>
            </a:r>
            <a:r>
              <a:rPr lang="nb-NO" dirty="0"/>
              <a:t>(</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basada</a:t>
            </a:r>
            <a:r>
              <a:rPr lang="nb-NO" dirty="0" smtClean="0">
                <a:solidFill>
                  <a:srgbClr val="FFFFFF"/>
                </a:solidFill>
                <a:latin typeface="Helvetica"/>
                <a:cs typeface="Helvetica"/>
              </a:rPr>
              <a:t> en </a:t>
            </a:r>
            <a:r>
              <a:rPr lang="nb-NO" dirty="0" err="1" smtClean="0">
                <a:solidFill>
                  <a:srgbClr val="FFFFFF"/>
                </a:solidFill>
                <a:latin typeface="Helvetica"/>
                <a:cs typeface="Helvetica"/>
              </a:rPr>
              <a:t>WebComponent</a:t>
            </a:r>
            <a:r>
              <a:rPr lang="nb-NO" dirty="0" err="1" smtClean="0">
                <a:solidFill>
                  <a:srgbClr val="FFFFFF"/>
                </a:solidFill>
                <a:latin typeface="Helvetica"/>
                <a:cs typeface="Helvetica"/>
              </a:rPr>
              <a:t>s</a:t>
            </a:r>
            <a:r>
              <a:rPr lang="nb-NO" dirty="0" smtClean="0">
                <a:solidFill>
                  <a:srgbClr val="FFFFFF"/>
                </a:solidFill>
                <a:latin typeface="Helvetica"/>
                <a:cs typeface="Helvetica"/>
              </a:rPr>
              <a:t> v0</a:t>
            </a:r>
            <a:endParaRPr lang="nb-NO" dirty="0" smtClean="0">
              <a:solidFill>
                <a:srgbClr val="FFFFFF"/>
              </a:solidFill>
              <a:latin typeface="Helvetica"/>
              <a:cs typeface="Helvetica"/>
            </a:endParaRPr>
          </a:p>
          <a:p>
            <a:pPr marL="285750" indent="-285750" algn="just">
              <a:lnSpc>
                <a:spcPct val="130000"/>
              </a:lnSpc>
              <a:buFont typeface="Arial"/>
              <a:buChar char="•"/>
            </a:pPr>
            <a:r>
              <a:rPr lang="nb-NO" dirty="0" err="1" smtClean="0">
                <a:solidFill>
                  <a:srgbClr val="FFFFFF"/>
                </a:solidFill>
                <a:latin typeface="Helvetica"/>
                <a:cs typeface="Helvetica"/>
              </a:rPr>
              <a:t>Polimer</a:t>
            </a:r>
            <a:r>
              <a:rPr lang="nb-NO" dirty="0" smtClean="0">
                <a:solidFill>
                  <a:srgbClr val="FFFFFF"/>
                </a:solidFill>
                <a:latin typeface="Helvetica"/>
                <a:cs typeface="Helvetica"/>
              </a:rPr>
              <a:t> CLI</a:t>
            </a:r>
            <a:endParaRPr lang="nb-NO" dirty="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1405695136"/>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&gt; </a:t>
            </a:r>
            <a:r>
              <a:rPr lang="nb-NO" sz="2400" dirty="0" err="1" smtClean="0">
                <a:solidFill>
                  <a:srgbClr val="FFFFFF"/>
                </a:solidFill>
                <a:latin typeface="Helvetica"/>
                <a:cs typeface="Helvetica"/>
              </a:rPr>
              <a:t>Ejemplo</a:t>
            </a:r>
            <a:r>
              <a:rPr lang="nb-NO" sz="2400" dirty="0" smtClean="0">
                <a:solidFill>
                  <a:srgbClr val="FFFFFF"/>
                </a:solidFill>
                <a:latin typeface="Helvetica"/>
                <a:cs typeface="Helvetica"/>
              </a:rPr>
              <a:t> Hola </a:t>
            </a:r>
            <a:r>
              <a:rPr lang="nb-NO" sz="2400" dirty="0" err="1" smtClean="0">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p>
            <a:r>
              <a:rPr lang="en-US" sz="1400" dirty="0" smtClean="0"/>
              <a:t>&lt;!</a:t>
            </a:r>
            <a:r>
              <a:rPr lang="mr-IN" sz="1400" dirty="0" smtClean="0"/>
              <a:t>–</a:t>
            </a:r>
            <a:r>
              <a:rPr lang="en-US" sz="1400" dirty="0" smtClean="0"/>
              <a:t> </a:t>
            </a:r>
            <a:r>
              <a:rPr lang="en-US" sz="1400" dirty="0" err="1" smtClean="0"/>
              <a:t>hola</a:t>
            </a:r>
            <a:r>
              <a:rPr lang="en-US" sz="1400" dirty="0" smtClean="0"/>
              <a:t>-</a:t>
            </a:r>
            <a:r>
              <a:rPr lang="en-US" sz="1400" dirty="0"/>
              <a:t>polymer-</a:t>
            </a:r>
            <a:r>
              <a:rPr lang="en-US" sz="1400" dirty="0" err="1" smtClean="0"/>
              <a:t>scratch.html</a:t>
            </a:r>
            <a:r>
              <a:rPr lang="en-US" sz="1400" dirty="0" smtClean="0"/>
              <a:t> --&gt;</a:t>
            </a:r>
          </a:p>
          <a:p>
            <a:r>
              <a:rPr lang="en-US" sz="1400" dirty="0" smtClean="0"/>
              <a:t>&lt;</a:t>
            </a:r>
            <a:r>
              <a:rPr lang="en-US" sz="1400" dirty="0"/>
              <a:t>link </a:t>
            </a:r>
            <a:r>
              <a:rPr lang="en-US" sz="1400" dirty="0" err="1"/>
              <a:t>rel</a:t>
            </a:r>
            <a:r>
              <a:rPr lang="en-US" sz="1400" dirty="0"/>
              <a:t>="import" </a:t>
            </a:r>
            <a:r>
              <a:rPr lang="en-US" sz="1400" dirty="0" err="1"/>
              <a:t>href</a:t>
            </a:r>
            <a:r>
              <a:rPr lang="en-US" sz="1400" dirty="0"/>
              <a:t>="../</a:t>
            </a:r>
            <a:r>
              <a:rPr lang="en-US" sz="1400" dirty="0" err="1"/>
              <a:t>bower_components</a:t>
            </a:r>
            <a:r>
              <a:rPr lang="en-US" sz="1400" dirty="0"/>
              <a:t>\polymer\</a:t>
            </a:r>
            <a:r>
              <a:rPr lang="en-US" sz="1400" dirty="0" err="1"/>
              <a:t>polymer.html</a:t>
            </a:r>
            <a:r>
              <a:rPr lang="en-US" sz="1400" dirty="0"/>
              <a:t>"&gt;</a:t>
            </a:r>
          </a:p>
          <a:p>
            <a:endParaRPr lang="en-US" sz="1400" dirty="0"/>
          </a:p>
          <a:p>
            <a:r>
              <a:rPr lang="en-US" sz="1400" dirty="0"/>
              <a:t>&lt;</a:t>
            </a:r>
            <a:r>
              <a:rPr lang="en-US" sz="1400" dirty="0" err="1"/>
              <a:t>dom</a:t>
            </a:r>
            <a:r>
              <a:rPr lang="en-US" sz="1400" dirty="0"/>
              <a:t>-module id="</a:t>
            </a:r>
            <a:r>
              <a:rPr lang="en-US" sz="1400" dirty="0" err="1" smtClean="0"/>
              <a:t>hola</a:t>
            </a:r>
            <a:r>
              <a:rPr lang="en-US" sz="1400" dirty="0" smtClean="0"/>
              <a:t>-</a:t>
            </a:r>
            <a:r>
              <a:rPr lang="en-US" sz="1400" dirty="0"/>
              <a:t>polymer-scratch"&gt;</a:t>
            </a:r>
          </a:p>
          <a:p>
            <a:r>
              <a:rPr lang="en-US" sz="1400" dirty="0"/>
              <a:t>  &lt;template&gt;</a:t>
            </a:r>
          </a:p>
          <a:p>
            <a:r>
              <a:rPr lang="en-US" sz="1400" dirty="0"/>
              <a:t>    &lt;p&gt;</a:t>
            </a:r>
            <a:r>
              <a:rPr lang="en-US" sz="1400" dirty="0" err="1"/>
              <a:t>Hola</a:t>
            </a:r>
            <a:r>
              <a:rPr lang="en-US" sz="1400" dirty="0"/>
              <a:t>, &lt;strong&gt;[[who]]&lt;/strong&gt;&lt;/p&gt;</a:t>
            </a:r>
          </a:p>
          <a:p>
            <a:r>
              <a:rPr lang="en-US" sz="1400" dirty="0"/>
              <a:t>  &lt;/template&gt;</a:t>
            </a:r>
          </a:p>
          <a:p>
            <a:r>
              <a:rPr lang="en-US" sz="1400" dirty="0"/>
              <a:t>&lt;/</a:t>
            </a:r>
            <a:r>
              <a:rPr lang="en-US" sz="1400" dirty="0" err="1"/>
              <a:t>dom</a:t>
            </a:r>
            <a:r>
              <a:rPr lang="en-US" sz="1400" dirty="0"/>
              <a:t>-module&gt;</a:t>
            </a:r>
          </a:p>
          <a:p>
            <a:r>
              <a:rPr lang="en-US" sz="1400" dirty="0"/>
              <a:t>&lt;script&gt;</a:t>
            </a:r>
          </a:p>
          <a:p>
            <a:r>
              <a:rPr lang="en-US" sz="1400" dirty="0"/>
              <a:t>Polymer({</a:t>
            </a:r>
          </a:p>
          <a:p>
            <a:r>
              <a:rPr lang="en-US" sz="1400" dirty="0"/>
              <a:t>  is: '</a:t>
            </a:r>
            <a:r>
              <a:rPr lang="en-US" sz="1400" dirty="0" err="1" smtClean="0"/>
              <a:t>hola</a:t>
            </a:r>
            <a:r>
              <a:rPr lang="en-US" sz="1400" dirty="0" smtClean="0"/>
              <a:t>-</a:t>
            </a:r>
            <a:r>
              <a:rPr lang="en-US" sz="1400" dirty="0"/>
              <a:t>polymer-scratch',</a:t>
            </a:r>
          </a:p>
          <a:p>
            <a:r>
              <a:rPr lang="en-US" sz="1400" dirty="0"/>
              <a:t>  properties: {</a:t>
            </a:r>
          </a:p>
          <a:p>
            <a:r>
              <a:rPr lang="en-US" sz="1400" dirty="0"/>
              <a:t>    who: {</a:t>
            </a:r>
          </a:p>
          <a:p>
            <a:r>
              <a:rPr lang="en-US" sz="1400" dirty="0"/>
              <a:t>      type: String,</a:t>
            </a:r>
          </a:p>
          <a:p>
            <a:r>
              <a:rPr lang="en-US" sz="1400" dirty="0"/>
              <a:t>      value: </a:t>
            </a:r>
            <a:r>
              <a:rPr lang="en-US" sz="1400" dirty="0" smtClean="0"/>
              <a:t>’¡</a:t>
            </a:r>
            <a:r>
              <a:rPr lang="en-US" sz="1400" dirty="0" err="1" smtClean="0"/>
              <a:t>Hola</a:t>
            </a:r>
            <a:r>
              <a:rPr lang="en-US" sz="1400" dirty="0" smtClean="0"/>
              <a:t> </a:t>
            </a:r>
            <a:r>
              <a:rPr lang="en-US" sz="1400" dirty="0" err="1"/>
              <a:t>Desde</a:t>
            </a:r>
            <a:r>
              <a:rPr lang="en-US" sz="1400" dirty="0"/>
              <a:t> Polymer!'</a:t>
            </a:r>
          </a:p>
          <a:p>
            <a:r>
              <a:rPr lang="en-US" sz="1400" dirty="0"/>
              <a:t>    }</a:t>
            </a:r>
          </a:p>
          <a:p>
            <a:r>
              <a:rPr lang="en-US" sz="1400" dirty="0"/>
              <a:t>  }</a:t>
            </a:r>
          </a:p>
          <a:p>
            <a:r>
              <a:rPr lang="en-US" sz="1400" dirty="0"/>
              <a:t>});</a:t>
            </a:r>
          </a:p>
          <a:p>
            <a:endParaRPr lang="en-US" sz="1400" dirty="0"/>
          </a:p>
          <a:p>
            <a:r>
              <a:rPr lang="en-US" sz="1400" dirty="0"/>
              <a:t>&lt;/script&gt;</a:t>
            </a:r>
          </a:p>
        </p:txBody>
      </p:sp>
    </p:spTree>
    <p:extLst>
      <p:ext uri="{BB962C8B-B14F-4D97-AF65-F5344CB8AC3E}">
        <p14:creationId xmlns:p14="http://schemas.microsoft.com/office/powerpoint/2010/main" val="778218273"/>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a:t>
            </a:r>
            <a:r>
              <a:rPr lang="nb-NO" sz="2400" dirty="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&lt;!DOCTYPE </a:t>
            </a:r>
            <a:r>
              <a:rPr lang="es-ES" sz="1400" dirty="0" err="1"/>
              <a:t>html</a:t>
            </a:r>
            <a:r>
              <a:rPr lang="es-ES" sz="1400" dirty="0"/>
              <a:t>&gt;</a:t>
            </a:r>
            <a:br>
              <a:rPr lang="es-ES" sz="1400" dirty="0"/>
            </a:br>
            <a:r>
              <a:rPr lang="es-ES" sz="1400" dirty="0"/>
              <a:t>&lt;</a:t>
            </a:r>
            <a:r>
              <a:rPr lang="es-ES" sz="1400" dirty="0" err="1"/>
              <a:t>html</a:t>
            </a:r>
            <a:r>
              <a:rPr lang="es-ES" sz="1400" dirty="0"/>
              <a:t>&gt;</a:t>
            </a:r>
            <a:br>
              <a:rPr lang="es-ES" sz="1400" dirty="0"/>
            </a:br>
            <a:r>
              <a:rPr lang="es-ES" sz="1400" dirty="0"/>
              <a:t>  &lt;head&gt;</a:t>
            </a:r>
            <a:br>
              <a:rPr lang="es-ES" sz="1400" dirty="0"/>
            </a:br>
            <a:r>
              <a:rPr lang="es-ES" sz="1400" dirty="0"/>
              <a:t>    &lt;meta </a:t>
            </a:r>
            <a:r>
              <a:rPr lang="es-ES" sz="1400" dirty="0" err="1"/>
              <a:t>charset</a:t>
            </a:r>
            <a:r>
              <a:rPr lang="es-ES" sz="1400" dirty="0"/>
              <a:t>="utf-8"&gt;</a:t>
            </a:r>
            <a:br>
              <a:rPr lang="es-ES" sz="1400" dirty="0"/>
            </a:br>
            <a:r>
              <a:rPr lang="es-ES" sz="1400" dirty="0"/>
              <a:t>    &lt;</a:t>
            </a:r>
            <a:r>
              <a:rPr lang="es-ES" sz="1400" dirty="0" err="1"/>
              <a:t>title</a:t>
            </a:r>
            <a:r>
              <a:rPr lang="es-ES" sz="1400" dirty="0"/>
              <a:t>&gt;</a:t>
            </a:r>
            <a:r>
              <a:rPr lang="es-ES" sz="1400" dirty="0" smtClean="0"/>
              <a:t>Hola&lt;</a:t>
            </a:r>
            <a:r>
              <a:rPr lang="es-ES" sz="1400" dirty="0"/>
              <a:t>/</a:t>
            </a:r>
            <a:r>
              <a:rPr lang="es-ES" sz="1400" dirty="0" err="1"/>
              <a:t>title</a:t>
            </a:r>
            <a:r>
              <a:rPr lang="es-ES" sz="1400" dirty="0"/>
              <a:t>&gt;</a:t>
            </a:r>
            <a:br>
              <a:rPr lang="es-ES" sz="1400" dirty="0"/>
            </a:br>
            <a:r>
              <a:rPr lang="es-ES" sz="1400" dirty="0"/>
              <a:t>    &lt;script </a:t>
            </a:r>
            <a:r>
              <a:rPr lang="es-ES" sz="1400" dirty="0" err="1"/>
              <a:t>src</a:t>
            </a:r>
            <a:r>
              <a:rPr lang="es-ES" sz="1400" dirty="0"/>
              <a:t>="</a:t>
            </a:r>
            <a:r>
              <a:rPr lang="es-ES" sz="1400" dirty="0" err="1"/>
              <a:t>bower_components</a:t>
            </a:r>
            <a:r>
              <a:rPr lang="es-ES" sz="1400" dirty="0"/>
              <a:t>\</a:t>
            </a:r>
            <a:r>
              <a:rPr lang="es-ES" sz="1400" dirty="0" err="1"/>
              <a:t>webcomponentsjs</a:t>
            </a:r>
            <a:r>
              <a:rPr lang="es-ES" sz="1400" dirty="0"/>
              <a:t>\</a:t>
            </a:r>
            <a:r>
              <a:rPr lang="es-ES" sz="1400" dirty="0" err="1"/>
              <a:t>webcomponents.min.js</a:t>
            </a:r>
            <a:r>
              <a:rPr lang="es-ES" sz="1400" dirty="0"/>
              <a:t>"&gt;&lt;/script&gt;</a:t>
            </a:r>
            <a:br>
              <a:rPr lang="es-ES" sz="1400" dirty="0"/>
            </a:br>
            <a:r>
              <a:rPr lang="es-ES" sz="1400" dirty="0"/>
              <a:t>    &lt;link </a:t>
            </a:r>
            <a:r>
              <a:rPr lang="es-ES" sz="1400" dirty="0" err="1"/>
              <a:t>rel</a:t>
            </a:r>
            <a:r>
              <a:rPr lang="es-ES" sz="1400" dirty="0"/>
              <a:t>="</a:t>
            </a:r>
            <a:r>
              <a:rPr lang="es-ES" sz="1400" dirty="0" err="1"/>
              <a:t>import</a:t>
            </a:r>
            <a:r>
              <a:rPr lang="es-ES" sz="1400" dirty="0"/>
              <a:t>" </a:t>
            </a:r>
            <a:r>
              <a:rPr lang="es-ES" sz="1400" dirty="0" err="1"/>
              <a:t>href</a:t>
            </a:r>
            <a:r>
              <a:rPr lang="es-ES" sz="1400" dirty="0"/>
              <a:t>="</a:t>
            </a:r>
            <a:r>
              <a:rPr lang="es-ES" sz="1400" dirty="0" smtClean="0"/>
              <a:t>hola-</a:t>
            </a:r>
            <a:r>
              <a:rPr lang="es-ES" sz="1400" dirty="0" err="1"/>
              <a:t>polymer</a:t>
            </a:r>
            <a:r>
              <a:rPr lang="es-ES" sz="1400" dirty="0"/>
              <a:t>-</a:t>
            </a:r>
            <a:r>
              <a:rPr lang="es-ES" sz="1400" dirty="0" err="1"/>
              <a:t>scratch.html</a:t>
            </a:r>
            <a:r>
              <a:rPr lang="es-ES" sz="1400" dirty="0"/>
              <a:t>"&gt;</a:t>
            </a:r>
            <a:br>
              <a:rPr lang="es-ES" sz="1400" dirty="0"/>
            </a:br>
            <a:r>
              <a:rPr lang="es-ES" sz="1400" dirty="0"/>
              <a:t>  &lt;/head&gt;</a:t>
            </a:r>
            <a:br>
              <a:rPr lang="es-ES" sz="1400" dirty="0"/>
            </a:br>
            <a:r>
              <a:rPr lang="es-ES" sz="1400" dirty="0"/>
              <a:t>  &lt;</a:t>
            </a:r>
            <a:r>
              <a:rPr lang="es-ES" sz="1400" dirty="0" err="1"/>
              <a:t>body</a:t>
            </a:r>
            <a:r>
              <a:rPr lang="es-ES" sz="1400" dirty="0"/>
              <a:t>&gt;</a:t>
            </a:r>
            <a:br>
              <a:rPr lang="es-ES" sz="1400" dirty="0"/>
            </a:br>
            <a:r>
              <a:rPr lang="es-ES" sz="1400" dirty="0"/>
              <a:t>    &lt;p&gt;Hola&lt;/p&gt;</a:t>
            </a:r>
            <a:br>
              <a:rPr lang="es-ES" sz="1400" dirty="0"/>
            </a:br>
            <a:r>
              <a:rPr lang="es-ES" sz="1400" dirty="0"/>
              <a:t>    &lt;</a:t>
            </a:r>
            <a:r>
              <a:rPr lang="es-ES" sz="1400" dirty="0" smtClean="0"/>
              <a:t>hola-</a:t>
            </a:r>
            <a:r>
              <a:rPr lang="es-ES" sz="1400" dirty="0" err="1"/>
              <a:t>polymer</a:t>
            </a:r>
            <a:r>
              <a:rPr lang="es-ES" sz="1400" dirty="0"/>
              <a:t>-</a:t>
            </a:r>
            <a:r>
              <a:rPr lang="es-ES" sz="1400" dirty="0" err="1"/>
              <a:t>scratch</a:t>
            </a:r>
            <a:r>
              <a:rPr lang="es-ES" sz="1400" dirty="0"/>
              <a:t> </a:t>
            </a:r>
            <a:r>
              <a:rPr lang="es-ES" sz="1400" dirty="0" err="1"/>
              <a:t>who</a:t>
            </a:r>
            <a:r>
              <a:rPr lang="es-ES" sz="1400" dirty="0"/>
              <a:t>='Madrid'&gt;&lt;/</a:t>
            </a:r>
            <a:r>
              <a:rPr lang="es-ES" sz="1400" dirty="0" smtClean="0"/>
              <a:t>hola-</a:t>
            </a:r>
            <a:r>
              <a:rPr lang="es-ES" sz="1400" dirty="0" err="1"/>
              <a:t>polymer</a:t>
            </a:r>
            <a:r>
              <a:rPr lang="es-ES" sz="1400" dirty="0"/>
              <a:t>-</a:t>
            </a:r>
            <a:r>
              <a:rPr lang="es-ES" sz="1400" dirty="0" err="1"/>
              <a:t>scratch</a:t>
            </a:r>
            <a:r>
              <a:rPr lang="es-ES" sz="1400" dirty="0"/>
              <a:t>&gt;</a:t>
            </a:r>
            <a:br>
              <a:rPr lang="es-ES" sz="1400" dirty="0"/>
            </a:br>
            <a:r>
              <a:rPr lang="es-ES" sz="1400" dirty="0"/>
              <a:t>  &lt;/</a:t>
            </a:r>
            <a:r>
              <a:rPr lang="es-ES" sz="1400" dirty="0" err="1"/>
              <a:t>body</a:t>
            </a:r>
            <a:r>
              <a:rPr lang="es-ES" sz="1400" dirty="0"/>
              <a:t>&gt;</a:t>
            </a:r>
            <a:br>
              <a:rPr lang="es-ES" sz="1400" dirty="0"/>
            </a:br>
            <a:r>
              <a:rPr lang="es-ES" sz="1400" dirty="0"/>
              <a:t>&lt;/</a:t>
            </a:r>
            <a:r>
              <a:rPr lang="es-ES" sz="1400" dirty="0" err="1"/>
              <a:t>html</a:t>
            </a:r>
            <a:r>
              <a:rPr lang="es-ES" sz="1400" dirty="0"/>
              <a:t>&gt;</a:t>
            </a:r>
            <a:br>
              <a:rPr lang="es-ES" sz="1400" dirty="0"/>
            </a:br>
            <a:endParaRPr lang="es-ES" sz="1400" dirty="0"/>
          </a:p>
        </p:txBody>
      </p:sp>
    </p:spTree>
    <p:extLst>
      <p:ext uri="{BB962C8B-B14F-4D97-AF65-F5344CB8AC3E}">
        <p14:creationId xmlns:p14="http://schemas.microsoft.com/office/powerpoint/2010/main" val="1354928606"/>
      </p:ext>
    </p:extLst>
  </p:cSld>
  <p:clrMapOvr>
    <a:masterClrMapping/>
  </p:clrMapOvr>
  <p:timing>
    <p:tnLst>
      <p:par>
        <p:cTn xmlns:p14="http://schemas.microsoft.com/office/powerpoint/2010/mai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2017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smtClean="0"/>
              <a:t>Se </a:t>
            </a:r>
            <a:r>
              <a:rPr lang="nb-NO" dirty="0" err="1" smtClean="0"/>
              <a:t>reduce</a:t>
            </a:r>
            <a:r>
              <a:rPr lang="nb-NO" dirty="0" smtClean="0"/>
              <a:t> el peso de la </a:t>
            </a:r>
            <a:r>
              <a:rPr lang="nb-NO" dirty="0" err="1" smtClean="0"/>
              <a:t>libreria</a:t>
            </a:r>
            <a:r>
              <a:rPr lang="nb-NO" dirty="0" smtClean="0"/>
              <a:t>.</a:t>
            </a:r>
          </a:p>
          <a:p>
            <a:pPr marL="285750" indent="-285750" algn="just">
              <a:lnSpc>
                <a:spcPct val="130000"/>
              </a:lnSpc>
              <a:buFont typeface="Arial"/>
              <a:buChar char="•"/>
            </a:pPr>
            <a:r>
              <a:rPr lang="nb-NO" dirty="0" err="1" smtClean="0"/>
              <a:t>Polyfills</a:t>
            </a:r>
            <a:r>
              <a:rPr lang="nb-NO" dirty="0" smtClean="0"/>
              <a:t> mas </a:t>
            </a:r>
            <a:r>
              <a:rPr lang="nb-NO" dirty="0" err="1" smtClean="0"/>
              <a:t>espec</a:t>
            </a:r>
            <a:r>
              <a:rPr lang="nb-NO" dirty="0" err="1" smtClean="0"/>
              <a:t>íficos</a:t>
            </a:r>
            <a:r>
              <a:rPr lang="nb-NO" dirty="0" smtClean="0"/>
              <a:t>.</a:t>
            </a:r>
            <a:endParaRPr lang="nb-NO" dirty="0"/>
          </a:p>
          <a:p>
            <a:pPr marL="285750" indent="-285750" algn="just">
              <a:lnSpc>
                <a:spcPct val="130000"/>
              </a:lnSpc>
              <a:buFont typeface="Arial"/>
              <a:buChar char="•"/>
            </a:pPr>
            <a:r>
              <a:rPr lang="nb-NO" dirty="0" err="1"/>
              <a:t>Custom</a:t>
            </a:r>
            <a:r>
              <a:rPr lang="nb-NO" dirty="0"/>
              <a:t> Elements </a:t>
            </a:r>
            <a:r>
              <a:rPr lang="nb-NO" dirty="0" err="1"/>
              <a:t>ahora</a:t>
            </a:r>
            <a:r>
              <a:rPr lang="nb-NO" dirty="0"/>
              <a:t> se </a:t>
            </a:r>
            <a:r>
              <a:rPr lang="nb-NO" dirty="0" err="1"/>
              <a:t>definen</a:t>
            </a:r>
            <a:r>
              <a:rPr lang="nb-NO" dirty="0"/>
              <a:t> </a:t>
            </a:r>
            <a:r>
              <a:rPr lang="nb-NO" dirty="0" err="1"/>
              <a:t>mediante</a:t>
            </a:r>
            <a:r>
              <a:rPr lang="nb-NO" dirty="0"/>
              <a:t> </a:t>
            </a:r>
            <a:r>
              <a:rPr lang="nb-NO" dirty="0" err="1"/>
              <a:t>clases</a:t>
            </a:r>
            <a:r>
              <a:rPr lang="nb-NO" dirty="0"/>
              <a:t> </a:t>
            </a:r>
            <a:r>
              <a:rPr lang="nb-NO" dirty="0" smtClean="0"/>
              <a:t>ES6.</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smtClean="0"/>
              <a:t>(</a:t>
            </a:r>
            <a:r>
              <a:rPr lang="es-ES" dirty="0" err="1"/>
              <a:t>Polymer.Element</a:t>
            </a:r>
            <a:r>
              <a:rPr lang="nb-NO" dirty="0" smtClean="0"/>
              <a:t>).</a:t>
            </a:r>
          </a:p>
          <a:p>
            <a:pPr marL="285750" indent="-285750" algn="just">
              <a:lnSpc>
                <a:spcPct val="130000"/>
              </a:lnSpc>
              <a:buFont typeface="Arial"/>
              <a:buChar char="•"/>
            </a:pPr>
            <a:r>
              <a:rPr lang="es-ES" dirty="0"/>
              <a:t>I</a:t>
            </a:r>
            <a:r>
              <a:rPr lang="es-ES" dirty="0"/>
              <a:t>nteroperabilidad </a:t>
            </a:r>
            <a:r>
              <a:rPr lang="es-ES" dirty="0"/>
              <a:t>entre </a:t>
            </a:r>
            <a:r>
              <a:rPr lang="es-ES" dirty="0"/>
              <a:t>componentes (</a:t>
            </a:r>
            <a:r>
              <a:rPr lang="nb-NO" dirty="0" err="1"/>
              <a:t>WebComponents</a:t>
            </a:r>
            <a:r>
              <a:rPr lang="nb-NO" dirty="0"/>
              <a:t> </a:t>
            </a:r>
            <a:r>
              <a:rPr lang="nb-NO" dirty="0"/>
              <a:t>v1</a:t>
            </a:r>
            <a:r>
              <a:rPr lang="nb-NO" dirty="0" smtClean="0"/>
              <a:t>).</a:t>
            </a:r>
          </a:p>
          <a:p>
            <a:pPr marL="285750" indent="-285750" algn="just">
              <a:lnSpc>
                <a:spcPct val="130000"/>
              </a:lnSpc>
              <a:buFont typeface="Arial"/>
              <a:buChar char="•"/>
            </a:pPr>
            <a:r>
              <a:rPr lang="es-ES" dirty="0" err="1"/>
              <a:t>Custom</a:t>
            </a:r>
            <a:r>
              <a:rPr lang="es-ES" dirty="0"/>
              <a:t> </a:t>
            </a:r>
            <a:r>
              <a:rPr lang="es-ES" dirty="0" err="1"/>
              <a:t>Properties</a:t>
            </a:r>
            <a:r>
              <a:rPr lang="es-ES" dirty="0"/>
              <a:t> de </a:t>
            </a:r>
            <a:r>
              <a:rPr lang="es-ES" dirty="0" smtClean="0"/>
              <a:t>CSS.</a:t>
            </a:r>
            <a:endParaRPr lang="nb-NO" dirty="0"/>
          </a:p>
          <a:p>
            <a:pPr marL="285750" indent="-285750" algn="just">
              <a:lnSpc>
                <a:spcPct val="130000"/>
              </a:lnSpc>
              <a:buFont typeface="Arial"/>
              <a:buChar char="•"/>
            </a:pPr>
            <a:r>
              <a:rPr lang="nb-NO" dirty="0" err="1"/>
              <a:t>Librería</a:t>
            </a:r>
            <a:r>
              <a:rPr lang="nb-NO" dirty="0"/>
              <a:t> de </a:t>
            </a:r>
            <a:r>
              <a:rPr lang="nb-NO" dirty="0" err="1"/>
              <a:t>elementos</a:t>
            </a:r>
            <a:r>
              <a:rPr lang="nb-NO" dirty="0"/>
              <a:t> </a:t>
            </a:r>
            <a:r>
              <a:rPr lang="nb-NO" dirty="0" err="1"/>
              <a:t>clasificados</a:t>
            </a:r>
            <a:r>
              <a:rPr lang="nb-NO" dirty="0"/>
              <a:t> para Web/mobile (</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componentes</a:t>
            </a:r>
            <a:r>
              <a:rPr lang="nb-NO" dirty="0">
                <a:solidFill>
                  <a:srgbClr val="FFFFFF"/>
                </a:solidFill>
                <a:latin typeface="Helvetica"/>
                <a:cs typeface="Helvetica"/>
              </a:rPr>
              <a:t> </a:t>
            </a:r>
            <a:r>
              <a:rPr lang="nb-NO" dirty="0" err="1">
                <a:solidFill>
                  <a:srgbClr val="FFFFFF"/>
                </a:solidFill>
                <a:latin typeface="Helvetica"/>
                <a:cs typeface="Helvetica"/>
              </a:rPr>
              <a:t>basada</a:t>
            </a:r>
            <a:r>
              <a:rPr lang="nb-NO" dirty="0">
                <a:solidFill>
                  <a:srgbClr val="FFFFFF"/>
                </a:solidFill>
                <a:latin typeface="Helvetica"/>
                <a:cs typeface="Helvetica"/>
              </a:rPr>
              <a:t> en </a:t>
            </a:r>
            <a:r>
              <a:rPr lang="nb-NO" dirty="0" err="1">
                <a:solidFill>
                  <a:srgbClr val="FFFFFF"/>
                </a:solidFill>
                <a:latin typeface="Helvetica"/>
                <a:cs typeface="Helvetica"/>
              </a:rPr>
              <a:t>WebComponents</a:t>
            </a:r>
            <a:r>
              <a:rPr lang="nb-NO" dirty="0">
                <a:solidFill>
                  <a:srgbClr val="FFFFFF"/>
                </a:solidFill>
                <a:latin typeface="Helvetica"/>
                <a:cs typeface="Helvetica"/>
              </a:rPr>
              <a:t> </a:t>
            </a:r>
            <a:r>
              <a:rPr lang="nb-NO" dirty="0" smtClean="0">
                <a:solidFill>
                  <a:srgbClr val="FFFFFF"/>
                </a:solidFill>
                <a:latin typeface="Helvetica"/>
                <a:cs typeface="Helvetica"/>
              </a:rPr>
              <a:t>v1</a:t>
            </a:r>
            <a:endParaRPr lang="nb-NO" dirty="0">
              <a:solidFill>
                <a:srgbClr val="FFFFFF"/>
              </a:solidFill>
              <a:latin typeface="Helvetica"/>
              <a:cs typeface="Helvetica"/>
            </a:endParaRPr>
          </a:p>
          <a:p>
            <a:pPr marL="285750" indent="-285750" algn="just">
              <a:lnSpc>
                <a:spcPct val="130000"/>
              </a:lnSpc>
              <a:buFont typeface="Arial"/>
              <a:buChar char="•"/>
            </a:pPr>
            <a:r>
              <a:rPr lang="nb-NO" dirty="0" err="1">
                <a:solidFill>
                  <a:srgbClr val="FFFFFF"/>
                </a:solidFill>
                <a:latin typeface="Helvetica"/>
                <a:cs typeface="Helvetica"/>
              </a:rPr>
              <a:t>Polimer</a:t>
            </a:r>
            <a:r>
              <a:rPr lang="nb-NO" dirty="0">
                <a:solidFill>
                  <a:srgbClr val="FFFFFF"/>
                </a:solidFill>
                <a:latin typeface="Helvetica"/>
                <a:cs typeface="Helvetica"/>
              </a:rPr>
              <a:t> CLI</a:t>
            </a: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Tree>
    <p:extLst>
      <p:ext uri="{BB962C8B-B14F-4D97-AF65-F5344CB8AC3E}">
        <p14:creationId xmlns:p14="http://schemas.microsoft.com/office/powerpoint/2010/main" val="777891453"/>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a:t>
            </a:r>
            <a:r>
              <a:rPr lang="nb-NO" sz="2400" dirty="0" smtClean="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&lt;!DOCTYPE html&gt;</a:t>
            </a:r>
          </a:p>
          <a:p>
            <a:r>
              <a:rPr lang="en-US" sz="1200" dirty="0"/>
              <a:t>&lt;html </a:t>
            </a:r>
            <a:r>
              <a:rPr lang="en-US" sz="1200" dirty="0" err="1"/>
              <a:t>lang</a:t>
            </a:r>
            <a:r>
              <a:rPr lang="en-US" sz="1200" dirty="0"/>
              <a:t>="en"&gt;</a:t>
            </a:r>
          </a:p>
          <a:p>
            <a:r>
              <a:rPr lang="en-US" sz="1200" dirty="0"/>
              <a:t>&lt;head&gt;</a:t>
            </a:r>
          </a:p>
          <a:p>
            <a:r>
              <a:rPr lang="en-US" sz="1200" dirty="0"/>
              <a:t>  &lt;meta charset="UTF-</a:t>
            </a:r>
            <a:r>
              <a:rPr lang="en-US" sz="1200" dirty="0" smtClean="0"/>
              <a:t>8”&gt;</a:t>
            </a:r>
            <a:endParaRPr lang="en-US" sz="1200" dirty="0"/>
          </a:p>
          <a:p>
            <a:r>
              <a:rPr lang="en-US" sz="1200" dirty="0"/>
              <a:t>  &lt;link </a:t>
            </a:r>
            <a:r>
              <a:rPr lang="en-US" sz="1200" dirty="0" err="1"/>
              <a:t>rel</a:t>
            </a:r>
            <a:r>
              <a:rPr lang="en-US" sz="1200" dirty="0"/>
              <a:t>="import"  </a:t>
            </a:r>
            <a:r>
              <a:rPr lang="en-US" sz="1200" dirty="0" err="1"/>
              <a:t>href</a:t>
            </a:r>
            <a:r>
              <a:rPr lang="en-US" sz="1200" dirty="0" smtClean="0"/>
              <a:t>=</a:t>
            </a:r>
            <a:r>
              <a:rPr lang="en-US" sz="1200" dirty="0" smtClean="0">
                <a:hlinkClick r:id="rId5"/>
              </a:rPr>
              <a:t>https</a:t>
            </a:r>
            <a:r>
              <a:rPr lang="en-US" sz="1200" dirty="0">
                <a:hlinkClick r:id="rId5"/>
              </a:rPr>
              <a:t>://polygit.org/components/polymer/polymer-</a:t>
            </a:r>
            <a:r>
              <a:rPr lang="en-US" sz="1200" dirty="0" smtClean="0">
                <a:hlinkClick r:id="rId5"/>
              </a:rPr>
              <a:t>element.html</a:t>
            </a:r>
            <a:r>
              <a:rPr lang="en-US" sz="1200" dirty="0" smtClean="0"/>
              <a:t>&gt;</a:t>
            </a:r>
            <a:endParaRPr lang="en-US" sz="1200" dirty="0"/>
          </a:p>
          <a:p>
            <a:r>
              <a:rPr lang="en-US" sz="1200" dirty="0"/>
              <a:t>  &lt;title&gt;Test de </a:t>
            </a:r>
            <a:r>
              <a:rPr lang="en-US" sz="1200" dirty="0" err="1"/>
              <a:t>componente</a:t>
            </a:r>
            <a:r>
              <a:rPr lang="en-US" sz="1200" dirty="0"/>
              <a:t> </a:t>
            </a:r>
            <a:r>
              <a:rPr lang="en-US" sz="1200" dirty="0" err="1"/>
              <a:t>usando</a:t>
            </a:r>
            <a:r>
              <a:rPr lang="en-US" sz="1200" dirty="0"/>
              <a:t> Polymer 2&lt;/title&gt;</a:t>
            </a:r>
          </a:p>
          <a:p>
            <a:r>
              <a:rPr lang="en-US" sz="1200" dirty="0"/>
              <a:t>&lt;/head&gt;</a:t>
            </a:r>
          </a:p>
          <a:p>
            <a:r>
              <a:rPr lang="en-US" sz="1200" dirty="0"/>
              <a:t>&lt;body&gt;</a:t>
            </a:r>
          </a:p>
          <a:p>
            <a:r>
              <a:rPr lang="en-US" sz="1200" dirty="0"/>
              <a:t>  </a:t>
            </a:r>
          </a:p>
          <a:p>
            <a:r>
              <a:rPr lang="en-US" sz="1200" dirty="0"/>
              <a:t>  &lt;template id="mi-template"&gt;</a:t>
            </a:r>
          </a:p>
          <a:p>
            <a:r>
              <a:rPr lang="en-US" sz="1200" dirty="0"/>
              <a:t>    &lt;p&gt;</a:t>
            </a:r>
            <a:r>
              <a:rPr lang="en-US" sz="1200" dirty="0" err="1"/>
              <a:t>Hola</a:t>
            </a:r>
            <a:r>
              <a:rPr lang="en-US" sz="1200" dirty="0"/>
              <a:t>! soy un Polymer Element simple!&lt;/p&gt;</a:t>
            </a:r>
          </a:p>
          <a:p>
            <a:r>
              <a:rPr lang="en-US" sz="1200" dirty="0"/>
              <a:t>  &lt;/template&gt;</a:t>
            </a:r>
          </a:p>
          <a:p>
            <a:r>
              <a:rPr lang="en-US" sz="1200" dirty="0"/>
              <a:t>  </a:t>
            </a:r>
          </a:p>
          <a:p>
            <a:r>
              <a:rPr lang="en-US" sz="1200" dirty="0"/>
              <a:t>  &lt;script&gt;</a:t>
            </a:r>
          </a:p>
          <a:p>
            <a:r>
              <a:rPr lang="en-US" sz="1200" dirty="0"/>
              <a:t>    class </a:t>
            </a:r>
            <a:r>
              <a:rPr lang="en-US" sz="1200" dirty="0" err="1"/>
              <a:t>HolaComponentes</a:t>
            </a:r>
            <a:r>
              <a:rPr lang="en-US" sz="1200" dirty="0"/>
              <a:t> extends </a:t>
            </a:r>
            <a:r>
              <a:rPr lang="en-US" sz="1200" dirty="0" err="1"/>
              <a:t>Polymer.Element</a:t>
            </a:r>
            <a:r>
              <a:rPr lang="en-US" sz="1200" dirty="0"/>
              <a:t> {</a:t>
            </a:r>
          </a:p>
          <a:p>
            <a:r>
              <a:rPr lang="en-US" sz="1200" dirty="0"/>
              <a:t>      static get template() { return </a:t>
            </a:r>
            <a:r>
              <a:rPr lang="en-US" sz="1200" dirty="0" err="1"/>
              <a:t>document.getElementById</a:t>
            </a:r>
            <a:r>
              <a:rPr lang="en-US" sz="1200" dirty="0"/>
              <a:t>('mi-template') }</a:t>
            </a:r>
          </a:p>
          <a:p>
            <a:r>
              <a:rPr lang="en-US" sz="1200" dirty="0"/>
              <a:t>      static get is() { return '</a:t>
            </a:r>
            <a:r>
              <a:rPr lang="en-US" sz="1200" dirty="0" err="1"/>
              <a:t>hola-componentes</a:t>
            </a:r>
            <a:r>
              <a:rPr lang="en-US" sz="1200" dirty="0"/>
              <a:t>'; }</a:t>
            </a:r>
          </a:p>
          <a:p>
            <a:r>
              <a:rPr lang="en-US" sz="1200" dirty="0"/>
              <a:t>    }</a:t>
            </a:r>
          </a:p>
          <a:p>
            <a:endParaRPr lang="en-US" sz="1200" dirty="0"/>
          </a:p>
          <a:p>
            <a:r>
              <a:rPr lang="en-US" sz="1200" dirty="0"/>
              <a:t>    </a:t>
            </a:r>
            <a:r>
              <a:rPr lang="en-US" sz="1200" dirty="0" err="1"/>
              <a:t>customElements.define</a:t>
            </a:r>
            <a:r>
              <a:rPr lang="en-US" sz="1200" dirty="0"/>
              <a:t>(</a:t>
            </a:r>
            <a:r>
              <a:rPr lang="en-US" sz="1200" dirty="0" err="1"/>
              <a:t>HolaComponentes.is</a:t>
            </a:r>
            <a:r>
              <a:rPr lang="en-US" sz="1200" dirty="0"/>
              <a:t>, </a:t>
            </a:r>
            <a:r>
              <a:rPr lang="en-US" sz="1200" dirty="0" err="1"/>
              <a:t>HolaComponentes</a:t>
            </a:r>
            <a:r>
              <a:rPr lang="en-US" sz="1200" dirty="0"/>
              <a:t>);&gt;</a:t>
            </a:r>
          </a:p>
          <a:p>
            <a:r>
              <a:rPr lang="en-US" sz="1200" dirty="0"/>
              <a:t>  &lt;/script&gt;</a:t>
            </a:r>
          </a:p>
          <a:p>
            <a:r>
              <a:rPr lang="en-US" sz="1200" dirty="0"/>
              <a:t>  </a:t>
            </a:r>
          </a:p>
          <a:p>
            <a:r>
              <a:rPr lang="en-US" sz="1200" dirty="0"/>
              <a:t>  &lt;</a:t>
            </a:r>
            <a:r>
              <a:rPr lang="en-US" sz="1200" dirty="0" err="1"/>
              <a:t>hola-componentes</a:t>
            </a:r>
            <a:r>
              <a:rPr lang="en-US" sz="1200" dirty="0"/>
              <a:t>&gt;&lt;/</a:t>
            </a:r>
            <a:r>
              <a:rPr lang="en-US" sz="1200" dirty="0" err="1"/>
              <a:t>hola-componentes</a:t>
            </a:r>
            <a:r>
              <a:rPr lang="en-US" sz="1200" dirty="0"/>
              <a:t>&gt;</a:t>
            </a:r>
          </a:p>
          <a:p>
            <a:r>
              <a:rPr lang="en-US" sz="1200" dirty="0"/>
              <a:t>    </a:t>
            </a:r>
          </a:p>
          <a:p>
            <a:r>
              <a:rPr lang="en-US" sz="1200" dirty="0"/>
              <a:t>&lt;/body</a:t>
            </a:r>
            <a:r>
              <a:rPr lang="en-US" sz="1200" dirty="0" smtClean="0"/>
              <a:t>&gt;&lt;</a:t>
            </a:r>
            <a:r>
              <a:rPr lang="en-US" sz="1200" dirty="0"/>
              <a:t>/html</a:t>
            </a:r>
            <a:r>
              <a:rPr lang="en-US" sz="1200" dirty="0" smtClean="0"/>
              <a:t>&gt; </a:t>
            </a:r>
          </a:p>
        </p:txBody>
      </p:sp>
    </p:spTree>
    <p:extLst>
      <p:ext uri="{BB962C8B-B14F-4D97-AF65-F5344CB8AC3E}">
        <p14:creationId xmlns:p14="http://schemas.microsoft.com/office/powerpoint/2010/main" val="3424299107"/>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3.X &gt; 2018 </a:t>
            </a:r>
            <a:r>
              <a:rPr lang="nb-NO" sz="2400" dirty="0" smtClean="0">
                <a:solidFill>
                  <a:schemeClr val="accent4">
                    <a:lumMod val="60000"/>
                    <a:lumOff val="40000"/>
                  </a:schemeClr>
                </a:solidFill>
                <a:latin typeface="Helvetica"/>
                <a:cs typeface="Helvetica"/>
              </a:rPr>
              <a:t>(En </a:t>
            </a:r>
            <a:r>
              <a:rPr lang="nb-NO" sz="2400" dirty="0" err="1" smtClean="0">
                <a:solidFill>
                  <a:schemeClr val="accent4">
                    <a:lumMod val="60000"/>
                    <a:lumOff val="40000"/>
                  </a:schemeClr>
                </a:solidFill>
                <a:latin typeface="Helvetica"/>
                <a:cs typeface="Helvetica"/>
              </a:rPr>
              <a:t>Evolución</a:t>
            </a:r>
            <a:r>
              <a:rPr lang="nb-NO" sz="2400" dirty="0" smtClean="0">
                <a:solidFill>
                  <a:schemeClr val="accent4">
                    <a:lumMod val="60000"/>
                    <a:lumOff val="40000"/>
                  </a:schemeClr>
                </a:solidFill>
                <a:latin typeface="Helvetica"/>
                <a:cs typeface="Helvetica"/>
              </a:rPr>
              <a: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a:t>Se </a:t>
            </a:r>
            <a:r>
              <a:rPr lang="nb-NO" dirty="0" err="1"/>
              <a:t>sustituye</a:t>
            </a:r>
            <a:r>
              <a:rPr lang="nb-NO" dirty="0"/>
              <a:t> los </a:t>
            </a:r>
            <a:r>
              <a:rPr lang="nb-NO" dirty="0" err="1"/>
              <a:t>HTMLImport</a:t>
            </a:r>
            <a:r>
              <a:rPr lang="nb-NO" dirty="0"/>
              <a:t> por </a:t>
            </a:r>
            <a:r>
              <a:rPr lang="es-ES" dirty="0"/>
              <a:t>ES6 Modules</a:t>
            </a:r>
            <a:r>
              <a:rPr lang="nb-NO" dirty="0"/>
              <a:t>.</a:t>
            </a:r>
          </a:p>
          <a:p>
            <a:pPr marL="285750" indent="-285750" algn="just">
              <a:lnSpc>
                <a:spcPct val="130000"/>
              </a:lnSpc>
              <a:buFont typeface="Arial"/>
              <a:buChar char="•"/>
            </a:pPr>
            <a:r>
              <a:rPr lang="nb-NO" dirty="0"/>
              <a:t>Polymer-</a:t>
            </a:r>
            <a:r>
              <a:rPr lang="nb-NO" dirty="0" err="1"/>
              <a:t>modulizer</a:t>
            </a:r>
            <a:r>
              <a:rPr lang="nb-NO" dirty="0"/>
              <a:t>.</a:t>
            </a:r>
          </a:p>
          <a:p>
            <a:pPr marL="285750" indent="-285750" algn="just">
              <a:lnSpc>
                <a:spcPct val="130000"/>
              </a:lnSpc>
              <a:buFont typeface="Arial"/>
              <a:buChar char="•"/>
            </a:pPr>
            <a:r>
              <a:rPr lang="nb-NO" dirty="0"/>
              <a:t>Uso de </a:t>
            </a:r>
            <a:r>
              <a:rPr lang="nb-NO" dirty="0" err="1"/>
              <a:t>npm</a:t>
            </a:r>
            <a:r>
              <a:rPr lang="nb-NO" dirty="0"/>
              <a:t> para </a:t>
            </a:r>
            <a:r>
              <a:rPr lang="nb-NO" dirty="0" err="1"/>
              <a:t>gestion</a:t>
            </a:r>
            <a:r>
              <a:rPr lang="nb-NO" dirty="0"/>
              <a:t> de </a:t>
            </a:r>
            <a:r>
              <a:rPr lang="nb-NO" dirty="0" err="1"/>
              <a:t>dependencias</a:t>
            </a:r>
            <a:r>
              <a:rPr lang="nb-NO" dirty="0"/>
              <a:t>.</a:t>
            </a:r>
          </a:p>
          <a:p>
            <a:pPr marL="285750" indent="-285750" algn="just">
              <a:lnSpc>
                <a:spcPct val="130000"/>
              </a:lnSpc>
              <a:buFont typeface="Arial"/>
              <a:buChar char="•"/>
            </a:pPr>
            <a:r>
              <a:rPr lang="nb-NO" dirty="0"/>
              <a:t>ES6 </a:t>
            </a:r>
            <a:r>
              <a:rPr lang="nb-NO" dirty="0" err="1"/>
              <a:t>template</a:t>
            </a:r>
            <a:r>
              <a:rPr lang="nb-NO" dirty="0"/>
              <a:t> </a:t>
            </a:r>
            <a:r>
              <a:rPr lang="nb-NO" dirty="0" err="1"/>
              <a:t>String</a:t>
            </a:r>
            <a:r>
              <a:rPr lang="nb-NO" dirty="0"/>
              <a:t>.</a:t>
            </a:r>
            <a:endParaRPr lang="nb-NO" dirty="0"/>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err="1"/>
              <a:t>LitElement</a:t>
            </a:r>
            <a:r>
              <a:rPr lang="nb-NO" dirty="0"/>
              <a:t>. (</a:t>
            </a:r>
            <a:r>
              <a:rPr lang="nb-NO" dirty="0" err="1"/>
              <a:t>Mejora</a:t>
            </a:r>
            <a:r>
              <a:rPr lang="nb-NO" dirty="0"/>
              <a:t> </a:t>
            </a:r>
            <a:r>
              <a:rPr lang="nb-NO" dirty="0" err="1"/>
              <a:t>Rendimiento</a:t>
            </a:r>
            <a:r>
              <a:rPr lang="nb-NO" dirty="0"/>
              <a:t>).</a:t>
            </a:r>
          </a:p>
          <a:p>
            <a:pPr marL="285750" indent="-285750" algn="just">
              <a:lnSpc>
                <a:spcPct val="130000"/>
              </a:lnSpc>
              <a:buFont typeface="Arial"/>
              <a:buChar char="•"/>
            </a:pPr>
            <a:r>
              <a:rPr lang="es-ES" dirty="0"/>
              <a:t>Nuevo catálogo de componentes Material-</a:t>
            </a:r>
            <a:r>
              <a:rPr lang="es-ES" dirty="0" err="1"/>
              <a:t>Components</a:t>
            </a:r>
            <a:r>
              <a:rPr lang="es-ES" dirty="0"/>
              <a:t> basada en Material </a:t>
            </a:r>
            <a:r>
              <a:rPr lang="es-ES" dirty="0" err="1" smtClean="0"/>
              <a:t>Design.Escritos</a:t>
            </a:r>
            <a:r>
              <a:rPr lang="es-ES" dirty="0" smtClean="0"/>
              <a:t> en JavaScript (</a:t>
            </a:r>
            <a:r>
              <a:rPr lang="es-ES" dirty="0" err="1" smtClean="0"/>
              <a:t>Webcomponents</a:t>
            </a:r>
            <a:r>
              <a:rPr lang="es-ES" dirty="0" smtClean="0"/>
              <a:t> v1)	</a:t>
            </a:r>
          </a:p>
          <a:p>
            <a:pPr marL="285750" indent="-285750" algn="just">
              <a:lnSpc>
                <a:spcPct val="130000"/>
              </a:lnSpc>
              <a:buFont typeface="Arial"/>
              <a:buChar char="•"/>
            </a:pPr>
            <a:r>
              <a:rPr lang="es-ES" dirty="0"/>
              <a:t>PWA </a:t>
            </a:r>
            <a:r>
              <a:rPr lang="es-ES" dirty="0" err="1"/>
              <a:t>Starter</a:t>
            </a:r>
            <a:r>
              <a:rPr lang="es-ES" dirty="0"/>
              <a:t> Kit, que sustituye a </a:t>
            </a:r>
            <a:r>
              <a:rPr lang="es-ES" dirty="0" err="1"/>
              <a:t>Polymer</a:t>
            </a:r>
            <a:r>
              <a:rPr lang="es-ES" dirty="0"/>
              <a:t> </a:t>
            </a:r>
            <a:r>
              <a:rPr lang="es-ES" dirty="0" err="1"/>
              <a:t>Starter</a:t>
            </a:r>
            <a:r>
              <a:rPr lang="es-ES" dirty="0"/>
              <a:t> Kit.</a:t>
            </a:r>
            <a:endParaRPr lang="es-ES" dirty="0"/>
          </a:p>
          <a:p>
            <a:pPr algn="just">
              <a:lnSpc>
                <a:spcPct val="130000"/>
              </a:lnSpc>
            </a:pPr>
            <a:r>
              <a:rPr lang="es-ES" dirty="0" smtClean="0"/>
              <a:t>	</a:t>
            </a:r>
            <a:endParaRPr lang="es-ES" dirty="0"/>
          </a:p>
        </p:txBody>
      </p:sp>
    </p:spTree>
    <p:extLst>
      <p:ext uri="{BB962C8B-B14F-4D97-AF65-F5344CB8AC3E}">
        <p14:creationId xmlns:p14="http://schemas.microsoft.com/office/powerpoint/2010/main" val="1040711624"/>
      </p:ext>
    </p:extLst>
  </p:cSld>
  <p:clrMapOvr>
    <a:masterClrMapping/>
  </p:clrMapOvr>
  <p:timing>
    <p:tnLst>
      <p:par>
        <p:cTn xmlns:p14="http://schemas.microsoft.com/office/powerpoint/2010/mai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4524314"/>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import {</a:t>
            </a:r>
            <a:r>
              <a:rPr lang="en-US" sz="1200" dirty="0" err="1"/>
              <a:t>PolymerElement</a:t>
            </a:r>
            <a:r>
              <a:rPr lang="en-US" sz="1200" dirty="0"/>
              <a:t>, html} from '@polymer/polymer/polymer-</a:t>
            </a:r>
            <a:r>
              <a:rPr lang="en-US" sz="1200" dirty="0" err="1"/>
              <a:t>element.js</a:t>
            </a:r>
            <a:r>
              <a:rPr lang="en-US" sz="1200" dirty="0"/>
              <a:t>';</a:t>
            </a:r>
          </a:p>
          <a:p>
            <a:endParaRPr lang="en-US" sz="1200" dirty="0" smtClean="0"/>
          </a:p>
          <a:p>
            <a:r>
              <a:rPr lang="en-US" sz="1200" dirty="0" smtClean="0"/>
              <a:t>class </a:t>
            </a:r>
            <a:r>
              <a:rPr lang="en-US" sz="1200" dirty="0" err="1"/>
              <a:t>HolaMundo</a:t>
            </a:r>
            <a:r>
              <a:rPr lang="en-US" sz="1200" dirty="0"/>
              <a:t> extends </a:t>
            </a:r>
            <a:r>
              <a:rPr lang="en-US" sz="1200" dirty="0" err="1"/>
              <a:t>PolymerElement</a:t>
            </a:r>
            <a:r>
              <a:rPr lang="en-US" sz="1200" dirty="0"/>
              <a:t> {</a:t>
            </a:r>
          </a:p>
          <a:p>
            <a:r>
              <a:rPr lang="en-US" sz="1200" dirty="0"/>
              <a:t>static get template() {</a:t>
            </a:r>
          </a:p>
          <a:p>
            <a:r>
              <a:rPr lang="en-US" sz="1200" dirty="0"/>
              <a:t>return html`</a:t>
            </a:r>
          </a:p>
          <a:p>
            <a:r>
              <a:rPr lang="en-US" sz="1200" dirty="0"/>
              <a:t>&lt;style&gt;</a:t>
            </a:r>
          </a:p>
          <a:p>
            <a:r>
              <a:rPr lang="en-US" sz="1200" dirty="0"/>
              <a:t>:host {</a:t>
            </a:r>
          </a:p>
          <a:p>
            <a:r>
              <a:rPr lang="en-US" sz="1200" dirty="0"/>
              <a:t>display: block;</a:t>
            </a:r>
          </a:p>
          <a:p>
            <a:r>
              <a:rPr lang="en-US" sz="1200" dirty="0"/>
              <a:t>font-family: </a:t>
            </a:r>
            <a:r>
              <a:rPr lang="en-US" sz="1200" dirty="0" err="1"/>
              <a:t>arial</a:t>
            </a:r>
            <a:r>
              <a:rPr lang="en-US" sz="1200" dirty="0"/>
              <a:t>, </a:t>
            </a:r>
            <a:r>
              <a:rPr lang="en-US" sz="1200" dirty="0" err="1"/>
              <a:t>verdana</a:t>
            </a:r>
            <a:r>
              <a:rPr lang="en-US" sz="1200" dirty="0"/>
              <a:t>;</a:t>
            </a:r>
          </a:p>
          <a:p>
            <a:r>
              <a:rPr lang="en-US" sz="1200" dirty="0"/>
              <a:t>}</a:t>
            </a:r>
          </a:p>
          <a:p>
            <a:r>
              <a:rPr lang="en-US" sz="1200" dirty="0"/>
              <a:t>h1 {</a:t>
            </a:r>
          </a:p>
          <a:p>
            <a:r>
              <a:rPr lang="en-US" sz="1200" dirty="0"/>
              <a:t>color: orange;</a:t>
            </a:r>
          </a:p>
          <a:p>
            <a:r>
              <a:rPr lang="en-US" sz="1200" dirty="0"/>
              <a:t>}</a:t>
            </a:r>
          </a:p>
          <a:p>
            <a:r>
              <a:rPr lang="en-US" sz="1200" dirty="0"/>
              <a:t>p {</a:t>
            </a:r>
          </a:p>
          <a:p>
            <a:r>
              <a:rPr lang="en-US" sz="1200" dirty="0"/>
              <a:t>background-color: #</a:t>
            </a:r>
            <a:r>
              <a:rPr lang="en-US" sz="1200" dirty="0" err="1"/>
              <a:t>eee</a:t>
            </a:r>
            <a:r>
              <a:rPr lang="en-US" sz="1200" dirty="0"/>
              <a:t>;</a:t>
            </a:r>
          </a:p>
          <a:p>
            <a:r>
              <a:rPr lang="en-US" sz="1200" dirty="0"/>
              <a:t>color: #888;</a:t>
            </a:r>
          </a:p>
          <a:p>
            <a:r>
              <a:rPr lang="en-US" sz="1200" dirty="0"/>
              <a:t>padding: 10px;</a:t>
            </a:r>
          </a:p>
          <a:p>
            <a:r>
              <a:rPr lang="en-US" sz="1200" dirty="0"/>
              <a:t>border-radius: 5px;</a:t>
            </a:r>
          </a:p>
          <a:p>
            <a:r>
              <a:rPr lang="en-US" sz="1200" dirty="0"/>
              <a:t>}</a:t>
            </a:r>
          </a:p>
          <a:p>
            <a:r>
              <a:rPr lang="en-US" sz="1200" dirty="0"/>
              <a:t>&lt;/style&gt;</a:t>
            </a:r>
          </a:p>
          <a:p>
            <a:r>
              <a:rPr lang="en-US" sz="1200" dirty="0"/>
              <a:t>&lt;h1&gt;</a:t>
            </a:r>
            <a:r>
              <a:rPr lang="en-US" sz="1200" dirty="0" err="1"/>
              <a:t>Esto</a:t>
            </a:r>
            <a:r>
              <a:rPr lang="en-US" sz="1200" dirty="0"/>
              <a:t> </a:t>
            </a:r>
            <a:r>
              <a:rPr lang="en-US" sz="1200" dirty="0" err="1"/>
              <a:t>es</a:t>
            </a:r>
            <a:r>
              <a:rPr lang="en-US" sz="1200" dirty="0"/>
              <a:t> un Polymer Element </a:t>
            </a:r>
            <a:r>
              <a:rPr lang="en-US" sz="1200" dirty="0" err="1"/>
              <a:t>realizado</a:t>
            </a:r>
            <a:r>
              <a:rPr lang="en-US" sz="1200" dirty="0"/>
              <a:t> con Polymer 3.0!!&lt;/h1&gt;</a:t>
            </a:r>
          </a:p>
          <a:p>
            <a:r>
              <a:rPr lang="en-US" sz="1200" dirty="0"/>
              <a:t>&lt;p&gt;</a:t>
            </a:r>
            <a:r>
              <a:rPr lang="en-US" sz="1200" dirty="0" err="1"/>
              <a:t>Aquí</a:t>
            </a:r>
            <a:r>
              <a:rPr lang="en-US" sz="1200" dirty="0"/>
              <a:t> </a:t>
            </a:r>
            <a:r>
              <a:rPr lang="en-US" sz="1200" dirty="0" err="1"/>
              <a:t>tienes</a:t>
            </a:r>
            <a:r>
              <a:rPr lang="en-US" sz="1200" dirty="0"/>
              <a:t> un binding: [[</a:t>
            </a:r>
            <a:r>
              <a:rPr lang="en-US" sz="1200" dirty="0" err="1"/>
              <a:t>miPropiedad</a:t>
            </a:r>
            <a:r>
              <a:rPr lang="en-US" sz="1200" dirty="0"/>
              <a:t>]]!&lt;/p&gt;</a:t>
            </a:r>
          </a:p>
          <a:p>
            <a:r>
              <a:rPr lang="en-US" sz="1200" dirty="0"/>
              <a:t>`;</a:t>
            </a:r>
          </a:p>
          <a:p>
            <a:r>
              <a:rPr lang="en-US" sz="1200" dirty="0" smtClean="0"/>
              <a:t>}</a:t>
            </a:r>
          </a:p>
        </p:txBody>
      </p:sp>
    </p:spTree>
    <p:extLst>
      <p:ext uri="{BB962C8B-B14F-4D97-AF65-F5344CB8AC3E}">
        <p14:creationId xmlns:p14="http://schemas.microsoft.com/office/powerpoint/2010/main" val="119979614"/>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Introducción</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2123658"/>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static get properties() {</a:t>
            </a:r>
          </a:p>
          <a:p>
            <a:r>
              <a:rPr lang="en-US" sz="1200" dirty="0"/>
              <a:t>return {</a:t>
            </a:r>
          </a:p>
          <a:p>
            <a:r>
              <a:rPr lang="en-US" sz="1200" dirty="0" err="1"/>
              <a:t>miPropiedad</a:t>
            </a:r>
            <a:r>
              <a:rPr lang="en-US" sz="1200" dirty="0"/>
              <a:t>: {</a:t>
            </a:r>
          </a:p>
          <a:p>
            <a:r>
              <a:rPr lang="en-US" sz="1200" dirty="0"/>
              <a:t>type: String,</a:t>
            </a:r>
          </a:p>
          <a:p>
            <a:r>
              <a:rPr lang="en-US" sz="1200" dirty="0"/>
              <a:t>value: 'Valor </a:t>
            </a:r>
            <a:r>
              <a:rPr lang="en-US" sz="1200" dirty="0" err="1"/>
              <a:t>para</a:t>
            </a:r>
            <a:r>
              <a:rPr lang="en-US" sz="1200" dirty="0"/>
              <a:t> mi </a:t>
            </a:r>
            <a:r>
              <a:rPr lang="en-US" sz="1200" dirty="0" err="1"/>
              <a:t>propiedad</a:t>
            </a:r>
            <a:r>
              <a:rPr lang="en-US" sz="1200" dirty="0"/>
              <a:t>',</a:t>
            </a:r>
          </a:p>
          <a:p>
            <a:r>
              <a:rPr lang="en-US" sz="1200" dirty="0" smtClean="0"/>
              <a:t>}</a:t>
            </a:r>
            <a:endParaRPr lang="en-US" sz="1200" dirty="0"/>
          </a:p>
          <a:p>
            <a:r>
              <a:rPr lang="en-US" sz="1200" dirty="0"/>
              <a:t>};</a:t>
            </a:r>
          </a:p>
          <a:p>
            <a:r>
              <a:rPr lang="en-US" sz="1200" dirty="0"/>
              <a:t>}</a:t>
            </a:r>
          </a:p>
          <a:p>
            <a:endParaRPr lang="en-US" sz="1200" dirty="0"/>
          </a:p>
          <a:p>
            <a:r>
              <a:rPr lang="en-US" sz="1200" dirty="0" err="1"/>
              <a:t>window.customElements.define</a:t>
            </a:r>
            <a:r>
              <a:rPr lang="en-US" sz="1200" dirty="0"/>
              <a:t>('</a:t>
            </a:r>
            <a:r>
              <a:rPr lang="en-US" sz="1200" dirty="0" err="1"/>
              <a:t>hola-mundo</a:t>
            </a:r>
            <a:r>
              <a:rPr lang="en-US" sz="1200" dirty="0"/>
              <a:t>', </a:t>
            </a:r>
            <a:r>
              <a:rPr lang="en-US" sz="1200" dirty="0" err="1"/>
              <a:t>HolaMundo</a:t>
            </a:r>
            <a:r>
              <a:rPr lang="en-US" sz="1200" dirty="0"/>
              <a:t>)</a:t>
            </a:r>
            <a:r>
              <a:rPr lang="en-US" sz="1200" dirty="0" smtClean="0"/>
              <a:t>;</a:t>
            </a:r>
            <a:endParaRPr lang="en-US" sz="1200" dirty="0"/>
          </a:p>
        </p:txBody>
      </p:sp>
      <p:sp>
        <p:nvSpPr>
          <p:cNvPr id="14" name="Rectángulo 13"/>
          <p:cNvSpPr/>
          <p:nvPr/>
        </p:nvSpPr>
        <p:spPr>
          <a:xfrm>
            <a:off x="758214" y="3872578"/>
            <a:ext cx="7005407" cy="2308324"/>
          </a:xfrm>
          <a:prstGeom prst="rect">
            <a:avLst/>
          </a:prstGeom>
          <a:solidFill>
            <a:schemeClr val="bg2">
              <a:lumMod val="75000"/>
              <a:lumOff val="25000"/>
            </a:schemeClr>
          </a:solidFill>
          <a:ln w="12700" cmpd="sng">
            <a:solidFill>
              <a:srgbClr val="3366FF"/>
            </a:solidFill>
          </a:ln>
        </p:spPr>
        <p:txBody>
          <a:bodyPr wrap="square">
            <a:spAutoFit/>
          </a:bodyPr>
          <a:lstStyle/>
          <a:p>
            <a:r>
              <a:rPr lang="es-ES" sz="1200" dirty="0"/>
              <a:t>&lt;!</a:t>
            </a:r>
            <a:r>
              <a:rPr lang="es-ES" sz="1200" dirty="0" err="1"/>
              <a:t>doctype</a:t>
            </a:r>
            <a:r>
              <a:rPr lang="es-ES" sz="1200" dirty="0"/>
              <a:t> </a:t>
            </a:r>
            <a:r>
              <a:rPr lang="es-ES" sz="1200" dirty="0" err="1"/>
              <a:t>html</a:t>
            </a:r>
            <a:r>
              <a:rPr lang="es-ES" sz="1200" dirty="0"/>
              <a:t>&gt;</a:t>
            </a:r>
          </a:p>
          <a:p>
            <a:r>
              <a:rPr lang="es-ES" sz="1200" dirty="0"/>
              <a:t>&lt;</a:t>
            </a:r>
            <a:r>
              <a:rPr lang="es-ES" sz="1200" dirty="0" err="1"/>
              <a:t>html</a:t>
            </a:r>
            <a:r>
              <a:rPr lang="es-ES" sz="1200" dirty="0"/>
              <a:t>&gt;</a:t>
            </a:r>
          </a:p>
          <a:p>
            <a:r>
              <a:rPr lang="es-ES" sz="1200" dirty="0"/>
              <a:t>  &lt;head&gt;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a:t>
            </a:r>
            <a:r>
              <a:rPr lang="es-ES" sz="1200" dirty="0" err="1"/>
              <a:t>webcomponents-bundle.js</a:t>
            </a:r>
            <a:r>
              <a:rPr lang="es-ES" sz="1200" dirty="0"/>
              <a:t>" </a:t>
            </a:r>
            <a:r>
              <a:rPr lang="es-ES" sz="1200" dirty="0" err="1"/>
              <a:t>defer</a:t>
            </a:r>
            <a:r>
              <a:rPr lang="es-ES" sz="1200" dirty="0"/>
              <a:t>&gt;&lt;/script&gt;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/custom-elements-es5-adapter.js"&gt;&lt;/script&gt;</a:t>
            </a:r>
          </a:p>
          <a:p>
            <a:r>
              <a:rPr lang="es-ES" sz="1200" dirty="0"/>
              <a:t>  &lt;/head&gt;</a:t>
            </a:r>
          </a:p>
          <a:p>
            <a:r>
              <a:rPr lang="es-ES" sz="1200" dirty="0"/>
              <a:t>  &lt;</a:t>
            </a:r>
            <a:r>
              <a:rPr lang="es-ES" sz="1200" dirty="0" err="1"/>
              <a:t>body</a:t>
            </a:r>
            <a:r>
              <a:rPr lang="es-ES" sz="1200" dirty="0"/>
              <a:t>&gt;</a:t>
            </a:r>
          </a:p>
          <a:p>
            <a:r>
              <a:rPr lang="es-ES" sz="1200" dirty="0"/>
              <a:t>    &lt;hola-</a:t>
            </a:r>
            <a:r>
              <a:rPr lang="es-ES" sz="1200" dirty="0" smtClean="0"/>
              <a:t>mundo&gt;</a:t>
            </a:r>
            <a:r>
              <a:rPr lang="es-ES" sz="1200" dirty="0"/>
              <a:t>&lt;/hola-mundo&gt;</a:t>
            </a:r>
          </a:p>
          <a:p>
            <a:r>
              <a:rPr lang="es-ES" sz="1200" dirty="0"/>
              <a:t>  &lt;/</a:t>
            </a:r>
            <a:r>
              <a:rPr lang="es-ES" sz="1200" dirty="0" err="1"/>
              <a:t>body</a:t>
            </a:r>
            <a:r>
              <a:rPr lang="es-ES" sz="1200" dirty="0"/>
              <a:t>&gt;</a:t>
            </a:r>
          </a:p>
          <a:p>
            <a:r>
              <a:rPr lang="es-ES" sz="1200" dirty="0"/>
              <a:t>&lt;/</a:t>
            </a:r>
            <a:r>
              <a:rPr lang="es-ES" sz="1200" dirty="0" err="1"/>
              <a:t>html</a:t>
            </a:r>
            <a:r>
              <a:rPr lang="es-ES" sz="1200" dirty="0"/>
              <a:t>&gt;</a:t>
            </a:r>
            <a:endParaRPr lang="en-US" sz="1200" dirty="0"/>
          </a:p>
        </p:txBody>
      </p:sp>
    </p:spTree>
    <p:extLst>
      <p:ext uri="{BB962C8B-B14F-4D97-AF65-F5344CB8AC3E}">
        <p14:creationId xmlns:p14="http://schemas.microsoft.com/office/powerpoint/2010/main" val="1735643503"/>
      </p:ext>
    </p:extLst>
  </p:cSld>
  <p:clrMapOvr>
    <a:masterClrMapping/>
  </p:clrMapOvr>
  <p:timing>
    <p:tnLst>
      <p:par>
        <p:cTn xmlns:p14="http://schemas.microsoft.com/office/powerpoint/2010/mai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LitElement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5119865"/>
          </a:xfrm>
          <a:prstGeom prst="rect">
            <a:avLst/>
          </a:prstGeom>
        </p:spPr>
        <p:txBody>
          <a:bodyPr wrap="square">
            <a:spAutoFit/>
          </a:bodyPr>
          <a:lstStyle/>
          <a:p>
            <a:pPr algn="just">
              <a:lnSpc>
                <a:spcPct val="130000"/>
              </a:lnSpc>
            </a:pPr>
            <a:r>
              <a:rPr lang="nb-NO" dirty="0" err="1">
                <a:solidFill>
                  <a:srgbClr val="FFFFFF"/>
                </a:solidFill>
                <a:cs typeface="Helvetica"/>
              </a:rPr>
              <a:t>Esta</a:t>
            </a:r>
            <a:r>
              <a:rPr lang="nb-NO" dirty="0">
                <a:solidFill>
                  <a:srgbClr val="FFFFFF"/>
                </a:solidFill>
                <a:cs typeface="Helvetica"/>
              </a:rPr>
              <a:t> es </a:t>
            </a:r>
            <a:r>
              <a:rPr lang="nb-NO" dirty="0" err="1">
                <a:solidFill>
                  <a:srgbClr val="FFFFFF"/>
                </a:solidFill>
                <a:cs typeface="Helvetica"/>
              </a:rPr>
              <a:t>una</a:t>
            </a:r>
            <a:r>
              <a:rPr lang="nb-NO" dirty="0">
                <a:solidFill>
                  <a:srgbClr val="FFFFFF"/>
                </a:solidFill>
                <a:cs typeface="Helvetica"/>
              </a:rPr>
              <a:t> de las </a:t>
            </a:r>
            <a:r>
              <a:rPr lang="nb-NO" dirty="0" err="1">
                <a:solidFill>
                  <a:srgbClr val="FFFFFF"/>
                </a:solidFill>
                <a:cs typeface="Helvetica"/>
              </a:rPr>
              <a:t>novedades</a:t>
            </a:r>
            <a:r>
              <a:rPr lang="nb-NO" dirty="0">
                <a:solidFill>
                  <a:srgbClr val="FFFFFF"/>
                </a:solidFill>
                <a:cs typeface="Helvetica"/>
              </a:rPr>
              <a:t> de Polymer 3.0 </a:t>
            </a:r>
            <a:r>
              <a:rPr lang="nb-NO" dirty="0" err="1">
                <a:solidFill>
                  <a:srgbClr val="FFFFFF"/>
                </a:solidFill>
                <a:cs typeface="Helvetica"/>
              </a:rPr>
              <a:t>más</a:t>
            </a:r>
            <a:r>
              <a:rPr lang="nb-NO" dirty="0">
                <a:solidFill>
                  <a:srgbClr val="FFFFFF"/>
                </a:solidFill>
                <a:cs typeface="Helvetica"/>
              </a:rPr>
              <a:t> </a:t>
            </a:r>
            <a:r>
              <a:rPr lang="nb-NO" dirty="0" err="1">
                <a:solidFill>
                  <a:srgbClr val="FFFFFF"/>
                </a:solidFill>
                <a:cs typeface="Helvetica"/>
              </a:rPr>
              <a:t>importantes</a:t>
            </a:r>
            <a:r>
              <a:rPr lang="nb-NO" dirty="0">
                <a:solidFill>
                  <a:srgbClr val="FFFFFF"/>
                </a:solidFill>
                <a:cs typeface="Helvetica"/>
              </a:rPr>
              <a:t> en lo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respecta</a:t>
            </a:r>
            <a:r>
              <a:rPr lang="nb-NO" dirty="0">
                <a:solidFill>
                  <a:srgbClr val="FFFFFF"/>
                </a:solidFill>
                <a:cs typeface="Helvetica"/>
              </a:rPr>
              <a:t> </a:t>
            </a:r>
            <a:r>
              <a:rPr lang="nb-NO" dirty="0" smtClean="0">
                <a:solidFill>
                  <a:srgbClr val="FFFFFF"/>
                </a:solidFill>
                <a:cs typeface="Helvetica"/>
              </a:rPr>
              <a:t>al </a:t>
            </a:r>
            <a:r>
              <a:rPr lang="nb-NO" dirty="0" err="1" smtClean="0">
                <a:solidFill>
                  <a:srgbClr val="FFFFFF"/>
                </a:solidFill>
                <a:cs typeface="Helvetica"/>
              </a:rPr>
              <a:t>rendimiento.La</a:t>
            </a:r>
            <a:r>
              <a:rPr lang="nb-NO" dirty="0" smtClean="0">
                <a:solidFill>
                  <a:srgbClr val="FFFFFF"/>
                </a:solidFill>
                <a:cs typeface="Helvetica"/>
              </a:rPr>
              <a:t> </a:t>
            </a:r>
            <a:r>
              <a:rPr lang="nb-NO" dirty="0" err="1">
                <a:solidFill>
                  <a:srgbClr val="FFFFFF"/>
                </a:solidFill>
                <a:cs typeface="Helvetica"/>
              </a:rPr>
              <a:t>librería</a:t>
            </a:r>
            <a:r>
              <a:rPr lang="nb-NO" dirty="0">
                <a:solidFill>
                  <a:srgbClr val="FFFFFF"/>
                </a:solidFill>
                <a:cs typeface="Helvetica"/>
              </a:rPr>
              <a:t> se ha </a:t>
            </a:r>
            <a:r>
              <a:rPr lang="nb-NO" dirty="0" err="1">
                <a:solidFill>
                  <a:srgbClr val="FFFFFF"/>
                </a:solidFill>
                <a:cs typeface="Helvetica"/>
              </a:rPr>
              <a:t>desarrollado</a:t>
            </a:r>
            <a:r>
              <a:rPr lang="nb-NO" dirty="0">
                <a:solidFill>
                  <a:srgbClr val="FFFFFF"/>
                </a:solidFill>
                <a:cs typeface="Helvetica"/>
              </a:rPr>
              <a:t> para </a:t>
            </a:r>
            <a:r>
              <a:rPr lang="nb-NO" dirty="0" err="1">
                <a:solidFill>
                  <a:srgbClr val="FFFFFF"/>
                </a:solidFill>
                <a:cs typeface="Helvetica"/>
              </a:rPr>
              <a:t>satisfacer</a:t>
            </a:r>
            <a:r>
              <a:rPr lang="nb-NO" dirty="0">
                <a:solidFill>
                  <a:srgbClr val="FFFFFF"/>
                </a:solidFill>
                <a:cs typeface="Helvetica"/>
              </a:rPr>
              <a:t> las </a:t>
            </a:r>
            <a:r>
              <a:rPr lang="nb-NO" dirty="0" err="1">
                <a:solidFill>
                  <a:srgbClr val="FFFFFF"/>
                </a:solidFill>
                <a:cs typeface="Helvetica"/>
              </a:rPr>
              <a:t>demandas</a:t>
            </a:r>
            <a:r>
              <a:rPr lang="nb-NO" dirty="0">
                <a:solidFill>
                  <a:srgbClr val="FFFFFF"/>
                </a:solidFill>
                <a:cs typeface="Helvetica"/>
              </a:rPr>
              <a:t> de </a:t>
            </a:r>
            <a:r>
              <a:rPr lang="nb-NO" dirty="0" err="1">
                <a:solidFill>
                  <a:srgbClr val="FFFFFF"/>
                </a:solidFill>
                <a:cs typeface="Helvetica"/>
              </a:rPr>
              <a:t>un</a:t>
            </a:r>
            <a:r>
              <a:rPr lang="nb-NO" dirty="0">
                <a:solidFill>
                  <a:srgbClr val="FFFFFF"/>
                </a:solidFill>
                <a:cs typeface="Helvetica"/>
              </a:rPr>
              <a:t> </a:t>
            </a:r>
            <a:r>
              <a:rPr lang="nb-NO" dirty="0" err="1">
                <a:solidFill>
                  <a:srgbClr val="FFFFFF"/>
                </a:solidFill>
                <a:cs typeface="Helvetica"/>
              </a:rPr>
              <a:t>sistema</a:t>
            </a:r>
            <a:r>
              <a:rPr lang="nb-NO" dirty="0">
                <a:solidFill>
                  <a:srgbClr val="FFFFFF"/>
                </a:solidFill>
                <a:cs typeface="Helvetica"/>
              </a:rPr>
              <a:t>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capaz</a:t>
            </a:r>
            <a:r>
              <a:rPr lang="nb-NO" dirty="0">
                <a:solidFill>
                  <a:srgbClr val="FFFFFF"/>
                </a:solidFill>
                <a:cs typeface="Helvetica"/>
              </a:rPr>
              <a:t> de </a:t>
            </a:r>
            <a:r>
              <a:rPr lang="nb-NO" dirty="0" err="1">
                <a:solidFill>
                  <a:srgbClr val="FFFFFF"/>
                </a:solidFill>
                <a:cs typeface="Helvetica"/>
              </a:rPr>
              <a:t>aportar</a:t>
            </a:r>
            <a:r>
              <a:rPr lang="nb-NO" dirty="0">
                <a:solidFill>
                  <a:srgbClr val="FFFFFF"/>
                </a:solidFill>
                <a:cs typeface="Helvetica"/>
              </a:rPr>
              <a:t> </a:t>
            </a:r>
            <a:r>
              <a:rPr lang="nb-NO" dirty="0" err="1">
                <a:solidFill>
                  <a:srgbClr val="FFFFFF"/>
                </a:solidFill>
                <a:cs typeface="Helvetica"/>
              </a:rPr>
              <a:t>un</a:t>
            </a:r>
            <a:r>
              <a:rPr lang="nb-NO" dirty="0">
                <a:solidFill>
                  <a:srgbClr val="FFFFFF"/>
                </a:solidFill>
                <a:cs typeface="Helvetica"/>
              </a:rPr>
              <a:t> gran </a:t>
            </a:r>
            <a:r>
              <a:rPr lang="nb-NO" dirty="0" err="1">
                <a:solidFill>
                  <a:srgbClr val="FFFFFF"/>
                </a:solidFill>
                <a:cs typeface="Helvetica"/>
              </a:rPr>
              <a:t>rendimiento</a:t>
            </a:r>
            <a:r>
              <a:rPr lang="nb-NO" dirty="0">
                <a:solidFill>
                  <a:srgbClr val="FFFFFF"/>
                </a:solidFill>
                <a:cs typeface="Helvetica"/>
              </a:rPr>
              <a:t>, </a:t>
            </a:r>
            <a:r>
              <a:rPr lang="nb-NO" dirty="0" err="1">
                <a:solidFill>
                  <a:srgbClr val="FFFFFF"/>
                </a:solidFill>
                <a:cs typeface="Helvetica"/>
              </a:rPr>
              <a:t>funcionando</a:t>
            </a:r>
            <a:r>
              <a:rPr lang="nb-NO" dirty="0">
                <a:solidFill>
                  <a:srgbClr val="FFFFFF"/>
                </a:solidFill>
                <a:cs typeface="Helvetica"/>
              </a:rPr>
              <a:t> del </a:t>
            </a:r>
            <a:r>
              <a:rPr lang="nb-NO" dirty="0" err="1">
                <a:solidFill>
                  <a:srgbClr val="FFFFFF"/>
                </a:solidFill>
                <a:cs typeface="Helvetica"/>
              </a:rPr>
              <a:t>lado</a:t>
            </a:r>
            <a:r>
              <a:rPr lang="nb-NO" dirty="0">
                <a:solidFill>
                  <a:srgbClr val="FFFFFF"/>
                </a:solidFill>
                <a:cs typeface="Helvetica"/>
              </a:rPr>
              <a:t> de </a:t>
            </a:r>
            <a:r>
              <a:rPr lang="nb-NO" dirty="0" err="1">
                <a:solidFill>
                  <a:srgbClr val="FFFFFF"/>
                </a:solidFill>
                <a:cs typeface="Helvetica"/>
              </a:rPr>
              <a:t>Javascript</a:t>
            </a:r>
            <a:r>
              <a:rPr lang="nb-NO" dirty="0">
                <a:solidFill>
                  <a:srgbClr val="FFFFFF"/>
                </a:solidFill>
                <a:cs typeface="Helvetica"/>
              </a:rPr>
              <a:t> con ES6 </a:t>
            </a:r>
            <a:r>
              <a:rPr lang="nb-NO" dirty="0" err="1">
                <a:solidFill>
                  <a:srgbClr val="FFFFFF"/>
                </a:solidFill>
                <a:cs typeface="Helvetica"/>
              </a:rPr>
              <a:t>Modules</a:t>
            </a:r>
            <a:r>
              <a:rPr lang="nb-NO" dirty="0">
                <a:solidFill>
                  <a:srgbClr val="FFFFFF"/>
                </a:solidFill>
                <a:cs typeface="Helvetica"/>
              </a:rPr>
              <a:t>. </a:t>
            </a:r>
            <a:endParaRPr lang="nb-NO" dirty="0" smtClean="0">
              <a:solidFill>
                <a:srgbClr val="FFFFFF"/>
              </a:solidFill>
              <a:cs typeface="Helvetica"/>
            </a:endParaRPr>
          </a:p>
          <a:p>
            <a:pPr algn="just">
              <a:lnSpc>
                <a:spcPct val="130000"/>
              </a:lnSpc>
            </a:pPr>
            <a:endParaRPr lang="nb-NO" dirty="0">
              <a:solidFill>
                <a:srgbClr val="FFFFFF"/>
              </a:solidFill>
              <a:cs typeface="Helvetica"/>
            </a:endParaRPr>
          </a:p>
          <a:p>
            <a:pPr algn="just">
              <a:lnSpc>
                <a:spcPct val="130000"/>
              </a:lnSpc>
            </a:pPr>
            <a:r>
              <a:rPr lang="nb-NO" dirty="0">
                <a:solidFill>
                  <a:srgbClr val="FFFFFF"/>
                </a:solidFill>
                <a:cs typeface="Helvetica"/>
              </a:rPr>
              <a:t>La </a:t>
            </a:r>
            <a:r>
              <a:rPr lang="nb-NO" dirty="0" err="1">
                <a:solidFill>
                  <a:srgbClr val="FFFFFF"/>
                </a:solidFill>
                <a:cs typeface="Helvetica"/>
              </a:rPr>
              <a:t>diferencia</a:t>
            </a:r>
            <a:r>
              <a:rPr lang="nb-NO" dirty="0">
                <a:solidFill>
                  <a:srgbClr val="FFFFFF"/>
                </a:solidFill>
                <a:cs typeface="Helvetica"/>
              </a:rPr>
              <a:t> entre </a:t>
            </a:r>
            <a:r>
              <a:rPr lang="nb-NO" dirty="0" err="1">
                <a:solidFill>
                  <a:srgbClr val="FFFFFF"/>
                </a:solidFill>
                <a:cs typeface="Helvetica"/>
              </a:rPr>
              <a:t>LitElement</a:t>
            </a:r>
            <a:r>
              <a:rPr lang="nb-NO" dirty="0">
                <a:solidFill>
                  <a:srgbClr val="FFFFFF"/>
                </a:solidFill>
                <a:cs typeface="Helvetica"/>
              </a:rPr>
              <a:t> y </a:t>
            </a:r>
            <a:r>
              <a:rPr lang="nb-NO" dirty="0" err="1">
                <a:solidFill>
                  <a:srgbClr val="FFFFFF"/>
                </a:solidFill>
                <a:cs typeface="Helvetica"/>
              </a:rPr>
              <a:t>PolymerElement</a:t>
            </a:r>
            <a:r>
              <a:rPr lang="nb-NO" dirty="0">
                <a:solidFill>
                  <a:srgbClr val="FFFFFF"/>
                </a:solidFill>
                <a:cs typeface="Helvetica"/>
              </a:rPr>
              <a:t> es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LitElement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la </a:t>
            </a:r>
            <a:r>
              <a:rPr lang="nb-NO" dirty="0" err="1">
                <a:solidFill>
                  <a:srgbClr val="FFFFFF"/>
                </a:solidFill>
                <a:cs typeface="Helvetica"/>
              </a:rPr>
              <a:t>librería</a:t>
            </a:r>
            <a:r>
              <a:rPr lang="nb-NO" dirty="0">
                <a:solidFill>
                  <a:srgbClr val="FFFFFF"/>
                </a:solidFill>
                <a:cs typeface="Helvetica"/>
              </a:rPr>
              <a:t> Lit</a:t>
            </a:r>
            <a:r>
              <a:rPr lang="nb-NO" dirty="0" smtClean="0">
                <a:solidFill>
                  <a:srgbClr val="FFFFFF"/>
                </a:solidFill>
                <a:cs typeface="Helvetica"/>
              </a:rPr>
              <a:t>-HTML </a:t>
            </a:r>
            <a:r>
              <a:rPr lang="nb-NO" dirty="0">
                <a:solidFill>
                  <a:srgbClr val="FFFFFF"/>
                </a:solidFill>
                <a:cs typeface="Helvetica"/>
              </a:rPr>
              <a:t>y </a:t>
            </a:r>
            <a:r>
              <a:rPr lang="nb-NO" dirty="0" err="1">
                <a:solidFill>
                  <a:srgbClr val="FFFFFF"/>
                </a:solidFill>
                <a:cs typeface="Helvetica"/>
              </a:rPr>
              <a:t>PolymerElement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declarativos</a:t>
            </a:r>
            <a:r>
              <a:rPr lang="nb-NO" dirty="0">
                <a:solidFill>
                  <a:srgbClr val="FFFFFF"/>
                </a:solidFill>
                <a:cs typeface="Helvetica"/>
              </a:rPr>
              <a:t> </a:t>
            </a:r>
            <a:r>
              <a:rPr lang="nb-NO" dirty="0" err="1">
                <a:solidFill>
                  <a:srgbClr val="FFFFFF"/>
                </a:solidFill>
                <a:cs typeface="Helvetica"/>
              </a:rPr>
              <a:t>dentro</a:t>
            </a:r>
            <a:r>
              <a:rPr lang="nb-NO" dirty="0">
                <a:solidFill>
                  <a:srgbClr val="FFFFFF"/>
                </a:solidFill>
                <a:cs typeface="Helvetica"/>
              </a:rPr>
              <a:t> de </a:t>
            </a:r>
            <a:r>
              <a:rPr lang="nb-NO" dirty="0" err="1">
                <a:solidFill>
                  <a:srgbClr val="FFFFFF"/>
                </a:solidFill>
                <a:cs typeface="Helvetica"/>
              </a:rPr>
              <a:t>Javascript</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just">
              <a:lnSpc>
                <a:spcPct val="130000"/>
              </a:lnSpc>
            </a:pPr>
            <a:r>
              <a:rPr lang="nb-NO" dirty="0" err="1">
                <a:solidFill>
                  <a:srgbClr val="FFFFFF"/>
                </a:solidFill>
                <a:cs typeface="Helvetica"/>
              </a:rPr>
              <a:t>LitElement</a:t>
            </a:r>
            <a:r>
              <a:rPr lang="nb-NO" dirty="0">
                <a:solidFill>
                  <a:srgbClr val="FFFFFF"/>
                </a:solidFill>
                <a:cs typeface="Helvetica"/>
              </a:rPr>
              <a:t> </a:t>
            </a:r>
            <a:r>
              <a:rPr lang="nb-NO" dirty="0" err="1" smtClean="0">
                <a:solidFill>
                  <a:srgbClr val="FFFFFF"/>
                </a:solidFill>
                <a:cs typeface="Helvetica"/>
              </a:rPr>
              <a:t>convive</a:t>
            </a:r>
            <a:r>
              <a:rPr lang="nb-NO" dirty="0" smtClean="0">
                <a:solidFill>
                  <a:srgbClr val="FFFFFF"/>
                </a:solidFill>
                <a:cs typeface="Helvetica"/>
              </a:rPr>
              <a:t> con  </a:t>
            </a:r>
            <a:r>
              <a:rPr lang="nb-NO" dirty="0" err="1">
                <a:solidFill>
                  <a:srgbClr val="FFFFFF"/>
                </a:solidFill>
                <a:cs typeface="Helvetica"/>
              </a:rPr>
              <a:t>PolymerElement</a:t>
            </a:r>
            <a:r>
              <a:rPr lang="nb-NO" dirty="0">
                <a:solidFill>
                  <a:srgbClr val="FFFFFF"/>
                </a:solidFill>
                <a:cs typeface="Helvetica"/>
              </a:rPr>
              <a:t> </a:t>
            </a:r>
            <a:r>
              <a:rPr lang="nb-NO" dirty="0" smtClean="0">
                <a:solidFill>
                  <a:srgbClr val="FFFFFF"/>
                </a:solidFill>
                <a:cs typeface="Helvetica"/>
              </a:rPr>
              <a:t>3.0 en Polymer 3.X por </a:t>
            </a:r>
            <a:r>
              <a:rPr lang="nb-NO" dirty="0" err="1" smtClean="0">
                <a:solidFill>
                  <a:srgbClr val="FFFFFF"/>
                </a:solidFill>
                <a:cs typeface="Helvetica"/>
              </a:rPr>
              <a:t>razones</a:t>
            </a:r>
            <a:r>
              <a:rPr lang="nb-NO" dirty="0" smtClean="0">
                <a:solidFill>
                  <a:srgbClr val="FFFFFF"/>
                </a:solidFill>
                <a:cs typeface="Helvetica"/>
              </a:rPr>
              <a:t> de </a:t>
            </a:r>
            <a:r>
              <a:rPr lang="nb-NO" dirty="0" err="1" smtClean="0">
                <a:solidFill>
                  <a:srgbClr val="FFFFFF"/>
                </a:solidFill>
                <a:cs typeface="Helvetica"/>
              </a:rPr>
              <a:t>compatibilidad</a:t>
            </a:r>
            <a:r>
              <a:rPr lang="nb-NO" dirty="0" smtClean="0">
                <a:solidFill>
                  <a:srgbClr val="FFFFFF"/>
                </a:solidFill>
                <a:cs typeface="Helvetica"/>
              </a:rPr>
              <a:t> </a:t>
            </a:r>
            <a:r>
              <a:rPr lang="nb-NO" dirty="0" err="1" smtClean="0">
                <a:solidFill>
                  <a:srgbClr val="FFFFFF"/>
                </a:solidFill>
                <a:cs typeface="Helvetica"/>
              </a:rPr>
              <a:t>hacia</a:t>
            </a:r>
            <a:r>
              <a:rPr lang="nb-NO" dirty="0" smtClean="0">
                <a:solidFill>
                  <a:srgbClr val="FFFFFF"/>
                </a:solidFill>
                <a:cs typeface="Helvetica"/>
              </a:rPr>
              <a:t> </a:t>
            </a:r>
            <a:r>
              <a:rPr lang="nb-NO" dirty="0" err="1" smtClean="0">
                <a:solidFill>
                  <a:srgbClr val="FFFFFF"/>
                </a:solidFill>
                <a:cs typeface="Helvetica"/>
              </a:rPr>
              <a:t>atr</a:t>
            </a:r>
            <a:r>
              <a:rPr lang="nb-NO" dirty="0" err="1" smtClean="0">
                <a:solidFill>
                  <a:srgbClr val="FFFFFF"/>
                </a:solidFill>
                <a:cs typeface="Helvetica"/>
              </a:rPr>
              <a:t>ás</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ctr">
              <a:lnSpc>
                <a:spcPct val="130000"/>
              </a:lnSpc>
            </a:pPr>
            <a:r>
              <a:rPr lang="nb-NO" dirty="0" err="1">
                <a:hlinkClick r:id="rId5"/>
              </a:rPr>
              <a:t>https</a:t>
            </a:r>
            <a:r>
              <a:rPr lang="nb-NO" dirty="0">
                <a:hlinkClick r:id="rId5"/>
              </a:rPr>
              <a:t>://lit-</a:t>
            </a:r>
            <a:r>
              <a:rPr lang="nb-NO" dirty="0" err="1">
                <a:hlinkClick r:id="rId5"/>
              </a:rPr>
              <a:t>element.polymer</a:t>
            </a:r>
            <a:r>
              <a:rPr lang="nb-NO" dirty="0">
                <a:hlinkClick r:id="rId5"/>
              </a:rPr>
              <a:t>-</a:t>
            </a:r>
            <a:r>
              <a:rPr lang="nb-NO" dirty="0" err="1">
                <a:hlinkClick r:id="rId5"/>
              </a:rPr>
              <a:t>project.org</a:t>
            </a:r>
            <a:r>
              <a:rPr lang="nb-NO" dirty="0">
                <a:hlinkClick r:id="rId5"/>
              </a:rPr>
              <a:t>/</a:t>
            </a:r>
            <a:endParaRPr lang="es-ES" dirty="0" smtClean="0"/>
          </a:p>
          <a:p>
            <a:pPr marL="285750" indent="-285750" algn="just">
              <a:lnSpc>
                <a:spcPct val="130000"/>
              </a:lnSpc>
              <a:buFont typeface="Arial"/>
              <a:buChar char="•"/>
            </a:pPr>
            <a:endParaRPr lang="es-ES" dirty="0" smtClean="0"/>
          </a:p>
        </p:txBody>
      </p:sp>
    </p:spTree>
    <p:extLst>
      <p:ext uri="{BB962C8B-B14F-4D97-AF65-F5344CB8AC3E}">
        <p14:creationId xmlns:p14="http://schemas.microsoft.com/office/powerpoint/2010/main" val="1081245158"/>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798680"/>
          </a:xfrm>
          <a:prstGeom prst="rect">
            <a:avLst/>
          </a:prstGeom>
        </p:spPr>
        <p:txBody>
          <a:bodyPr wrap="square">
            <a:spAutoFit/>
          </a:bodyPr>
          <a:lstStyle/>
          <a:p>
            <a:pPr algn="just">
              <a:lnSpc>
                <a:spcPct val="130000"/>
              </a:lnSpc>
            </a:pPr>
            <a:r>
              <a:rPr lang="nb-NO" dirty="0" err="1" smtClean="0">
                <a:solidFill>
                  <a:srgbClr val="FFFFFF"/>
                </a:solidFill>
                <a:cs typeface="Helvetica"/>
              </a:rPr>
              <a:t>Instalaci</a:t>
            </a:r>
            <a:r>
              <a:rPr lang="nb-NO" dirty="0" err="1" smtClean="0">
                <a:solidFill>
                  <a:srgbClr val="FFFFFF"/>
                </a:solidFill>
                <a:cs typeface="Helvetica"/>
              </a:rPr>
              <a:t>ón</a:t>
            </a:r>
            <a:r>
              <a:rPr lang="nb-NO" dirty="0" smtClean="0">
                <a:solidFill>
                  <a:srgbClr val="FFFFFF"/>
                </a:solidFill>
                <a:cs typeface="Helvetica"/>
              </a:rPr>
              <a:t>:</a:t>
            </a:r>
            <a:endParaRPr lang="nb-NO" dirty="0">
              <a:solidFill>
                <a:srgbClr val="FFFFFF"/>
              </a:solidFill>
              <a:cs typeface="Helvetica"/>
            </a:endParaRPr>
          </a:p>
          <a:p>
            <a:pPr algn="just">
              <a:lnSpc>
                <a:spcPct val="130000"/>
              </a:lnSpc>
            </a:pPr>
            <a:r>
              <a:rPr lang="nb-NO" dirty="0" err="1" smtClean="0">
                <a:solidFill>
                  <a:schemeClr val="accent5">
                    <a:lumMod val="60000"/>
                    <a:lumOff val="40000"/>
                  </a:schemeClr>
                </a:solidFill>
                <a:cs typeface="Helvetica"/>
              </a:rPr>
              <a:t>npm</a:t>
            </a:r>
            <a:r>
              <a:rPr lang="nb-NO" dirty="0" smtClean="0">
                <a:solidFill>
                  <a:schemeClr val="accent5">
                    <a:lumMod val="60000"/>
                    <a:lumOff val="40000"/>
                  </a:schemeClr>
                </a:solidFill>
                <a:cs typeface="Helvetica"/>
              </a:rPr>
              <a:t> </a:t>
            </a:r>
            <a:r>
              <a:rPr lang="nb-NO" dirty="0" err="1">
                <a:solidFill>
                  <a:schemeClr val="accent5">
                    <a:lumMod val="60000"/>
                    <a:lumOff val="40000"/>
                  </a:schemeClr>
                </a:solidFill>
                <a:cs typeface="Helvetica"/>
              </a:rPr>
              <a:t>install</a:t>
            </a:r>
            <a:r>
              <a:rPr lang="nb-NO" dirty="0">
                <a:solidFill>
                  <a:schemeClr val="accent5">
                    <a:lumMod val="60000"/>
                    <a:lumOff val="40000"/>
                  </a:schemeClr>
                </a:solidFill>
                <a:cs typeface="Helvetica"/>
              </a:rPr>
              <a:t> @polymer/lit-element --save</a:t>
            </a:r>
            <a:endParaRPr lang="es-ES" dirty="0">
              <a:solidFill>
                <a:schemeClr val="accent5">
                  <a:lumMod val="60000"/>
                  <a:lumOff val="40000"/>
                </a:schemeClr>
              </a:solidFill>
            </a:endParaRPr>
          </a:p>
        </p:txBody>
      </p:sp>
    </p:spTree>
    <p:extLst>
      <p:ext uri="{BB962C8B-B14F-4D97-AF65-F5344CB8AC3E}">
        <p14:creationId xmlns:p14="http://schemas.microsoft.com/office/powerpoint/2010/main" val="4012990304"/>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320484" cy="4524314"/>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 &lt;script </a:t>
            </a:r>
            <a:r>
              <a:rPr lang="en-US" sz="1200" dirty="0" err="1"/>
              <a:t>src</a:t>
            </a:r>
            <a:r>
              <a:rPr lang="en-US" sz="1200" dirty="0"/>
              <a:t>="</a:t>
            </a:r>
            <a:r>
              <a:rPr lang="en-US" sz="1200" dirty="0" err="1"/>
              <a:t>node_modules</a:t>
            </a:r>
            <a:r>
              <a:rPr lang="en-US" sz="1200" dirty="0"/>
              <a:t>/@</a:t>
            </a:r>
            <a:r>
              <a:rPr lang="en-US" sz="1200" dirty="0" err="1"/>
              <a:t>webcomponents</a:t>
            </a:r>
            <a:r>
              <a:rPr lang="en-US" sz="1200" dirty="0"/>
              <a:t>/</a:t>
            </a:r>
            <a:r>
              <a:rPr lang="en-US" sz="1200" dirty="0" err="1"/>
              <a:t>webcomponentsjs</a:t>
            </a:r>
            <a:r>
              <a:rPr lang="en-US" sz="1200" dirty="0"/>
              <a:t>/</a:t>
            </a:r>
            <a:r>
              <a:rPr lang="en-US" sz="1200" dirty="0" err="1"/>
              <a:t>webcomponents-bundle.js</a:t>
            </a:r>
            <a:r>
              <a:rPr lang="en-US" sz="1200" dirty="0"/>
              <a:t>"&gt;&lt;/script&gt;</a:t>
            </a:r>
          </a:p>
          <a:p>
            <a:r>
              <a:rPr lang="en-US" sz="1200" dirty="0"/>
              <a:t>  &lt;script type="module"&gt;</a:t>
            </a:r>
          </a:p>
          <a:p>
            <a:r>
              <a:rPr lang="en-US" sz="1200" dirty="0"/>
              <a:t>    import {</a:t>
            </a:r>
            <a:r>
              <a:rPr lang="en-US" sz="1200" dirty="0" err="1"/>
              <a:t>LitElement</a:t>
            </a:r>
            <a:r>
              <a:rPr lang="en-US" sz="1200" dirty="0"/>
              <a:t>, html} from '@polymer/lit-element';</a:t>
            </a:r>
          </a:p>
          <a:p>
            <a:endParaRPr lang="en-US" sz="1200" dirty="0"/>
          </a:p>
          <a:p>
            <a:r>
              <a:rPr lang="en-US" sz="1200" dirty="0"/>
              <a:t>    class </a:t>
            </a:r>
            <a:r>
              <a:rPr lang="en-US" sz="1200" dirty="0" err="1"/>
              <a:t>MyElement</a:t>
            </a:r>
            <a:r>
              <a:rPr lang="en-US" sz="1200" dirty="0"/>
              <a:t> extends </a:t>
            </a:r>
            <a:r>
              <a:rPr lang="en-US" sz="1200" dirty="0" err="1"/>
              <a:t>LitElement</a:t>
            </a:r>
            <a:r>
              <a:rPr lang="en-US" sz="1200" dirty="0"/>
              <a:t> {</a:t>
            </a:r>
          </a:p>
          <a:p>
            <a:endParaRPr lang="en-US" sz="1200" dirty="0"/>
          </a:p>
          <a:p>
            <a:r>
              <a:rPr lang="en-US" sz="1200" dirty="0"/>
              <a:t>      static get properties() {</a:t>
            </a:r>
          </a:p>
          <a:p>
            <a:r>
              <a:rPr lang="en-US" sz="1200" dirty="0"/>
              <a:t>        return {</a:t>
            </a:r>
          </a:p>
          <a:p>
            <a:r>
              <a:rPr lang="en-US" sz="1200" dirty="0"/>
              <a:t>          mood: {type: String}</a:t>
            </a:r>
          </a:p>
          <a:p>
            <a:r>
              <a:rPr lang="en-US" sz="1200" dirty="0"/>
              <a:t>        };</a:t>
            </a:r>
          </a:p>
          <a:p>
            <a:r>
              <a:rPr lang="en-US" sz="1200" dirty="0"/>
              <a:t>      }</a:t>
            </a:r>
          </a:p>
          <a:p>
            <a:r>
              <a:rPr lang="en-US" sz="1200" dirty="0" smtClean="0"/>
              <a:t>      </a:t>
            </a:r>
            <a:r>
              <a:rPr lang="en-US" sz="1200" dirty="0"/>
              <a:t>constructor() {</a:t>
            </a:r>
          </a:p>
          <a:p>
            <a:r>
              <a:rPr lang="en-US" sz="1200" dirty="0"/>
              <a:t>        super();</a:t>
            </a:r>
          </a:p>
          <a:p>
            <a:r>
              <a:rPr lang="en-US" sz="1200" dirty="0"/>
              <a:t>        </a:t>
            </a:r>
            <a:r>
              <a:rPr lang="en-US" sz="1200" dirty="0" err="1"/>
              <a:t>this.mood</a:t>
            </a:r>
            <a:r>
              <a:rPr lang="en-US" sz="1200" dirty="0"/>
              <a:t> = 'happy';</a:t>
            </a:r>
          </a:p>
          <a:p>
            <a:r>
              <a:rPr lang="en-US" sz="1200" dirty="0"/>
              <a:t>      }</a:t>
            </a:r>
          </a:p>
          <a:p>
            <a:r>
              <a:rPr lang="en-US" sz="1200" dirty="0" smtClean="0"/>
              <a:t>      </a:t>
            </a:r>
            <a:r>
              <a:rPr lang="en-US" sz="1200" dirty="0"/>
              <a:t>render() {</a:t>
            </a:r>
          </a:p>
          <a:p>
            <a:r>
              <a:rPr lang="en-US" sz="1200" dirty="0"/>
              <a:t>        return html`&lt;style&gt; .mood { color: green; } &lt;/style&gt;</a:t>
            </a:r>
          </a:p>
          <a:p>
            <a:r>
              <a:rPr lang="en-US" sz="1200" dirty="0"/>
              <a:t>          Web Components are &lt;span class="mood"&gt;${</a:t>
            </a:r>
            <a:r>
              <a:rPr lang="en-US" sz="1200" dirty="0" err="1"/>
              <a:t>this.mood</a:t>
            </a:r>
            <a:r>
              <a:rPr lang="en-US" sz="1200" dirty="0"/>
              <a:t>}&lt;/span&gt;!`;</a:t>
            </a:r>
          </a:p>
          <a:p>
            <a:r>
              <a:rPr lang="en-US" sz="1200" dirty="0"/>
              <a:t>      </a:t>
            </a:r>
            <a:r>
              <a:rPr lang="en-US" sz="1200" dirty="0" smtClean="0"/>
              <a:t>}</a:t>
            </a:r>
            <a:endParaRPr lang="en-US" sz="1200" dirty="0"/>
          </a:p>
          <a:p>
            <a:r>
              <a:rPr lang="en-US" sz="1200" dirty="0"/>
              <a:t>    </a:t>
            </a:r>
            <a:r>
              <a:rPr lang="en-US" sz="1200" dirty="0" smtClean="0"/>
              <a:t>}</a:t>
            </a:r>
            <a:endParaRPr lang="en-US" sz="1200" dirty="0"/>
          </a:p>
          <a:p>
            <a:r>
              <a:rPr lang="en-US" sz="1200" dirty="0"/>
              <a:t>    </a:t>
            </a:r>
            <a:r>
              <a:rPr lang="en-US" sz="1200" dirty="0" err="1"/>
              <a:t>customElements.define</a:t>
            </a:r>
            <a:r>
              <a:rPr lang="en-US" sz="1200" dirty="0"/>
              <a:t>('my-element', </a:t>
            </a:r>
            <a:r>
              <a:rPr lang="en-US" sz="1200" dirty="0" err="1"/>
              <a:t>MyElement</a:t>
            </a:r>
            <a:r>
              <a:rPr lang="en-US" sz="1200" dirty="0"/>
              <a:t>);</a:t>
            </a:r>
          </a:p>
          <a:p>
            <a:r>
              <a:rPr lang="en-US" sz="1200" dirty="0"/>
              <a:t>  &lt;/script</a:t>
            </a:r>
            <a:r>
              <a:rPr lang="en-US" sz="1200" dirty="0" smtClean="0"/>
              <a:t>&gt;</a:t>
            </a:r>
          </a:p>
          <a:p>
            <a:endParaRPr lang="en-US" sz="1200" dirty="0"/>
          </a:p>
          <a:p>
            <a:r>
              <a:rPr lang="en-US" sz="1200" dirty="0"/>
              <a:t>  &lt;my-element mood="happy"&gt;&lt;/my-element&gt;</a:t>
            </a:r>
          </a:p>
        </p:txBody>
      </p:sp>
    </p:spTree>
    <p:extLst>
      <p:ext uri="{BB962C8B-B14F-4D97-AF65-F5344CB8AC3E}">
        <p14:creationId xmlns:p14="http://schemas.microsoft.com/office/powerpoint/2010/main" val="340287143"/>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Instalaci</a:t>
            </a:r>
            <a:r>
              <a:rPr lang="es-ES" sz="2000" dirty="0" smtClean="0">
                <a:solidFill>
                  <a:srgbClr val="FFFFFF"/>
                </a:solidFill>
                <a:latin typeface="Helvetica"/>
                <a:ea typeface="Lucida Grande"/>
                <a:cs typeface="Helvetica"/>
              </a:rPr>
              <a:t>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Instalaci</a:t>
            </a:r>
            <a:r>
              <a:rPr lang="es-ES_tradnl" sz="2200" u="sng" dirty="0" smtClean="0">
                <a:latin typeface="Arial Black"/>
                <a:cs typeface="Arial Black"/>
              </a:rPr>
              <a:t>ó</a:t>
            </a:r>
            <a:r>
              <a:rPr lang="es-ES_tradnl" sz="2200" u="sng" dirty="0" smtClean="0">
                <a:latin typeface="Arial Black"/>
                <a:cs typeface="Arial Black"/>
              </a:rPr>
              <a:t>n </a:t>
            </a:r>
            <a:r>
              <a:rPr lang="es-ES_tradnl" sz="2200" u="sng" dirty="0" err="1" smtClean="0">
                <a:latin typeface="Arial Black"/>
                <a:cs typeface="Arial Black"/>
              </a:rPr>
              <a:t>Polymer</a:t>
            </a:r>
            <a:r>
              <a:rPr lang="es-ES_tradnl" sz="2200" u="sng" dirty="0" smtClean="0">
                <a:latin typeface="Arial Black"/>
                <a:cs typeface="Arial Black"/>
              </a:rPr>
              <a:t> 3.0</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Requisitos</a:t>
            </a:r>
            <a:r>
              <a:rPr lang="nb-NO" dirty="0" smtClean="0">
                <a:solidFill>
                  <a:srgbClr val="FFFFFF"/>
                </a:solidFill>
                <a:latin typeface="Helvetica"/>
                <a:cs typeface="Helvetica"/>
              </a:rPr>
              <a:t> </a:t>
            </a:r>
            <a:r>
              <a:rPr lang="nb-NO" dirty="0" err="1" smtClean="0">
                <a:solidFill>
                  <a:srgbClr val="FFFFFF"/>
                </a:solidFill>
                <a:latin typeface="Helvetica"/>
                <a:cs typeface="Helvetica"/>
              </a:rPr>
              <a:t>Previos</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err="1" smtClean="0">
                <a:solidFill>
                  <a:srgbClr val="FFFFFF"/>
                </a:solidFill>
                <a:latin typeface="Helvetica"/>
                <a:cs typeface="Helvetica"/>
              </a:rPr>
              <a:t>Install</a:t>
            </a:r>
            <a:r>
              <a:rPr lang="nb-NO" dirty="0" smtClean="0">
                <a:solidFill>
                  <a:srgbClr val="FFFFFF"/>
                </a:solidFill>
                <a:latin typeface="Helvetica"/>
                <a:cs typeface="Helvetica"/>
              </a:rPr>
              <a:t> </a:t>
            </a:r>
            <a:r>
              <a:rPr lang="nb-NO" dirty="0" err="1">
                <a:solidFill>
                  <a:srgbClr val="FFFFFF"/>
                </a:solidFill>
                <a:latin typeface="Helvetica"/>
                <a:cs typeface="Helvetica"/>
              </a:rPr>
              <a:t>Git</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a:t>
            </a:r>
            <a:r>
              <a:rPr lang="nb-NO" dirty="0" err="1">
                <a:solidFill>
                  <a:srgbClr val="FFFFFF"/>
                </a:solidFill>
                <a:latin typeface="Helvetica"/>
                <a:cs typeface="Helvetica"/>
              </a:rPr>
              <a:t>npm</a:t>
            </a:r>
            <a:r>
              <a:rPr lang="nb-NO" dirty="0">
                <a:solidFill>
                  <a:srgbClr val="FFFFFF"/>
                </a:solidFill>
                <a:latin typeface="Helvetica"/>
                <a:cs typeface="Helvetica"/>
              </a:rPr>
              <a:t> and </a:t>
            </a:r>
            <a:r>
              <a:rPr lang="nb-NO" dirty="0" err="1">
                <a:solidFill>
                  <a:srgbClr val="FFFFFF"/>
                </a:solidFill>
                <a:latin typeface="Helvetica"/>
                <a:cs typeface="Helvetica"/>
              </a:rPr>
              <a:t>Node.js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Polymer CLI.</a:t>
            </a:r>
            <a:r>
              <a:rPr lang="es-ES" dirty="0" smtClean="0"/>
              <a:t>	</a:t>
            </a: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r>
              <a:rPr lang="es-ES" dirty="0" smtClean="0"/>
              <a:t>Mas </a:t>
            </a:r>
            <a:r>
              <a:rPr lang="es-ES" dirty="0" err="1" smtClean="0"/>
              <a:t>info</a:t>
            </a:r>
            <a:r>
              <a:rPr lang="es-ES" dirty="0"/>
              <a:t>: </a:t>
            </a:r>
            <a:r>
              <a:rPr lang="es-ES" dirty="0">
                <a:hlinkClick r:id="rId5"/>
              </a:rPr>
              <a:t>https://www.polymer-project.org/3.0/start/install-3-</a:t>
            </a:r>
            <a:r>
              <a:rPr lang="es-ES" dirty="0" smtClean="0">
                <a:hlinkClick r:id="rId5"/>
              </a:rPr>
              <a:t>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r>
              <a:rPr lang="es-ES" dirty="0" err="1"/>
              <a:t>Installing</a:t>
            </a:r>
            <a:r>
              <a:rPr lang="es-ES" dirty="0"/>
              <a:t> </a:t>
            </a:r>
            <a:r>
              <a:rPr lang="es-ES" dirty="0" err="1"/>
              <a:t>Polymer</a:t>
            </a:r>
            <a:r>
              <a:rPr lang="es-ES" dirty="0"/>
              <a:t> CLI pre-</a:t>
            </a:r>
            <a:r>
              <a:rPr lang="es-ES" dirty="0" err="1"/>
              <a:t>requisites</a:t>
            </a:r>
            <a:r>
              <a:rPr lang="es-ES" dirty="0"/>
              <a:t> </a:t>
            </a:r>
            <a:r>
              <a:rPr lang="es-ES" dirty="0" err="1"/>
              <a:t>on</a:t>
            </a:r>
            <a:r>
              <a:rPr lang="es-ES" dirty="0"/>
              <a:t> Windows </a:t>
            </a:r>
            <a:r>
              <a:rPr lang="es-ES" dirty="0" smtClean="0"/>
              <a:t>10:</a:t>
            </a:r>
          </a:p>
          <a:p>
            <a:pPr marL="285750" indent="-285750" algn="just">
              <a:lnSpc>
                <a:spcPct val="130000"/>
              </a:lnSpc>
              <a:buFont typeface="Arial"/>
              <a:buChar char="•"/>
            </a:pPr>
            <a:r>
              <a:rPr lang="es-ES" dirty="0">
                <a:hlinkClick r:id="rId6"/>
              </a:rPr>
              <a:t>https://www.polymer-project.org/2.0/docs/tools/polymer-cli#windows-</a:t>
            </a:r>
            <a:r>
              <a:rPr lang="es-ES" dirty="0" smtClean="0">
                <a:hlinkClick r:id="rId6"/>
              </a:rPr>
              <a:t>10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endParaRPr lang="es-ES" dirty="0"/>
          </a:p>
        </p:txBody>
      </p:sp>
    </p:spTree>
    <p:extLst>
      <p:ext uri="{BB962C8B-B14F-4D97-AF65-F5344CB8AC3E}">
        <p14:creationId xmlns:p14="http://schemas.microsoft.com/office/powerpoint/2010/main" val="425111914"/>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CLI</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a:solidFill>
                  <a:srgbClr val="FFFFFF"/>
                </a:solidFill>
                <a:latin typeface="Helvetica"/>
                <a:cs typeface="Helvetica"/>
              </a:rPr>
              <a:t>Polymer CLI es </a:t>
            </a:r>
            <a:r>
              <a:rPr lang="nb-NO" dirty="0" err="1">
                <a:solidFill>
                  <a:srgbClr val="FFFFFF"/>
                </a:solidFill>
                <a:latin typeface="Helvetica"/>
                <a:cs typeface="Helvetica"/>
              </a:rPr>
              <a:t>una</a:t>
            </a:r>
            <a:r>
              <a:rPr lang="nb-NO" dirty="0">
                <a:solidFill>
                  <a:srgbClr val="FFFFFF"/>
                </a:solidFill>
                <a:latin typeface="Helvetica"/>
                <a:cs typeface="Helvetica"/>
              </a:rPr>
              <a:t> serie de </a:t>
            </a:r>
            <a:r>
              <a:rPr lang="nb-NO" dirty="0" err="1" smtClean="0">
                <a:solidFill>
                  <a:srgbClr val="FFFFFF"/>
                </a:solidFill>
                <a:latin typeface="Helvetica"/>
                <a:cs typeface="Helvetica"/>
              </a:rPr>
              <a:t>herramientas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l</a:t>
            </a:r>
            <a:r>
              <a:rPr lang="nb-NO" dirty="0" err="1" smtClean="0">
                <a:solidFill>
                  <a:srgbClr val="FFFFFF"/>
                </a:solidFill>
                <a:latin typeface="Helvetica"/>
                <a:cs typeface="Helvetica"/>
              </a:rPr>
              <a:t>í</a:t>
            </a:r>
            <a:r>
              <a:rPr lang="nb-NO" dirty="0" err="1" smtClean="0">
                <a:solidFill>
                  <a:srgbClr val="FFFFFF"/>
                </a:solidFill>
                <a:latin typeface="Helvetica"/>
                <a:cs typeface="Helvetica"/>
              </a:rPr>
              <a:t>nea</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comandos</a:t>
            </a:r>
            <a:r>
              <a:rPr lang="nb-NO" dirty="0" smtClean="0">
                <a:solidFill>
                  <a:srgbClr val="FFFFFF"/>
                </a:solidFill>
                <a:latin typeface="Helvetica"/>
                <a:cs typeface="Helvetica"/>
              </a:rPr>
              <a:t> </a:t>
            </a:r>
            <a:r>
              <a:rPr lang="nb-NO" dirty="0">
                <a:solidFill>
                  <a:srgbClr val="FFFFFF"/>
                </a:solidFill>
                <a:latin typeface="Helvetica"/>
                <a:cs typeface="Helvetica"/>
              </a:rPr>
              <a:t>ideal para </a:t>
            </a:r>
            <a:r>
              <a:rPr lang="nb-NO" dirty="0" err="1">
                <a:solidFill>
                  <a:srgbClr val="FFFFFF"/>
                </a:solidFill>
                <a:latin typeface="Helvetica"/>
                <a:cs typeface="Helvetica"/>
              </a:rPr>
              <a:t>comenzar</a:t>
            </a:r>
            <a:r>
              <a:rPr lang="nb-NO" dirty="0">
                <a:solidFill>
                  <a:srgbClr val="FFFFFF"/>
                </a:solidFill>
                <a:latin typeface="Helvetica"/>
                <a:cs typeface="Helvetica"/>
              </a:rPr>
              <a:t> y </a:t>
            </a:r>
            <a:r>
              <a:rPr lang="nb-NO" dirty="0" err="1">
                <a:solidFill>
                  <a:srgbClr val="FFFFFF"/>
                </a:solidFill>
                <a:latin typeface="Helvetica"/>
                <a:cs typeface="Helvetica"/>
              </a:rPr>
              <a:t>acelerar</a:t>
            </a:r>
            <a:r>
              <a:rPr lang="nb-NO" dirty="0">
                <a:solidFill>
                  <a:srgbClr val="FFFFFF"/>
                </a:solidFill>
                <a:latin typeface="Helvetica"/>
                <a:cs typeface="Helvetica"/>
              </a:rPr>
              <a:t> </a:t>
            </a:r>
            <a:r>
              <a:rPr lang="nb-NO" dirty="0" err="1">
                <a:solidFill>
                  <a:srgbClr val="FFFFFF"/>
                </a:solidFill>
                <a:latin typeface="Helvetica"/>
                <a:cs typeface="Helvetica"/>
              </a:rPr>
              <a:t>cualquier</a:t>
            </a:r>
            <a:r>
              <a:rPr lang="nb-NO" dirty="0">
                <a:solidFill>
                  <a:srgbClr val="FFFFFF"/>
                </a:solidFill>
                <a:latin typeface="Helvetica"/>
                <a:cs typeface="Helvetica"/>
              </a:rPr>
              <a:t> </a:t>
            </a:r>
            <a:r>
              <a:rPr lang="nb-NO" dirty="0" err="1">
                <a:solidFill>
                  <a:srgbClr val="FFFFFF"/>
                </a:solidFill>
                <a:latin typeface="Helvetica"/>
                <a:cs typeface="Helvetica"/>
              </a:rPr>
              <a:t>tipo</a:t>
            </a:r>
            <a:r>
              <a:rPr lang="nb-NO" dirty="0">
                <a:solidFill>
                  <a:srgbClr val="FFFFFF"/>
                </a:solidFill>
                <a:latin typeface="Helvetica"/>
                <a:cs typeface="Helvetica"/>
              </a:rPr>
              <a:t> de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realizado</a:t>
            </a:r>
            <a:r>
              <a:rPr lang="nb-NO" dirty="0">
                <a:solidFill>
                  <a:srgbClr val="FFFFFF"/>
                </a:solidFill>
                <a:latin typeface="Helvetica"/>
                <a:cs typeface="Helvetica"/>
              </a:rPr>
              <a:t> con la </a:t>
            </a:r>
            <a:r>
              <a:rPr lang="nb-NO" dirty="0" err="1">
                <a:solidFill>
                  <a:srgbClr val="FFFFFF"/>
                </a:solidFill>
                <a:latin typeface="Helvetica"/>
                <a:cs typeface="Helvetica"/>
              </a:rPr>
              <a:t>librería</a:t>
            </a:r>
            <a:r>
              <a:rPr lang="nb-NO" dirty="0">
                <a:solidFill>
                  <a:srgbClr val="FFFFFF"/>
                </a:solidFill>
                <a:latin typeface="Helvetica"/>
                <a:cs typeface="Helvetica"/>
              </a:rPr>
              <a:t> Polymer.</a:t>
            </a:r>
            <a:r>
              <a:rPr lang="nb-NO" dirty="0" smtClean="0">
                <a:solidFill>
                  <a:srgbClr val="FFFFFF"/>
                </a:solidFill>
                <a:latin typeface="Helvetica"/>
                <a:cs typeface="Helvetica"/>
              </a:rPr>
              <a:t>	</a:t>
            </a:r>
          </a:p>
          <a:p>
            <a:pPr algn="just">
              <a:lnSpc>
                <a:spcPct val="130000"/>
              </a:lnSpc>
            </a:pPr>
            <a:endParaRPr lang="nb-NO" dirty="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Instalaci</a:t>
            </a:r>
            <a:r>
              <a:rPr lang="nb-NO" dirty="0" err="1" smtClean="0">
                <a:solidFill>
                  <a:srgbClr val="FFFFFF"/>
                </a:solidFill>
                <a:latin typeface="Helvetica"/>
                <a:cs typeface="Helvetica"/>
              </a:rPr>
              <a:t>ón</a:t>
            </a:r>
            <a:r>
              <a:rPr lang="nb-NO" dirty="0">
                <a:solidFill>
                  <a:srgbClr val="FFFFFF"/>
                </a:solidFill>
                <a:latin typeface="Helvetica"/>
                <a:cs typeface="Helvetica"/>
              </a:rPr>
              <a:t>:</a:t>
            </a:r>
            <a:endParaRPr lang="nb-NO" dirty="0">
              <a:solidFill>
                <a:schemeClr val="accent1">
                  <a:lumMod val="75000"/>
                </a:schemeClr>
              </a:solidFill>
              <a:latin typeface="Helvetica"/>
              <a:cs typeface="Helvetica"/>
            </a:endParaRPr>
          </a:p>
          <a:p>
            <a:pPr algn="just">
              <a:lnSpc>
                <a:spcPct val="130000"/>
              </a:lnSpc>
            </a:pPr>
            <a:r>
              <a:rPr lang="nb-NO" dirty="0">
                <a:solidFill>
                  <a:schemeClr val="accent1">
                    <a:lumMod val="75000"/>
                  </a:schemeClr>
                </a:solidFill>
                <a:latin typeface="Helvetica"/>
                <a:cs typeface="Helvetica"/>
              </a:rPr>
              <a:t> </a:t>
            </a:r>
            <a:r>
              <a:rPr lang="nb-NO" dirty="0" smtClean="0">
                <a:solidFill>
                  <a:schemeClr val="accent1">
                    <a:lumMod val="75000"/>
                  </a:schemeClr>
                </a:solidFill>
                <a:latin typeface="Helvetica"/>
                <a:cs typeface="Helvetica"/>
              </a:rPr>
              <a:t>  </a:t>
            </a:r>
            <a:r>
              <a:rPr lang="nb-NO" dirty="0" err="1">
                <a:solidFill>
                  <a:schemeClr val="accent5">
                    <a:lumMod val="60000"/>
                    <a:lumOff val="40000"/>
                  </a:schemeClr>
                </a:solidFill>
                <a:latin typeface="Helvetica"/>
                <a:cs typeface="Helvetica"/>
              </a:rPr>
              <a:t>npm</a:t>
            </a:r>
            <a:r>
              <a:rPr lang="nb-NO" dirty="0">
                <a:solidFill>
                  <a:schemeClr val="accent5">
                    <a:lumMod val="60000"/>
                    <a:lumOff val="40000"/>
                  </a:schemeClr>
                </a:solidFill>
                <a:latin typeface="Helvetica"/>
                <a:cs typeface="Helvetica"/>
              </a:rPr>
              <a:t> </a:t>
            </a:r>
            <a:r>
              <a:rPr lang="nb-NO" dirty="0" err="1">
                <a:solidFill>
                  <a:schemeClr val="accent5">
                    <a:lumMod val="60000"/>
                    <a:lumOff val="40000"/>
                  </a:schemeClr>
                </a:solidFill>
                <a:latin typeface="Helvetica"/>
                <a:cs typeface="Helvetica"/>
              </a:rPr>
              <a:t>install</a:t>
            </a:r>
            <a:r>
              <a:rPr lang="nb-NO" dirty="0">
                <a:solidFill>
                  <a:schemeClr val="accent5">
                    <a:lumMod val="60000"/>
                    <a:lumOff val="40000"/>
                  </a:schemeClr>
                </a:solidFill>
                <a:latin typeface="Helvetica"/>
                <a:cs typeface="Helvetica"/>
              </a:rPr>
              <a:t> -g polymer-</a:t>
            </a:r>
            <a:r>
              <a:rPr lang="nb-NO" dirty="0" smtClean="0">
                <a:solidFill>
                  <a:schemeClr val="accent5">
                    <a:lumMod val="60000"/>
                    <a:lumOff val="40000"/>
                  </a:schemeClr>
                </a:solidFill>
                <a:latin typeface="Helvetica"/>
                <a:cs typeface="Helvetica"/>
              </a:rPr>
              <a:t>cli</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Podemos</a:t>
            </a:r>
            <a:r>
              <a:rPr lang="nb-NO" dirty="0" smtClean="0">
                <a:solidFill>
                  <a:srgbClr val="FFFFFF"/>
                </a:solidFill>
                <a:latin typeface="Helvetica"/>
                <a:cs typeface="Helvetica"/>
              </a:rPr>
              <a:t> </a:t>
            </a:r>
            <a:r>
              <a:rPr lang="nb-NO" dirty="0" err="1" smtClean="0">
                <a:solidFill>
                  <a:srgbClr val="FFFFFF"/>
                </a:solidFill>
                <a:latin typeface="Helvetica"/>
                <a:cs typeface="Helvetica"/>
              </a:rPr>
              <a:t>ver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lista de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comando</a:t>
            </a:r>
            <a:r>
              <a:rPr lang="nb-NO" dirty="0" smtClean="0">
                <a:solidFill>
                  <a:srgbClr val="FFFFFF"/>
                </a:solidFill>
                <a:latin typeface="Helvetica"/>
                <a:cs typeface="Helvetica"/>
              </a:rPr>
              <a:t>:</a:t>
            </a:r>
          </a:p>
          <a:p>
            <a:pPr algn="just">
              <a:lnSpc>
                <a:spcPct val="130000"/>
              </a:lnSpc>
            </a:pPr>
            <a:r>
              <a:rPr lang="nb-NO" dirty="0" smtClean="0">
                <a:solidFill>
                  <a:schemeClr val="accent5">
                    <a:lumMod val="60000"/>
                    <a:lumOff val="40000"/>
                  </a:schemeClr>
                </a:solidFill>
                <a:latin typeface="Helvetica"/>
                <a:cs typeface="Helvetica"/>
              </a:rPr>
              <a:t>   polymer </a:t>
            </a:r>
            <a:r>
              <a:rPr lang="nb-NO" dirty="0" err="1">
                <a:solidFill>
                  <a:schemeClr val="accent5">
                    <a:lumMod val="60000"/>
                    <a:lumOff val="40000"/>
                  </a:schemeClr>
                </a:solidFill>
                <a:latin typeface="Helvetica"/>
                <a:cs typeface="Helvetica"/>
              </a:rPr>
              <a:t>help</a:t>
            </a:r>
            <a:endParaRPr lang="nb-NO" dirty="0">
              <a:solidFill>
                <a:schemeClr val="accent5">
                  <a:lumMod val="60000"/>
                  <a:lumOff val="40000"/>
                </a:schemeClr>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531624608"/>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Lista de comandos</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build</a:t>
            </a:r>
            <a:r>
              <a:rPr lang="nb-NO" dirty="0">
                <a:solidFill>
                  <a:srgbClr val="94D66C"/>
                </a:solidFill>
                <a:latin typeface="Helvetica"/>
                <a:cs typeface="Helvetica"/>
              </a:rPr>
              <a:t> (for </a:t>
            </a:r>
            <a:r>
              <a:rPr lang="nb-NO" dirty="0" err="1">
                <a:solidFill>
                  <a:srgbClr val="94D66C"/>
                </a:solidFill>
                <a:latin typeface="Helvetica"/>
                <a:cs typeface="Helvetica"/>
              </a:rPr>
              <a:t>app</a:t>
            </a:r>
            <a:r>
              <a:rPr lang="nb-NO" dirty="0">
                <a:solidFill>
                  <a:srgbClr val="94D66C"/>
                </a:solidFill>
                <a:latin typeface="Helvetica"/>
                <a:cs typeface="Helvetica"/>
              </a:rPr>
              <a:t> </a:t>
            </a:r>
            <a:r>
              <a:rPr lang="nb-NO" dirty="0" err="1">
                <a:solidFill>
                  <a:srgbClr val="94D66C"/>
                </a:solidFill>
                <a:latin typeface="Helvetica"/>
                <a:cs typeface="Helvetica"/>
              </a:rPr>
              <a:t>projects</a:t>
            </a:r>
            <a:r>
              <a:rPr lang="nb-NO" dirty="0">
                <a:solidFill>
                  <a:srgbClr val="94D66C"/>
                </a:solidFill>
                <a:latin typeface="Helvetica"/>
                <a:cs typeface="Helvetica"/>
              </a:rPr>
              <a:t> </a:t>
            </a:r>
            <a:r>
              <a:rPr lang="nb-NO" dirty="0" err="1">
                <a:solidFill>
                  <a:srgbClr val="94D66C"/>
                </a:solidFill>
                <a:latin typeface="Helvetica"/>
                <a:cs typeface="Helvetica"/>
              </a:rPr>
              <a:t>only</a:t>
            </a:r>
            <a:r>
              <a:rPr lang="nb-NO" dirty="0">
                <a:solidFill>
                  <a:srgbClr val="94D66C"/>
                </a:solidFill>
                <a:latin typeface="Helvetica"/>
                <a:cs typeface="Helvetica"/>
              </a:rPr>
              <a:t>)</a:t>
            </a: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init</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install</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lint</a:t>
            </a:r>
          </a:p>
          <a:p>
            <a:pPr marL="285750" indent="-285750" algn="just">
              <a:lnSpc>
                <a:spcPct val="130000"/>
              </a:lnSpc>
              <a:buFont typeface="Arial"/>
              <a:buChar char="•"/>
            </a:pPr>
            <a:r>
              <a:rPr lang="nb-NO" dirty="0">
                <a:solidFill>
                  <a:srgbClr val="94D66C"/>
                </a:solidFill>
                <a:latin typeface="Helvetica"/>
                <a:cs typeface="Helvetica"/>
              </a:rPr>
              <a:t>polymer serve</a:t>
            </a:r>
          </a:p>
          <a:p>
            <a:pPr marL="285750" indent="-285750" algn="just">
              <a:lnSpc>
                <a:spcPct val="130000"/>
              </a:lnSpc>
              <a:buFont typeface="Arial"/>
              <a:buChar char="•"/>
            </a:pPr>
            <a:r>
              <a:rPr lang="nb-NO" dirty="0">
                <a:solidFill>
                  <a:srgbClr val="94D66C"/>
                </a:solidFill>
                <a:latin typeface="Helvetica"/>
                <a:cs typeface="Helvetica"/>
              </a:rPr>
              <a:t>polymer test</a:t>
            </a:r>
            <a:endParaRPr lang="nb-NO" dirty="0" smtClean="0">
              <a:solidFill>
                <a:srgbClr val="94D66C"/>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a:t>
            </a:r>
            <a:r>
              <a:rPr lang="nb-NO" dirty="0" smtClean="0">
                <a:solidFill>
                  <a:srgbClr val="FFFFFF"/>
                </a:solidFill>
                <a:latin typeface="Helvetica"/>
                <a:cs typeface="Helvetica"/>
                <a:hlinkClick r:id="rId5"/>
              </a:rPr>
              <a:t>commands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2167134349"/>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a:solidFill>
                  <a:srgbClr val="94D66C"/>
                </a:solidFill>
                <a:latin typeface="Arial Black"/>
                <a:cs typeface="Arial Black"/>
              </a:rPr>
              <a:t>i</a:t>
            </a:r>
            <a:r>
              <a:rPr lang="es-ES_tradnl" sz="2200" u="sng" dirty="0" err="1" smtClean="0">
                <a:solidFill>
                  <a:srgbClr val="94D66C"/>
                </a:solidFill>
                <a:latin typeface="Arial Black"/>
                <a:cs typeface="Arial Black"/>
              </a:rPr>
              <a:t>nit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479963"/>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Mediante</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podemos</a:t>
            </a:r>
            <a:r>
              <a:rPr lang="nb-NO" dirty="0">
                <a:solidFill>
                  <a:srgbClr val="FFFFFF"/>
                </a:solidFill>
                <a:latin typeface="Helvetica"/>
                <a:cs typeface="Helvetica"/>
              </a:rPr>
              <a:t> </a:t>
            </a:r>
            <a:r>
              <a:rPr lang="nb-NO" dirty="0" err="1">
                <a:solidFill>
                  <a:srgbClr val="FFFFFF"/>
                </a:solidFill>
                <a:latin typeface="Helvetica"/>
                <a:cs typeface="Helvetica"/>
              </a:rPr>
              <a:t>crear</a:t>
            </a:r>
            <a:r>
              <a:rPr lang="nb-NO" dirty="0">
                <a:solidFill>
                  <a:srgbClr val="FFFFFF"/>
                </a:solidFill>
                <a:latin typeface="Helvetica"/>
                <a:cs typeface="Helvetica"/>
              </a:rPr>
              <a:t> la </a:t>
            </a:r>
            <a:r>
              <a:rPr lang="nb-NO" dirty="0" err="1">
                <a:solidFill>
                  <a:srgbClr val="FFFFFF"/>
                </a:solidFill>
                <a:latin typeface="Helvetica"/>
                <a:cs typeface="Helvetica"/>
              </a:rPr>
              <a:t>plantilla</a:t>
            </a:r>
            <a:r>
              <a:rPr lang="nb-NO" dirty="0">
                <a:solidFill>
                  <a:srgbClr val="FFFFFF"/>
                </a:solidFill>
                <a:latin typeface="Helvetica"/>
                <a:cs typeface="Helvetica"/>
              </a:rPr>
              <a:t> o </a:t>
            </a:r>
            <a:r>
              <a:rPr lang="nb-NO" dirty="0" err="1">
                <a:solidFill>
                  <a:srgbClr val="FFFFFF"/>
                </a:solidFill>
                <a:latin typeface="Helvetica"/>
                <a:cs typeface="Helvetica"/>
              </a:rPr>
              <a:t>scafolder</a:t>
            </a:r>
            <a:r>
              <a:rPr lang="nb-NO" dirty="0">
                <a:solidFill>
                  <a:srgbClr val="FFFFFF"/>
                </a:solidFill>
                <a:latin typeface="Helvetica"/>
                <a:cs typeface="Helvetica"/>
              </a:rPr>
              <a:t> de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polimer</a:t>
            </a:r>
            <a:r>
              <a:rPr lang="nb-NO" dirty="0">
                <a:solidFill>
                  <a:srgbClr val="FFFFFF"/>
                </a:solidFill>
                <a:latin typeface="Helvetica"/>
                <a:cs typeface="Helvetica"/>
              </a:rPr>
              <a:t> de las </a:t>
            </a:r>
            <a:r>
              <a:rPr lang="nb-NO" dirty="0" err="1">
                <a:solidFill>
                  <a:srgbClr val="FFFFFF"/>
                </a:solidFill>
                <a:latin typeface="Helvetica"/>
                <a:cs typeface="Helvetica"/>
              </a:rPr>
              <a:t>siguientes</a:t>
            </a:r>
            <a:r>
              <a:rPr lang="nb-NO" dirty="0">
                <a:solidFill>
                  <a:srgbClr val="FFFFFF"/>
                </a:solidFill>
                <a:latin typeface="Helvetica"/>
                <a:cs typeface="Helvetica"/>
              </a:rPr>
              <a:t> </a:t>
            </a:r>
            <a:r>
              <a:rPr lang="nb-NO" dirty="0" err="1">
                <a:solidFill>
                  <a:srgbClr val="FFFFFF"/>
                </a:solidFill>
                <a:latin typeface="Helvetica"/>
                <a:cs typeface="Helvetica"/>
              </a:rPr>
              <a:t>tipologias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a:t>
            </a:r>
            <a:r>
              <a:rPr lang="nb-NO" dirty="0" err="1">
                <a:solidFill>
                  <a:srgbClr val="FFFFFF"/>
                </a:solidFill>
                <a:latin typeface="Helvetica"/>
                <a:cs typeface="Helvetica"/>
              </a:rPr>
              <a:t>elemento</a:t>
            </a:r>
            <a:r>
              <a:rPr lang="nb-NO" dirty="0">
                <a:solidFill>
                  <a:srgbClr val="FFFFFF"/>
                </a:solidFill>
                <a:latin typeface="Helvetica"/>
                <a:cs typeface="Helvetica"/>
              </a:rPr>
              <a:t> </a:t>
            </a:r>
            <a:r>
              <a:rPr lang="nb-NO" dirty="0" err="1">
                <a:solidFill>
                  <a:srgbClr val="FFFFFF"/>
                </a:solidFill>
                <a:latin typeface="Helvetica"/>
                <a:cs typeface="Helvetica"/>
              </a:rPr>
              <a:t>individual</a:t>
            </a:r>
            <a:r>
              <a:rPr lang="nb-NO" dirty="0">
                <a:solidFill>
                  <a:srgbClr val="FFFFFF"/>
                </a:solidFill>
                <a:latin typeface="Helvetica"/>
                <a:cs typeface="Helvetica"/>
              </a:rPr>
              <a:t> </a:t>
            </a:r>
            <a:r>
              <a:rPr lang="nb-NO" u="sng" dirty="0">
                <a:solidFill>
                  <a:srgbClr val="FFFFFF"/>
                </a:solidFill>
                <a:latin typeface="Helvetica"/>
                <a:cs typeface="Helvetica"/>
              </a:rPr>
              <a:t>(DEMO)</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pagina web </a:t>
            </a:r>
            <a:r>
              <a:rPr lang="nb-NO" dirty="0" err="1">
                <a:solidFill>
                  <a:srgbClr val="FFFFFF"/>
                </a:solidFill>
                <a:latin typeface="Helvetica"/>
                <a:cs typeface="Helvetica"/>
              </a:rPr>
              <a:t>compuesta</a:t>
            </a:r>
            <a:r>
              <a:rPr lang="nb-NO" dirty="0">
                <a:solidFill>
                  <a:srgbClr val="FFFFFF"/>
                </a:solidFill>
                <a:latin typeface="Helvetica"/>
                <a:cs typeface="Helvetica"/>
              </a:rPr>
              <a:t> de </a:t>
            </a:r>
            <a:r>
              <a:rPr lang="nb-NO" dirty="0" err="1">
                <a:solidFill>
                  <a:srgbClr val="FFFFFF"/>
                </a:solidFill>
                <a:latin typeface="Helvetica"/>
                <a:cs typeface="Helvetica"/>
              </a:rPr>
              <a:t>elementos</a:t>
            </a:r>
            <a:r>
              <a:rPr lang="nb-NO" dirty="0">
                <a:solidFill>
                  <a:srgbClr val="FFFFFF"/>
                </a:solidFill>
                <a:latin typeface="Helvetica"/>
                <a:cs typeface="Helvetica"/>
              </a:rPr>
              <a:t> </a:t>
            </a:r>
            <a:r>
              <a:rPr lang="nb-NO" u="sng" dirty="0">
                <a:solidFill>
                  <a:srgbClr val="FFFFFF"/>
                </a:solidFill>
                <a:latin typeface="Helvetica"/>
                <a:cs typeface="Helvetica"/>
              </a:rPr>
              <a:t>(DEMO).</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base (starter </a:t>
            </a:r>
            <a:r>
              <a:rPr lang="nb-NO" dirty="0" err="1">
                <a:solidFill>
                  <a:srgbClr val="FFFFFF"/>
                </a:solidFill>
                <a:latin typeface="Helvetica"/>
                <a:cs typeface="Helvetica"/>
              </a:rPr>
              <a:t>kit</a:t>
            </a:r>
            <a:r>
              <a:rPr lang="nb-NO" dirty="0">
                <a:solidFill>
                  <a:srgbClr val="FFFFFF"/>
                </a:solidFill>
                <a:latin typeface="Helvetica"/>
                <a:cs typeface="Helvetica"/>
              </a:rPr>
              <a:t>) </a:t>
            </a:r>
            <a:r>
              <a:rPr lang="nb-NO" dirty="0" err="1">
                <a:solidFill>
                  <a:srgbClr val="FFFFFF"/>
                </a:solidFill>
                <a:latin typeface="Helvetica"/>
                <a:cs typeface="Helvetica"/>
              </a:rPr>
              <a:t>basado</a:t>
            </a:r>
            <a:r>
              <a:rPr lang="nb-NO" dirty="0">
                <a:solidFill>
                  <a:srgbClr val="FFFFFF"/>
                </a:solidFill>
                <a:latin typeface="Helvetica"/>
                <a:cs typeface="Helvetica"/>
              </a:rPr>
              <a:t> en el uso de </a:t>
            </a:r>
            <a:r>
              <a:rPr lang="nb-NO" dirty="0" err="1">
                <a:solidFill>
                  <a:srgbClr val="FFFFFF"/>
                </a:solidFill>
                <a:latin typeface="Helvetica"/>
                <a:cs typeface="Helvetica"/>
              </a:rPr>
              <a:t>app</a:t>
            </a:r>
            <a:r>
              <a:rPr lang="nb-NO" dirty="0">
                <a:solidFill>
                  <a:srgbClr val="FFFFFF"/>
                </a:solidFill>
                <a:latin typeface="Helvetica"/>
                <a:cs typeface="Helvetica"/>
              </a:rPr>
              <a:t>-</a:t>
            </a:r>
            <a:r>
              <a:rPr lang="nb-NO" dirty="0" smtClean="0">
                <a:solidFill>
                  <a:srgbClr val="FFFFFF"/>
                </a:solidFill>
                <a:latin typeface="Helvetica"/>
                <a:cs typeface="Helvetica"/>
              </a:rPr>
              <a:t>layout (</a:t>
            </a:r>
            <a:r>
              <a:rPr lang="nb-NO" u="sng" dirty="0" smtClean="0">
                <a:solidFill>
                  <a:srgbClr val="FFFFFF"/>
                </a:solidFill>
                <a:latin typeface="Helvetica"/>
                <a:cs typeface="Helvetica"/>
              </a:rPr>
              <a:t>DEMO</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a:t>
            </a:r>
            <a:r>
              <a:rPr lang="nb-NO" dirty="0" err="1">
                <a:solidFill>
                  <a:srgbClr val="FFFFFF"/>
                </a:solidFill>
                <a:latin typeface="Helvetica"/>
                <a:cs typeface="Helvetica"/>
              </a:rPr>
              <a:t>comenzará</a:t>
            </a:r>
            <a:r>
              <a:rPr lang="nb-NO" dirty="0">
                <a:solidFill>
                  <a:srgbClr val="FFFFFF"/>
                </a:solidFill>
                <a:latin typeface="Helvetica"/>
                <a:cs typeface="Helvetica"/>
              </a:rPr>
              <a:t> </a:t>
            </a:r>
            <a:r>
              <a:rPr lang="nb-NO" dirty="0" err="1">
                <a:solidFill>
                  <a:srgbClr val="FFFFFF"/>
                </a:solidFill>
                <a:latin typeface="Helvetica"/>
                <a:cs typeface="Helvetica"/>
              </a:rPr>
              <a:t>creando</a:t>
            </a:r>
            <a:r>
              <a:rPr lang="nb-NO" dirty="0">
                <a:solidFill>
                  <a:srgbClr val="FFFFFF"/>
                </a:solidFill>
                <a:latin typeface="Helvetica"/>
                <a:cs typeface="Helvetica"/>
              </a:rPr>
              <a:t>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dirty="0" err="1">
                <a:solidFill>
                  <a:srgbClr val="FFFFFF"/>
                </a:solidFill>
                <a:latin typeface="Helvetica"/>
                <a:cs typeface="Helvetica"/>
              </a:rPr>
              <a:t>estructura</a:t>
            </a:r>
            <a:r>
              <a:rPr lang="nb-NO" dirty="0">
                <a:solidFill>
                  <a:srgbClr val="FFFFFF"/>
                </a:solidFill>
                <a:latin typeface="Helvetica"/>
                <a:cs typeface="Helvetica"/>
              </a:rPr>
              <a:t> de </a:t>
            </a:r>
            <a:r>
              <a:rPr lang="nb-NO" dirty="0" err="1">
                <a:solidFill>
                  <a:srgbClr val="FFFFFF"/>
                </a:solidFill>
                <a:latin typeface="Helvetica"/>
                <a:cs typeface="Helvetica"/>
              </a:rPr>
              <a:t>carpetas</a:t>
            </a:r>
            <a:r>
              <a:rPr lang="nb-NO" dirty="0">
                <a:solidFill>
                  <a:srgbClr val="FFFFFF"/>
                </a:solidFill>
                <a:latin typeface="Helvetica"/>
                <a:cs typeface="Helvetica"/>
              </a:rPr>
              <a:t> e </a:t>
            </a:r>
            <a:r>
              <a:rPr lang="nb-NO" dirty="0" err="1">
                <a:solidFill>
                  <a:srgbClr val="FFFFFF"/>
                </a:solidFill>
                <a:latin typeface="Helvetica"/>
                <a:cs typeface="Helvetica"/>
              </a:rPr>
              <a:t>instalando</a:t>
            </a:r>
            <a:r>
              <a:rPr lang="nb-NO" dirty="0">
                <a:solidFill>
                  <a:srgbClr val="FFFFFF"/>
                </a:solidFill>
                <a:latin typeface="Helvetica"/>
                <a:cs typeface="Helvetica"/>
              </a:rPr>
              <a:t> </a:t>
            </a:r>
            <a:r>
              <a:rPr lang="nb-NO" dirty="0" err="1" smtClean="0">
                <a:solidFill>
                  <a:srgbClr val="FFFFFF"/>
                </a:solidFill>
                <a:latin typeface="Helvetica"/>
                <a:cs typeface="Helvetica"/>
              </a:rPr>
              <a:t>todas</a:t>
            </a:r>
            <a:r>
              <a:rPr lang="nb-NO" dirty="0" smtClean="0">
                <a:solidFill>
                  <a:srgbClr val="FFFFFF"/>
                </a:solidFill>
                <a:latin typeface="Helvetica"/>
                <a:cs typeface="Helvetica"/>
              </a:rPr>
              <a:t> las </a:t>
            </a:r>
            <a:r>
              <a:rPr lang="nb-NO" dirty="0" err="1">
                <a:solidFill>
                  <a:srgbClr val="FFFFFF"/>
                </a:solidFill>
                <a:latin typeface="Helvetica"/>
                <a:cs typeface="Helvetica"/>
              </a:rPr>
              <a:t>dependencias</a:t>
            </a:r>
            <a:r>
              <a:rPr lang="nb-NO" dirty="0">
                <a:solidFill>
                  <a:srgbClr val="FFFFFF"/>
                </a:solidFill>
                <a:latin typeface="Helvetica"/>
                <a:cs typeface="Helvetica"/>
              </a:rPr>
              <a:t> </a:t>
            </a:r>
            <a:r>
              <a:rPr lang="nb-NO" dirty="0" err="1">
                <a:solidFill>
                  <a:srgbClr val="FFFFFF"/>
                </a:solidFill>
                <a:latin typeface="Helvetica"/>
                <a:cs typeface="Helvetica"/>
              </a:rPr>
              <a:t>necesarias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nuestra</a:t>
            </a:r>
            <a:r>
              <a:rPr lang="nb-NO" dirty="0">
                <a:solidFill>
                  <a:srgbClr val="FFFFFF"/>
                </a:solidFill>
                <a:latin typeface="Helvetica"/>
                <a:cs typeface="Helvetica"/>
              </a:rPr>
              <a:t> </a:t>
            </a:r>
            <a:r>
              <a:rPr lang="nb-NO" dirty="0" err="1">
                <a:solidFill>
                  <a:srgbClr val="FFFFFF"/>
                </a:solidFill>
                <a:latin typeface="Helvetica"/>
                <a:cs typeface="Helvetica"/>
              </a:rPr>
              <a:t>aplicación</a:t>
            </a:r>
            <a:r>
              <a:rPr lang="nb-NO" dirty="0">
                <a:solidFill>
                  <a:srgbClr val="FFFFFF"/>
                </a:solidFill>
                <a:latin typeface="Helvetica"/>
                <a:cs typeface="Helvetica"/>
              </a:rPr>
              <a:t> </a:t>
            </a:r>
            <a:r>
              <a:rPr lang="nb-NO" dirty="0" err="1">
                <a:solidFill>
                  <a:srgbClr val="FFFFFF"/>
                </a:solidFill>
                <a:latin typeface="Helvetica"/>
                <a:cs typeface="Helvetica"/>
              </a:rPr>
              <a:t>funcione</a:t>
            </a:r>
            <a:r>
              <a:rPr lang="nb-NO" dirty="0">
                <a:solidFill>
                  <a:srgbClr val="FFFFFF"/>
                </a:solidFill>
                <a:latin typeface="Helvetica"/>
                <a:cs typeface="Helvetica"/>
              </a:rPr>
              <a:t>, se </a:t>
            </a:r>
            <a:r>
              <a:rPr lang="nb-NO" dirty="0" err="1">
                <a:solidFill>
                  <a:srgbClr val="FFFFFF"/>
                </a:solidFill>
                <a:latin typeface="Helvetica"/>
                <a:cs typeface="Helvetica"/>
              </a:rPr>
              <a:t>pueda</a:t>
            </a:r>
            <a:r>
              <a:rPr lang="nb-NO" dirty="0">
                <a:solidFill>
                  <a:srgbClr val="FFFFFF"/>
                </a:solidFill>
                <a:latin typeface="Helvetica"/>
                <a:cs typeface="Helvetica"/>
              </a:rPr>
              <a:t> </a:t>
            </a:r>
            <a:r>
              <a:rPr lang="nb-NO" dirty="0" err="1">
                <a:solidFill>
                  <a:srgbClr val="FFFFFF"/>
                </a:solidFill>
                <a:latin typeface="Helvetica"/>
                <a:cs typeface="Helvetica"/>
              </a:rPr>
              <a:t>testear</a:t>
            </a:r>
            <a:r>
              <a:rPr lang="nb-NO" dirty="0">
                <a:solidFill>
                  <a:srgbClr val="FFFFFF"/>
                </a:solidFill>
                <a:latin typeface="Helvetica"/>
                <a:cs typeface="Helvetica"/>
              </a:rPr>
              <a:t>, etc.</a:t>
            </a:r>
            <a:endParaRPr lang="nb-NO" dirty="0" smtClean="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792407541"/>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init</a:t>
            </a:r>
            <a:r>
              <a:rPr lang="es-ES_tradnl" sz="2200" u="sng" dirty="0" smtClean="0">
                <a:solidFill>
                  <a:srgbClr val="94D66C"/>
                </a:solidFill>
                <a:latin typeface="Arial Black"/>
                <a:cs typeface="Arial Black"/>
              </a:rPr>
              <a:t> &gt; </a:t>
            </a:r>
            <a:r>
              <a:rPr lang="es-ES_tradnl" sz="2200" u="sng" dirty="0" err="1" smtClean="0">
                <a:latin typeface="Arial Black"/>
                <a:cs typeface="Arial Black"/>
              </a:rPr>
              <a:t>scafolding</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777790" y="1737053"/>
            <a:ext cx="3235332" cy="4357987"/>
          </a:xfrm>
          <a:prstGeom prst="rect">
            <a:avLst/>
          </a:prstGeom>
        </p:spPr>
      </p:pic>
    </p:spTree>
    <p:extLst>
      <p:ext uri="{BB962C8B-B14F-4D97-AF65-F5344CB8AC3E}">
        <p14:creationId xmlns:p14="http://schemas.microsoft.com/office/powerpoint/2010/main" val="2209307774"/>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polymer.json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280457"/>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a:t>
            </a:r>
            <a:r>
              <a:rPr lang="nb-NO" dirty="0" err="1" smtClean="0">
                <a:solidFill>
                  <a:srgbClr val="FFFFFF"/>
                </a:solidFill>
                <a:latin typeface="Helvetica"/>
                <a:cs typeface="Helvetica"/>
              </a:rPr>
              <a:t>ón</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utilizado</a:t>
            </a:r>
            <a:r>
              <a:rPr lang="nb-NO" dirty="0" smtClean="0">
                <a:solidFill>
                  <a:srgbClr val="FFFFFF"/>
                </a:solidFill>
                <a:latin typeface="Helvetica"/>
                <a:cs typeface="Helvetica"/>
              </a:rPr>
              <a:t> por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utilidades</a:t>
            </a:r>
            <a:r>
              <a:rPr lang="nb-NO" dirty="0" smtClean="0">
                <a:solidFill>
                  <a:srgbClr val="FFFFFF"/>
                </a:solidFill>
                <a:latin typeface="Helvetica"/>
                <a:cs typeface="Helvetica"/>
              </a:rPr>
              <a:t> de Polymer CLI.</a:t>
            </a:r>
          </a:p>
          <a:p>
            <a:pPr algn="just">
              <a:lnSpc>
                <a:spcPct val="130000"/>
              </a:lnSpc>
            </a:pPr>
            <a:r>
              <a:rPr lang="nb-NO" dirty="0" smtClean="0">
                <a:solidFill>
                  <a:srgbClr val="FFFFFF"/>
                </a:solidFill>
                <a:latin typeface="Helvetica"/>
                <a:cs typeface="Helvetica"/>
              </a:rPr>
              <a:t>Entre otras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a:t>
            </a:r>
            <a:r>
              <a:rPr lang="nb-NO" dirty="0" err="1" smtClean="0">
                <a:solidFill>
                  <a:srgbClr val="FFFFFF"/>
                </a:solidFill>
                <a:latin typeface="Helvetica"/>
                <a:cs typeface="Helvetica"/>
              </a:rPr>
              <a:t>permite</a:t>
            </a:r>
            <a:r>
              <a:rPr lang="nb-NO" dirty="0" smtClean="0">
                <a:solidFill>
                  <a:srgbClr val="FFFFFF"/>
                </a:solidFill>
                <a:latin typeface="Helvetica"/>
                <a:cs typeface="Helvetica"/>
              </a:rPr>
              <a:t> </a:t>
            </a:r>
            <a:r>
              <a:rPr lang="nb-NO" dirty="0" err="1" smtClean="0">
                <a:solidFill>
                  <a:srgbClr val="FFFFFF"/>
                </a:solidFill>
                <a:latin typeface="Helvetica"/>
                <a:cs typeface="Helvetica"/>
              </a:rPr>
              <a:t>especificar</a:t>
            </a:r>
            <a:r>
              <a:rPr lang="nb-NO" dirty="0" smtClean="0">
                <a:solidFill>
                  <a:srgbClr val="FFFFFF"/>
                </a:solidFill>
                <a:latin typeface="Helvetica"/>
                <a:cs typeface="Helvetica"/>
              </a:rPr>
              <a:t>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rutas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empaquetacion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para </a:t>
            </a:r>
            <a:r>
              <a:rPr lang="nb-NO" dirty="0" err="1" smtClean="0">
                <a:solidFill>
                  <a:srgbClr val="FFFFFF"/>
                </a:solidFill>
                <a:latin typeface="Helvetica"/>
                <a:cs typeface="Helvetica"/>
              </a:rPr>
              <a:t>análisis</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compresión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minify</a:t>
            </a:r>
            <a:r>
              <a:rPr lang="nb-NO" dirty="0" smtClean="0">
                <a:solidFill>
                  <a:srgbClr val="FFFFFF"/>
                </a:solidFill>
                <a:latin typeface="Helvetica"/>
                <a:cs typeface="Helvetica"/>
              </a:rPr>
              <a:t>) , </a:t>
            </a:r>
            <a:r>
              <a:rPr lang="nb-NO" dirty="0" err="1" smtClean="0">
                <a:solidFill>
                  <a:srgbClr val="FFFFFF"/>
                </a:solidFill>
                <a:latin typeface="Helvetica"/>
                <a:cs typeface="Helvetica"/>
              </a:rPr>
              <a:t>configuraciones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punto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entrada</a:t>
            </a:r>
            <a:r>
              <a:rPr lang="nb-NO" dirty="0" smtClean="0">
                <a:solidFill>
                  <a:srgbClr val="FFFFFF"/>
                </a:solidFill>
                <a:latin typeface="Helvetica"/>
                <a:cs typeface="Helvetica"/>
              </a:rPr>
              <a:t> por </a:t>
            </a:r>
            <a:r>
              <a:rPr lang="nb-NO" dirty="0" err="1" smtClean="0">
                <a:solidFill>
                  <a:srgbClr val="FFFFFF"/>
                </a:solidFill>
                <a:latin typeface="Helvetica"/>
                <a:cs typeface="Helvetica"/>
              </a:rPr>
              <a:t>defecto</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https://polymer-library.polymer-project.org/3.0/docs/tools/polymer-json#</a:t>
            </a:r>
            <a:r>
              <a:rPr lang="nb-NO" dirty="0" smtClean="0">
                <a:solidFill>
                  <a:srgbClr val="FFFFFF"/>
                </a:solidFill>
                <a:latin typeface="Helvetica"/>
                <a:cs typeface="Helvetica"/>
                <a:hlinkClick r:id="rId5"/>
              </a:rPr>
              <a:t>entrypoint</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171632833"/>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manifiesto.json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a:t>
            </a:r>
            <a:r>
              <a:rPr lang="nb-NO" dirty="0" err="1" smtClean="0">
                <a:solidFill>
                  <a:srgbClr val="FFFFFF"/>
                </a:solidFill>
                <a:latin typeface="Helvetica"/>
                <a:cs typeface="Helvetica"/>
              </a:rPr>
              <a:t>ón</a:t>
            </a:r>
            <a:r>
              <a:rPr lang="nb-NO" dirty="0" smtClean="0">
                <a:solidFill>
                  <a:srgbClr val="FFFFFF"/>
                </a:solidFill>
                <a:latin typeface="Helvetica"/>
                <a:cs typeface="Helvetica"/>
              </a:rPr>
              <a:t> </a:t>
            </a:r>
            <a:r>
              <a:rPr lang="es-ES_tradnl" dirty="0" smtClean="0">
                <a:solidFill>
                  <a:srgbClr val="FFFFFF"/>
                </a:solidFill>
                <a:latin typeface="Helvetica"/>
                <a:cs typeface="Helvetica"/>
              </a:rPr>
              <a:t>utilizado como manifiesto de </a:t>
            </a:r>
            <a:r>
              <a:rPr lang="es-ES_tradnl" dirty="0">
                <a:solidFill>
                  <a:srgbClr val="FFFFFF"/>
                </a:solidFill>
                <a:latin typeface="Helvetica"/>
                <a:cs typeface="Helvetica"/>
              </a:rPr>
              <a:t>aplicaciones web. </a:t>
            </a:r>
            <a:r>
              <a:rPr lang="es-ES_tradnl" dirty="0" smtClean="0">
                <a:solidFill>
                  <a:srgbClr val="FFFFFF"/>
                </a:solidFill>
                <a:latin typeface="Helvetica"/>
                <a:cs typeface="Helvetica"/>
              </a:rPr>
              <a:t>Proporciona </a:t>
            </a:r>
            <a:r>
              <a:rPr lang="es-ES_tradnl" dirty="0">
                <a:solidFill>
                  <a:srgbClr val="FFFFFF"/>
                </a:solidFill>
                <a:latin typeface="Helvetica"/>
                <a:cs typeface="Helvetica"/>
              </a:rPr>
              <a:t>información sobre una aplicación (como nombre, autor, icono y descripción) en un documento </a:t>
            </a:r>
            <a:r>
              <a:rPr lang="es-ES_tradnl" dirty="0" smtClean="0">
                <a:solidFill>
                  <a:srgbClr val="FFFFFF"/>
                </a:solidFill>
                <a:latin typeface="Helvetica"/>
                <a:cs typeface="Helvetica"/>
              </a:rPr>
              <a:t>simplificado dentro del </a:t>
            </a:r>
            <a:r>
              <a:rPr lang="es-ES_tradnl" dirty="0" err="1" smtClean="0">
                <a:solidFill>
                  <a:srgbClr val="FFFFFF"/>
                </a:solidFill>
                <a:latin typeface="Helvetica"/>
                <a:cs typeface="Helvetica"/>
              </a:rPr>
              <a:t>estandar</a:t>
            </a:r>
            <a:r>
              <a:rPr lang="es-ES_tradnl" dirty="0" smtClean="0">
                <a:solidFill>
                  <a:srgbClr val="FFFFFF"/>
                </a:solidFill>
                <a:latin typeface="Helvetica"/>
                <a:cs typeface="Helvetica"/>
              </a:rPr>
              <a:t> de las </a:t>
            </a:r>
            <a:r>
              <a:rPr lang="es-ES_tradnl" dirty="0" smtClean="0">
                <a:solidFill>
                  <a:srgbClr val="FFFFFF"/>
                </a:solidFill>
                <a:latin typeface="Helvetica"/>
                <a:cs typeface="Helvetica"/>
                <a:hlinkClick r:id="rId5"/>
              </a:rPr>
              <a:t>progressive web apps:</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https</a:t>
            </a:r>
            <a:r>
              <a:rPr lang="es-ES_tradnl" dirty="0">
                <a:solidFill>
                  <a:srgbClr val="FFFFFF"/>
                </a:solidFill>
                <a:latin typeface="Helvetica"/>
                <a:cs typeface="Helvetica"/>
              </a:rPr>
              <a:t>://developer.mozilla.org/en-US/docs/Web/Apps/</a:t>
            </a:r>
            <a:r>
              <a:rPr lang="es-ES_tradnl" dirty="0" err="1" smtClean="0">
                <a:solidFill>
                  <a:srgbClr val="FFFFFF"/>
                </a:solidFill>
                <a:latin typeface="Helvetica"/>
                <a:cs typeface="Helvetica"/>
              </a:rPr>
              <a:t>Progressive</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6"/>
              </a:rPr>
              <a:t>https://developer.mozilla.org/es/docs/Web/</a:t>
            </a:r>
            <a:r>
              <a:rPr lang="nb-NO" dirty="0" smtClean="0">
                <a:solidFill>
                  <a:srgbClr val="FFFFFF"/>
                </a:solidFill>
                <a:latin typeface="Helvetica"/>
                <a:cs typeface="Helvetica"/>
                <a:hlinkClick r:id="rId6"/>
              </a:rPr>
              <a:t>Manifest</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426364479"/>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polymer</a:t>
            </a:r>
            <a:r>
              <a:rPr lang="es-ES_tradnl" sz="2200" u="sng" dirty="0">
                <a:solidFill>
                  <a:srgbClr val="94D66C"/>
                </a:solidFill>
                <a:latin typeface="Arial Black"/>
                <a:cs typeface="Arial Black"/>
              </a:rPr>
              <a:t> </a:t>
            </a:r>
            <a:r>
              <a:rPr lang="es-ES_tradnl" sz="2200" u="sng" dirty="0" err="1">
                <a:solidFill>
                  <a:srgbClr val="94D66C"/>
                </a:solidFill>
                <a:latin typeface="Arial Black"/>
                <a:cs typeface="Arial Black"/>
              </a:rPr>
              <a:t>lint</a:t>
            </a:r>
            <a:endParaRPr lang="es-ES_tradnl" sz="2200" u="sng" dirty="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640554"/>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Es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analizador</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que</a:t>
            </a:r>
            <a:r>
              <a:rPr lang="nb-NO" dirty="0" smtClean="0">
                <a:solidFill>
                  <a:srgbClr val="FFFFFF"/>
                </a:solidFill>
                <a:latin typeface="Helvetica"/>
                <a:cs typeface="Helvetica"/>
              </a:rPr>
              <a:t> nos </a:t>
            </a:r>
            <a:r>
              <a:rPr lang="nb-NO" dirty="0" err="1" smtClean="0">
                <a:solidFill>
                  <a:srgbClr val="FFFFFF"/>
                </a:solidFill>
                <a:latin typeface="Helvetica"/>
                <a:cs typeface="Helvetica"/>
              </a:rPr>
              <a:t>aporta</a:t>
            </a:r>
            <a:r>
              <a:rPr lang="nb-NO" dirty="0" smtClean="0">
                <a:solidFill>
                  <a:srgbClr val="FFFFFF"/>
                </a:solidFill>
                <a:latin typeface="Helvetica"/>
                <a:cs typeface="Helvetica"/>
              </a:rPr>
              <a:t> </a:t>
            </a:r>
            <a:r>
              <a:rPr lang="nb-NO" dirty="0" err="1" smtClean="0">
                <a:solidFill>
                  <a:srgbClr val="FFFFFF"/>
                </a:solidFill>
                <a:latin typeface="Helvetica"/>
                <a:cs typeface="Helvetica"/>
              </a:rPr>
              <a:t>informaci</a:t>
            </a:r>
            <a:r>
              <a:rPr lang="nb-NO" dirty="0" err="1" smtClean="0">
                <a:solidFill>
                  <a:srgbClr val="FFFFFF"/>
                </a:solidFill>
                <a:latin typeface="Helvetica"/>
                <a:cs typeface="Helvetica"/>
              </a:rPr>
              <a:t>ón</a:t>
            </a:r>
            <a:r>
              <a:rPr lang="nb-NO" dirty="0" smtClean="0">
                <a:solidFill>
                  <a:srgbClr val="FFFFFF"/>
                </a:solidFill>
                <a:latin typeface="Helvetica"/>
                <a:cs typeface="Helvetica"/>
              </a:rPr>
              <a:t> </a:t>
            </a:r>
            <a:r>
              <a:rPr lang="nb-NO" dirty="0" err="1" smtClean="0">
                <a:solidFill>
                  <a:srgbClr val="FFFFFF"/>
                </a:solidFill>
                <a:latin typeface="Helvetica"/>
                <a:cs typeface="Helvetica"/>
              </a:rPr>
              <a:t>adicional</a:t>
            </a:r>
            <a:r>
              <a:rPr lang="nb-NO" dirty="0" smtClean="0">
                <a:solidFill>
                  <a:srgbClr val="FFFFFF"/>
                </a:solidFill>
                <a:latin typeface="Helvetica"/>
                <a:cs typeface="Helvetica"/>
              </a:rPr>
              <a:t> sobre databindings </a:t>
            </a:r>
            <a:r>
              <a:rPr lang="nb-NO" dirty="0" err="1" smtClean="0">
                <a:solidFill>
                  <a:srgbClr val="FFFFFF"/>
                </a:solidFill>
                <a:latin typeface="Helvetica"/>
                <a:cs typeface="Helvetica"/>
              </a:rPr>
              <a:t>erroneos</a:t>
            </a:r>
            <a:r>
              <a:rPr lang="nb-NO" dirty="0" smtClean="0">
                <a:solidFill>
                  <a:srgbClr val="FFFFFF"/>
                </a:solidFill>
                <a:latin typeface="Helvetica"/>
                <a:cs typeface="Helvetica"/>
              </a:rPr>
              <a:t> , </a:t>
            </a:r>
            <a:r>
              <a:rPr lang="nb-NO" dirty="0" err="1" smtClean="0">
                <a:solidFill>
                  <a:srgbClr val="FFFFFF"/>
                </a:solidFill>
                <a:latin typeface="Helvetica"/>
                <a:cs typeface="Helvetica"/>
              </a:rPr>
              <a:t>errores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sintaxis</a:t>
            </a:r>
            <a:r>
              <a:rPr lang="nb-NO" dirty="0" smtClean="0">
                <a:solidFill>
                  <a:srgbClr val="FFFFFF"/>
                </a:solidFill>
                <a:latin typeface="Helvetica"/>
                <a:cs typeface="Helvetica"/>
              </a:rPr>
              <a:t> </a:t>
            </a:r>
            <a:r>
              <a:rPr lang="mr-IN" dirty="0" smtClean="0">
                <a:solidFill>
                  <a:srgbClr val="FFFFFF"/>
                </a:solidFill>
                <a:latin typeface="Helvetica"/>
                <a:cs typeface="Helvetica"/>
              </a:rPr>
              <a:t>…</a:t>
            </a:r>
            <a:r>
              <a:rPr lang="es-ES_tradnl" dirty="0" smtClean="0">
                <a:solidFill>
                  <a:srgbClr val="FFFFFF"/>
                </a:solidFill>
                <a:latin typeface="Helvetica"/>
                <a:cs typeface="Helvetica"/>
              </a:rPr>
              <a:t>etc. Su </a:t>
            </a:r>
            <a:r>
              <a:rPr lang="es-ES_tradnl" dirty="0" err="1" smtClean="0">
                <a:solidFill>
                  <a:srgbClr val="FFFFFF"/>
                </a:solidFill>
                <a:latin typeface="Helvetica"/>
                <a:cs typeface="Helvetica"/>
              </a:rPr>
              <a:t>funcionanimiento</a:t>
            </a:r>
            <a:r>
              <a:rPr lang="es-ES_tradnl" dirty="0" smtClean="0">
                <a:solidFill>
                  <a:srgbClr val="FFFFFF"/>
                </a:solidFill>
                <a:latin typeface="Helvetica"/>
                <a:cs typeface="Helvetica"/>
              </a:rPr>
              <a:t> es configurable mediante la introducción de reglas dentro del fichero de </a:t>
            </a:r>
            <a:r>
              <a:rPr lang="es-ES_tradnl" dirty="0" err="1" smtClean="0">
                <a:solidFill>
                  <a:srgbClr val="FFFFFF"/>
                </a:solidFill>
                <a:latin typeface="Helvetica"/>
                <a:cs typeface="Helvetica"/>
              </a:rPr>
              <a:t>configuracion</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polymer.json</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Es el complemento perfecto para otro tipo de </a:t>
            </a:r>
            <a:r>
              <a:rPr lang="es-ES_tradnl" dirty="0">
                <a:solidFill>
                  <a:srgbClr val="FFFFFF"/>
                </a:solidFill>
                <a:latin typeface="Helvetica"/>
                <a:cs typeface="Helvetica"/>
              </a:rPr>
              <a:t>analizadores como </a:t>
            </a:r>
            <a:r>
              <a:rPr lang="es-ES_tradnl" dirty="0" err="1">
                <a:solidFill>
                  <a:srgbClr val="FFFFFF"/>
                </a:solidFill>
                <a:latin typeface="Helvetica"/>
                <a:cs typeface="Helvetica"/>
              </a:rPr>
              <a:t>eslint</a:t>
            </a:r>
            <a:r>
              <a:rPr lang="es-ES_tradnl" dirty="0">
                <a:solidFill>
                  <a:srgbClr val="FFFFFF"/>
                </a:solidFill>
                <a:latin typeface="Helvetica"/>
                <a:cs typeface="Helvetica"/>
              </a:rPr>
              <a:t> </a:t>
            </a:r>
            <a:r>
              <a:rPr lang="es-ES_tradnl" dirty="0" smtClean="0">
                <a:solidFill>
                  <a:srgbClr val="FFFFFF"/>
                </a:solidFill>
                <a:latin typeface="Helvetica"/>
                <a:cs typeface="Helvetica"/>
              </a:rPr>
              <a:t>o </a:t>
            </a:r>
            <a:r>
              <a:rPr lang="es-ES_tradnl" dirty="0" err="1" smtClean="0">
                <a:solidFill>
                  <a:srgbClr val="FFFFFF"/>
                </a:solidFill>
                <a:latin typeface="Helvetica"/>
                <a:cs typeface="Helvetica"/>
              </a:rPr>
              <a:t>htmlhint</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 Este tipo de herramientas se pueden utilizar en procesos de integración continua para reemplazar a otros analizadores </a:t>
            </a:r>
            <a:r>
              <a:rPr lang="es-ES_tradnl" dirty="0" err="1" smtClean="0">
                <a:solidFill>
                  <a:srgbClr val="FFFFFF"/>
                </a:solidFill>
                <a:latin typeface="Helvetica"/>
                <a:cs typeface="Helvetica"/>
              </a:rPr>
              <a:t>sintacticos</a:t>
            </a:r>
            <a:r>
              <a:rPr lang="es-ES_tradnl" dirty="0">
                <a:solidFill>
                  <a:srgbClr val="FFFFFF"/>
                </a:solidFill>
                <a:latin typeface="Helvetica"/>
                <a:cs typeface="Helvetica"/>
              </a:rPr>
              <a:t> como </a:t>
            </a:r>
            <a:r>
              <a:rPr lang="es-ES_tradnl" dirty="0" err="1" smtClean="0">
                <a:solidFill>
                  <a:srgbClr val="FFFFFF"/>
                </a:solidFill>
                <a:latin typeface="Helvetica"/>
                <a:cs typeface="Helvetica"/>
              </a:rPr>
              <a:t>SonarQube</a:t>
            </a:r>
            <a:r>
              <a:rPr lang="es-ES_tradnl" dirty="0" smtClean="0">
                <a:solidFill>
                  <a:srgbClr val="FFFFFF"/>
                </a:solidFill>
                <a:latin typeface="Helvetica"/>
                <a:cs typeface="Helvetica"/>
              </a:rPr>
              <a:t> u  otros.</a:t>
            </a:r>
          </a:p>
          <a:p>
            <a:pPr algn="just">
              <a:lnSpc>
                <a:spcPct val="130000"/>
              </a:lnSpc>
            </a:pPr>
            <a:r>
              <a:rPr lang="nb-NO" dirty="0" smtClean="0">
                <a:solidFill>
                  <a:srgbClr val="FFFFFF"/>
                </a:solidFill>
                <a:latin typeface="Helvetica"/>
                <a:cs typeface="Helvetica"/>
              </a:rPr>
              <a:t> 	</a:t>
            </a: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https://polymer-library.polymer-project.org/3.0/docs/tools/polymer-cli-commands#</a:t>
            </a:r>
            <a:r>
              <a:rPr lang="nb-NO" dirty="0" smtClean="0">
                <a:solidFill>
                  <a:srgbClr val="FFFFFF"/>
                </a:solidFill>
                <a:latin typeface="Helvetica"/>
                <a:cs typeface="Helvetica"/>
                <a:hlinkClick r:id="rId5"/>
              </a:rPr>
              <a:t>lint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071499484"/>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492433" y="1225525"/>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serve</a:t>
            </a:r>
            <a:endParaRPr lang="es-ES" sz="2200" u="sng" dirty="0" smtClean="0">
              <a:solidFill>
                <a:srgbClr val="94D66C"/>
              </a:solidFill>
              <a:latin typeface="Arial Black"/>
              <a:cs typeface="Arial Black"/>
            </a:endParaRPr>
          </a:p>
        </p:txBody>
      </p:sp>
      <p:sp>
        <p:nvSpPr>
          <p:cNvPr id="17" name="Rectángulo 16"/>
          <p:cNvSpPr/>
          <p:nvPr/>
        </p:nvSpPr>
        <p:spPr>
          <a:xfrm>
            <a:off x="505396" y="1630042"/>
            <a:ext cx="8202871" cy="1878976"/>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Levanta</a:t>
            </a:r>
            <a:r>
              <a:rPr lang="nb-NO" dirty="0" smtClean="0">
                <a:solidFill>
                  <a:srgbClr val="FFFFFF"/>
                </a:solidFill>
                <a:latin typeface="Helvetica"/>
                <a:cs typeface="Helvetica"/>
              </a:rPr>
              <a:t>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a:t>
            </a:r>
            <a:r>
              <a:rPr lang="nb-NO" dirty="0" smtClean="0">
                <a:solidFill>
                  <a:srgbClr val="FFFFFF"/>
                </a:solidFill>
                <a:latin typeface="Helvetica"/>
                <a:cs typeface="Helvetica"/>
              </a:rPr>
              <a:t> http para </a:t>
            </a:r>
            <a:r>
              <a:rPr lang="nb-NO" dirty="0" err="1" smtClean="0">
                <a:solidFill>
                  <a:srgbClr val="FFFFFF"/>
                </a:solidFill>
                <a:latin typeface="Helvetica"/>
                <a:cs typeface="Helvetica"/>
              </a:rPr>
              <a:t>servir</a:t>
            </a:r>
            <a:r>
              <a:rPr lang="nb-NO" dirty="0" smtClean="0">
                <a:solidFill>
                  <a:srgbClr val="FFFFFF"/>
                </a:solidFill>
                <a:latin typeface="Helvetica"/>
                <a:cs typeface="Helvetica"/>
              </a:rPr>
              <a:t> </a:t>
            </a:r>
            <a:r>
              <a:rPr lang="nb-NO" dirty="0" err="1" smtClean="0">
                <a:solidFill>
                  <a:srgbClr val="FFFFFF"/>
                </a:solidFill>
                <a:latin typeface="Helvetica"/>
                <a:cs typeface="Helvetica"/>
              </a:rPr>
              <a:t>nuestro</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proyectomen</a:t>
            </a:r>
            <a:r>
              <a:rPr lang="nb-NO" dirty="0" smtClean="0">
                <a:solidFill>
                  <a:srgbClr val="FFFFFF"/>
                </a:solidFill>
                <a:latin typeface="Helvetica"/>
                <a:cs typeface="Helvetica"/>
              </a:rPr>
              <a:t> el </a:t>
            </a:r>
            <a:r>
              <a:rPr lang="nb-NO" dirty="0" err="1" smtClean="0">
                <a:solidFill>
                  <a:srgbClr val="FFFFFF"/>
                </a:solidFill>
                <a:latin typeface="Helvetica"/>
                <a:cs typeface="Helvetica"/>
              </a:rPr>
              <a:t>dominio</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localhost</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Con la </a:t>
            </a:r>
            <a:r>
              <a:rPr lang="nb-NO" dirty="0" err="1" smtClean="0">
                <a:solidFill>
                  <a:srgbClr val="FFFFFF"/>
                </a:solidFill>
                <a:latin typeface="Helvetica"/>
                <a:cs typeface="Helvetica"/>
              </a:rPr>
              <a:t>opcion</a:t>
            </a:r>
            <a:r>
              <a:rPr lang="nb-NO" dirty="0" smtClean="0">
                <a:solidFill>
                  <a:srgbClr val="FFFFFF"/>
                </a:solidFill>
                <a:latin typeface="Helvetica"/>
                <a:cs typeface="Helvetica"/>
              </a:rPr>
              <a:t> </a:t>
            </a:r>
            <a:r>
              <a:rPr lang="mr-IN" dirty="0" smtClean="0">
                <a:solidFill>
                  <a:srgbClr val="94D66C"/>
                </a:solidFill>
                <a:latin typeface="Helvetica"/>
                <a:cs typeface="Helvetica"/>
              </a:rPr>
              <a:t>–</a:t>
            </a:r>
            <a:r>
              <a:rPr lang="nb-NO" dirty="0" smtClean="0">
                <a:solidFill>
                  <a:srgbClr val="94D66C"/>
                </a:solidFill>
                <a:latin typeface="Helvetica"/>
                <a:cs typeface="Helvetica"/>
              </a:rPr>
              <a:t>o   </a:t>
            </a:r>
            <a:r>
              <a:rPr lang="nb-NO" dirty="0" smtClean="0">
                <a:latin typeface="Helvetica"/>
                <a:cs typeface="Helvetica"/>
              </a:rPr>
              <a:t>(</a:t>
            </a:r>
            <a:r>
              <a:rPr lang="nb-NO" dirty="0" err="1" smtClean="0">
                <a:latin typeface="Helvetica"/>
                <a:cs typeface="Helvetica"/>
              </a:rPr>
              <a:t>open</a:t>
            </a:r>
            <a:r>
              <a:rPr lang="nb-NO" dirty="0" smtClean="0">
                <a:latin typeface="Helvetica"/>
                <a:cs typeface="Helvetica"/>
              </a:rPr>
              <a:t>)  </a:t>
            </a:r>
            <a:r>
              <a:rPr lang="nb-NO" dirty="0" err="1" smtClean="0">
                <a:solidFill>
                  <a:srgbClr val="FFFFFF"/>
                </a:solidFill>
                <a:latin typeface="Helvetica"/>
                <a:cs typeface="Helvetica"/>
              </a:rPr>
              <a:t>abre</a:t>
            </a:r>
            <a:r>
              <a:rPr lang="nb-NO" dirty="0" smtClean="0">
                <a:solidFill>
                  <a:srgbClr val="FFFFFF"/>
                </a:solidFill>
                <a:latin typeface="Helvetica"/>
                <a:cs typeface="Helvetica"/>
              </a:rPr>
              <a:t> </a:t>
            </a:r>
            <a:r>
              <a:rPr lang="nb-NO" dirty="0" err="1" smtClean="0">
                <a:solidFill>
                  <a:srgbClr val="FFFFFF"/>
                </a:solidFill>
                <a:latin typeface="Helvetica"/>
                <a:cs typeface="Helvetica"/>
              </a:rPr>
              <a:t>automáticamente</a:t>
            </a:r>
            <a:r>
              <a:rPr lang="nb-NO" dirty="0" smtClean="0">
                <a:solidFill>
                  <a:srgbClr val="FFFFFF"/>
                </a:solidFill>
                <a:latin typeface="Helvetica"/>
                <a:cs typeface="Helvetica"/>
              </a:rPr>
              <a:t> el </a:t>
            </a:r>
            <a:r>
              <a:rPr lang="nb-NO" dirty="0" err="1" smtClean="0">
                <a:solidFill>
                  <a:srgbClr val="FFFFFF"/>
                </a:solidFill>
                <a:latin typeface="Helvetica"/>
                <a:cs typeface="Helvetica"/>
              </a:rPr>
              <a:t>navegador</a:t>
            </a:r>
            <a:r>
              <a:rPr lang="nb-NO" dirty="0" smtClean="0">
                <a:solidFill>
                  <a:srgbClr val="FFFFFF"/>
                </a:solidFill>
                <a:latin typeface="Helvetica"/>
                <a:cs typeface="Helvetica"/>
              </a:rPr>
              <a:t> con el </a:t>
            </a:r>
            <a:r>
              <a:rPr lang="nb-NO" dirty="0" err="1" smtClean="0">
                <a:solidFill>
                  <a:srgbClr val="FFFFFF"/>
                </a:solidFill>
                <a:latin typeface="Helvetica"/>
                <a:cs typeface="Helvetica"/>
              </a:rPr>
              <a:t>proyecto</a:t>
            </a:r>
            <a:r>
              <a:rPr lang="nb-NO" dirty="0" smtClean="0">
                <a:solidFill>
                  <a:srgbClr val="FFFFFF"/>
                </a:solidFill>
                <a:latin typeface="Helvetica"/>
                <a:cs typeface="Helvetica"/>
              </a:rPr>
              <a:t>.</a:t>
            </a:r>
            <a:endParaRPr lang="nb-NO" dirty="0">
              <a:solidFill>
                <a:srgbClr val="FFFFFF"/>
              </a:solidFill>
              <a:latin typeface="Helvetica"/>
              <a:cs typeface="Helvetica"/>
            </a:endParaRPr>
          </a:p>
        </p:txBody>
      </p:sp>
    </p:spTree>
    <p:extLst>
      <p:ext uri="{BB962C8B-B14F-4D97-AF65-F5344CB8AC3E}">
        <p14:creationId xmlns:p14="http://schemas.microsoft.com/office/powerpoint/2010/main" val="492982299"/>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build</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Empaquetador</a:t>
            </a:r>
            <a:r>
              <a:rPr lang="nb-NO" dirty="0" smtClean="0">
                <a:solidFill>
                  <a:srgbClr val="FFFFFF"/>
                </a:solidFill>
                <a:latin typeface="Helvetica"/>
                <a:cs typeface="Helvetica"/>
              </a:rPr>
              <a:t> de </a:t>
            </a:r>
            <a:r>
              <a:rPr lang="nb-NO" dirty="0" err="1">
                <a:solidFill>
                  <a:srgbClr val="FFFFFF"/>
                </a:solidFill>
                <a:latin typeface="Helvetica"/>
                <a:cs typeface="Helvetica"/>
              </a:rPr>
              <a:t>archivos</a:t>
            </a:r>
            <a:r>
              <a:rPr lang="nb-NO" dirty="0">
                <a:solidFill>
                  <a:srgbClr val="FFFFFF"/>
                </a:solidFill>
                <a:latin typeface="Helvetica"/>
                <a:cs typeface="Helvetica"/>
              </a:rPr>
              <a:t> para la </a:t>
            </a:r>
            <a:r>
              <a:rPr lang="nb-NO" dirty="0" err="1">
                <a:solidFill>
                  <a:srgbClr val="FFFFFF"/>
                </a:solidFill>
                <a:latin typeface="Helvetica"/>
                <a:cs typeface="Helvetica"/>
              </a:rPr>
              <a:t>distribución</a:t>
            </a:r>
            <a:r>
              <a:rPr lang="nb-NO" dirty="0">
                <a:solidFill>
                  <a:srgbClr val="FFFFFF"/>
                </a:solidFill>
                <a:latin typeface="Helvetica"/>
                <a:cs typeface="Helvetica"/>
              </a:rPr>
              <a:t> de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revisará</a:t>
            </a:r>
            <a:r>
              <a:rPr lang="nb-NO" dirty="0">
                <a:solidFill>
                  <a:srgbClr val="FFFFFF"/>
                </a:solidFill>
                <a:latin typeface="Helvetica"/>
                <a:cs typeface="Helvetica"/>
              </a:rPr>
              <a:t> el </a:t>
            </a:r>
            <a:r>
              <a:rPr lang="nb-NO" dirty="0" err="1">
                <a:solidFill>
                  <a:srgbClr val="FFFFFF"/>
                </a:solidFill>
                <a:latin typeface="Helvetica"/>
                <a:cs typeface="Helvetica"/>
              </a:rPr>
              <a:t>archivo</a:t>
            </a:r>
            <a:r>
              <a:rPr lang="nb-NO" dirty="0">
                <a:solidFill>
                  <a:srgbClr val="FFFFFF"/>
                </a:solidFill>
                <a:latin typeface="Helvetica"/>
                <a:cs typeface="Helvetica"/>
              </a:rPr>
              <a:t> "</a:t>
            </a:r>
            <a:r>
              <a:rPr lang="nb-NO" dirty="0" err="1">
                <a:solidFill>
                  <a:srgbClr val="FFFFFF"/>
                </a:solidFill>
                <a:latin typeface="Helvetica"/>
                <a:cs typeface="Helvetica"/>
              </a:rPr>
              <a:t>polymer.json</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hay</a:t>
            </a:r>
            <a:r>
              <a:rPr lang="nb-NO" dirty="0">
                <a:solidFill>
                  <a:srgbClr val="FFFFFF"/>
                </a:solidFill>
                <a:latin typeface="Helvetica"/>
                <a:cs typeface="Helvetica"/>
              </a:rPr>
              <a:t> en </a:t>
            </a:r>
            <a:r>
              <a:rPr lang="nb-NO" dirty="0" err="1">
                <a:solidFill>
                  <a:srgbClr val="FFFFFF"/>
                </a:solidFill>
                <a:latin typeface="Helvetica"/>
                <a:cs typeface="Helvetica"/>
              </a:rPr>
              <a:t>raíz</a:t>
            </a:r>
            <a:r>
              <a:rPr lang="nb-NO" dirty="0">
                <a:solidFill>
                  <a:srgbClr val="FFFFFF"/>
                </a:solidFill>
                <a:latin typeface="Helvetica"/>
                <a:cs typeface="Helvetica"/>
              </a:rPr>
              <a:t> y </a:t>
            </a:r>
            <a:r>
              <a:rPr lang="nb-NO" dirty="0" err="1">
                <a:solidFill>
                  <a:srgbClr val="FFFFFF"/>
                </a:solidFill>
                <a:latin typeface="Helvetica"/>
                <a:cs typeface="Helvetica"/>
              </a:rPr>
              <a:t>atendiendo</a:t>
            </a:r>
            <a:r>
              <a:rPr lang="nb-NO" dirty="0">
                <a:solidFill>
                  <a:srgbClr val="FFFFFF"/>
                </a:solidFill>
                <a:latin typeface="Helvetica"/>
                <a:cs typeface="Helvetica"/>
              </a:rPr>
              <a:t> a las </a:t>
            </a:r>
            <a:r>
              <a:rPr lang="nb-NO" dirty="0" err="1">
                <a:solidFill>
                  <a:srgbClr val="FFFFFF"/>
                </a:solidFill>
                <a:latin typeface="Helvetica"/>
                <a:cs typeface="Helvetica"/>
              </a:rPr>
              <a:t>definiciones</a:t>
            </a:r>
            <a:r>
              <a:rPr lang="nb-NO" dirty="0">
                <a:solidFill>
                  <a:srgbClr val="FFFFFF"/>
                </a:solidFill>
                <a:latin typeface="Helvetica"/>
                <a:cs typeface="Helvetica"/>
              </a:rPr>
              <a:t> </a:t>
            </a:r>
            <a:r>
              <a:rPr lang="nb-NO" dirty="0" err="1">
                <a:solidFill>
                  <a:srgbClr val="FFFFFF"/>
                </a:solidFill>
                <a:latin typeface="Helvetica"/>
                <a:cs typeface="Helvetica"/>
              </a:rPr>
              <a:t>creará</a:t>
            </a:r>
            <a:r>
              <a:rPr lang="nb-NO" dirty="0">
                <a:solidFill>
                  <a:srgbClr val="FFFFFF"/>
                </a:solidFill>
                <a:latin typeface="Helvetica"/>
                <a:cs typeface="Helvetica"/>
              </a:rPr>
              <a:t> los </a:t>
            </a:r>
            <a:r>
              <a:rPr lang="nb-NO" dirty="0" err="1">
                <a:solidFill>
                  <a:srgbClr val="FFFFFF"/>
                </a:solidFill>
                <a:latin typeface="Helvetica"/>
                <a:cs typeface="Helvetica"/>
              </a:rPr>
              <a:t>archivos</a:t>
            </a:r>
            <a:r>
              <a:rPr lang="nb-NO" dirty="0">
                <a:solidFill>
                  <a:srgbClr val="FFFFFF"/>
                </a:solidFill>
                <a:latin typeface="Helvetica"/>
                <a:cs typeface="Helvetica"/>
              </a:rPr>
              <a:t> para </a:t>
            </a:r>
            <a:r>
              <a:rPr lang="nb-NO" dirty="0" err="1">
                <a:solidFill>
                  <a:srgbClr val="FFFFFF"/>
                </a:solidFill>
                <a:latin typeface="Helvetica"/>
                <a:cs typeface="Helvetica"/>
              </a:rPr>
              <a:t>distribución</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de </a:t>
            </a:r>
            <a:r>
              <a:rPr lang="nb-NO" dirty="0" err="1">
                <a:solidFill>
                  <a:srgbClr val="FFFFFF"/>
                </a:solidFill>
                <a:latin typeface="Helvetica"/>
                <a:cs typeface="Helvetica"/>
              </a:rPr>
              <a:t>Build</a:t>
            </a:r>
            <a:r>
              <a:rPr lang="nb-NO" dirty="0">
                <a:solidFill>
                  <a:srgbClr val="FFFFFF"/>
                </a:solidFill>
                <a:latin typeface="Helvetica"/>
                <a:cs typeface="Helvetica"/>
              </a:rPr>
              <a:t> </a:t>
            </a:r>
            <a:r>
              <a:rPr lang="nb-NO" dirty="0" err="1">
                <a:solidFill>
                  <a:srgbClr val="FFFFFF"/>
                </a:solidFill>
                <a:latin typeface="Helvetica"/>
                <a:cs typeface="Helvetica"/>
              </a:rPr>
              <a:t>además</a:t>
            </a:r>
            <a:r>
              <a:rPr lang="nb-NO" dirty="0">
                <a:solidFill>
                  <a:srgbClr val="FFFFFF"/>
                </a:solidFill>
                <a:latin typeface="Helvetica"/>
                <a:cs typeface="Helvetica"/>
              </a:rPr>
              <a:t> </a:t>
            </a:r>
            <a:r>
              <a:rPr lang="nb-NO" dirty="0" err="1">
                <a:solidFill>
                  <a:srgbClr val="FFFFFF"/>
                </a:solidFill>
                <a:latin typeface="Helvetica"/>
                <a:cs typeface="Helvetica"/>
              </a:rPr>
              <a:t>generará</a:t>
            </a:r>
            <a:r>
              <a:rPr lang="nb-NO" dirty="0">
                <a:solidFill>
                  <a:srgbClr val="FFFFFF"/>
                </a:solidFill>
                <a:latin typeface="Helvetica"/>
                <a:cs typeface="Helvetica"/>
              </a:rPr>
              <a:t> dos </a:t>
            </a:r>
            <a:r>
              <a:rPr lang="nb-NO" dirty="0" err="1">
                <a:solidFill>
                  <a:srgbClr val="FFFFFF"/>
                </a:solidFill>
                <a:latin typeface="Helvetica"/>
                <a:cs typeface="Helvetica"/>
              </a:rPr>
              <a:t>carpetas</a:t>
            </a:r>
            <a:r>
              <a:rPr lang="nb-NO" dirty="0">
                <a:solidFill>
                  <a:srgbClr val="FFFFFF"/>
                </a:solidFill>
                <a:latin typeface="Helvetica"/>
                <a:cs typeface="Helvetica"/>
              </a:rPr>
              <a:t> para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a:solidFill>
                  <a:srgbClr val="FFFFFF"/>
                </a:solidFill>
                <a:latin typeface="Helvetica"/>
                <a:cs typeface="Helvetica"/>
              </a:rPr>
              <a:t> &gt; </a:t>
            </a:r>
            <a:r>
              <a:rPr lang="nb-NO" dirty="0" err="1" smtClean="0">
                <a:solidFill>
                  <a:srgbClr val="FFFFFF"/>
                </a:solidFill>
                <a:latin typeface="Helvetica"/>
                <a:cs typeface="Helvetica"/>
              </a:rPr>
              <a:t>bundled</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a:t>
            </a:r>
            <a:r>
              <a:rPr lang="nb-NO" dirty="0" err="1">
                <a:solidFill>
                  <a:srgbClr val="FFFFFF"/>
                </a:solidFill>
                <a:latin typeface="Helvetica"/>
                <a:cs typeface="Helvetica"/>
              </a:rPr>
              <a:t>c</a:t>
            </a:r>
            <a:r>
              <a:rPr lang="nb-NO" dirty="0" err="1" smtClean="0">
                <a:solidFill>
                  <a:srgbClr val="FFFFFF"/>
                </a:solidFill>
                <a:latin typeface="Helvetica"/>
                <a:cs typeface="Helvetica"/>
              </a:rPr>
              <a:t>ompactados</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smtClean="0">
                <a:solidFill>
                  <a:srgbClr val="FFFFFF"/>
                </a:solidFill>
                <a:latin typeface="Helvetica"/>
                <a:cs typeface="Helvetica"/>
              </a:rPr>
              <a:t> &gt; </a:t>
            </a:r>
            <a:r>
              <a:rPr lang="nb-NO" dirty="0" err="1">
                <a:solidFill>
                  <a:srgbClr val="FFFFFF"/>
                </a:solidFill>
                <a:latin typeface="Helvetica"/>
                <a:cs typeface="Helvetica"/>
              </a:rPr>
              <a:t>u</a:t>
            </a:r>
            <a:r>
              <a:rPr lang="nb-NO" dirty="0" err="1" smtClean="0">
                <a:solidFill>
                  <a:srgbClr val="FFFFFF"/>
                </a:solidFill>
                <a:latin typeface="Helvetica"/>
                <a:cs typeface="Helvetica"/>
              </a:rPr>
              <a:t>nbundle</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sin </a:t>
            </a:r>
            <a:r>
              <a:rPr lang="nb-NO" dirty="0" err="1" smtClean="0">
                <a:solidFill>
                  <a:srgbClr val="FFFFFF"/>
                </a:solidFill>
                <a:latin typeface="Helvetica"/>
                <a:cs typeface="Helvetica"/>
              </a:rPr>
              <a:t>compactar</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http2)</a:t>
            </a:r>
          </a:p>
          <a:p>
            <a:pPr marL="342900" indent="-342900" algn="just">
              <a:lnSpc>
                <a:spcPct val="130000"/>
              </a:lnSpc>
              <a:buFont typeface="+mj-lt"/>
              <a:buAutoNum type="arabicPeriod"/>
            </a:pPr>
            <a:endParaRPr lang="nb-NO" dirty="0">
              <a:solidFill>
                <a:srgbClr val="FFFFFF"/>
              </a:solidFill>
              <a:latin typeface="Helvetica"/>
              <a:cs typeface="Helvetica"/>
            </a:endParaRPr>
          </a:p>
          <a:p>
            <a:pPr marL="342900" indent="-342900" algn="just">
              <a:lnSpc>
                <a:spcPct val="130000"/>
              </a:lnSpc>
              <a:buFont typeface="+mj-lt"/>
              <a:buAutoNum type="arabicPeriod"/>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https://polymer-library.polymer-project.org/3.0/docs/apps/build-for-</a:t>
            </a:r>
            <a:r>
              <a:rPr lang="nb-NO" dirty="0" smtClean="0">
                <a:solidFill>
                  <a:srgbClr val="FFFFFF"/>
                </a:solidFill>
                <a:latin typeface="Helvetica"/>
                <a:cs typeface="Helvetica"/>
                <a:hlinkClick r:id="rId5"/>
              </a:rPr>
              <a:t>production</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351330231"/>
      </p:ext>
    </p:extLst>
  </p:cSld>
  <p:clrMapOvr>
    <a:masterClrMapping/>
  </p:clrMapOvr>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polymer-modulizer</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Polymer-modulizer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Esta</a:t>
            </a:r>
            <a:r>
              <a:rPr lang="nb-NO" dirty="0">
                <a:solidFill>
                  <a:srgbClr val="FFFFFF"/>
                </a:solidFill>
                <a:latin typeface="Helvetica"/>
                <a:cs typeface="Helvetica"/>
              </a:rPr>
              <a:t> </a:t>
            </a:r>
            <a:r>
              <a:rPr lang="nb-NO" dirty="0" err="1">
                <a:solidFill>
                  <a:srgbClr val="FFFFFF"/>
                </a:solidFill>
                <a:latin typeface="Helvetica"/>
                <a:cs typeface="Helvetica"/>
              </a:rPr>
              <a:t>herramienta</a:t>
            </a:r>
            <a:r>
              <a:rPr lang="nb-NO" dirty="0">
                <a:solidFill>
                  <a:srgbClr val="FFFFFF"/>
                </a:solidFill>
                <a:latin typeface="Helvetica"/>
                <a:cs typeface="Helvetica"/>
              </a:rPr>
              <a:t> </a:t>
            </a:r>
            <a:r>
              <a:rPr lang="nb-NO" dirty="0" err="1">
                <a:solidFill>
                  <a:srgbClr val="FFFFFF"/>
                </a:solidFill>
                <a:latin typeface="Helvetica"/>
                <a:cs typeface="Helvetica"/>
              </a:rPr>
              <a:t>permite</a:t>
            </a:r>
            <a:r>
              <a:rPr lang="nb-NO" dirty="0">
                <a:solidFill>
                  <a:srgbClr val="FFFFFF"/>
                </a:solidFill>
                <a:latin typeface="Helvetica"/>
                <a:cs typeface="Helvetica"/>
              </a:rPr>
              <a:t> resolver de </a:t>
            </a:r>
            <a:r>
              <a:rPr lang="nb-NO" dirty="0" err="1">
                <a:solidFill>
                  <a:srgbClr val="FFFFFF"/>
                </a:solidFill>
                <a:latin typeface="Helvetica"/>
                <a:cs typeface="Helvetica"/>
              </a:rPr>
              <a:t>manera</a:t>
            </a:r>
            <a:r>
              <a:rPr lang="nb-NO" dirty="0">
                <a:solidFill>
                  <a:srgbClr val="FFFFFF"/>
                </a:solidFill>
                <a:latin typeface="Helvetica"/>
                <a:cs typeface="Helvetica"/>
              </a:rPr>
              <a:t> </a:t>
            </a:r>
            <a:r>
              <a:rPr lang="nb-NO" dirty="0" err="1">
                <a:solidFill>
                  <a:srgbClr val="FFFFFF"/>
                </a:solidFill>
                <a:latin typeface="Helvetica"/>
                <a:cs typeface="Helvetica"/>
              </a:rPr>
              <a:t>automática</a:t>
            </a:r>
            <a:r>
              <a:rPr lang="nb-NO" dirty="0">
                <a:solidFill>
                  <a:srgbClr val="FFFFFF"/>
                </a:solidFill>
                <a:latin typeface="Helvetica"/>
                <a:cs typeface="Helvetica"/>
              </a:rPr>
              <a:t> la </a:t>
            </a:r>
            <a:r>
              <a:rPr lang="nb-NO" dirty="0" err="1">
                <a:solidFill>
                  <a:srgbClr val="FFFFFF"/>
                </a:solidFill>
                <a:latin typeface="Helvetica"/>
                <a:cs typeface="Helvetica"/>
              </a:rPr>
              <a:t>prácticamente</a:t>
            </a:r>
            <a:r>
              <a:rPr lang="nb-NO" dirty="0">
                <a:solidFill>
                  <a:srgbClr val="FFFFFF"/>
                </a:solidFill>
                <a:latin typeface="Helvetica"/>
                <a:cs typeface="Helvetica"/>
              </a:rPr>
              <a:t> </a:t>
            </a:r>
            <a:r>
              <a:rPr lang="nb-NO" dirty="0" err="1">
                <a:solidFill>
                  <a:srgbClr val="FFFFFF"/>
                </a:solidFill>
                <a:latin typeface="Helvetica"/>
                <a:cs typeface="Helvetica"/>
              </a:rPr>
              <a:t>totalidad</a:t>
            </a:r>
            <a:r>
              <a:rPr lang="nb-NO" dirty="0">
                <a:solidFill>
                  <a:srgbClr val="FFFFFF"/>
                </a:solidFill>
                <a:latin typeface="Helvetica"/>
                <a:cs typeface="Helvetica"/>
              </a:rPr>
              <a:t> de </a:t>
            </a:r>
            <a:r>
              <a:rPr lang="nb-NO" dirty="0" err="1" smtClean="0">
                <a:solidFill>
                  <a:srgbClr val="FFFFFF"/>
                </a:solidFill>
                <a:latin typeface="Helvetica"/>
                <a:cs typeface="Helvetica"/>
              </a:rPr>
              <a:t>lasvnecesidades</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migración</a:t>
            </a:r>
            <a:r>
              <a:rPr lang="nb-NO" dirty="0">
                <a:solidFill>
                  <a:srgbClr val="FFFFFF"/>
                </a:solidFill>
                <a:latin typeface="Helvetica"/>
                <a:cs typeface="Helvetica"/>
              </a:rPr>
              <a:t> de </a:t>
            </a:r>
            <a:r>
              <a:rPr lang="nb-NO" dirty="0" err="1">
                <a:solidFill>
                  <a:srgbClr val="FFFFFF"/>
                </a:solidFill>
                <a:latin typeface="Helvetica"/>
                <a:cs typeface="Helvetica"/>
              </a:rPr>
              <a:t>componentes</a:t>
            </a:r>
            <a:r>
              <a:rPr lang="nb-NO" dirty="0">
                <a:solidFill>
                  <a:srgbClr val="FFFFFF"/>
                </a:solidFill>
                <a:latin typeface="Helvetica"/>
                <a:cs typeface="Helvetica"/>
              </a:rPr>
              <a:t> y </a:t>
            </a:r>
            <a:r>
              <a:rPr lang="nb-NO" dirty="0" err="1">
                <a:solidFill>
                  <a:srgbClr val="FFFFFF"/>
                </a:solidFill>
                <a:latin typeface="Helvetica"/>
                <a:cs typeface="Helvetica"/>
              </a:rPr>
              <a:t>aplicaciones</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2.0 a Polymer 3.0.</a:t>
            </a:r>
          </a:p>
          <a:p>
            <a:pPr algn="just">
              <a:lnSpc>
                <a:spcPct val="130000"/>
              </a:lnSpc>
            </a:pPr>
            <a:r>
              <a:rPr lang="nb-NO" dirty="0">
                <a:solidFill>
                  <a:srgbClr val="FFFFFF"/>
                </a:solidFill>
                <a:latin typeface="Helvetica"/>
                <a:cs typeface="Helvetica"/>
              </a:rPr>
              <a:t>No </a:t>
            </a:r>
            <a:r>
              <a:rPr lang="nb-NO" dirty="0" err="1">
                <a:solidFill>
                  <a:srgbClr val="FFFFFF"/>
                </a:solidFill>
                <a:latin typeface="Helvetica"/>
                <a:cs typeface="Helvetica"/>
              </a:rPr>
              <a:t>funciona</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1.x, </a:t>
            </a:r>
            <a:r>
              <a:rPr lang="nb-NO" dirty="0" err="1">
                <a:solidFill>
                  <a:srgbClr val="FFFFFF"/>
                </a:solidFill>
                <a:latin typeface="Helvetica"/>
                <a:cs typeface="Helvetica"/>
              </a:rPr>
              <a:t>ya</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en </a:t>
            </a:r>
            <a:r>
              <a:rPr lang="nb-NO" dirty="0" err="1">
                <a:solidFill>
                  <a:srgbClr val="FFFFFF"/>
                </a:solidFill>
                <a:latin typeface="Helvetica"/>
                <a:cs typeface="Helvetica"/>
              </a:rPr>
              <a:t>esa</a:t>
            </a:r>
            <a:r>
              <a:rPr lang="nb-NO" dirty="0">
                <a:solidFill>
                  <a:srgbClr val="FFFFFF"/>
                </a:solidFill>
                <a:latin typeface="Helvetica"/>
                <a:cs typeface="Helvetica"/>
              </a:rPr>
              <a:t> </a:t>
            </a:r>
            <a:r>
              <a:rPr lang="nb-NO" dirty="0" err="1">
                <a:solidFill>
                  <a:srgbClr val="FFFFFF"/>
                </a:solidFill>
                <a:latin typeface="Helvetica"/>
                <a:cs typeface="Helvetica"/>
              </a:rPr>
              <a:t>versión</a:t>
            </a:r>
            <a:r>
              <a:rPr lang="nb-NO" dirty="0">
                <a:solidFill>
                  <a:srgbClr val="FFFFFF"/>
                </a:solidFill>
                <a:latin typeface="Helvetica"/>
                <a:cs typeface="Helvetica"/>
              </a:rPr>
              <a:t> de la </a:t>
            </a:r>
            <a:r>
              <a:rPr lang="nb-NO" dirty="0" err="1">
                <a:solidFill>
                  <a:srgbClr val="FFFFFF"/>
                </a:solidFill>
                <a:latin typeface="Helvetica"/>
                <a:cs typeface="Helvetica"/>
              </a:rPr>
              <a:t>librería</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se </a:t>
            </a:r>
            <a:r>
              <a:rPr lang="nb-NO" dirty="0" err="1">
                <a:solidFill>
                  <a:srgbClr val="FFFFFF"/>
                </a:solidFill>
                <a:latin typeface="Helvetica"/>
                <a:cs typeface="Helvetica"/>
              </a:rPr>
              <a:t>usaban</a:t>
            </a:r>
            <a:r>
              <a:rPr lang="nb-NO" dirty="0">
                <a:solidFill>
                  <a:srgbClr val="FFFFFF"/>
                </a:solidFill>
                <a:latin typeface="Helvetica"/>
                <a:cs typeface="Helvetica"/>
              </a:rPr>
              <a:t> </a:t>
            </a:r>
            <a:r>
              <a:rPr lang="nb-NO" dirty="0" err="1">
                <a:solidFill>
                  <a:srgbClr val="FFFFFF"/>
                </a:solidFill>
                <a:latin typeface="Helvetica"/>
                <a:cs typeface="Helvetica"/>
              </a:rPr>
              <a:t>clases</a:t>
            </a:r>
            <a:r>
              <a:rPr lang="nb-NO" dirty="0">
                <a:solidFill>
                  <a:srgbClr val="FFFFFF"/>
                </a:solidFill>
                <a:latin typeface="Helvetica"/>
                <a:cs typeface="Helvetica"/>
              </a:rPr>
              <a:t> </a:t>
            </a:r>
            <a:r>
              <a:rPr lang="nb-NO" dirty="0" smtClean="0">
                <a:solidFill>
                  <a:srgbClr val="FFFFFF"/>
                </a:solidFill>
                <a:latin typeface="Helvetica"/>
                <a:cs typeface="Helvetica"/>
              </a:rPr>
              <a:t>ES6 para </a:t>
            </a:r>
            <a:r>
              <a:rPr lang="nb-NO" dirty="0" err="1">
                <a:solidFill>
                  <a:srgbClr val="FFFFFF"/>
                </a:solidFill>
                <a:latin typeface="Helvetica"/>
                <a:cs typeface="Helvetica"/>
              </a:rPr>
              <a:t>implementar</a:t>
            </a:r>
            <a:r>
              <a:rPr lang="nb-NO" dirty="0">
                <a:solidFill>
                  <a:srgbClr val="FFFFFF"/>
                </a:solidFill>
                <a:latin typeface="Helvetica"/>
                <a:cs typeface="Helvetica"/>
              </a:rPr>
              <a:t> los </a:t>
            </a:r>
            <a:r>
              <a:rPr lang="nb-NO" dirty="0" err="1">
                <a:solidFill>
                  <a:srgbClr val="FFFFFF"/>
                </a:solidFill>
                <a:latin typeface="Helvetica"/>
                <a:cs typeface="Helvetica"/>
              </a:rPr>
              <a:t>custom</a:t>
            </a:r>
            <a:r>
              <a:rPr lang="nb-NO" dirty="0">
                <a:solidFill>
                  <a:srgbClr val="FFFFFF"/>
                </a:solidFill>
                <a:latin typeface="Helvetica"/>
                <a:cs typeface="Helvetica"/>
              </a:rPr>
              <a:t> elements</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a:t>
            </a:r>
            <a:r>
              <a:rPr lang="nb-NO" dirty="0" smtClean="0">
                <a:solidFill>
                  <a:srgbClr val="FFFFFF"/>
                </a:solidFill>
                <a:latin typeface="Helvetica"/>
                <a:cs typeface="Helvetica"/>
                <a:hlinkClick r:id="rId5"/>
              </a:rPr>
              <a:t>upgrade</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2262807936"/>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Para declarar las propiedades de un componente debemos añadir un m</a:t>
            </a:r>
            <a:r>
              <a:rPr lang="es-ES_tradnl" dirty="0" smtClean="0">
                <a:solidFill>
                  <a:srgbClr val="FFFFFF"/>
                </a:solidFill>
                <a:latin typeface="Helvetica"/>
                <a:cs typeface="Helvetica"/>
              </a:rPr>
              <a:t>é</a:t>
            </a:r>
            <a:r>
              <a:rPr lang="es-ES_tradnl" dirty="0" smtClean="0">
                <a:solidFill>
                  <a:srgbClr val="FFFFFF"/>
                </a:solidFill>
                <a:latin typeface="Helvetica"/>
                <a:cs typeface="Helvetica"/>
              </a:rPr>
              <a:t>todo </a:t>
            </a:r>
            <a:r>
              <a:rPr lang="es-ES_tradnl" dirty="0" err="1" smtClean="0">
                <a:solidFill>
                  <a:srgbClr val="FFFFFF"/>
                </a:solidFill>
                <a:latin typeface="Helvetica"/>
                <a:cs typeface="Helvetica"/>
              </a:rPr>
              <a:t>get</a:t>
            </a:r>
            <a:r>
              <a:rPr lang="es-ES_tradnl" dirty="0" smtClean="0">
                <a:solidFill>
                  <a:srgbClr val="FFFFFF"/>
                </a:solidFill>
                <a:latin typeface="Helvetica"/>
                <a:cs typeface="Helvetica"/>
              </a:rPr>
              <a:t> est</a:t>
            </a:r>
            <a:r>
              <a:rPr lang="es-ES_tradnl" dirty="0" smtClean="0">
                <a:solidFill>
                  <a:srgbClr val="FFFFFF"/>
                </a:solidFill>
                <a:latin typeface="Helvetica"/>
                <a:cs typeface="Helvetica"/>
              </a:rPr>
              <a:t>á</a:t>
            </a:r>
            <a:r>
              <a:rPr lang="es-ES_tradnl" dirty="0" smtClean="0">
                <a:solidFill>
                  <a:srgbClr val="FFFFFF"/>
                </a:solidFill>
                <a:latin typeface="Helvetica"/>
                <a:cs typeface="Helvetica"/>
              </a:rPr>
              <a:t>tico que devuelva un objeto con las diferentes propiedades que hemos </a:t>
            </a:r>
            <a:r>
              <a:rPr lang="es-ES_tradnl" dirty="0">
                <a:solidFill>
                  <a:srgbClr val="FFFFFF"/>
                </a:solidFill>
                <a:latin typeface="Helvetica"/>
                <a:cs typeface="Helvetica"/>
              </a:rPr>
              <a:t>creado. </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Justamente </a:t>
            </a:r>
            <a:r>
              <a:rPr lang="es-ES_tradnl" dirty="0">
                <a:solidFill>
                  <a:srgbClr val="FFFFFF"/>
                </a:solidFill>
                <a:latin typeface="Helvetica"/>
                <a:cs typeface="Helvetica"/>
              </a:rPr>
              <a:t>esta riqueza en la declaración de propiedades es una </a:t>
            </a:r>
            <a:r>
              <a:rPr lang="es-ES_tradnl" dirty="0" smtClean="0">
                <a:solidFill>
                  <a:srgbClr val="FFFFFF"/>
                </a:solidFill>
                <a:latin typeface="Helvetica"/>
                <a:cs typeface="Helvetica"/>
              </a:rPr>
              <a:t>de las </a:t>
            </a:r>
            <a:r>
              <a:rPr lang="es-ES_tradnl" dirty="0">
                <a:solidFill>
                  <a:srgbClr val="FFFFFF"/>
                </a:solidFill>
                <a:latin typeface="Helvetica"/>
                <a:cs typeface="Helvetica"/>
              </a:rPr>
              <a:t>ventajas de usar </a:t>
            </a:r>
            <a:r>
              <a:rPr lang="es-ES_tradnl" dirty="0" err="1">
                <a:solidFill>
                  <a:srgbClr val="FFFFFF"/>
                </a:solidFill>
                <a:latin typeface="Helvetica"/>
                <a:cs typeface="Helvetica"/>
              </a:rPr>
              <a:t>Polymer</a:t>
            </a:r>
            <a:r>
              <a:rPr lang="es-ES_tradnl" dirty="0">
                <a:solidFill>
                  <a:srgbClr val="FFFFFF"/>
                </a:solidFill>
                <a:latin typeface="Helvetica"/>
                <a:cs typeface="Helvetica"/>
              </a:rPr>
              <a:t>, con respecto a lo que nos ofrece el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nativo de Web </a:t>
            </a:r>
            <a:r>
              <a:rPr lang="es-ES_tradnl" dirty="0" err="1">
                <a:solidFill>
                  <a:srgbClr val="FFFFFF"/>
                </a:solidFill>
                <a:latin typeface="Helvetica"/>
                <a:cs typeface="Helvetica"/>
              </a:rPr>
              <a:t>Components</a:t>
            </a:r>
            <a:r>
              <a:rPr lang="es-ES_tradnl" dirty="0">
                <a:solidFill>
                  <a:srgbClr val="FFFFFF"/>
                </a:solidFill>
                <a:latin typeface="Helvetica"/>
                <a:cs typeface="Helvetica"/>
              </a:rPr>
              <a:t>.</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https://polymer-library.polymer-project.org/2.0/docs/devguide/</a:t>
            </a:r>
            <a:r>
              <a:rPr lang="nb-NO" dirty="0" smtClean="0">
                <a:solidFill>
                  <a:srgbClr val="FFFFFF"/>
                </a:solidFill>
                <a:latin typeface="Helvetica"/>
                <a:cs typeface="Helvetica"/>
                <a:hlinkClick r:id="rId5"/>
              </a:rPr>
              <a:t>properties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1589673698"/>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Posibilidades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1878976"/>
          </a:xfrm>
          <a:prstGeom prst="rect">
            <a:avLst/>
          </a:prstGeom>
        </p:spPr>
        <p:txBody>
          <a:bodyPr wrap="square">
            <a:spAutoFit/>
          </a:bodyPr>
          <a:lstStyle/>
          <a:p>
            <a:pPr marL="342900" indent="-342900" algn="just">
              <a:lnSpc>
                <a:spcPct val="130000"/>
              </a:lnSpc>
              <a:buFont typeface="+mj-lt"/>
              <a:buAutoNum type="arabicPeriod"/>
            </a:pPr>
            <a:r>
              <a:rPr lang="es-ES_tradnl" dirty="0" smtClean="0">
                <a:solidFill>
                  <a:srgbClr val="FFFFFF"/>
                </a:solidFill>
                <a:latin typeface="Helvetica"/>
                <a:cs typeface="Helvetica"/>
              </a:rPr>
              <a:t>Declara el tipo y valor por defecto.</a:t>
            </a:r>
          </a:p>
          <a:p>
            <a:pPr marL="342900" indent="-342900" algn="just">
              <a:lnSpc>
                <a:spcPct val="130000"/>
              </a:lnSpc>
              <a:buFont typeface="+mj-lt"/>
              <a:buAutoNum type="arabicPeriod"/>
            </a:pPr>
            <a:r>
              <a:rPr lang="es-ES_tradnl" dirty="0" smtClean="0">
                <a:solidFill>
                  <a:srgbClr val="FFFFFF"/>
                </a:solidFill>
                <a:latin typeface="Helvetica"/>
                <a:cs typeface="Helvetica"/>
              </a:rPr>
              <a:t>Declarar observadores.</a:t>
            </a:r>
            <a:endParaRPr lang="es-ES_tradnl" dirty="0">
              <a:solidFill>
                <a:srgbClr val="FFFFFF"/>
              </a:solidFill>
              <a:latin typeface="Helvetica"/>
              <a:cs typeface="Helvetica"/>
            </a:endParaRPr>
          </a:p>
          <a:p>
            <a:pPr marL="342900" indent="-342900" algn="just">
              <a:lnSpc>
                <a:spcPct val="130000"/>
              </a:lnSpc>
              <a:buFont typeface="+mj-lt"/>
              <a:buAutoNum type="arabicPeriod"/>
            </a:pP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bidireccional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 </a:t>
            </a:r>
            <a:r>
              <a:rPr lang="es-ES_tradnl" dirty="0" smtClean="0">
                <a:solidFill>
                  <a:srgbClr val="FFFFFF"/>
                </a:solidFill>
                <a:latin typeface="Helvetica"/>
                <a:cs typeface="Helvetica"/>
              </a:rPr>
              <a:t>o unidireccional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a:t>
            </a:r>
          </a:p>
          <a:p>
            <a:pPr marL="342900" indent="-342900" algn="just">
              <a:lnSpc>
                <a:spcPct val="130000"/>
              </a:lnSpc>
              <a:buFont typeface="+mj-lt"/>
              <a:buAutoNum type="arabicPeriod"/>
            </a:pPr>
            <a:r>
              <a:rPr lang="es-ES_tradnl" dirty="0" smtClean="0">
                <a:solidFill>
                  <a:srgbClr val="FFFFFF"/>
                </a:solidFill>
                <a:latin typeface="Helvetica"/>
                <a:cs typeface="Helvetica"/>
              </a:rPr>
              <a:t>Soporte para </a:t>
            </a:r>
            <a:r>
              <a:rPr lang="es-ES_tradnl" dirty="0" err="1" smtClean="0">
                <a:solidFill>
                  <a:srgbClr val="FFFFFF"/>
                </a:solidFill>
                <a:latin typeface="Helvetica"/>
                <a:cs typeface="Helvetica"/>
              </a:rPr>
              <a:t>computos</a:t>
            </a:r>
            <a:r>
              <a:rPr lang="es-ES_tradnl" dirty="0" smtClean="0">
                <a:solidFill>
                  <a:srgbClr val="FFFFFF"/>
                </a:solidFill>
                <a:latin typeface="Helvetica"/>
                <a:cs typeface="Helvetica"/>
              </a:rPr>
              <a:t> y operaciones.</a:t>
            </a:r>
          </a:p>
          <a:p>
            <a:pPr marL="342900" indent="-342900" algn="just">
              <a:lnSpc>
                <a:spcPct val="130000"/>
              </a:lnSpc>
              <a:buFont typeface="+mj-lt"/>
              <a:buAutoNum type="arabicPeriod"/>
            </a:pPr>
            <a:r>
              <a:rPr lang="es-ES_tradnl" dirty="0" smtClean="0">
                <a:solidFill>
                  <a:srgbClr val="FFFFFF"/>
                </a:solidFill>
                <a:latin typeface="Helvetica"/>
                <a:cs typeface="Helvetica"/>
              </a:rPr>
              <a:t>Propiedades adicionales como </a:t>
            </a:r>
            <a:r>
              <a:rPr lang="es-ES_tradnl" dirty="0" err="1" smtClean="0">
                <a:solidFill>
                  <a:srgbClr val="FFFFFF"/>
                </a:solidFill>
                <a:latin typeface="Helvetica"/>
                <a:cs typeface="Helvetica"/>
              </a:rPr>
              <a:t>Read-only</a:t>
            </a: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888240912"/>
      </p:ext>
    </p:extLst>
  </p:cSld>
  <p:clrMapOvr>
    <a:masterClrMapping/>
  </p:clrMapOvr>
  <p:timing>
    <p:tnLst>
      <p:par>
        <p:cTn xmlns:p14="http://schemas.microsoft.com/office/powerpoint/2010/mai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1069296" y="1874728"/>
            <a:ext cx="7005407" cy="353943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user</a:t>
            </a:r>
            <a:r>
              <a:rPr lang="es-ES" sz="1400" dirty="0"/>
              <a:t>: </a:t>
            </a:r>
            <a:r>
              <a:rPr lang="es-ES" sz="1400" dirty="0" err="1"/>
              <a:t>String</a:t>
            </a:r>
            <a:r>
              <a:rPr lang="es-ES" sz="1400" dirty="0"/>
              <a:t>,</a:t>
            </a:r>
          </a:p>
          <a:p>
            <a:r>
              <a:rPr lang="es-ES" sz="1400" dirty="0"/>
              <a:t>      </a:t>
            </a:r>
            <a:r>
              <a:rPr lang="es-ES" sz="1400" dirty="0" err="1"/>
              <a:t>isHappy</a:t>
            </a:r>
            <a:r>
              <a:rPr lang="es-ES" sz="1400" dirty="0"/>
              <a:t>: </a:t>
            </a:r>
            <a:r>
              <a:rPr lang="es-ES" sz="1400" dirty="0" err="1"/>
              <a:t>Boolean</a:t>
            </a:r>
            <a:r>
              <a:rPr lang="es-ES" sz="1400" dirty="0"/>
              <a:t>,</a:t>
            </a:r>
          </a:p>
          <a:p>
            <a:r>
              <a:rPr lang="es-ES" sz="1400" dirty="0"/>
              <a:t>      </a:t>
            </a:r>
            <a:r>
              <a:rPr lang="es-ES" sz="1400" dirty="0" err="1"/>
              <a:t>count</a:t>
            </a:r>
            <a:r>
              <a:rPr lang="es-ES" sz="1400" dirty="0"/>
              <a:t>: {</a:t>
            </a:r>
          </a:p>
          <a:p>
            <a:r>
              <a:rPr lang="es-ES" sz="1400" dirty="0"/>
              <a:t>        </a:t>
            </a:r>
            <a:r>
              <a:rPr lang="es-ES" sz="1400" dirty="0" err="1"/>
              <a:t>type</a:t>
            </a:r>
            <a:r>
              <a:rPr lang="es-ES" sz="1400" dirty="0"/>
              <a:t>: </a:t>
            </a:r>
            <a:r>
              <a:rPr lang="es-ES" sz="1400" dirty="0" err="1"/>
              <a:t>Number</a:t>
            </a:r>
            <a:r>
              <a:rPr lang="es-ES" sz="1400" dirty="0"/>
              <a:t>,</a:t>
            </a:r>
          </a:p>
          <a:p>
            <a:r>
              <a:rPr lang="es-ES" sz="1400" dirty="0"/>
              <a:t>        </a:t>
            </a:r>
            <a:r>
              <a:rPr lang="es-ES" sz="1400" dirty="0" err="1"/>
              <a:t>readOnly</a:t>
            </a:r>
            <a:r>
              <a:rPr lang="es-ES" sz="1400" dirty="0"/>
              <a:t>: true,</a:t>
            </a:r>
          </a:p>
          <a:p>
            <a:r>
              <a:rPr lang="es-ES" sz="1400" dirty="0"/>
              <a:t>        </a:t>
            </a:r>
            <a:r>
              <a:rPr lang="es-ES" sz="1400" dirty="0" err="1"/>
              <a:t>notify</a:t>
            </a:r>
            <a:r>
              <a:rPr lang="es-ES" sz="1400" dirty="0"/>
              <a:t>: true</a:t>
            </a:r>
          </a:p>
          <a:p>
            <a:r>
              <a:rPr lang="es-ES" sz="1400" dirty="0"/>
              <a:t>      }</a:t>
            </a:r>
          </a:p>
          <a:p>
            <a:r>
              <a:rPr lang="es-ES" sz="1400" dirty="0"/>
              <a:t>    }</a:t>
            </a:r>
          </a:p>
          <a:p>
            <a:r>
              <a:rPr lang="es-ES" sz="1400" dirty="0"/>
              <a:t>  }</a:t>
            </a:r>
          </a:p>
          <a:p>
            <a:r>
              <a:rPr lang="es-ES" sz="1400" dirty="0"/>
              <a:t>}</a:t>
            </a:r>
          </a:p>
          <a:p>
            <a:endParaRPr lang="es-ES" sz="1400" dirty="0"/>
          </a:p>
          <a:p>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endParaRPr lang="es-ES" sz="1400" dirty="0"/>
          </a:p>
        </p:txBody>
      </p:sp>
    </p:spTree>
    <p:extLst>
      <p:ext uri="{BB962C8B-B14F-4D97-AF65-F5344CB8AC3E}">
        <p14:creationId xmlns:p14="http://schemas.microsoft.com/office/powerpoint/2010/main" val="3626024605"/>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Ciclo de Vida</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Ciclo de vida</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758214" y="1481223"/>
            <a:ext cx="7320484" cy="4893646"/>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 </a:t>
            </a:r>
            <a:r>
              <a:rPr lang="en-US" sz="1200" dirty="0" err="1"/>
              <a:t>MyElement</a:t>
            </a:r>
            <a:r>
              <a:rPr lang="en-US" sz="1200" dirty="0"/>
              <a:t> = Polymer({</a:t>
            </a:r>
          </a:p>
          <a:p>
            <a:endParaRPr lang="en-US" sz="1200" dirty="0"/>
          </a:p>
          <a:p>
            <a:r>
              <a:rPr lang="en-US" sz="1200" dirty="0"/>
              <a:t>      is: 'my-element',</a:t>
            </a:r>
          </a:p>
          <a:p>
            <a:endParaRPr lang="en-US" sz="1200" dirty="0"/>
          </a:p>
          <a:p>
            <a:r>
              <a:rPr lang="en-US" sz="1200" dirty="0"/>
              <a:t>      created: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created');</a:t>
            </a:r>
          </a:p>
          <a:p>
            <a:r>
              <a:rPr lang="en-US" sz="1200" dirty="0"/>
              <a:t>      },</a:t>
            </a:r>
          </a:p>
          <a:p>
            <a:endParaRPr lang="en-US" sz="1200" dirty="0"/>
          </a:p>
          <a:p>
            <a:r>
              <a:rPr lang="en-US" sz="1200" dirty="0"/>
              <a:t>      ready: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has local DOM initialized');</a:t>
            </a:r>
          </a:p>
          <a:p>
            <a:r>
              <a:rPr lang="en-US" sz="1200" dirty="0"/>
              <a:t>      },</a:t>
            </a:r>
          </a:p>
          <a:p>
            <a:endParaRPr lang="en-US" sz="1200" dirty="0"/>
          </a:p>
          <a:p>
            <a:r>
              <a:rPr lang="en-US" sz="1200" dirty="0"/>
              <a:t>      attached: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attached');</a:t>
            </a:r>
          </a:p>
          <a:p>
            <a:r>
              <a:rPr lang="en-US" sz="1200" dirty="0"/>
              <a:t>      },</a:t>
            </a:r>
          </a:p>
          <a:p>
            <a:endParaRPr lang="en-US" sz="1200" dirty="0"/>
          </a:p>
          <a:p>
            <a:r>
              <a:rPr lang="en-US" sz="1200" dirty="0"/>
              <a:t>      detached: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detached');</a:t>
            </a:r>
          </a:p>
          <a:p>
            <a:r>
              <a:rPr lang="en-US" sz="1200" dirty="0"/>
              <a:t>      },</a:t>
            </a:r>
          </a:p>
          <a:p>
            <a:endParaRPr lang="en-US" sz="1200" dirty="0"/>
          </a:p>
          <a:p>
            <a:r>
              <a:rPr lang="en-US" sz="1200" dirty="0"/>
              <a:t>      </a:t>
            </a:r>
            <a:r>
              <a:rPr lang="en-US" sz="1200" dirty="0" err="1"/>
              <a:t>attributeChanged</a:t>
            </a:r>
            <a:r>
              <a:rPr lang="en-US" sz="1200" dirty="0"/>
              <a:t>: function(name, type)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attribute ' + name +</a:t>
            </a:r>
          </a:p>
          <a:p>
            <a:r>
              <a:rPr lang="en-US" sz="1200" dirty="0"/>
              <a:t>          ' was changed to ' + </a:t>
            </a:r>
            <a:r>
              <a:rPr lang="en-US" sz="1200" dirty="0" err="1"/>
              <a:t>this.getAttribute</a:t>
            </a:r>
            <a:r>
              <a:rPr lang="en-US" sz="1200" dirty="0"/>
              <a:t>(name));</a:t>
            </a:r>
          </a:p>
          <a:p>
            <a:r>
              <a:rPr lang="en-US" sz="1200" dirty="0"/>
              <a:t>      </a:t>
            </a:r>
            <a:r>
              <a:rPr lang="en-US" sz="1200" dirty="0" smtClean="0"/>
              <a:t>}</a:t>
            </a:r>
            <a:endParaRPr lang="en-US" sz="1200" dirty="0"/>
          </a:p>
          <a:p>
            <a:r>
              <a:rPr lang="en-US" sz="1200" dirty="0"/>
              <a:t>    });</a:t>
            </a:r>
          </a:p>
        </p:txBody>
      </p:sp>
    </p:spTree>
    <p:extLst>
      <p:ext uri="{BB962C8B-B14F-4D97-AF65-F5344CB8AC3E}">
        <p14:creationId xmlns:p14="http://schemas.microsoft.com/office/powerpoint/2010/main" val="688364580"/>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758214" y="1481223"/>
            <a:ext cx="7320484" cy="3970317"/>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      created: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created');</a:t>
            </a:r>
          </a:p>
          <a:p>
            <a:r>
              <a:rPr lang="en-US" sz="1200" dirty="0"/>
              <a:t>      },</a:t>
            </a:r>
          </a:p>
          <a:p>
            <a:endParaRPr lang="en-US" sz="1200" dirty="0"/>
          </a:p>
          <a:p>
            <a:r>
              <a:rPr lang="en-US" sz="1200" dirty="0"/>
              <a:t>      ready: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has local DOM initialized');</a:t>
            </a:r>
          </a:p>
          <a:p>
            <a:r>
              <a:rPr lang="en-US" sz="1200" dirty="0"/>
              <a:t>      },</a:t>
            </a:r>
          </a:p>
          <a:p>
            <a:endParaRPr lang="en-US" sz="1200" dirty="0"/>
          </a:p>
          <a:p>
            <a:r>
              <a:rPr lang="en-US" sz="1200" dirty="0"/>
              <a:t>      attached: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attached');</a:t>
            </a:r>
          </a:p>
          <a:p>
            <a:r>
              <a:rPr lang="en-US" sz="1200" dirty="0"/>
              <a:t>      },</a:t>
            </a:r>
          </a:p>
          <a:p>
            <a:endParaRPr lang="en-US" sz="1200" dirty="0"/>
          </a:p>
          <a:p>
            <a:r>
              <a:rPr lang="en-US" sz="1200" dirty="0"/>
              <a:t>      detached: function()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was detached');</a:t>
            </a:r>
          </a:p>
          <a:p>
            <a:r>
              <a:rPr lang="en-US" sz="1200" dirty="0"/>
              <a:t>      },</a:t>
            </a:r>
          </a:p>
          <a:p>
            <a:endParaRPr lang="en-US" sz="1200" dirty="0"/>
          </a:p>
          <a:p>
            <a:r>
              <a:rPr lang="en-US" sz="1200" dirty="0"/>
              <a:t>      </a:t>
            </a:r>
            <a:r>
              <a:rPr lang="en-US" sz="1200" dirty="0" err="1"/>
              <a:t>attributeChanged</a:t>
            </a:r>
            <a:r>
              <a:rPr lang="en-US" sz="1200" dirty="0"/>
              <a:t>: function(name, type) {</a:t>
            </a:r>
          </a:p>
          <a:p>
            <a:r>
              <a:rPr lang="en-US" sz="1200" dirty="0"/>
              <a:t>        </a:t>
            </a:r>
            <a:r>
              <a:rPr lang="en-US" sz="1200" dirty="0" err="1"/>
              <a:t>console.log</a:t>
            </a:r>
            <a:r>
              <a:rPr lang="en-US" sz="1200" dirty="0"/>
              <a:t>(</a:t>
            </a:r>
            <a:r>
              <a:rPr lang="en-US" sz="1200" dirty="0" err="1"/>
              <a:t>this.localName</a:t>
            </a:r>
            <a:r>
              <a:rPr lang="en-US" sz="1200" dirty="0"/>
              <a:t> + '#' + </a:t>
            </a:r>
            <a:r>
              <a:rPr lang="en-US" sz="1200" dirty="0" err="1"/>
              <a:t>this.id</a:t>
            </a:r>
            <a:r>
              <a:rPr lang="en-US" sz="1200" dirty="0"/>
              <a:t> + ' attribute ' + name +</a:t>
            </a:r>
          </a:p>
          <a:p>
            <a:r>
              <a:rPr lang="en-US" sz="1200" dirty="0"/>
              <a:t>          ' was changed to ' + </a:t>
            </a:r>
            <a:r>
              <a:rPr lang="en-US" sz="1200" dirty="0" err="1"/>
              <a:t>this.getAttribute</a:t>
            </a:r>
            <a:r>
              <a:rPr lang="en-US" sz="1200" dirty="0"/>
              <a:t>(name));</a:t>
            </a:r>
          </a:p>
          <a:p>
            <a:r>
              <a:rPr lang="en-US" sz="1200" dirty="0"/>
              <a:t>      </a:t>
            </a:r>
            <a:r>
              <a:rPr lang="en-US" sz="1200" dirty="0" smtClean="0"/>
              <a:t>}</a:t>
            </a:r>
            <a:endParaRPr lang="en-US" sz="1200" dirty="0"/>
          </a:p>
        </p:txBody>
      </p:sp>
    </p:spTree>
    <p:extLst>
      <p:ext uri="{BB962C8B-B14F-4D97-AF65-F5344CB8AC3E}">
        <p14:creationId xmlns:p14="http://schemas.microsoft.com/office/powerpoint/2010/main" val="1844900783"/>
      </p:ext>
    </p:extLst>
  </p:cSld>
  <p:clrMapOvr>
    <a:masterClrMapping/>
  </p:clrMapOvr>
  <p:timing>
    <p:tnLst>
      <p:par>
        <p:cTn xmlns:p14="http://schemas.microsoft.com/office/powerpoint/2010/mai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Artículo">
  <a:themeElements>
    <a:clrScheme name="Personalizar 2">
      <a:dk1>
        <a:sysClr val="windowText" lastClr="000000"/>
      </a:dk1>
      <a:lt1>
        <a:sysClr val="window" lastClr="FFFFFF"/>
      </a:lt1>
      <a:dk2>
        <a:srgbClr val="212121"/>
      </a:dk2>
      <a:lt2>
        <a:srgbClr val="CDD4D7"/>
      </a:lt2>
      <a:accent1>
        <a:srgbClr val="1D86CD"/>
      </a:accent1>
      <a:accent2>
        <a:srgbClr val="732E9A"/>
      </a:accent2>
      <a:accent3>
        <a:srgbClr val="B50B1B"/>
      </a:accent3>
      <a:accent4>
        <a:srgbClr val="E8950E"/>
      </a:accent4>
      <a:accent5>
        <a:srgbClr val="55992B"/>
      </a:accent5>
      <a:accent6>
        <a:srgbClr val="2C9C89"/>
      </a:accent6>
      <a:hlink>
        <a:srgbClr val="4191B1"/>
      </a:hlink>
      <a:folHlink>
        <a:srgbClr val="F8CE8A"/>
      </a:folHlink>
    </a:clrScheme>
    <a:fontScheme name="Story">
      <a:majorFont>
        <a:latin typeface="Calisto MT"/>
        <a:ea typeface=""/>
        <a:cs typeface=""/>
        <a:font script="Jpan" typeface="ＭＳ Ｐ明朝"/>
        <a:font script="Hans" typeface="宋体"/>
        <a:font script="Hant" typeface="新細明體"/>
      </a:majorFont>
      <a:minorFont>
        <a:latin typeface="Calisto MT"/>
        <a:ea typeface=""/>
        <a:cs typeface=""/>
        <a:font script="Jpan" typeface="ＭＳ Ｐ明朝"/>
        <a:font script="Hans" typeface="宋体"/>
        <a:font script="Hant" typeface="新細明體"/>
      </a:minorFont>
    </a:fontScheme>
    <a:fmtScheme name="Story">
      <a:fillStyleLst>
        <a:solidFill>
          <a:schemeClr val="phClr"/>
        </a:solidFill>
        <a:blipFill rotWithShape="1">
          <a:blip xmlns:r="http://schemas.openxmlformats.org/officeDocument/2006/relationships" r:embed="rId1">
            <a:duotone>
              <a:schemeClr val="phClr">
                <a:shade val="10000"/>
                <a:satMod val="150000"/>
                <a:lumMod val="120000"/>
              </a:schemeClr>
              <a:schemeClr val="phClr">
                <a:satMod val="350000"/>
                <a:lumMod val="150000"/>
              </a:schemeClr>
            </a:duotone>
          </a:blip>
          <a:tile tx="0" ty="0" sx="20000" sy="20000" flip="none" algn="ctr"/>
        </a:blipFill>
        <a:gradFill rotWithShape="1">
          <a:gsLst>
            <a:gs pos="0">
              <a:schemeClr val="phClr">
                <a:shade val="20000"/>
                <a:satMod val="130000"/>
              </a:schemeClr>
            </a:gs>
            <a:gs pos="50000">
              <a:schemeClr val="phClr">
                <a:shade val="90000"/>
                <a:satMod val="130000"/>
              </a:schemeClr>
            </a:gs>
            <a:gs pos="100000">
              <a:schemeClr val="phClr">
                <a:shade val="100000"/>
                <a:satMod val="200000"/>
                <a:lumMod val="120000"/>
              </a:schemeClr>
            </a:gs>
          </a:gsLst>
          <a:lin ang="16200000" scaled="0"/>
        </a:gradFill>
      </a:fillStyleLst>
      <a:lnStyleLst>
        <a:ln w="6350" cap="flat" cmpd="sng" algn="ctr">
          <a:solidFill>
            <a:schemeClr val="phClr">
              <a:shade val="95000"/>
              <a:satMod val="105000"/>
            </a:schemeClr>
          </a:solidFill>
          <a:prstDash val="solid"/>
        </a:ln>
        <a:ln w="19050"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outerShdw blurRad="88900" dist="50800" dir="2100000" sx="104000" sy="104000" algn="br" rotWithShape="0">
              <a:srgbClr val="000000">
                <a:alpha val="55000"/>
              </a:srgbClr>
            </a:outerShdw>
          </a:effectLst>
        </a:effectStyle>
        <a:effectStyle>
          <a:effectLst>
            <a:outerShdw blurRad="127000" dist="63500" dir="5400000" sx="103000" sy="103000" rotWithShape="0">
              <a:srgbClr val="000000">
                <a:alpha val="75000"/>
              </a:srgbClr>
            </a:outerShdw>
          </a:effectLst>
          <a:scene3d>
            <a:camera prst="perspectiveFront" fov="3000000"/>
            <a:lightRig rig="balanced" dir="t">
              <a:rot lat="0" lon="0" rev="18000000"/>
            </a:lightRig>
          </a:scene3d>
          <a:sp3d prstMaterial="plastic">
            <a:bevelT w="254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blipFill rotWithShape="1">
          <a:blip xmlns:r="http://schemas.openxmlformats.org/officeDocument/2006/relationships" r:embed="rId2">
            <a:duotone>
              <a:schemeClr val="phClr">
                <a:shade val="10000"/>
                <a:satMod val="150000"/>
              </a:schemeClr>
              <a:schemeClr val="phClr">
                <a:tint val="60000"/>
                <a:satMod val="400000"/>
                <a:lumMod val="110000"/>
              </a:schemeClr>
            </a:duotone>
          </a:blip>
          <a:stretch/>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Artículo.thmx</Template>
  <TotalTime>22239</TotalTime>
  <Words>9265</Words>
  <Application>Microsoft Macintosh PowerPoint</Application>
  <PresentationFormat>Presentación en pantalla (4:3)</PresentationFormat>
  <Paragraphs>1301</Paragraphs>
  <Slides>71</Slides>
  <Notes>71</Notes>
  <HiddenSlides>0</HiddenSlides>
  <MMClips>0</MMClips>
  <ScaleCrop>false</ScaleCrop>
  <HeadingPairs>
    <vt:vector size="4" baseType="variant">
      <vt:variant>
        <vt:lpstr>Tema</vt:lpstr>
      </vt:variant>
      <vt:variant>
        <vt:i4>1</vt:i4>
      </vt:variant>
      <vt:variant>
        <vt:lpstr>Títulos de diapositiva</vt:lpstr>
      </vt:variant>
      <vt:variant>
        <vt:i4>71</vt:i4>
      </vt:variant>
    </vt:vector>
  </HeadingPairs>
  <TitlesOfParts>
    <vt:vector size="72" baseType="lpstr">
      <vt:lpstr>Artículo</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fmaralv</dc:creator>
  <cp:lastModifiedBy>fmaralv</cp:lastModifiedBy>
  <cp:revision>320</cp:revision>
  <dcterms:created xsi:type="dcterms:W3CDTF">2014-04-04T16:20:36Z</dcterms:created>
  <dcterms:modified xsi:type="dcterms:W3CDTF">2018-11-15T08:23:54Z</dcterms:modified>
</cp:coreProperties>
</file>