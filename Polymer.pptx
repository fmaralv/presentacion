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6"/>
  </p:notesMasterIdLst>
  <p:handoutMasterIdLst>
    <p:handoutMasterId r:id="rId107"/>
  </p:handoutMasterIdLst>
  <p:sldIdLst>
    <p:sldId id="313" r:id="rId2"/>
    <p:sldId id="320" r:id="rId3"/>
    <p:sldId id="393" r:id="rId4"/>
    <p:sldId id="395" r:id="rId5"/>
    <p:sldId id="396" r:id="rId6"/>
    <p:sldId id="397" r:id="rId7"/>
    <p:sldId id="398" r:id="rId8"/>
    <p:sldId id="399" r:id="rId9"/>
    <p:sldId id="400" r:id="rId10"/>
    <p:sldId id="401" r:id="rId11"/>
    <p:sldId id="402" r:id="rId12"/>
    <p:sldId id="403" r:id="rId13"/>
    <p:sldId id="404" r:id="rId14"/>
    <p:sldId id="405" r:id="rId15"/>
    <p:sldId id="406" r:id="rId16"/>
    <p:sldId id="407" r:id="rId17"/>
    <p:sldId id="409" r:id="rId18"/>
    <p:sldId id="408" r:id="rId19"/>
    <p:sldId id="410" r:id="rId20"/>
    <p:sldId id="411" r:id="rId21"/>
    <p:sldId id="361" r:id="rId22"/>
    <p:sldId id="371" r:id="rId23"/>
    <p:sldId id="372" r:id="rId24"/>
    <p:sldId id="378" r:id="rId25"/>
    <p:sldId id="379" r:id="rId26"/>
    <p:sldId id="375" r:id="rId27"/>
    <p:sldId id="376" r:id="rId28"/>
    <p:sldId id="380" r:id="rId29"/>
    <p:sldId id="381" r:id="rId30"/>
    <p:sldId id="382" r:id="rId31"/>
    <p:sldId id="392" r:id="rId32"/>
    <p:sldId id="362" r:id="rId33"/>
    <p:sldId id="391" r:id="rId34"/>
    <p:sldId id="383" r:id="rId35"/>
    <p:sldId id="384" r:id="rId36"/>
    <p:sldId id="374" r:id="rId37"/>
    <p:sldId id="385" r:id="rId38"/>
    <p:sldId id="386" r:id="rId39"/>
    <p:sldId id="388" r:id="rId40"/>
    <p:sldId id="366" r:id="rId41"/>
    <p:sldId id="389" r:id="rId42"/>
    <p:sldId id="387" r:id="rId43"/>
    <p:sldId id="413" r:id="rId44"/>
    <p:sldId id="412" r:id="rId45"/>
    <p:sldId id="414" r:id="rId46"/>
    <p:sldId id="417" r:id="rId47"/>
    <p:sldId id="418" r:id="rId48"/>
    <p:sldId id="415" r:id="rId49"/>
    <p:sldId id="420" r:id="rId50"/>
    <p:sldId id="421" r:id="rId51"/>
    <p:sldId id="416" r:id="rId52"/>
    <p:sldId id="422" r:id="rId53"/>
    <p:sldId id="436" r:id="rId54"/>
    <p:sldId id="432" r:id="rId55"/>
    <p:sldId id="435" r:id="rId56"/>
    <p:sldId id="424" r:id="rId57"/>
    <p:sldId id="425" r:id="rId58"/>
    <p:sldId id="430" r:id="rId59"/>
    <p:sldId id="427" r:id="rId60"/>
    <p:sldId id="429" r:id="rId61"/>
    <p:sldId id="426" r:id="rId62"/>
    <p:sldId id="439" r:id="rId63"/>
    <p:sldId id="438" r:id="rId64"/>
    <p:sldId id="428" r:id="rId65"/>
    <p:sldId id="431" r:id="rId66"/>
    <p:sldId id="434" r:id="rId67"/>
    <p:sldId id="437" r:id="rId68"/>
    <p:sldId id="465" r:id="rId69"/>
    <p:sldId id="464" r:id="rId70"/>
    <p:sldId id="441" r:id="rId71"/>
    <p:sldId id="442" r:id="rId72"/>
    <p:sldId id="443" r:id="rId73"/>
    <p:sldId id="458" r:id="rId74"/>
    <p:sldId id="459" r:id="rId75"/>
    <p:sldId id="460" r:id="rId76"/>
    <p:sldId id="461" r:id="rId77"/>
    <p:sldId id="453" r:id="rId78"/>
    <p:sldId id="467" r:id="rId79"/>
    <p:sldId id="466" r:id="rId80"/>
    <p:sldId id="455" r:id="rId81"/>
    <p:sldId id="456" r:id="rId82"/>
    <p:sldId id="457" r:id="rId83"/>
    <p:sldId id="462" r:id="rId84"/>
    <p:sldId id="471" r:id="rId85"/>
    <p:sldId id="470" r:id="rId86"/>
    <p:sldId id="473" r:id="rId87"/>
    <p:sldId id="468" r:id="rId88"/>
    <p:sldId id="469" r:id="rId89"/>
    <p:sldId id="472" r:id="rId90"/>
    <p:sldId id="463" r:id="rId91"/>
    <p:sldId id="475" r:id="rId92"/>
    <p:sldId id="474" r:id="rId93"/>
    <p:sldId id="444" r:id="rId94"/>
    <p:sldId id="445" r:id="rId95"/>
    <p:sldId id="446" r:id="rId96"/>
    <p:sldId id="447" r:id="rId97"/>
    <p:sldId id="448" r:id="rId98"/>
    <p:sldId id="449" r:id="rId99"/>
    <p:sldId id="450" r:id="rId100"/>
    <p:sldId id="451" r:id="rId101"/>
    <p:sldId id="476" r:id="rId102"/>
    <p:sldId id="452" r:id="rId103"/>
    <p:sldId id="477" r:id="rId104"/>
    <p:sldId id="478" r:id="rId10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34" autoAdjust="0"/>
    <p:restoredTop sz="66423" autoAdjust="0"/>
  </p:normalViewPr>
  <p:slideViewPr>
    <p:cSldViewPr snapToGrid="0" snapToObjects="1">
      <p:cViewPr varScale="1">
        <p:scale>
          <a:sx n="79" d="100"/>
          <a:sy n="79" d="100"/>
        </p:scale>
        <p:origin x="-252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4" d="100"/>
          <a:sy n="84" d="100"/>
        </p:scale>
        <p:origin x="-3008"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notesMaster" Target="notesMasters/notesMaster1.xml"/><Relationship Id="rId107" Type="http://schemas.openxmlformats.org/officeDocument/2006/relationships/handoutMaster" Target="handoutMasters/handout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8" Type="http://schemas.openxmlformats.org/officeDocument/2006/relationships/printerSettings" Target="printerSettings/printerSettings1.bin"/><Relationship Id="rId109" Type="http://schemas.openxmlformats.org/officeDocument/2006/relationships/presProps" Target="pres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10" Type="http://schemas.openxmlformats.org/officeDocument/2006/relationships/viewProps" Target="viewProps.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11" Type="http://schemas.openxmlformats.org/officeDocument/2006/relationships/theme" Target="theme/theme1.xml"/><Relationship Id="rId112"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00" Type="http://schemas.openxmlformats.org/officeDocument/2006/relationships/slide" Target="slides/slide99.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E33E2F5-AC6D-E244-B824-7DFAF2DE313C}" type="datetimeFigureOut">
              <a:rPr lang="es-ES" smtClean="0"/>
              <a:t>18/11/18</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460FC21-46F1-6841-B4D4-8681B6CCAAA3}" type="slidenum">
              <a:rPr lang="es-ES" smtClean="0"/>
              <a:t>‹Nr.›</a:t>
            </a:fld>
            <a:endParaRPr lang="es-ES"/>
          </a:p>
        </p:txBody>
      </p:sp>
    </p:spTree>
    <p:extLst>
      <p:ext uri="{BB962C8B-B14F-4D97-AF65-F5344CB8AC3E}">
        <p14:creationId xmlns:p14="http://schemas.microsoft.com/office/powerpoint/2010/main" val="5032208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9D23E8-7F3D-5B4E-AFFD-6DC4D2E9164B}" type="datetimeFigureOut">
              <a:rPr lang="es-ES" smtClean="0"/>
              <a:t>18/11/18</a:t>
            </a:fld>
            <a:endParaRPr lang="es-ES"/>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EE8439-D3F3-834F-944C-DB2C1DCB3234}" type="slidenum">
              <a:rPr lang="es-ES" smtClean="0"/>
              <a:t>‹Nr.›</a:t>
            </a:fld>
            <a:endParaRPr lang="es-ES"/>
          </a:p>
        </p:txBody>
      </p:sp>
    </p:spTree>
    <p:extLst>
      <p:ext uri="{BB962C8B-B14F-4D97-AF65-F5344CB8AC3E}">
        <p14:creationId xmlns:p14="http://schemas.microsoft.com/office/powerpoint/2010/main" val="15293219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smtClean="0"/>
              <a:t>Prueba de notas</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2</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3</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4</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5</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6</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7</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8</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9</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10</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11</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12</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13</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14</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15</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16</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17</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18</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19</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20</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21</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22</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23</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24</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25</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26</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27</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28</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29</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30</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31</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32</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33</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34</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35</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36</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37</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38</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39</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40</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41</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42</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43</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44</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45</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46</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DEE8439-D3F3-834F-944C-DB2C1DCB3234}" type="slidenum">
              <a:rPr lang="es-ES" smtClean="0"/>
              <a:t>47</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ES" sz="1200" b="0" i="0" u="none" strike="noStrike" baseline="0" dirty="0" smtClean="0">
                <a:solidFill>
                  <a:srgbClr val="333333"/>
                </a:solidFill>
                <a:latin typeface="‡ÿ)Í˛"/>
              </a:rPr>
              <a:t>Su peso en bytes es aproximadamente un cuarto del peso de </a:t>
            </a:r>
            <a:r>
              <a:rPr lang="es-ES" sz="1200" b="0" i="0" u="none" strike="noStrike" baseline="0" dirty="0" err="1" smtClean="0">
                <a:solidFill>
                  <a:srgbClr val="333333"/>
                </a:solidFill>
                <a:latin typeface="‡ÿ)Í˛"/>
              </a:rPr>
              <a:t>Polymer</a:t>
            </a:r>
            <a:r>
              <a:rPr lang="es-ES" sz="1200" b="0" i="0" u="none" strike="noStrike" baseline="0" dirty="0" smtClean="0">
                <a:solidFill>
                  <a:srgbClr val="333333"/>
                </a:solidFill>
                <a:latin typeface="‡ÿ)Í˛"/>
              </a:rPr>
              <a:t> 1.0</a:t>
            </a:r>
          </a:p>
          <a:p>
            <a:pPr algn="l"/>
            <a:r>
              <a:rPr lang="es-ES" sz="1200" b="0" i="0" u="none" strike="noStrike" baseline="0" dirty="0" smtClean="0">
                <a:solidFill>
                  <a:srgbClr val="333333"/>
                </a:solidFill>
                <a:latin typeface="‡ÿ)Í˛"/>
              </a:rPr>
              <a:t>Los </a:t>
            </a:r>
            <a:r>
              <a:rPr lang="es-ES" sz="1200" b="0" i="0" u="none" strike="noStrike" baseline="0" dirty="0" err="1" smtClean="0">
                <a:solidFill>
                  <a:srgbClr val="333333"/>
                </a:solidFill>
                <a:latin typeface="‡ÿ)Í˛"/>
              </a:rPr>
              <a:t>polyfills</a:t>
            </a:r>
            <a:r>
              <a:rPr lang="es-ES" sz="1200" b="0" i="0" u="none" strike="noStrike" baseline="0" dirty="0" smtClean="0">
                <a:solidFill>
                  <a:srgbClr val="333333"/>
                </a:solidFill>
                <a:latin typeface="‡ÿ)Í˛"/>
              </a:rPr>
              <a:t> están separados por especificaciones del estándar de Web </a:t>
            </a:r>
            <a:r>
              <a:rPr lang="es-ES" sz="1200" b="0" i="0" u="none" strike="noStrike" baseline="0" dirty="0" err="1" smtClean="0">
                <a:solidFill>
                  <a:srgbClr val="333333"/>
                </a:solidFill>
                <a:latin typeface="‡ÿ)Í˛"/>
              </a:rPr>
              <a:t>Components</a:t>
            </a:r>
            <a:r>
              <a:rPr lang="es-ES" sz="1200" b="0" i="0" u="none" strike="noStrike" baseline="0" dirty="0" smtClean="0">
                <a:solidFill>
                  <a:srgbClr val="333333"/>
                </a:solidFill>
                <a:latin typeface="‡ÿ)Í˛"/>
              </a:rPr>
              <a:t>, de modo que</a:t>
            </a:r>
          </a:p>
          <a:p>
            <a:pPr algn="l"/>
            <a:r>
              <a:rPr lang="es-ES" sz="1200" b="0" i="0" u="none" strike="noStrike" baseline="0" dirty="0" smtClean="0">
                <a:solidFill>
                  <a:srgbClr val="333333"/>
                </a:solidFill>
                <a:latin typeface="‡ÿ)Í˛"/>
              </a:rPr>
              <a:t>se puede limitar mejor la carga de </a:t>
            </a:r>
            <a:r>
              <a:rPr lang="es-ES" sz="1200" b="0" i="0" u="none" strike="noStrike" baseline="0" dirty="0" err="1" smtClean="0">
                <a:solidFill>
                  <a:srgbClr val="333333"/>
                </a:solidFill>
                <a:latin typeface="‡ÿ)Í˛"/>
              </a:rPr>
              <a:t>Polyfills</a:t>
            </a:r>
            <a:r>
              <a:rPr lang="es-ES" sz="1200" b="0" i="0" u="none" strike="noStrike" baseline="0" dirty="0" smtClean="0">
                <a:solidFill>
                  <a:srgbClr val="333333"/>
                </a:solidFill>
                <a:latin typeface="‡ÿ)Í˛"/>
              </a:rPr>
              <a:t> a aquellos que realmente el navegador necesita,</a:t>
            </a:r>
          </a:p>
          <a:p>
            <a:pPr algn="l"/>
            <a:r>
              <a:rPr lang="es-ES" sz="1200" b="0" i="0" u="none" strike="noStrike" baseline="0" dirty="0" smtClean="0">
                <a:solidFill>
                  <a:srgbClr val="333333"/>
                </a:solidFill>
                <a:latin typeface="‡ÿ)Í˛"/>
              </a:rPr>
              <a:t>reduciendo el peso en bytes de las aplicaciones y el tiempo de arranque a lo mínimo necesario en</a:t>
            </a:r>
          </a:p>
          <a:p>
            <a:pPr algn="l"/>
            <a:r>
              <a:rPr lang="es-ES" sz="1200" b="0" i="0" u="none" strike="noStrike" baseline="0" dirty="0" smtClean="0">
                <a:solidFill>
                  <a:srgbClr val="333333"/>
                </a:solidFill>
                <a:latin typeface="‡ÿ)Í˛"/>
              </a:rPr>
              <a:t>cada navegador.</a:t>
            </a:r>
          </a:p>
          <a:p>
            <a:pPr algn="l"/>
            <a:r>
              <a:rPr lang="es-ES" sz="1200" b="0" i="0" u="none" strike="noStrike" baseline="0" dirty="0" smtClean="0">
                <a:solidFill>
                  <a:srgbClr val="333333"/>
                </a:solidFill>
                <a:latin typeface="‡ÿ)Í˛"/>
              </a:rPr>
              <a:t>Los </a:t>
            </a:r>
            <a:r>
              <a:rPr lang="es-ES" sz="1200" b="0" i="0" u="none" strike="noStrike" baseline="0" dirty="0" err="1" smtClean="0">
                <a:solidFill>
                  <a:srgbClr val="333333"/>
                </a:solidFill>
                <a:latin typeface="‡ÿ)Í˛"/>
              </a:rPr>
              <a:t>Custom</a:t>
            </a:r>
            <a:r>
              <a:rPr lang="es-ES" sz="1200" b="0" i="0" u="none" strike="noStrike" baseline="0" dirty="0" smtClean="0">
                <a:solidFill>
                  <a:srgbClr val="333333"/>
                </a:solidFill>
                <a:latin typeface="‡ÿ)Í˛"/>
              </a:rPr>
              <a:t> </a:t>
            </a:r>
            <a:r>
              <a:rPr lang="es-ES" sz="1200" b="0" i="0" u="none" strike="noStrike" baseline="0" dirty="0" err="1" smtClean="0">
                <a:solidFill>
                  <a:srgbClr val="333333"/>
                </a:solidFill>
                <a:latin typeface="‡ÿ)Í˛"/>
              </a:rPr>
              <a:t>Elements</a:t>
            </a:r>
            <a:r>
              <a:rPr lang="es-ES" sz="1200" b="0" i="0" u="none" strike="noStrike" baseline="0" dirty="0" smtClean="0">
                <a:solidFill>
                  <a:srgbClr val="333333"/>
                </a:solidFill>
                <a:latin typeface="‡ÿ)Í˛"/>
              </a:rPr>
              <a:t> ahora se definen mediante </a:t>
            </a:r>
            <a:r>
              <a:rPr lang="es-ES" sz="1200" b="0" i="0" u="none" strike="noStrike" baseline="0" dirty="0" smtClean="0">
                <a:solidFill>
                  <a:srgbClr val="0000EF"/>
                </a:solidFill>
                <a:latin typeface="‡ÿ)Í˛"/>
              </a:rPr>
              <a:t>clases ES6</a:t>
            </a:r>
            <a:r>
              <a:rPr lang="es-ES" sz="1200" b="0" i="0" u="none" strike="noStrike" baseline="0" dirty="0" smtClean="0">
                <a:solidFill>
                  <a:srgbClr val="333333"/>
                </a:solidFill>
                <a:latin typeface="‡ÿ)Í˛"/>
              </a:rPr>
              <a:t>, algo nuevo en el propio estándar, lo</a:t>
            </a:r>
          </a:p>
          <a:p>
            <a:pPr algn="l"/>
            <a:r>
              <a:rPr lang="es-ES" sz="1200" b="0" i="0" u="none" strike="noStrike" baseline="0" dirty="0" smtClean="0">
                <a:solidFill>
                  <a:srgbClr val="333333"/>
                </a:solidFill>
                <a:latin typeface="‡ÿ)Í˛"/>
              </a:rPr>
              <a:t>que reduce la cantidad de código y simplifica la creación de componentes. En el caso de crear un</a:t>
            </a:r>
          </a:p>
          <a:p>
            <a:pPr algn="l"/>
            <a:r>
              <a:rPr lang="es-ES" sz="1200" b="0" i="0" u="none" strike="noStrike" baseline="0" dirty="0" smtClean="0">
                <a:solidFill>
                  <a:srgbClr val="333333"/>
                </a:solidFill>
                <a:latin typeface="‡ÿ)Í˛"/>
              </a:rPr>
              <a:t>elemento de </a:t>
            </a:r>
            <a:r>
              <a:rPr lang="es-ES" sz="1200" b="0" i="0" u="none" strike="noStrike" baseline="0" dirty="0" err="1" smtClean="0">
                <a:solidFill>
                  <a:srgbClr val="333333"/>
                </a:solidFill>
                <a:latin typeface="‡ÿ)Í˛"/>
              </a:rPr>
              <a:t>Polymer</a:t>
            </a:r>
            <a:r>
              <a:rPr lang="es-ES" sz="1200" b="0" i="0" u="none" strike="noStrike" baseline="0" dirty="0" smtClean="0">
                <a:solidFill>
                  <a:srgbClr val="333333"/>
                </a:solidFill>
                <a:latin typeface="‡ÿ)Í˛"/>
              </a:rPr>
              <a:t> 2.0 la única diferencia está en que no extenderemos de </a:t>
            </a:r>
            <a:r>
              <a:rPr lang="es-ES" sz="1200" b="0" i="0" u="none" strike="noStrike" baseline="0" dirty="0" err="1" smtClean="0">
                <a:solidFill>
                  <a:srgbClr val="333333"/>
                </a:solidFill>
                <a:latin typeface="‡ÿ)Í˛"/>
              </a:rPr>
              <a:t>HTMLElement</a:t>
            </a:r>
            <a:r>
              <a:rPr lang="es-ES" sz="1200" b="0" i="0" u="none" strike="noStrike" baseline="0" dirty="0" smtClean="0">
                <a:solidFill>
                  <a:srgbClr val="333333"/>
                </a:solidFill>
                <a:latin typeface="‡ÿ)Í˛"/>
              </a:rPr>
              <a:t> sino</a:t>
            </a:r>
          </a:p>
          <a:p>
            <a:pPr algn="l"/>
            <a:r>
              <a:rPr lang="es-ES" sz="1200" b="0" i="0" u="none" strike="noStrike" baseline="0" dirty="0" smtClean="0">
                <a:solidFill>
                  <a:srgbClr val="333333"/>
                </a:solidFill>
                <a:latin typeface="‡ÿ)Í˛"/>
              </a:rPr>
              <a:t>de </a:t>
            </a:r>
            <a:r>
              <a:rPr lang="es-ES" sz="1200" b="0" i="0" u="none" strike="noStrike" baseline="0" dirty="0" err="1" smtClean="0">
                <a:solidFill>
                  <a:srgbClr val="333333"/>
                </a:solidFill>
                <a:latin typeface="‡ÿ)Í˛"/>
              </a:rPr>
              <a:t>Polymer.Element</a:t>
            </a:r>
            <a:r>
              <a:rPr lang="es-ES" sz="1200" b="0" i="0" u="none" strike="noStrike" baseline="0" dirty="0" smtClean="0">
                <a:solidFill>
                  <a:srgbClr val="333333"/>
                </a:solidFill>
                <a:latin typeface="‡ÿ)Í˛"/>
              </a:rPr>
              <a:t>.</a:t>
            </a:r>
          </a:p>
          <a:p>
            <a:pPr algn="l"/>
            <a:r>
              <a:rPr lang="es-ES" sz="1200" b="0" i="0" u="none" strike="noStrike" baseline="0" dirty="0" smtClean="0">
                <a:solidFill>
                  <a:srgbClr val="333333"/>
                </a:solidFill>
                <a:latin typeface="‡ÿ)Í˛"/>
              </a:rPr>
              <a:t>La interoperabilidad entre componentes, la capacidad de trabajar los unos con los otros, ahora está</a:t>
            </a:r>
          </a:p>
          <a:p>
            <a:pPr algn="l"/>
            <a:r>
              <a:rPr lang="es-ES" sz="1200" b="0" i="0" u="none" strike="noStrike" baseline="0" dirty="0" smtClean="0">
                <a:solidFill>
                  <a:srgbClr val="333333"/>
                </a:solidFill>
                <a:latin typeface="‡ÿ)Í˛"/>
              </a:rPr>
              <a:t>directamente ofrecida con el estándar de Web </a:t>
            </a:r>
            <a:r>
              <a:rPr lang="es-ES" sz="1200" b="0" i="0" u="none" strike="noStrike" baseline="0" dirty="0" err="1" smtClean="0">
                <a:solidFill>
                  <a:srgbClr val="333333"/>
                </a:solidFill>
                <a:latin typeface="‡ÿ)Í˛"/>
              </a:rPr>
              <a:t>Components</a:t>
            </a:r>
            <a:r>
              <a:rPr lang="es-ES" sz="1200" b="0" i="0" u="none" strike="noStrike" baseline="0" dirty="0" smtClean="0">
                <a:solidFill>
                  <a:srgbClr val="333333"/>
                </a:solidFill>
                <a:latin typeface="‡ÿ)Í˛"/>
              </a:rPr>
              <a:t>.</a:t>
            </a:r>
          </a:p>
          <a:p>
            <a:pPr algn="l"/>
            <a:r>
              <a:rPr lang="es-ES" sz="1200" b="0" i="0" u="none" strike="noStrike" baseline="0" dirty="0" smtClean="0">
                <a:solidFill>
                  <a:srgbClr val="333333"/>
                </a:solidFill>
                <a:latin typeface="‡ÿ)Í˛"/>
              </a:rPr>
              <a:t>El uso de </a:t>
            </a:r>
            <a:r>
              <a:rPr lang="es-ES" sz="1200" b="0" i="0" u="none" strike="noStrike" baseline="0" dirty="0" err="1" smtClean="0">
                <a:solidFill>
                  <a:srgbClr val="333333"/>
                </a:solidFill>
                <a:latin typeface="‡ÿ)Í˛"/>
              </a:rPr>
              <a:t>Custom</a:t>
            </a:r>
            <a:r>
              <a:rPr lang="es-ES" sz="1200" b="0" i="0" u="none" strike="noStrike" baseline="0" dirty="0" smtClean="0">
                <a:solidFill>
                  <a:srgbClr val="333333"/>
                </a:solidFill>
                <a:latin typeface="‡ÿ)Í˛"/>
              </a:rPr>
              <a:t> </a:t>
            </a:r>
            <a:r>
              <a:rPr lang="es-ES" sz="1200" b="0" i="0" u="none" strike="noStrike" baseline="0" dirty="0" err="1" smtClean="0">
                <a:solidFill>
                  <a:srgbClr val="333333"/>
                </a:solidFill>
                <a:latin typeface="‡ÿ)Í˛"/>
              </a:rPr>
              <a:t>Properties</a:t>
            </a:r>
            <a:r>
              <a:rPr lang="es-ES" sz="1200" b="0" i="0" u="none" strike="noStrike" baseline="0" dirty="0" smtClean="0">
                <a:solidFill>
                  <a:srgbClr val="333333"/>
                </a:solidFill>
                <a:latin typeface="‡ÿ)Í˛"/>
              </a:rPr>
              <a:t> de CSS se implementa de manera nativa y compatible con todos los</a:t>
            </a:r>
          </a:p>
          <a:p>
            <a:pPr algn="l"/>
            <a:r>
              <a:rPr lang="es-ES" sz="1200" b="0" i="0" u="none" strike="noStrike" baseline="0" dirty="0" smtClean="0">
                <a:solidFill>
                  <a:srgbClr val="333333"/>
                </a:solidFill>
                <a:latin typeface="‡ÿ)Í˛"/>
              </a:rPr>
              <a:t>navegadores modernos, lo que no requiere código extra de la librería. (Style dentro de </a:t>
            </a:r>
            <a:r>
              <a:rPr lang="es-ES" sz="1200" b="0" i="0" u="none" strike="noStrike" baseline="0" dirty="0" err="1" smtClean="0">
                <a:solidFill>
                  <a:srgbClr val="333333"/>
                </a:solidFill>
                <a:latin typeface="‡ÿ)Í˛"/>
              </a:rPr>
              <a:t>Template</a:t>
            </a:r>
            <a:r>
              <a:rPr lang="es-ES" sz="1200" b="0" i="0" u="none" strike="noStrike" baseline="0" dirty="0" smtClean="0">
                <a:solidFill>
                  <a:srgbClr val="333333"/>
                </a:solidFill>
                <a:latin typeface="‡ÿ)Í˛"/>
              </a:rPr>
              <a:t>)</a:t>
            </a:r>
          </a:p>
          <a:p>
            <a:pPr algn="l"/>
            <a:r>
              <a:rPr lang="es-ES" sz="1200" b="0" i="0" u="none" strike="noStrike" baseline="0" dirty="0" smtClean="0">
                <a:solidFill>
                  <a:srgbClr val="333333"/>
                </a:solidFill>
                <a:latin typeface="‡ÿ)Í˛"/>
              </a:rPr>
              <a:t>Existe una capa de compatibilidad que permite el desarrollo híbrido, de componentes con sintaxis</a:t>
            </a:r>
          </a:p>
          <a:p>
            <a:pPr algn="l"/>
            <a:r>
              <a:rPr lang="es-ES" sz="1200" b="0" i="0" u="none" strike="noStrike" baseline="0" dirty="0" smtClean="0">
                <a:solidFill>
                  <a:srgbClr val="333333"/>
                </a:solidFill>
                <a:latin typeface="‡ÿ)Í˛"/>
              </a:rPr>
              <a:t>1.x y con sintaxis 2.x, de modo que la migración de aplicaciones existentes sea más sencilla y se</a:t>
            </a:r>
          </a:p>
          <a:p>
            <a:pPr algn="l"/>
            <a:r>
              <a:rPr lang="es-ES" sz="1200" b="0" i="0" u="none" strike="noStrike" baseline="0" dirty="0" smtClean="0">
                <a:solidFill>
                  <a:srgbClr val="333333"/>
                </a:solidFill>
                <a:latin typeface="‡ÿ)Í˛"/>
              </a:rPr>
              <a:t>pueda realizar de manera progresiva.</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48</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l"/>
            <a:r>
              <a:rPr lang="es-ES" sz="1200" b="0" i="0" u="none" strike="noStrike" baseline="0" dirty="0" smtClean="0">
                <a:solidFill>
                  <a:srgbClr val="333333"/>
                </a:solidFill>
                <a:latin typeface="‡ÿ)Í˛"/>
              </a:rPr>
              <a:t>Su peso en bytes es aproximadamente un cuarto del peso de </a:t>
            </a:r>
            <a:r>
              <a:rPr lang="es-ES" sz="1200" b="0" i="0" u="none" strike="noStrike" baseline="0" dirty="0" err="1" smtClean="0">
                <a:solidFill>
                  <a:srgbClr val="333333"/>
                </a:solidFill>
                <a:latin typeface="‡ÿ)Í˛"/>
              </a:rPr>
              <a:t>Polymer</a:t>
            </a:r>
            <a:r>
              <a:rPr lang="es-ES" sz="1200" b="0" i="0" u="none" strike="noStrike" baseline="0" dirty="0" smtClean="0">
                <a:solidFill>
                  <a:srgbClr val="333333"/>
                </a:solidFill>
                <a:latin typeface="‡ÿ)Í˛"/>
              </a:rPr>
              <a:t> 1.0</a:t>
            </a:r>
          </a:p>
          <a:p>
            <a:pPr algn="l"/>
            <a:r>
              <a:rPr lang="es-ES" sz="1200" b="0" i="0" u="none" strike="noStrike" baseline="0" dirty="0" smtClean="0">
                <a:solidFill>
                  <a:srgbClr val="333333"/>
                </a:solidFill>
                <a:latin typeface="‡ÿ)Í˛"/>
              </a:rPr>
              <a:t>Los </a:t>
            </a:r>
            <a:r>
              <a:rPr lang="es-ES" sz="1200" b="0" i="0" u="none" strike="noStrike" baseline="0" dirty="0" err="1" smtClean="0">
                <a:solidFill>
                  <a:srgbClr val="333333"/>
                </a:solidFill>
                <a:latin typeface="‡ÿ)Í˛"/>
              </a:rPr>
              <a:t>polyfills</a:t>
            </a:r>
            <a:r>
              <a:rPr lang="es-ES" sz="1200" b="0" i="0" u="none" strike="noStrike" baseline="0" dirty="0" smtClean="0">
                <a:solidFill>
                  <a:srgbClr val="333333"/>
                </a:solidFill>
                <a:latin typeface="‡ÿ)Í˛"/>
              </a:rPr>
              <a:t> están separados por especificaciones del estándar de Web </a:t>
            </a:r>
            <a:r>
              <a:rPr lang="es-ES" sz="1200" b="0" i="0" u="none" strike="noStrike" baseline="0" dirty="0" err="1" smtClean="0">
                <a:solidFill>
                  <a:srgbClr val="333333"/>
                </a:solidFill>
                <a:latin typeface="‡ÿ)Í˛"/>
              </a:rPr>
              <a:t>Components</a:t>
            </a:r>
            <a:r>
              <a:rPr lang="es-ES" sz="1200" b="0" i="0" u="none" strike="noStrike" baseline="0" dirty="0" smtClean="0">
                <a:solidFill>
                  <a:srgbClr val="333333"/>
                </a:solidFill>
                <a:latin typeface="‡ÿ)Í˛"/>
              </a:rPr>
              <a:t>, de modo que</a:t>
            </a:r>
          </a:p>
          <a:p>
            <a:pPr algn="l"/>
            <a:r>
              <a:rPr lang="es-ES" sz="1200" b="0" i="0" u="none" strike="noStrike" baseline="0" dirty="0" smtClean="0">
                <a:solidFill>
                  <a:srgbClr val="333333"/>
                </a:solidFill>
                <a:latin typeface="‡ÿ)Í˛"/>
              </a:rPr>
              <a:t>se puede limitar mejor la carga de </a:t>
            </a:r>
            <a:r>
              <a:rPr lang="es-ES" sz="1200" b="0" i="0" u="none" strike="noStrike" baseline="0" dirty="0" err="1" smtClean="0">
                <a:solidFill>
                  <a:srgbClr val="333333"/>
                </a:solidFill>
                <a:latin typeface="‡ÿ)Í˛"/>
              </a:rPr>
              <a:t>Polyfills</a:t>
            </a:r>
            <a:r>
              <a:rPr lang="es-ES" sz="1200" b="0" i="0" u="none" strike="noStrike" baseline="0" dirty="0" smtClean="0">
                <a:solidFill>
                  <a:srgbClr val="333333"/>
                </a:solidFill>
                <a:latin typeface="‡ÿ)Í˛"/>
              </a:rPr>
              <a:t> a aquellos que realmente el navegador necesita,</a:t>
            </a:r>
          </a:p>
          <a:p>
            <a:pPr algn="l"/>
            <a:r>
              <a:rPr lang="es-ES" sz="1200" b="0" i="0" u="none" strike="noStrike" baseline="0" dirty="0" smtClean="0">
                <a:solidFill>
                  <a:srgbClr val="333333"/>
                </a:solidFill>
                <a:latin typeface="‡ÿ)Í˛"/>
              </a:rPr>
              <a:t>reduciendo el peso en bytes de las aplicaciones y el tiempo de arranque a lo mínimo necesario en</a:t>
            </a:r>
          </a:p>
          <a:p>
            <a:pPr algn="l"/>
            <a:r>
              <a:rPr lang="es-ES" sz="1200" b="0" i="0" u="none" strike="noStrike" baseline="0" dirty="0" smtClean="0">
                <a:solidFill>
                  <a:srgbClr val="333333"/>
                </a:solidFill>
                <a:latin typeface="‡ÿ)Í˛"/>
              </a:rPr>
              <a:t>cada navegador.</a:t>
            </a:r>
          </a:p>
          <a:p>
            <a:pPr algn="l"/>
            <a:r>
              <a:rPr lang="es-ES" sz="1200" b="0" i="0" u="none" strike="noStrike" baseline="0" dirty="0" smtClean="0">
                <a:solidFill>
                  <a:srgbClr val="333333"/>
                </a:solidFill>
                <a:latin typeface="‡ÿ)Í˛"/>
              </a:rPr>
              <a:t>Los </a:t>
            </a:r>
            <a:r>
              <a:rPr lang="es-ES" sz="1200" b="0" i="0" u="none" strike="noStrike" baseline="0" dirty="0" err="1" smtClean="0">
                <a:solidFill>
                  <a:srgbClr val="333333"/>
                </a:solidFill>
                <a:latin typeface="‡ÿ)Í˛"/>
              </a:rPr>
              <a:t>Custom</a:t>
            </a:r>
            <a:r>
              <a:rPr lang="es-ES" sz="1200" b="0" i="0" u="none" strike="noStrike" baseline="0" dirty="0" smtClean="0">
                <a:solidFill>
                  <a:srgbClr val="333333"/>
                </a:solidFill>
                <a:latin typeface="‡ÿ)Í˛"/>
              </a:rPr>
              <a:t> </a:t>
            </a:r>
            <a:r>
              <a:rPr lang="es-ES" sz="1200" b="0" i="0" u="none" strike="noStrike" baseline="0" dirty="0" err="1" smtClean="0">
                <a:solidFill>
                  <a:srgbClr val="333333"/>
                </a:solidFill>
                <a:latin typeface="‡ÿ)Í˛"/>
              </a:rPr>
              <a:t>Elements</a:t>
            </a:r>
            <a:r>
              <a:rPr lang="es-ES" sz="1200" b="0" i="0" u="none" strike="noStrike" baseline="0" dirty="0" smtClean="0">
                <a:solidFill>
                  <a:srgbClr val="333333"/>
                </a:solidFill>
                <a:latin typeface="‡ÿ)Í˛"/>
              </a:rPr>
              <a:t> ahora se definen mediante </a:t>
            </a:r>
            <a:r>
              <a:rPr lang="es-ES" sz="1200" b="0" i="0" u="none" strike="noStrike" baseline="0" dirty="0" smtClean="0">
                <a:solidFill>
                  <a:srgbClr val="0000EF"/>
                </a:solidFill>
                <a:latin typeface="‡ÿ)Í˛"/>
              </a:rPr>
              <a:t>clases ES6</a:t>
            </a:r>
            <a:r>
              <a:rPr lang="es-ES" sz="1200" b="0" i="0" u="none" strike="noStrike" baseline="0" dirty="0" smtClean="0">
                <a:solidFill>
                  <a:srgbClr val="333333"/>
                </a:solidFill>
                <a:latin typeface="‡ÿ)Í˛"/>
              </a:rPr>
              <a:t>, algo nuevo en el propio estándar, lo</a:t>
            </a:r>
          </a:p>
          <a:p>
            <a:pPr algn="l"/>
            <a:r>
              <a:rPr lang="es-ES" sz="1200" b="0" i="0" u="none" strike="noStrike" baseline="0" dirty="0" smtClean="0">
                <a:solidFill>
                  <a:srgbClr val="333333"/>
                </a:solidFill>
                <a:latin typeface="‡ÿ)Í˛"/>
              </a:rPr>
              <a:t>que reduce la cantidad de código y simplifica la creación de componentes. En el caso de crear un</a:t>
            </a:r>
          </a:p>
          <a:p>
            <a:pPr algn="l"/>
            <a:r>
              <a:rPr lang="es-ES" sz="1200" b="0" i="0" u="none" strike="noStrike" baseline="0" dirty="0" smtClean="0">
                <a:solidFill>
                  <a:srgbClr val="333333"/>
                </a:solidFill>
                <a:latin typeface="‡ÿ)Í˛"/>
              </a:rPr>
              <a:t>elemento de </a:t>
            </a:r>
            <a:r>
              <a:rPr lang="es-ES" sz="1200" b="0" i="0" u="none" strike="noStrike" baseline="0" dirty="0" err="1" smtClean="0">
                <a:solidFill>
                  <a:srgbClr val="333333"/>
                </a:solidFill>
                <a:latin typeface="‡ÿ)Í˛"/>
              </a:rPr>
              <a:t>Polymer</a:t>
            </a:r>
            <a:r>
              <a:rPr lang="es-ES" sz="1200" b="0" i="0" u="none" strike="noStrike" baseline="0" dirty="0" smtClean="0">
                <a:solidFill>
                  <a:srgbClr val="333333"/>
                </a:solidFill>
                <a:latin typeface="‡ÿ)Í˛"/>
              </a:rPr>
              <a:t> 2.0 la única diferencia está en que no extenderemos de </a:t>
            </a:r>
            <a:r>
              <a:rPr lang="es-ES" sz="1200" b="0" i="0" u="none" strike="noStrike" baseline="0" dirty="0" err="1" smtClean="0">
                <a:solidFill>
                  <a:srgbClr val="333333"/>
                </a:solidFill>
                <a:latin typeface="‡ÿ)Í˛"/>
              </a:rPr>
              <a:t>HTMLElement</a:t>
            </a:r>
            <a:r>
              <a:rPr lang="es-ES" sz="1200" b="0" i="0" u="none" strike="noStrike" baseline="0" dirty="0" smtClean="0">
                <a:solidFill>
                  <a:srgbClr val="333333"/>
                </a:solidFill>
                <a:latin typeface="‡ÿ)Í˛"/>
              </a:rPr>
              <a:t> sino</a:t>
            </a:r>
          </a:p>
          <a:p>
            <a:pPr algn="l"/>
            <a:r>
              <a:rPr lang="es-ES" sz="1200" b="0" i="0" u="none" strike="noStrike" baseline="0" dirty="0" smtClean="0">
                <a:solidFill>
                  <a:srgbClr val="333333"/>
                </a:solidFill>
                <a:latin typeface="‡ÿ)Í˛"/>
              </a:rPr>
              <a:t>de </a:t>
            </a:r>
            <a:r>
              <a:rPr lang="es-ES" sz="1200" b="0" i="0" u="none" strike="noStrike" baseline="0" dirty="0" err="1" smtClean="0">
                <a:solidFill>
                  <a:srgbClr val="333333"/>
                </a:solidFill>
                <a:latin typeface="‡ÿ)Í˛"/>
              </a:rPr>
              <a:t>Polymer.Element</a:t>
            </a:r>
            <a:r>
              <a:rPr lang="es-ES" sz="1200" b="0" i="0" u="none" strike="noStrike" baseline="0" dirty="0" smtClean="0">
                <a:solidFill>
                  <a:srgbClr val="333333"/>
                </a:solidFill>
                <a:latin typeface="‡ÿ)Í˛"/>
              </a:rPr>
              <a:t>.</a:t>
            </a:r>
          </a:p>
          <a:p>
            <a:pPr algn="l"/>
            <a:r>
              <a:rPr lang="es-ES" sz="1200" b="0" i="0" u="none" strike="noStrike" baseline="0" dirty="0" smtClean="0">
                <a:solidFill>
                  <a:srgbClr val="333333"/>
                </a:solidFill>
                <a:latin typeface="‡ÿ)Í˛"/>
              </a:rPr>
              <a:t>La interoperabilidad entre componentes, la capacidad de trabajar los unos con los otros, ahora está</a:t>
            </a:r>
          </a:p>
          <a:p>
            <a:pPr algn="l"/>
            <a:r>
              <a:rPr lang="es-ES" sz="1200" b="0" i="0" u="none" strike="noStrike" baseline="0" dirty="0" smtClean="0">
                <a:solidFill>
                  <a:srgbClr val="333333"/>
                </a:solidFill>
                <a:latin typeface="‡ÿ)Í˛"/>
              </a:rPr>
              <a:t>directamente ofrecida con el estándar de Web </a:t>
            </a:r>
            <a:r>
              <a:rPr lang="es-ES" sz="1200" b="0" i="0" u="none" strike="noStrike" baseline="0" dirty="0" err="1" smtClean="0">
                <a:solidFill>
                  <a:srgbClr val="333333"/>
                </a:solidFill>
                <a:latin typeface="‡ÿ)Í˛"/>
              </a:rPr>
              <a:t>Components</a:t>
            </a:r>
            <a:r>
              <a:rPr lang="es-ES" sz="1200" b="0" i="0" u="none" strike="noStrike" baseline="0" dirty="0" smtClean="0">
                <a:solidFill>
                  <a:srgbClr val="333333"/>
                </a:solidFill>
                <a:latin typeface="‡ÿ)Í˛"/>
              </a:rPr>
              <a:t>.</a:t>
            </a:r>
          </a:p>
          <a:p>
            <a:pPr algn="l"/>
            <a:r>
              <a:rPr lang="es-ES" sz="1200" b="0" i="0" u="none" strike="noStrike" baseline="0" dirty="0" smtClean="0">
                <a:solidFill>
                  <a:srgbClr val="333333"/>
                </a:solidFill>
                <a:latin typeface="‡ÿ)Í˛"/>
              </a:rPr>
              <a:t>El uso de </a:t>
            </a:r>
            <a:r>
              <a:rPr lang="es-ES" sz="1200" b="0" i="0" u="none" strike="noStrike" baseline="0" dirty="0" err="1" smtClean="0">
                <a:solidFill>
                  <a:srgbClr val="333333"/>
                </a:solidFill>
                <a:latin typeface="‡ÿ)Í˛"/>
              </a:rPr>
              <a:t>Custom</a:t>
            </a:r>
            <a:r>
              <a:rPr lang="es-ES" sz="1200" b="0" i="0" u="none" strike="noStrike" baseline="0" dirty="0" smtClean="0">
                <a:solidFill>
                  <a:srgbClr val="333333"/>
                </a:solidFill>
                <a:latin typeface="‡ÿ)Í˛"/>
              </a:rPr>
              <a:t> </a:t>
            </a:r>
            <a:r>
              <a:rPr lang="es-ES" sz="1200" b="0" i="0" u="none" strike="noStrike" baseline="0" dirty="0" err="1" smtClean="0">
                <a:solidFill>
                  <a:srgbClr val="333333"/>
                </a:solidFill>
                <a:latin typeface="‡ÿ)Í˛"/>
              </a:rPr>
              <a:t>Properties</a:t>
            </a:r>
            <a:r>
              <a:rPr lang="es-ES" sz="1200" b="0" i="0" u="none" strike="noStrike" baseline="0" dirty="0" smtClean="0">
                <a:solidFill>
                  <a:srgbClr val="333333"/>
                </a:solidFill>
                <a:latin typeface="‡ÿ)Í˛"/>
              </a:rPr>
              <a:t> de CSS se implementa de manera nativa y compatible con todos los</a:t>
            </a:r>
          </a:p>
          <a:p>
            <a:pPr algn="l"/>
            <a:r>
              <a:rPr lang="es-ES" sz="1200" b="0" i="0" u="none" strike="noStrike" baseline="0" dirty="0" smtClean="0">
                <a:solidFill>
                  <a:srgbClr val="333333"/>
                </a:solidFill>
                <a:latin typeface="‡ÿ)Í˛"/>
              </a:rPr>
              <a:t>navegadores modernos, lo que no requiere código extra de la librería.</a:t>
            </a:r>
          </a:p>
          <a:p>
            <a:pPr algn="l"/>
            <a:r>
              <a:rPr lang="es-ES" sz="1200" b="0" i="0" u="none" strike="noStrike" baseline="0" dirty="0" smtClean="0">
                <a:solidFill>
                  <a:srgbClr val="333333"/>
                </a:solidFill>
                <a:latin typeface="‡ÿ)Í˛"/>
              </a:rPr>
              <a:t>Existe una capa de compatibilidad que permite el desarrollo híbrido, de componentes con sintaxis</a:t>
            </a:r>
          </a:p>
          <a:p>
            <a:pPr algn="l"/>
            <a:r>
              <a:rPr lang="es-ES" sz="1200" b="0" i="0" u="none" strike="noStrike" baseline="0" dirty="0" smtClean="0">
                <a:solidFill>
                  <a:srgbClr val="333333"/>
                </a:solidFill>
                <a:latin typeface="‡ÿ)Í˛"/>
              </a:rPr>
              <a:t>1.x y con sintaxis 2.x, de modo que la migración de aplicaciones existentes sea más sencilla y se</a:t>
            </a:r>
          </a:p>
          <a:p>
            <a:pPr algn="l"/>
            <a:r>
              <a:rPr lang="es-ES" sz="1200" b="0" i="0" u="none" strike="noStrike" baseline="0" dirty="0" smtClean="0">
                <a:solidFill>
                  <a:srgbClr val="333333"/>
                </a:solidFill>
                <a:latin typeface="‡ÿ)Í˛"/>
              </a:rPr>
              <a:t>pueda realizar de manera progresiva.</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49</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Nota: no hay un camino de migración automático de componentes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2.x a </a:t>
            </a:r>
            <a:r>
              <a:rPr lang="es-ES" sz="1200" b="0" i="0" u="none" strike="noStrike" kern="1200" baseline="0" dirty="0" err="1" smtClean="0">
                <a:solidFill>
                  <a:schemeClr val="tx1"/>
                </a:solidFill>
                <a:latin typeface="+mn-lt"/>
                <a:ea typeface="+mn-ea"/>
                <a:cs typeface="+mn-cs"/>
              </a:rPr>
              <a:t>Polymer</a:t>
            </a:r>
            <a:endParaRPr lang="es-ES" sz="1200" b="0" i="0" u="none" strike="noStrike" kern="1200" baseline="0" dirty="0" smtClean="0">
              <a:solidFill>
                <a:schemeClr val="tx1"/>
              </a:solidFill>
              <a:latin typeface="+mn-lt"/>
              <a:ea typeface="+mn-ea"/>
              <a:cs typeface="+mn-cs"/>
            </a:endParaRPr>
          </a:p>
          <a:p>
            <a:r>
              <a:rPr lang="es-ES" sz="1200" b="0" i="0" u="none" strike="noStrike" kern="1200" baseline="0" dirty="0" smtClean="0">
                <a:solidFill>
                  <a:schemeClr val="tx1"/>
                </a:solidFill>
                <a:latin typeface="+mn-lt"/>
                <a:ea typeface="+mn-ea"/>
                <a:cs typeface="+mn-cs"/>
              </a:rPr>
              <a:t>3.x usando </a:t>
            </a:r>
            <a:r>
              <a:rPr lang="es-ES" sz="1200" b="0" i="0" u="none" strike="noStrike" kern="1200" baseline="0" dirty="0" err="1" smtClean="0">
                <a:solidFill>
                  <a:schemeClr val="tx1"/>
                </a:solidFill>
                <a:latin typeface="+mn-lt"/>
                <a:ea typeface="+mn-ea"/>
                <a:cs typeface="+mn-cs"/>
              </a:rPr>
              <a:t>LitElement</a:t>
            </a:r>
            <a:r>
              <a:rPr lang="es-ES" sz="1200" b="0" i="0" u="none" strike="noStrike" kern="1200" baseline="0" dirty="0" smtClean="0">
                <a:solidFill>
                  <a:schemeClr val="tx1"/>
                </a:solidFill>
                <a:latin typeface="+mn-lt"/>
                <a:ea typeface="+mn-ea"/>
                <a:cs typeface="+mn-cs"/>
              </a:rPr>
              <a:t>. El camino automático permite la migración de componentes</a:t>
            </a:r>
          </a:p>
          <a:p>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2.x a componentes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3.0 que usan </a:t>
            </a:r>
            <a:r>
              <a:rPr lang="es-ES" sz="1200" b="0" i="0" u="none" strike="noStrike" kern="1200" baseline="0" dirty="0" err="1" smtClean="0">
                <a:solidFill>
                  <a:schemeClr val="tx1"/>
                </a:solidFill>
                <a:latin typeface="+mn-lt"/>
                <a:ea typeface="+mn-ea"/>
                <a:cs typeface="+mn-cs"/>
              </a:rPr>
              <a:t>PolymerElement</a:t>
            </a:r>
            <a:r>
              <a:rPr lang="es-ES" sz="1200" b="0" i="0" u="none" strike="noStrike" kern="1200" baseline="0" dirty="0" smtClean="0">
                <a:solidFill>
                  <a:schemeClr val="tx1"/>
                </a:solidFill>
                <a:latin typeface="+mn-lt"/>
                <a:ea typeface="+mn-ea"/>
                <a:cs typeface="+mn-cs"/>
              </a:rPr>
              <a:t>. Si se desea obtener las</a:t>
            </a:r>
          </a:p>
          <a:p>
            <a:r>
              <a:rPr lang="es-ES" sz="1200" b="0" i="0" u="none" strike="noStrike" kern="1200" baseline="0" dirty="0" smtClean="0">
                <a:solidFill>
                  <a:schemeClr val="tx1"/>
                </a:solidFill>
                <a:latin typeface="+mn-lt"/>
                <a:ea typeface="+mn-ea"/>
                <a:cs typeface="+mn-cs"/>
              </a:rPr>
              <a:t>mejoras de </a:t>
            </a:r>
            <a:r>
              <a:rPr lang="es-ES" sz="1200" b="0" i="0" u="none" strike="noStrike" kern="1200" baseline="0" dirty="0" err="1" smtClean="0">
                <a:solidFill>
                  <a:schemeClr val="tx1"/>
                </a:solidFill>
                <a:latin typeface="+mn-lt"/>
                <a:ea typeface="+mn-ea"/>
                <a:cs typeface="+mn-cs"/>
              </a:rPr>
              <a:t>LitElement</a:t>
            </a:r>
            <a:r>
              <a:rPr lang="es-ES" sz="1200" b="0" i="0" u="none" strike="noStrike" kern="1200" baseline="0" dirty="0" smtClean="0">
                <a:solidFill>
                  <a:schemeClr val="tx1"/>
                </a:solidFill>
                <a:latin typeface="+mn-lt"/>
                <a:ea typeface="+mn-ea"/>
                <a:cs typeface="+mn-cs"/>
              </a:rPr>
              <a:t> entonces habría que cambiar el código componente a componente.</a:t>
            </a:r>
          </a:p>
          <a:p>
            <a:r>
              <a:rPr lang="es-ES" sz="1200" b="0" i="0" u="none" strike="noStrike" kern="1200" baseline="0" dirty="0" smtClean="0">
                <a:solidFill>
                  <a:schemeClr val="tx1"/>
                </a:solidFill>
                <a:latin typeface="+mn-lt"/>
                <a:ea typeface="+mn-ea"/>
                <a:cs typeface="+mn-cs"/>
              </a:rPr>
              <a:t>Es un trabajo que se puede hacer poco a poco, ya que </a:t>
            </a:r>
            <a:r>
              <a:rPr lang="es-ES" sz="1200" b="0" i="0" u="none" strike="noStrike" kern="1200" baseline="0" dirty="0" err="1" smtClean="0">
                <a:solidFill>
                  <a:schemeClr val="tx1"/>
                </a:solidFill>
                <a:latin typeface="+mn-lt"/>
                <a:ea typeface="+mn-ea"/>
                <a:cs typeface="+mn-cs"/>
              </a:rPr>
              <a:t>LitElement</a:t>
            </a:r>
            <a:r>
              <a:rPr lang="es-ES" sz="1200" b="0" i="0" u="none" strike="noStrike" kern="1200" baseline="0" dirty="0" smtClean="0">
                <a:solidFill>
                  <a:schemeClr val="tx1"/>
                </a:solidFill>
                <a:latin typeface="+mn-lt"/>
                <a:ea typeface="+mn-ea"/>
                <a:cs typeface="+mn-cs"/>
              </a:rPr>
              <a:t> y </a:t>
            </a:r>
            <a:r>
              <a:rPr lang="es-ES" sz="1200" b="0" i="0" u="none" strike="noStrike" kern="1200" baseline="0" dirty="0" err="1" smtClean="0">
                <a:solidFill>
                  <a:schemeClr val="tx1"/>
                </a:solidFill>
                <a:latin typeface="+mn-lt"/>
                <a:ea typeface="+mn-ea"/>
                <a:cs typeface="+mn-cs"/>
              </a:rPr>
              <a:t>PolymerElement</a:t>
            </a:r>
            <a:endParaRPr lang="es-ES" sz="1200" b="0" i="0" u="none" strike="noStrike" kern="1200" baseline="0" dirty="0" smtClean="0">
              <a:solidFill>
                <a:schemeClr val="tx1"/>
              </a:solidFill>
              <a:latin typeface="+mn-lt"/>
              <a:ea typeface="+mn-ea"/>
              <a:cs typeface="+mn-cs"/>
            </a:endParaRPr>
          </a:p>
          <a:p>
            <a:r>
              <a:rPr lang="es-ES" sz="1200" b="0" i="0" u="none" strike="noStrike" kern="1200" baseline="0" dirty="0" smtClean="0">
                <a:solidFill>
                  <a:schemeClr val="tx1"/>
                </a:solidFill>
                <a:latin typeface="+mn-lt"/>
                <a:ea typeface="+mn-ea"/>
                <a:cs typeface="+mn-cs"/>
              </a:rPr>
              <a:t>pueden convivir perfectamente en un mismo proyecto y los componentes son</a:t>
            </a:r>
          </a:p>
          <a:p>
            <a:r>
              <a:rPr lang="es-ES" sz="1200" b="0" i="0" u="none" strike="noStrike" kern="1200" baseline="0" dirty="0" smtClean="0">
                <a:solidFill>
                  <a:schemeClr val="tx1"/>
                </a:solidFill>
                <a:latin typeface="+mn-lt"/>
                <a:ea typeface="+mn-ea"/>
                <a:cs typeface="+mn-cs"/>
              </a:rPr>
              <a:t>interoperables gracias a Web </a:t>
            </a:r>
            <a:r>
              <a:rPr lang="es-ES" sz="1200" b="0" i="0" u="none" strike="noStrike" kern="1200" baseline="0" dirty="0" err="1" smtClean="0">
                <a:solidFill>
                  <a:schemeClr val="tx1"/>
                </a:solidFill>
                <a:latin typeface="+mn-lt"/>
                <a:ea typeface="+mn-ea"/>
                <a:cs typeface="+mn-cs"/>
              </a:rPr>
              <a:t>Components</a:t>
            </a:r>
            <a:r>
              <a:rPr lang="es-ES" sz="1200" b="0" i="0" u="none" strike="noStrike" kern="1200" baseline="0" dirty="0" smtClean="0">
                <a:solidFill>
                  <a:schemeClr val="tx1"/>
                </a:solidFill>
                <a:latin typeface="+mn-lt"/>
                <a:ea typeface="+mn-ea"/>
                <a:cs typeface="+mn-cs"/>
              </a:rPr>
              <a:t> en general</a:t>
            </a:r>
          </a:p>
          <a:p>
            <a:endParaRPr lang="es-ES" sz="1200" b="0" i="0" u="none" strike="noStrike" kern="1200" baseline="0" dirty="0" smtClean="0">
              <a:solidFill>
                <a:schemeClr val="tx1"/>
              </a:solidFill>
              <a:latin typeface="+mn-lt"/>
              <a:ea typeface="+mn-ea"/>
              <a:cs typeface="+mn-cs"/>
            </a:endParaRPr>
          </a:p>
          <a:p>
            <a:r>
              <a:rPr lang="es-ES" sz="1200" b="0" i="0" u="none" strike="noStrike" kern="1200" baseline="0" dirty="0" smtClean="0">
                <a:solidFill>
                  <a:schemeClr val="tx1"/>
                </a:solidFill>
                <a:latin typeface="+mn-lt"/>
                <a:ea typeface="+mn-ea"/>
                <a:cs typeface="+mn-cs"/>
              </a:rPr>
              <a:t>Los componentes de Material-</a:t>
            </a:r>
            <a:r>
              <a:rPr lang="es-ES" sz="1200" b="0" i="0" u="none" strike="noStrike" kern="1200" baseline="0" dirty="0" err="1" smtClean="0">
                <a:solidFill>
                  <a:schemeClr val="tx1"/>
                </a:solidFill>
                <a:latin typeface="+mn-lt"/>
                <a:ea typeface="+mn-ea"/>
                <a:cs typeface="+mn-cs"/>
              </a:rPr>
              <a:t>components</a:t>
            </a:r>
            <a:r>
              <a:rPr lang="es-ES" sz="1200" b="0" i="0" u="none" strike="noStrike" kern="1200" baseline="0" dirty="0" smtClean="0">
                <a:solidFill>
                  <a:schemeClr val="tx1"/>
                </a:solidFill>
                <a:latin typeface="+mn-lt"/>
                <a:ea typeface="+mn-ea"/>
                <a:cs typeface="+mn-cs"/>
              </a:rPr>
              <a:t>-web están realizados en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3.0 y usan</a:t>
            </a:r>
          </a:p>
          <a:p>
            <a:r>
              <a:rPr lang="es-ES" sz="1200" b="0" i="0" u="none" strike="noStrike" kern="1200" baseline="0" dirty="0" err="1" smtClean="0">
                <a:solidFill>
                  <a:schemeClr val="tx1"/>
                </a:solidFill>
                <a:latin typeface="+mn-lt"/>
                <a:ea typeface="+mn-ea"/>
                <a:cs typeface="+mn-cs"/>
              </a:rPr>
              <a:t>LitElement</a:t>
            </a:r>
            <a:r>
              <a:rPr lang="es-ES" sz="1200" b="0" i="0" u="none" strike="noStrike" kern="1200" baseline="0" dirty="0" smtClean="0">
                <a:solidFill>
                  <a:schemeClr val="tx1"/>
                </a:solidFill>
                <a:latin typeface="+mn-lt"/>
                <a:ea typeface="+mn-ea"/>
                <a:cs typeface="+mn-cs"/>
              </a:rPr>
              <a:t>. Sin embargo, estos detalles de implementación son realmente indiferentes para</a:t>
            </a:r>
          </a:p>
          <a:p>
            <a:r>
              <a:rPr lang="es-ES" sz="1200" b="0" i="0" u="none" strike="noStrike" kern="1200" baseline="0" dirty="0" smtClean="0">
                <a:solidFill>
                  <a:schemeClr val="tx1"/>
                </a:solidFill>
                <a:latin typeface="+mn-lt"/>
                <a:ea typeface="+mn-ea"/>
                <a:cs typeface="+mn-cs"/>
              </a:rPr>
              <a:t>los desarrolladores, ya que puedes usar estos componentes en cualquier </a:t>
            </a:r>
            <a:r>
              <a:rPr lang="es-ES" sz="1200" b="0" i="0" u="none" strike="noStrike" kern="1200" baseline="0" dirty="0" err="1" smtClean="0">
                <a:solidFill>
                  <a:schemeClr val="tx1"/>
                </a:solidFill>
                <a:latin typeface="+mn-lt"/>
                <a:ea typeface="+mn-ea"/>
                <a:cs typeface="+mn-cs"/>
              </a:rPr>
              <a:t>framework</a:t>
            </a:r>
            <a:r>
              <a:rPr lang="es-ES" sz="1200" b="0" i="0" u="none" strike="noStrike" kern="1200" baseline="0" dirty="0" smtClean="0">
                <a:solidFill>
                  <a:schemeClr val="tx1"/>
                </a:solidFill>
                <a:latin typeface="+mn-lt"/>
                <a:ea typeface="+mn-ea"/>
                <a:cs typeface="+mn-cs"/>
              </a:rPr>
              <a:t> o librería</a:t>
            </a:r>
          </a:p>
          <a:p>
            <a:r>
              <a:rPr lang="es-ES" sz="1200" b="0" i="0" u="none" strike="noStrike" kern="1200" baseline="0" dirty="0" smtClean="0">
                <a:solidFill>
                  <a:schemeClr val="tx1"/>
                </a:solidFill>
                <a:latin typeface="+mn-lt"/>
                <a:ea typeface="+mn-ea"/>
                <a:cs typeface="+mn-cs"/>
              </a:rPr>
              <a:t>popular, gracias a la interoperabilidad de </a:t>
            </a:r>
            <a:r>
              <a:rPr lang="es-ES" sz="1200" b="0" i="0" u="none" strike="noStrike" kern="1200" baseline="0" dirty="0" err="1" smtClean="0">
                <a:solidFill>
                  <a:schemeClr val="tx1"/>
                </a:solidFill>
                <a:latin typeface="+mn-lt"/>
                <a:ea typeface="+mn-ea"/>
                <a:cs typeface="+mn-cs"/>
              </a:rPr>
              <a:t>WebComponents</a:t>
            </a:r>
            <a:r>
              <a:rPr lang="es-ES" sz="1200" b="0" i="0" u="none" strike="noStrike" kern="1200" baseline="0" dirty="0" smtClean="0">
                <a:solidFill>
                  <a:schemeClr val="tx1"/>
                </a:solidFill>
                <a:latin typeface="+mn-lt"/>
                <a:ea typeface="+mn-ea"/>
                <a:cs typeface="+mn-cs"/>
              </a:rPr>
              <a:t>, como </a:t>
            </a:r>
            <a:r>
              <a:rPr lang="es-ES" sz="1200" b="0" i="0" u="none" strike="noStrike" kern="1200" baseline="0" dirty="0" err="1" smtClean="0">
                <a:solidFill>
                  <a:schemeClr val="tx1"/>
                </a:solidFill>
                <a:latin typeface="+mn-lt"/>
                <a:ea typeface="+mn-ea"/>
                <a:cs typeface="+mn-cs"/>
              </a:rPr>
              <a:t>React</a:t>
            </a:r>
            <a:r>
              <a:rPr lang="es-ES" sz="1200" b="0" i="0" u="none" strike="noStrike" kern="1200" baseline="0" dirty="0" smtClean="0">
                <a:solidFill>
                  <a:schemeClr val="tx1"/>
                </a:solidFill>
                <a:latin typeface="+mn-lt"/>
                <a:ea typeface="+mn-ea"/>
                <a:cs typeface="+mn-cs"/>
              </a:rPr>
              <a:t>, Angular, </a:t>
            </a:r>
            <a:r>
              <a:rPr lang="es-ES" sz="1200" b="0" i="0" u="none" strike="noStrike" kern="1200" baseline="0" dirty="0" err="1" smtClean="0">
                <a:solidFill>
                  <a:schemeClr val="tx1"/>
                </a:solidFill>
                <a:latin typeface="+mn-lt"/>
                <a:ea typeface="+mn-ea"/>
                <a:cs typeface="+mn-cs"/>
              </a:rPr>
              <a:t>Vue</a:t>
            </a:r>
            <a:r>
              <a:rPr lang="es-ES" sz="1200" b="0" i="0" u="none" strike="noStrike" kern="1200" baseline="0" dirty="0" smtClean="0">
                <a:solidFill>
                  <a:schemeClr val="tx1"/>
                </a:solidFill>
                <a:latin typeface="+mn-lt"/>
                <a:ea typeface="+mn-ea"/>
                <a:cs typeface="+mn-cs"/>
              </a:rPr>
              <a:t>…</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50</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Para especificar las dependencias ahora se usa </a:t>
            </a:r>
            <a:r>
              <a:rPr lang="es-ES" sz="1200" b="0" i="0" u="none" strike="noStrike" kern="1200" baseline="0" dirty="0" err="1" smtClean="0">
                <a:solidFill>
                  <a:schemeClr val="tx1"/>
                </a:solidFill>
                <a:latin typeface="+mn-lt"/>
                <a:ea typeface="+mn-ea"/>
                <a:cs typeface="+mn-cs"/>
              </a:rPr>
              <a:t>import</a:t>
            </a:r>
            <a:r>
              <a:rPr lang="es-ES" sz="1200" b="0" i="0" u="none" strike="noStrike" kern="1200" baseline="0" dirty="0" smtClean="0">
                <a:solidFill>
                  <a:schemeClr val="tx1"/>
                </a:solidFill>
                <a:latin typeface="+mn-lt"/>
                <a:ea typeface="+mn-ea"/>
                <a:cs typeface="+mn-cs"/>
              </a:rPr>
              <a:t> en </a:t>
            </a:r>
            <a:r>
              <a:rPr lang="es-ES" sz="1200" b="0" i="0" u="none" strike="noStrike" kern="1200" baseline="0" dirty="0" err="1" smtClean="0">
                <a:solidFill>
                  <a:schemeClr val="tx1"/>
                </a:solidFill>
                <a:latin typeface="+mn-lt"/>
                <a:ea typeface="+mn-ea"/>
                <a:cs typeface="+mn-cs"/>
              </a:rPr>
              <a:t>Javascript</a:t>
            </a:r>
            <a:r>
              <a:rPr lang="es-ES" sz="1200" b="0" i="0" u="none" strike="noStrike" kern="1200" baseline="0" dirty="0" smtClean="0">
                <a:solidFill>
                  <a:schemeClr val="tx1"/>
                </a:solidFill>
                <a:latin typeface="+mn-lt"/>
                <a:ea typeface="+mn-ea"/>
                <a:cs typeface="+mn-cs"/>
              </a:rPr>
              <a:t>, en vez de los</a:t>
            </a:r>
          </a:p>
          <a:p>
            <a:r>
              <a:rPr lang="es-ES" sz="1200" b="0" i="0" u="none" strike="noStrike" kern="1200" baseline="0" dirty="0" smtClean="0">
                <a:solidFill>
                  <a:schemeClr val="tx1"/>
                </a:solidFill>
                <a:latin typeface="+mn-lt"/>
                <a:ea typeface="+mn-ea"/>
                <a:cs typeface="+mn-cs"/>
              </a:rPr>
              <a:t>HTML </a:t>
            </a:r>
            <a:r>
              <a:rPr lang="es-ES" sz="1200" b="0" i="0" u="none" strike="noStrike" kern="1200" baseline="0" dirty="0" err="1" smtClean="0">
                <a:solidFill>
                  <a:schemeClr val="tx1"/>
                </a:solidFill>
                <a:latin typeface="+mn-lt"/>
                <a:ea typeface="+mn-ea"/>
                <a:cs typeface="+mn-cs"/>
              </a:rPr>
              <a:t>Imports</a:t>
            </a:r>
            <a:r>
              <a:rPr lang="es-ES" sz="1200" b="0" i="0" u="none" strike="noStrike" kern="1200" baseline="0" dirty="0" smtClean="0">
                <a:solidFill>
                  <a:schemeClr val="tx1"/>
                </a:solidFill>
                <a:latin typeface="+mn-lt"/>
                <a:ea typeface="+mn-ea"/>
                <a:cs typeface="+mn-cs"/>
              </a:rPr>
              <a:t> de versiones anteriores.</a:t>
            </a:r>
          </a:p>
          <a:p>
            <a:r>
              <a:rPr lang="es-ES" sz="1200" b="0" i="0" u="none" strike="noStrike" kern="1200" baseline="0" dirty="0" smtClean="0">
                <a:solidFill>
                  <a:schemeClr val="tx1"/>
                </a:solidFill>
                <a:latin typeface="+mn-lt"/>
                <a:ea typeface="+mn-ea"/>
                <a:cs typeface="+mn-cs"/>
              </a:rPr>
              <a:t>Ya no se usa la etiqueta </a:t>
            </a:r>
            <a:r>
              <a:rPr lang="es-ES" sz="1200" b="0" i="0" u="none" strike="noStrike" kern="1200" baseline="0" dirty="0" err="1" smtClean="0">
                <a:solidFill>
                  <a:schemeClr val="tx1"/>
                </a:solidFill>
                <a:latin typeface="+mn-lt"/>
                <a:ea typeface="+mn-ea"/>
                <a:cs typeface="+mn-cs"/>
              </a:rPr>
              <a:t>dom</a:t>
            </a:r>
            <a:r>
              <a:rPr lang="es-ES" sz="1200" b="0" i="0" u="none" strike="noStrike" kern="1200" baseline="0" dirty="0" smtClean="0">
                <a:solidFill>
                  <a:schemeClr val="tx1"/>
                </a:solidFill>
                <a:latin typeface="+mn-lt"/>
                <a:ea typeface="+mn-ea"/>
                <a:cs typeface="+mn-cs"/>
              </a:rPr>
              <a:t>-module</a:t>
            </a:r>
          </a:p>
          <a:p>
            <a:r>
              <a:rPr lang="es-ES" sz="1200" b="0" i="0" u="none" strike="noStrike" kern="1200" baseline="0" dirty="0" smtClean="0">
                <a:solidFill>
                  <a:schemeClr val="tx1"/>
                </a:solidFill>
                <a:latin typeface="+mn-lt"/>
                <a:ea typeface="+mn-ea"/>
                <a:cs typeface="+mn-cs"/>
              </a:rPr>
              <a:t>El </a:t>
            </a:r>
            <a:r>
              <a:rPr lang="es-ES" sz="1200" b="0" i="0" u="none" strike="noStrike" kern="1200" baseline="0" dirty="0" err="1" smtClean="0">
                <a:solidFill>
                  <a:schemeClr val="tx1"/>
                </a:solidFill>
                <a:latin typeface="+mn-lt"/>
                <a:ea typeface="+mn-ea"/>
                <a:cs typeface="+mn-cs"/>
              </a:rPr>
              <a:t>template</a:t>
            </a:r>
            <a:r>
              <a:rPr lang="es-ES" sz="1200" b="0" i="0" u="none" strike="noStrike" kern="1200" baseline="0" dirty="0" smtClean="0">
                <a:solidFill>
                  <a:schemeClr val="tx1"/>
                </a:solidFill>
                <a:latin typeface="+mn-lt"/>
                <a:ea typeface="+mn-ea"/>
                <a:cs typeface="+mn-cs"/>
              </a:rPr>
              <a:t> se define en código </a:t>
            </a:r>
            <a:r>
              <a:rPr lang="es-ES" sz="1200" b="0" i="0" u="none" strike="noStrike" kern="1200" baseline="0" dirty="0" err="1" smtClean="0">
                <a:solidFill>
                  <a:schemeClr val="tx1"/>
                </a:solidFill>
                <a:latin typeface="+mn-lt"/>
                <a:ea typeface="+mn-ea"/>
                <a:cs typeface="+mn-cs"/>
              </a:rPr>
              <a:t>Javascript</a:t>
            </a:r>
            <a:r>
              <a:rPr lang="es-ES" sz="1200" b="0" i="0" u="none" strike="noStrike" kern="1200" baseline="0" dirty="0" smtClean="0">
                <a:solidFill>
                  <a:schemeClr val="tx1"/>
                </a:solidFill>
                <a:latin typeface="+mn-lt"/>
                <a:ea typeface="+mn-ea"/>
                <a:cs typeface="+mn-cs"/>
              </a:rPr>
              <a:t>. Usa una funcionalidad de ES6 llamada</a:t>
            </a:r>
          </a:p>
          <a:p>
            <a:r>
              <a:rPr lang="es-ES" sz="1200" b="0" i="0" u="none" strike="noStrike" kern="1200" baseline="0" dirty="0" smtClean="0">
                <a:solidFill>
                  <a:schemeClr val="tx1"/>
                </a:solidFill>
                <a:latin typeface="+mn-lt"/>
                <a:ea typeface="+mn-ea"/>
                <a:cs typeface="+mn-cs"/>
              </a:rPr>
              <a:t>"</a:t>
            </a:r>
            <a:r>
              <a:rPr lang="es-ES" sz="1200" b="0" i="0" u="none" strike="noStrike" kern="1200" baseline="0" dirty="0" err="1" smtClean="0">
                <a:solidFill>
                  <a:schemeClr val="tx1"/>
                </a:solidFill>
                <a:latin typeface="+mn-lt"/>
                <a:ea typeface="+mn-ea"/>
                <a:cs typeface="+mn-cs"/>
              </a:rPr>
              <a:t>Template</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String</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Tags</a:t>
            </a:r>
            <a:r>
              <a:rPr lang="es-ES" sz="1200" b="0" i="0" u="none" strike="noStrike" kern="1200" baseline="0" dirty="0" smtClean="0">
                <a:solidFill>
                  <a:schemeClr val="tx1"/>
                </a:solidFill>
                <a:latin typeface="+mn-lt"/>
                <a:ea typeface="+mn-ea"/>
                <a:cs typeface="+mn-cs"/>
              </a:rPr>
              <a:t>", de la cual encuentras más información en el artículo de </a:t>
            </a:r>
            <a:r>
              <a:rPr lang="es-ES" sz="1200" b="0" i="0" u="none" strike="noStrike" kern="1200" baseline="0" dirty="0" err="1" smtClean="0">
                <a:solidFill>
                  <a:schemeClr val="tx1"/>
                </a:solidFill>
                <a:latin typeface="+mn-lt"/>
                <a:ea typeface="+mn-ea"/>
                <a:cs typeface="+mn-cs"/>
              </a:rPr>
              <a:t>Lit</a:t>
            </a:r>
            <a:r>
              <a:rPr lang="es-ES" sz="1200" b="0" i="0" u="none" strike="noStrike" kern="1200" baseline="0" dirty="0" smtClean="0">
                <a:solidFill>
                  <a:schemeClr val="tx1"/>
                </a:solidFill>
                <a:latin typeface="+mn-lt"/>
                <a:ea typeface="+mn-ea"/>
                <a:cs typeface="+mn-cs"/>
              </a:rPr>
              <a:t>-</a:t>
            </a:r>
          </a:p>
          <a:p>
            <a:r>
              <a:rPr lang="es-ES" sz="1200" b="0" i="0" u="none" strike="noStrike" kern="1200" baseline="0" dirty="0" smtClean="0">
                <a:solidFill>
                  <a:schemeClr val="tx1"/>
                </a:solidFill>
                <a:latin typeface="+mn-lt"/>
                <a:ea typeface="+mn-ea"/>
                <a:cs typeface="+mn-cs"/>
              </a:rPr>
              <a:t>HTML.</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51</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Para especificar las dependencias ahora se usa </a:t>
            </a:r>
            <a:r>
              <a:rPr lang="es-ES" sz="1200" b="0" i="0" u="none" strike="noStrike" kern="1200" baseline="0" dirty="0" err="1" smtClean="0">
                <a:solidFill>
                  <a:schemeClr val="tx1"/>
                </a:solidFill>
                <a:latin typeface="+mn-lt"/>
                <a:ea typeface="+mn-ea"/>
                <a:cs typeface="+mn-cs"/>
              </a:rPr>
              <a:t>import</a:t>
            </a:r>
            <a:r>
              <a:rPr lang="es-ES" sz="1200" b="0" i="0" u="none" strike="noStrike" kern="1200" baseline="0" dirty="0" smtClean="0">
                <a:solidFill>
                  <a:schemeClr val="tx1"/>
                </a:solidFill>
                <a:latin typeface="+mn-lt"/>
                <a:ea typeface="+mn-ea"/>
                <a:cs typeface="+mn-cs"/>
              </a:rPr>
              <a:t> en </a:t>
            </a:r>
            <a:r>
              <a:rPr lang="es-ES" sz="1200" b="0" i="0" u="none" strike="noStrike" kern="1200" baseline="0" dirty="0" err="1" smtClean="0">
                <a:solidFill>
                  <a:schemeClr val="tx1"/>
                </a:solidFill>
                <a:latin typeface="+mn-lt"/>
                <a:ea typeface="+mn-ea"/>
                <a:cs typeface="+mn-cs"/>
              </a:rPr>
              <a:t>Javascript</a:t>
            </a:r>
            <a:r>
              <a:rPr lang="es-ES" sz="1200" b="0" i="0" u="none" strike="noStrike" kern="1200" baseline="0" dirty="0" smtClean="0">
                <a:solidFill>
                  <a:schemeClr val="tx1"/>
                </a:solidFill>
                <a:latin typeface="+mn-lt"/>
                <a:ea typeface="+mn-ea"/>
                <a:cs typeface="+mn-cs"/>
              </a:rPr>
              <a:t>, en vez de los</a:t>
            </a:r>
          </a:p>
          <a:p>
            <a:r>
              <a:rPr lang="es-ES" sz="1200" b="0" i="0" u="none" strike="noStrike" kern="1200" baseline="0" dirty="0" smtClean="0">
                <a:solidFill>
                  <a:schemeClr val="tx1"/>
                </a:solidFill>
                <a:latin typeface="+mn-lt"/>
                <a:ea typeface="+mn-ea"/>
                <a:cs typeface="+mn-cs"/>
              </a:rPr>
              <a:t>HTML </a:t>
            </a:r>
            <a:r>
              <a:rPr lang="es-ES" sz="1200" b="0" i="0" u="none" strike="noStrike" kern="1200" baseline="0" dirty="0" err="1" smtClean="0">
                <a:solidFill>
                  <a:schemeClr val="tx1"/>
                </a:solidFill>
                <a:latin typeface="+mn-lt"/>
                <a:ea typeface="+mn-ea"/>
                <a:cs typeface="+mn-cs"/>
              </a:rPr>
              <a:t>Imports</a:t>
            </a:r>
            <a:r>
              <a:rPr lang="es-ES" sz="1200" b="0" i="0" u="none" strike="noStrike" kern="1200" baseline="0" dirty="0" smtClean="0">
                <a:solidFill>
                  <a:schemeClr val="tx1"/>
                </a:solidFill>
                <a:latin typeface="+mn-lt"/>
                <a:ea typeface="+mn-ea"/>
                <a:cs typeface="+mn-cs"/>
              </a:rPr>
              <a:t> de versiones anteriores.</a:t>
            </a:r>
          </a:p>
          <a:p>
            <a:r>
              <a:rPr lang="es-ES" sz="1200" b="0" i="0" u="none" strike="noStrike" kern="1200" baseline="0" dirty="0" smtClean="0">
                <a:solidFill>
                  <a:schemeClr val="tx1"/>
                </a:solidFill>
                <a:latin typeface="+mn-lt"/>
                <a:ea typeface="+mn-ea"/>
                <a:cs typeface="+mn-cs"/>
              </a:rPr>
              <a:t>Ya no se usa la etiqueta </a:t>
            </a:r>
            <a:r>
              <a:rPr lang="es-ES" sz="1200" b="0" i="0" u="none" strike="noStrike" kern="1200" baseline="0" dirty="0" err="1" smtClean="0">
                <a:solidFill>
                  <a:schemeClr val="tx1"/>
                </a:solidFill>
                <a:latin typeface="+mn-lt"/>
                <a:ea typeface="+mn-ea"/>
                <a:cs typeface="+mn-cs"/>
              </a:rPr>
              <a:t>dom</a:t>
            </a:r>
            <a:r>
              <a:rPr lang="es-ES" sz="1200" b="0" i="0" u="none" strike="noStrike" kern="1200" baseline="0" dirty="0" smtClean="0">
                <a:solidFill>
                  <a:schemeClr val="tx1"/>
                </a:solidFill>
                <a:latin typeface="+mn-lt"/>
                <a:ea typeface="+mn-ea"/>
                <a:cs typeface="+mn-cs"/>
              </a:rPr>
              <a:t>-module</a:t>
            </a:r>
          </a:p>
          <a:p>
            <a:r>
              <a:rPr lang="es-ES" sz="1200" b="0" i="0" u="none" strike="noStrike" kern="1200" baseline="0" dirty="0" smtClean="0">
                <a:solidFill>
                  <a:schemeClr val="tx1"/>
                </a:solidFill>
                <a:latin typeface="+mn-lt"/>
                <a:ea typeface="+mn-ea"/>
                <a:cs typeface="+mn-cs"/>
              </a:rPr>
              <a:t>El </a:t>
            </a:r>
            <a:r>
              <a:rPr lang="es-ES" sz="1200" b="0" i="0" u="none" strike="noStrike" kern="1200" baseline="0" dirty="0" err="1" smtClean="0">
                <a:solidFill>
                  <a:schemeClr val="tx1"/>
                </a:solidFill>
                <a:latin typeface="+mn-lt"/>
                <a:ea typeface="+mn-ea"/>
                <a:cs typeface="+mn-cs"/>
              </a:rPr>
              <a:t>template</a:t>
            </a:r>
            <a:r>
              <a:rPr lang="es-ES" sz="1200" b="0" i="0" u="none" strike="noStrike" kern="1200" baseline="0" dirty="0" smtClean="0">
                <a:solidFill>
                  <a:schemeClr val="tx1"/>
                </a:solidFill>
                <a:latin typeface="+mn-lt"/>
                <a:ea typeface="+mn-ea"/>
                <a:cs typeface="+mn-cs"/>
              </a:rPr>
              <a:t> se define en código </a:t>
            </a:r>
            <a:r>
              <a:rPr lang="es-ES" sz="1200" b="0" i="0" u="none" strike="noStrike" kern="1200" baseline="0" dirty="0" err="1" smtClean="0">
                <a:solidFill>
                  <a:schemeClr val="tx1"/>
                </a:solidFill>
                <a:latin typeface="+mn-lt"/>
                <a:ea typeface="+mn-ea"/>
                <a:cs typeface="+mn-cs"/>
              </a:rPr>
              <a:t>Javascript</a:t>
            </a:r>
            <a:r>
              <a:rPr lang="es-ES" sz="1200" b="0" i="0" u="none" strike="noStrike" kern="1200" baseline="0" dirty="0" smtClean="0">
                <a:solidFill>
                  <a:schemeClr val="tx1"/>
                </a:solidFill>
                <a:latin typeface="+mn-lt"/>
                <a:ea typeface="+mn-ea"/>
                <a:cs typeface="+mn-cs"/>
              </a:rPr>
              <a:t>. Usa una funcionalidad de ES6 llamada</a:t>
            </a:r>
          </a:p>
          <a:p>
            <a:r>
              <a:rPr lang="es-ES" sz="1200" b="0" i="0" u="none" strike="noStrike" kern="1200" baseline="0" dirty="0" smtClean="0">
                <a:solidFill>
                  <a:schemeClr val="tx1"/>
                </a:solidFill>
                <a:latin typeface="+mn-lt"/>
                <a:ea typeface="+mn-ea"/>
                <a:cs typeface="+mn-cs"/>
              </a:rPr>
              <a:t>"</a:t>
            </a:r>
            <a:r>
              <a:rPr lang="es-ES" sz="1200" b="0" i="0" u="none" strike="noStrike" kern="1200" baseline="0" dirty="0" err="1" smtClean="0">
                <a:solidFill>
                  <a:schemeClr val="tx1"/>
                </a:solidFill>
                <a:latin typeface="+mn-lt"/>
                <a:ea typeface="+mn-ea"/>
                <a:cs typeface="+mn-cs"/>
              </a:rPr>
              <a:t>Template</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String</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Tags</a:t>
            </a:r>
            <a:r>
              <a:rPr lang="es-ES" sz="1200" b="0" i="0" u="none" strike="noStrike" kern="1200" baseline="0" dirty="0" smtClean="0">
                <a:solidFill>
                  <a:schemeClr val="tx1"/>
                </a:solidFill>
                <a:latin typeface="+mn-lt"/>
                <a:ea typeface="+mn-ea"/>
                <a:cs typeface="+mn-cs"/>
              </a:rPr>
              <a:t>", de la cual encuentras más información en el artículo de </a:t>
            </a:r>
            <a:r>
              <a:rPr lang="es-ES" sz="1200" b="0" i="0" u="none" strike="noStrike" kern="1200" baseline="0" dirty="0" err="1" smtClean="0">
                <a:solidFill>
                  <a:schemeClr val="tx1"/>
                </a:solidFill>
                <a:latin typeface="+mn-lt"/>
                <a:ea typeface="+mn-ea"/>
                <a:cs typeface="+mn-cs"/>
              </a:rPr>
              <a:t>Lit</a:t>
            </a:r>
            <a:r>
              <a:rPr lang="es-ES" sz="1200" b="0" i="0" u="none" strike="noStrike" kern="1200" baseline="0" dirty="0" smtClean="0">
                <a:solidFill>
                  <a:schemeClr val="tx1"/>
                </a:solidFill>
                <a:latin typeface="+mn-lt"/>
                <a:ea typeface="+mn-ea"/>
                <a:cs typeface="+mn-cs"/>
              </a:rPr>
              <a:t>-</a:t>
            </a:r>
          </a:p>
          <a:p>
            <a:r>
              <a:rPr lang="es-ES" sz="1200" b="0" i="0" u="none" strike="noStrike" kern="1200" baseline="0" dirty="0" smtClean="0">
                <a:solidFill>
                  <a:schemeClr val="tx1"/>
                </a:solidFill>
                <a:latin typeface="+mn-lt"/>
                <a:ea typeface="+mn-ea"/>
                <a:cs typeface="+mn-cs"/>
              </a:rPr>
              <a:t>HTML.</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52</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Esta es una de las novedades de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3.0 más importantes en lo que respecta al</a:t>
            </a:r>
          </a:p>
          <a:p>
            <a:r>
              <a:rPr lang="es-ES" sz="1200" b="0" i="0" u="none" strike="noStrike" kern="1200" baseline="0" dirty="0" smtClean="0">
                <a:solidFill>
                  <a:schemeClr val="tx1"/>
                </a:solidFill>
                <a:latin typeface="+mn-lt"/>
                <a:ea typeface="+mn-ea"/>
                <a:cs typeface="+mn-cs"/>
              </a:rPr>
              <a:t>rendimiento. Ya que ahora la definición de los </a:t>
            </a:r>
            <a:r>
              <a:rPr lang="es-ES" sz="1200" b="0" i="0" u="none" strike="noStrike" kern="1200" baseline="0" dirty="0" err="1" smtClean="0">
                <a:solidFill>
                  <a:schemeClr val="tx1"/>
                </a:solidFill>
                <a:latin typeface="+mn-lt"/>
                <a:ea typeface="+mn-ea"/>
                <a:cs typeface="+mn-cs"/>
              </a:rPr>
              <a:t>templates</a:t>
            </a:r>
            <a:r>
              <a:rPr lang="es-ES" sz="1200" b="0" i="0" u="none" strike="noStrike" kern="1200" baseline="0" dirty="0" smtClean="0">
                <a:solidFill>
                  <a:schemeClr val="tx1"/>
                </a:solidFill>
                <a:latin typeface="+mn-lt"/>
                <a:ea typeface="+mn-ea"/>
                <a:cs typeface="+mn-cs"/>
              </a:rPr>
              <a:t> se realiza mediante </a:t>
            </a:r>
            <a:r>
              <a:rPr lang="es-ES" sz="1200" b="0" i="0" u="none" strike="noStrike" kern="1200" baseline="0" dirty="0" err="1" smtClean="0">
                <a:solidFill>
                  <a:schemeClr val="tx1"/>
                </a:solidFill>
                <a:latin typeface="+mn-lt"/>
                <a:ea typeface="+mn-ea"/>
                <a:cs typeface="+mn-cs"/>
              </a:rPr>
              <a:t>Javascript</a:t>
            </a:r>
            <a:r>
              <a:rPr lang="es-ES" sz="1200" b="0" i="0" u="none" strike="noStrike" kern="1200" baseline="0" dirty="0" smtClean="0">
                <a:solidFill>
                  <a:schemeClr val="tx1"/>
                </a:solidFill>
                <a:latin typeface="+mn-lt"/>
                <a:ea typeface="+mn-ea"/>
                <a:cs typeface="+mn-cs"/>
              </a:rPr>
              <a:t>, el</a:t>
            </a:r>
          </a:p>
          <a:p>
            <a:r>
              <a:rPr lang="es-ES" sz="1200" b="0" i="0" u="none" strike="noStrike" kern="1200" baseline="0" dirty="0" smtClean="0">
                <a:solidFill>
                  <a:schemeClr val="tx1"/>
                </a:solidFill>
                <a:latin typeface="+mn-lt"/>
                <a:ea typeface="+mn-ea"/>
                <a:cs typeface="+mn-cs"/>
              </a:rPr>
              <a:t>equipo de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ha trabajado en una nueva manera de definir estos </a:t>
            </a:r>
            <a:r>
              <a:rPr lang="es-ES" sz="1200" b="0" i="0" u="none" strike="noStrike" kern="1200" baseline="0" dirty="0" err="1" smtClean="0">
                <a:solidFill>
                  <a:schemeClr val="tx1"/>
                </a:solidFill>
                <a:latin typeface="+mn-lt"/>
                <a:ea typeface="+mn-ea"/>
                <a:cs typeface="+mn-cs"/>
              </a:rPr>
              <a:t>templates</a:t>
            </a:r>
            <a:r>
              <a:rPr lang="es-ES" sz="1200" b="0" i="0" u="none" strike="noStrike" kern="1200" baseline="0" dirty="0" smtClean="0">
                <a:solidFill>
                  <a:schemeClr val="tx1"/>
                </a:solidFill>
                <a:latin typeface="+mn-lt"/>
                <a:ea typeface="+mn-ea"/>
                <a:cs typeface="+mn-cs"/>
              </a:rPr>
              <a:t>, que</a:t>
            </a:r>
          </a:p>
          <a:p>
            <a:r>
              <a:rPr lang="es-ES" sz="1200" b="0" i="0" u="none" strike="noStrike" kern="1200" baseline="0" dirty="0" smtClean="0">
                <a:solidFill>
                  <a:schemeClr val="tx1"/>
                </a:solidFill>
                <a:latin typeface="+mn-lt"/>
                <a:ea typeface="+mn-ea"/>
                <a:cs typeface="+mn-cs"/>
              </a:rPr>
              <a:t>aproveche en mayor medida las capacidades nativas de la plataforma web.</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53</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Esta es una de las novedades de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3.0 más importantes en lo que respecta al</a:t>
            </a:r>
          </a:p>
          <a:p>
            <a:r>
              <a:rPr lang="es-ES" sz="1200" b="0" i="0" u="none" strike="noStrike" kern="1200" baseline="0" dirty="0" smtClean="0">
                <a:solidFill>
                  <a:schemeClr val="tx1"/>
                </a:solidFill>
                <a:latin typeface="+mn-lt"/>
                <a:ea typeface="+mn-ea"/>
                <a:cs typeface="+mn-cs"/>
              </a:rPr>
              <a:t>rendimiento. Ya que ahora la definición de los </a:t>
            </a:r>
            <a:r>
              <a:rPr lang="es-ES" sz="1200" b="0" i="0" u="none" strike="noStrike" kern="1200" baseline="0" dirty="0" err="1" smtClean="0">
                <a:solidFill>
                  <a:schemeClr val="tx1"/>
                </a:solidFill>
                <a:latin typeface="+mn-lt"/>
                <a:ea typeface="+mn-ea"/>
                <a:cs typeface="+mn-cs"/>
              </a:rPr>
              <a:t>templates</a:t>
            </a:r>
            <a:r>
              <a:rPr lang="es-ES" sz="1200" b="0" i="0" u="none" strike="noStrike" kern="1200" baseline="0" dirty="0" smtClean="0">
                <a:solidFill>
                  <a:schemeClr val="tx1"/>
                </a:solidFill>
                <a:latin typeface="+mn-lt"/>
                <a:ea typeface="+mn-ea"/>
                <a:cs typeface="+mn-cs"/>
              </a:rPr>
              <a:t> se realiza mediante </a:t>
            </a:r>
            <a:r>
              <a:rPr lang="es-ES" sz="1200" b="0" i="0" u="none" strike="noStrike" kern="1200" baseline="0" dirty="0" err="1" smtClean="0">
                <a:solidFill>
                  <a:schemeClr val="tx1"/>
                </a:solidFill>
                <a:latin typeface="+mn-lt"/>
                <a:ea typeface="+mn-ea"/>
                <a:cs typeface="+mn-cs"/>
              </a:rPr>
              <a:t>Javascript</a:t>
            </a:r>
            <a:r>
              <a:rPr lang="es-ES" sz="1200" b="0" i="0" u="none" strike="noStrike" kern="1200" baseline="0" dirty="0" smtClean="0">
                <a:solidFill>
                  <a:schemeClr val="tx1"/>
                </a:solidFill>
                <a:latin typeface="+mn-lt"/>
                <a:ea typeface="+mn-ea"/>
                <a:cs typeface="+mn-cs"/>
              </a:rPr>
              <a:t>, el</a:t>
            </a:r>
          </a:p>
          <a:p>
            <a:r>
              <a:rPr lang="es-ES" sz="1200" b="0" i="0" u="none" strike="noStrike" kern="1200" baseline="0" dirty="0" smtClean="0">
                <a:solidFill>
                  <a:schemeClr val="tx1"/>
                </a:solidFill>
                <a:latin typeface="+mn-lt"/>
                <a:ea typeface="+mn-ea"/>
                <a:cs typeface="+mn-cs"/>
              </a:rPr>
              <a:t>equipo de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ha trabajado en una nueva manera de definir estos </a:t>
            </a:r>
            <a:r>
              <a:rPr lang="es-ES" sz="1200" b="0" i="0" u="none" strike="noStrike" kern="1200" baseline="0" dirty="0" err="1" smtClean="0">
                <a:solidFill>
                  <a:schemeClr val="tx1"/>
                </a:solidFill>
                <a:latin typeface="+mn-lt"/>
                <a:ea typeface="+mn-ea"/>
                <a:cs typeface="+mn-cs"/>
              </a:rPr>
              <a:t>templates</a:t>
            </a:r>
            <a:r>
              <a:rPr lang="es-ES" sz="1200" b="0" i="0" u="none" strike="noStrike" kern="1200" baseline="0" dirty="0" smtClean="0">
                <a:solidFill>
                  <a:schemeClr val="tx1"/>
                </a:solidFill>
                <a:latin typeface="+mn-lt"/>
                <a:ea typeface="+mn-ea"/>
                <a:cs typeface="+mn-cs"/>
              </a:rPr>
              <a:t>, que</a:t>
            </a:r>
          </a:p>
          <a:p>
            <a:r>
              <a:rPr lang="es-ES" sz="1200" b="0" i="0" u="none" strike="noStrike" kern="1200" baseline="0" dirty="0" smtClean="0">
                <a:solidFill>
                  <a:schemeClr val="tx1"/>
                </a:solidFill>
                <a:latin typeface="+mn-lt"/>
                <a:ea typeface="+mn-ea"/>
                <a:cs typeface="+mn-cs"/>
              </a:rPr>
              <a:t>aproveche en mayor medida las capacidades nativas de la plataforma web.</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54</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Para especificar las dependencias ahora se usa </a:t>
            </a:r>
            <a:r>
              <a:rPr lang="es-ES" sz="1200" b="0" i="0" u="none" strike="noStrike" kern="1200" baseline="0" dirty="0" err="1" smtClean="0">
                <a:solidFill>
                  <a:schemeClr val="tx1"/>
                </a:solidFill>
                <a:latin typeface="+mn-lt"/>
                <a:ea typeface="+mn-ea"/>
                <a:cs typeface="+mn-cs"/>
              </a:rPr>
              <a:t>import</a:t>
            </a:r>
            <a:r>
              <a:rPr lang="es-ES" sz="1200" b="0" i="0" u="none" strike="noStrike" kern="1200" baseline="0" dirty="0" smtClean="0">
                <a:solidFill>
                  <a:schemeClr val="tx1"/>
                </a:solidFill>
                <a:latin typeface="+mn-lt"/>
                <a:ea typeface="+mn-ea"/>
                <a:cs typeface="+mn-cs"/>
              </a:rPr>
              <a:t> en </a:t>
            </a:r>
            <a:r>
              <a:rPr lang="es-ES" sz="1200" b="0" i="0" u="none" strike="noStrike" kern="1200" baseline="0" dirty="0" err="1" smtClean="0">
                <a:solidFill>
                  <a:schemeClr val="tx1"/>
                </a:solidFill>
                <a:latin typeface="+mn-lt"/>
                <a:ea typeface="+mn-ea"/>
                <a:cs typeface="+mn-cs"/>
              </a:rPr>
              <a:t>Javascript</a:t>
            </a:r>
            <a:r>
              <a:rPr lang="es-ES" sz="1200" b="0" i="0" u="none" strike="noStrike" kern="1200" baseline="0" dirty="0" smtClean="0">
                <a:solidFill>
                  <a:schemeClr val="tx1"/>
                </a:solidFill>
                <a:latin typeface="+mn-lt"/>
                <a:ea typeface="+mn-ea"/>
                <a:cs typeface="+mn-cs"/>
              </a:rPr>
              <a:t>, en vez de los</a:t>
            </a:r>
          </a:p>
          <a:p>
            <a:r>
              <a:rPr lang="es-ES" sz="1200" b="0" i="0" u="none" strike="noStrike" kern="1200" baseline="0" dirty="0" smtClean="0">
                <a:solidFill>
                  <a:schemeClr val="tx1"/>
                </a:solidFill>
                <a:latin typeface="+mn-lt"/>
                <a:ea typeface="+mn-ea"/>
                <a:cs typeface="+mn-cs"/>
              </a:rPr>
              <a:t>HTML </a:t>
            </a:r>
            <a:r>
              <a:rPr lang="es-ES" sz="1200" b="0" i="0" u="none" strike="noStrike" kern="1200" baseline="0" dirty="0" err="1" smtClean="0">
                <a:solidFill>
                  <a:schemeClr val="tx1"/>
                </a:solidFill>
                <a:latin typeface="+mn-lt"/>
                <a:ea typeface="+mn-ea"/>
                <a:cs typeface="+mn-cs"/>
              </a:rPr>
              <a:t>Imports</a:t>
            </a:r>
            <a:r>
              <a:rPr lang="es-ES" sz="1200" b="0" i="0" u="none" strike="noStrike" kern="1200" baseline="0" dirty="0" smtClean="0">
                <a:solidFill>
                  <a:schemeClr val="tx1"/>
                </a:solidFill>
                <a:latin typeface="+mn-lt"/>
                <a:ea typeface="+mn-ea"/>
                <a:cs typeface="+mn-cs"/>
              </a:rPr>
              <a:t> de versiones anteriores.</a:t>
            </a:r>
          </a:p>
          <a:p>
            <a:r>
              <a:rPr lang="es-ES" sz="1200" b="0" i="0" u="none" strike="noStrike" kern="1200" baseline="0" dirty="0" smtClean="0">
                <a:solidFill>
                  <a:schemeClr val="tx1"/>
                </a:solidFill>
                <a:latin typeface="+mn-lt"/>
                <a:ea typeface="+mn-ea"/>
                <a:cs typeface="+mn-cs"/>
              </a:rPr>
              <a:t>Ya no se usa la etiqueta </a:t>
            </a:r>
            <a:r>
              <a:rPr lang="es-ES" sz="1200" b="0" i="0" u="none" strike="noStrike" kern="1200" baseline="0" dirty="0" err="1" smtClean="0">
                <a:solidFill>
                  <a:schemeClr val="tx1"/>
                </a:solidFill>
                <a:latin typeface="+mn-lt"/>
                <a:ea typeface="+mn-ea"/>
                <a:cs typeface="+mn-cs"/>
              </a:rPr>
              <a:t>dom</a:t>
            </a:r>
            <a:r>
              <a:rPr lang="es-ES" sz="1200" b="0" i="0" u="none" strike="noStrike" kern="1200" baseline="0" dirty="0" smtClean="0">
                <a:solidFill>
                  <a:schemeClr val="tx1"/>
                </a:solidFill>
                <a:latin typeface="+mn-lt"/>
                <a:ea typeface="+mn-ea"/>
                <a:cs typeface="+mn-cs"/>
              </a:rPr>
              <a:t>-module</a:t>
            </a:r>
          </a:p>
          <a:p>
            <a:r>
              <a:rPr lang="es-ES" sz="1200" b="0" i="0" u="none" strike="noStrike" kern="1200" baseline="0" dirty="0" smtClean="0">
                <a:solidFill>
                  <a:schemeClr val="tx1"/>
                </a:solidFill>
                <a:latin typeface="+mn-lt"/>
                <a:ea typeface="+mn-ea"/>
                <a:cs typeface="+mn-cs"/>
              </a:rPr>
              <a:t>El </a:t>
            </a:r>
            <a:r>
              <a:rPr lang="es-ES" sz="1200" b="0" i="0" u="none" strike="noStrike" kern="1200" baseline="0" dirty="0" err="1" smtClean="0">
                <a:solidFill>
                  <a:schemeClr val="tx1"/>
                </a:solidFill>
                <a:latin typeface="+mn-lt"/>
                <a:ea typeface="+mn-ea"/>
                <a:cs typeface="+mn-cs"/>
              </a:rPr>
              <a:t>template</a:t>
            </a:r>
            <a:r>
              <a:rPr lang="es-ES" sz="1200" b="0" i="0" u="none" strike="noStrike" kern="1200" baseline="0" dirty="0" smtClean="0">
                <a:solidFill>
                  <a:schemeClr val="tx1"/>
                </a:solidFill>
                <a:latin typeface="+mn-lt"/>
                <a:ea typeface="+mn-ea"/>
                <a:cs typeface="+mn-cs"/>
              </a:rPr>
              <a:t> se define en código </a:t>
            </a:r>
            <a:r>
              <a:rPr lang="es-ES" sz="1200" b="0" i="0" u="none" strike="noStrike" kern="1200" baseline="0" dirty="0" err="1" smtClean="0">
                <a:solidFill>
                  <a:schemeClr val="tx1"/>
                </a:solidFill>
                <a:latin typeface="+mn-lt"/>
                <a:ea typeface="+mn-ea"/>
                <a:cs typeface="+mn-cs"/>
              </a:rPr>
              <a:t>Javascript</a:t>
            </a:r>
            <a:r>
              <a:rPr lang="es-ES" sz="1200" b="0" i="0" u="none" strike="noStrike" kern="1200" baseline="0" dirty="0" smtClean="0">
                <a:solidFill>
                  <a:schemeClr val="tx1"/>
                </a:solidFill>
                <a:latin typeface="+mn-lt"/>
                <a:ea typeface="+mn-ea"/>
                <a:cs typeface="+mn-cs"/>
              </a:rPr>
              <a:t>. Usa una funcionalidad de ES6 llamada</a:t>
            </a:r>
          </a:p>
          <a:p>
            <a:r>
              <a:rPr lang="es-ES" sz="1200" b="0" i="0" u="none" strike="noStrike" kern="1200" baseline="0" dirty="0" smtClean="0">
                <a:solidFill>
                  <a:schemeClr val="tx1"/>
                </a:solidFill>
                <a:latin typeface="+mn-lt"/>
                <a:ea typeface="+mn-ea"/>
                <a:cs typeface="+mn-cs"/>
              </a:rPr>
              <a:t>"</a:t>
            </a:r>
            <a:r>
              <a:rPr lang="es-ES" sz="1200" b="0" i="0" u="none" strike="noStrike" kern="1200" baseline="0" dirty="0" err="1" smtClean="0">
                <a:solidFill>
                  <a:schemeClr val="tx1"/>
                </a:solidFill>
                <a:latin typeface="+mn-lt"/>
                <a:ea typeface="+mn-ea"/>
                <a:cs typeface="+mn-cs"/>
              </a:rPr>
              <a:t>Template</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String</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Tags</a:t>
            </a:r>
            <a:r>
              <a:rPr lang="es-ES" sz="1200" b="0" i="0" u="none" strike="noStrike" kern="1200" baseline="0" dirty="0" smtClean="0">
                <a:solidFill>
                  <a:schemeClr val="tx1"/>
                </a:solidFill>
                <a:latin typeface="+mn-lt"/>
                <a:ea typeface="+mn-ea"/>
                <a:cs typeface="+mn-cs"/>
              </a:rPr>
              <a:t>", de la cual encuentras más información en el artículo de </a:t>
            </a:r>
            <a:r>
              <a:rPr lang="es-ES" sz="1200" b="0" i="0" u="none" strike="noStrike" kern="1200" baseline="0" dirty="0" err="1" smtClean="0">
                <a:solidFill>
                  <a:schemeClr val="tx1"/>
                </a:solidFill>
                <a:latin typeface="+mn-lt"/>
                <a:ea typeface="+mn-ea"/>
                <a:cs typeface="+mn-cs"/>
              </a:rPr>
              <a:t>Lit</a:t>
            </a:r>
            <a:r>
              <a:rPr lang="es-ES" sz="1200" b="0" i="0" u="none" strike="noStrike" kern="1200" baseline="0" dirty="0" smtClean="0">
                <a:solidFill>
                  <a:schemeClr val="tx1"/>
                </a:solidFill>
                <a:latin typeface="+mn-lt"/>
                <a:ea typeface="+mn-ea"/>
                <a:cs typeface="+mn-cs"/>
              </a:rPr>
              <a:t>-</a:t>
            </a:r>
          </a:p>
          <a:p>
            <a:r>
              <a:rPr lang="es-ES" sz="1200" b="0" i="0" u="none" strike="noStrike" kern="1200" baseline="0" dirty="0" smtClean="0">
                <a:solidFill>
                  <a:schemeClr val="tx1"/>
                </a:solidFill>
                <a:latin typeface="+mn-lt"/>
                <a:ea typeface="+mn-ea"/>
                <a:cs typeface="+mn-cs"/>
              </a:rPr>
              <a:t>HTML.</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55</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56</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57</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58</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59</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smtClean="0">
                <a:solidFill>
                  <a:srgbClr val="FF0000"/>
                </a:solidFill>
              </a:rPr>
              <a:t>Explicar el </a:t>
            </a:r>
            <a:r>
              <a:rPr lang="es-ES" b="1" dirty="0" err="1" smtClean="0">
                <a:solidFill>
                  <a:srgbClr val="FF0000"/>
                </a:solidFill>
              </a:rPr>
              <a:t>Caret</a:t>
            </a:r>
            <a:r>
              <a:rPr lang="es-ES" b="1" dirty="0" smtClean="0">
                <a:solidFill>
                  <a:srgbClr val="FF0000"/>
                </a:solidFill>
              </a:rPr>
              <a:t> </a:t>
            </a:r>
            <a:r>
              <a:rPr lang="es-ES" b="1" dirty="0" err="1" smtClean="0">
                <a:solidFill>
                  <a:srgbClr val="FF0000"/>
                </a:solidFill>
              </a:rPr>
              <a:t>Range</a:t>
            </a:r>
            <a:r>
              <a:rPr lang="es-ES" b="1" baseline="0" dirty="0" smtClean="0">
                <a:solidFill>
                  <a:srgbClr val="FF0000"/>
                </a:solidFill>
              </a:rPr>
              <a:t> del </a:t>
            </a:r>
            <a:r>
              <a:rPr lang="es-ES" b="1" baseline="0" dirty="0" err="1" smtClean="0">
                <a:solidFill>
                  <a:srgbClr val="FF0000"/>
                </a:solidFill>
              </a:rPr>
              <a:t>package.json</a:t>
            </a:r>
            <a:endParaRPr lang="es-ES" b="1" dirty="0" smtClean="0">
              <a:solidFill>
                <a:srgbClr val="FF0000"/>
              </a:solidFill>
            </a:endParaRPr>
          </a:p>
          <a:p>
            <a:r>
              <a:rPr lang="es-ES" dirty="0" smtClean="0"/>
              <a:t>Por defecto se establece un </a:t>
            </a:r>
            <a:r>
              <a:rPr lang="es-ES" dirty="0" err="1" smtClean="0"/>
              <a:t>Caret</a:t>
            </a:r>
            <a:r>
              <a:rPr lang="es-ES" dirty="0" smtClean="0"/>
              <a:t> </a:t>
            </a:r>
            <a:r>
              <a:rPr lang="es-ES" dirty="0" err="1" smtClean="0"/>
              <a:t>Range</a:t>
            </a:r>
            <a:r>
              <a:rPr lang="es-ES" dirty="0" smtClean="0"/>
              <a:t>: •Ejemplos "^1.2.3"    "^0.2.5"    "^0.0.4" •</a:t>
            </a:r>
            <a:r>
              <a:rPr lang="es-ES" dirty="0" err="1" smtClean="0"/>
              <a:t>Allows</a:t>
            </a:r>
            <a:r>
              <a:rPr lang="es-ES" dirty="0" smtClean="0"/>
              <a:t> </a:t>
            </a:r>
            <a:r>
              <a:rPr lang="es-ES" dirty="0" err="1" smtClean="0"/>
              <a:t>changes</a:t>
            </a:r>
            <a:r>
              <a:rPr lang="es-ES" dirty="0" smtClean="0"/>
              <a:t> </a:t>
            </a:r>
            <a:r>
              <a:rPr lang="es-ES" dirty="0" err="1" smtClean="0"/>
              <a:t>that</a:t>
            </a:r>
            <a:r>
              <a:rPr lang="es-ES" dirty="0" smtClean="0"/>
              <a:t> do </a:t>
            </a:r>
            <a:r>
              <a:rPr lang="es-ES" dirty="0" err="1" smtClean="0"/>
              <a:t>not</a:t>
            </a:r>
            <a:r>
              <a:rPr lang="es-ES" dirty="0" smtClean="0"/>
              <a:t> </a:t>
            </a:r>
            <a:r>
              <a:rPr lang="es-ES" dirty="0" err="1" smtClean="0"/>
              <a:t>modify</a:t>
            </a:r>
            <a:r>
              <a:rPr lang="es-ES" dirty="0" smtClean="0"/>
              <a:t> </a:t>
            </a:r>
            <a:r>
              <a:rPr lang="es-ES" dirty="0" err="1" smtClean="0"/>
              <a:t>the</a:t>
            </a:r>
            <a:r>
              <a:rPr lang="es-ES" dirty="0" smtClean="0"/>
              <a:t> </a:t>
            </a:r>
            <a:r>
              <a:rPr lang="es-ES" dirty="0" err="1" smtClean="0"/>
              <a:t>left-most</a:t>
            </a:r>
            <a:r>
              <a:rPr lang="es-ES" dirty="0" smtClean="0"/>
              <a:t> non-</a:t>
            </a:r>
            <a:r>
              <a:rPr lang="es-ES" dirty="0" err="1" smtClean="0"/>
              <a:t>zero</a:t>
            </a:r>
            <a:r>
              <a:rPr lang="es-ES" dirty="0" smtClean="0"/>
              <a:t> </a:t>
            </a:r>
            <a:r>
              <a:rPr lang="es-ES" dirty="0" err="1" smtClean="0"/>
              <a:t>digit</a:t>
            </a:r>
            <a:r>
              <a:rPr lang="es-ES" dirty="0" smtClean="0"/>
              <a:t> in </a:t>
            </a:r>
            <a:r>
              <a:rPr lang="es-ES" dirty="0" err="1" smtClean="0"/>
              <a:t>the</a:t>
            </a:r>
            <a:r>
              <a:rPr lang="es-ES" dirty="0" smtClean="0"/>
              <a:t> [</a:t>
            </a:r>
            <a:r>
              <a:rPr lang="es-ES" dirty="0" err="1" smtClean="0"/>
              <a:t>major</a:t>
            </a:r>
            <a:r>
              <a:rPr lang="es-ES" dirty="0" smtClean="0"/>
              <a:t>, </a:t>
            </a:r>
            <a:r>
              <a:rPr lang="es-ES" dirty="0" err="1" smtClean="0"/>
              <a:t>minor</a:t>
            </a:r>
            <a:r>
              <a:rPr lang="es-ES" dirty="0" smtClean="0"/>
              <a:t>, </a:t>
            </a:r>
            <a:r>
              <a:rPr lang="es-ES" dirty="0" err="1" smtClean="0"/>
              <a:t>patch</a:t>
            </a:r>
            <a:r>
              <a:rPr lang="es-ES" dirty="0" smtClean="0"/>
              <a:t>] </a:t>
            </a:r>
            <a:r>
              <a:rPr lang="es-ES" dirty="0" err="1" smtClean="0"/>
              <a:t>tuple</a:t>
            </a:r>
            <a:r>
              <a:rPr lang="es-ES" dirty="0" smtClean="0"/>
              <a:t>.</a:t>
            </a:r>
          </a:p>
          <a:p>
            <a:endParaRPr lang="es-ES" dirty="0" smtClean="0"/>
          </a:p>
          <a:p>
            <a:r>
              <a:rPr lang="es-ES" dirty="0" smtClean="0"/>
              <a:t>~</a:t>
            </a:r>
            <a:r>
              <a:rPr lang="es-ES" dirty="0" err="1" smtClean="0"/>
              <a:t>version</a:t>
            </a:r>
            <a:r>
              <a:rPr lang="es-ES" dirty="0" smtClean="0"/>
              <a:t> "</a:t>
            </a:r>
            <a:r>
              <a:rPr lang="es-ES" dirty="0" err="1" smtClean="0"/>
              <a:t>Approximately</a:t>
            </a:r>
            <a:r>
              <a:rPr lang="es-ES" dirty="0" smtClean="0"/>
              <a:t> </a:t>
            </a:r>
            <a:r>
              <a:rPr lang="es-ES" dirty="0" err="1" smtClean="0"/>
              <a:t>equivalent</a:t>
            </a:r>
            <a:r>
              <a:rPr lang="es-ES" dirty="0" smtClean="0"/>
              <a:t> </a:t>
            </a:r>
            <a:r>
              <a:rPr lang="es-ES" dirty="0" err="1" smtClean="0"/>
              <a:t>to</a:t>
            </a:r>
            <a:r>
              <a:rPr lang="es-ES" dirty="0" smtClean="0"/>
              <a:t> </a:t>
            </a:r>
            <a:r>
              <a:rPr lang="es-ES" dirty="0" err="1" smtClean="0"/>
              <a:t>version</a:t>
            </a:r>
            <a:r>
              <a:rPr lang="es-ES" dirty="0" smtClean="0"/>
              <a:t>" </a:t>
            </a:r>
            <a:r>
              <a:rPr lang="es-ES" dirty="0" err="1" smtClean="0"/>
              <a:t>See</a:t>
            </a:r>
            <a:r>
              <a:rPr lang="es-ES" dirty="0" smtClean="0"/>
              <a:t> </a:t>
            </a:r>
            <a:r>
              <a:rPr lang="es-ES" dirty="0" err="1" smtClean="0"/>
              <a:t>npm</a:t>
            </a:r>
            <a:r>
              <a:rPr lang="es-ES" dirty="0" smtClean="0"/>
              <a:t> </a:t>
            </a:r>
            <a:r>
              <a:rPr lang="es-ES" dirty="0" err="1" smtClean="0"/>
              <a:t>semver</a:t>
            </a:r>
            <a:r>
              <a:rPr lang="es-ES" dirty="0" smtClean="0"/>
              <a:t> - Tilde </a:t>
            </a:r>
            <a:r>
              <a:rPr lang="es-ES" dirty="0" err="1" smtClean="0"/>
              <a:t>Ranges</a:t>
            </a:r>
            <a:r>
              <a:rPr lang="es-ES" dirty="0" smtClean="0"/>
              <a:t> &amp; </a:t>
            </a:r>
            <a:r>
              <a:rPr lang="es-ES" dirty="0" err="1" smtClean="0"/>
              <a:t>semver</a:t>
            </a:r>
            <a:r>
              <a:rPr lang="es-ES" dirty="0" smtClean="0"/>
              <a:t> (7)</a:t>
            </a:r>
          </a:p>
          <a:p>
            <a:r>
              <a:rPr lang="es-ES" dirty="0" smtClean="0"/>
              <a:t>^</a:t>
            </a:r>
            <a:r>
              <a:rPr lang="es-ES" dirty="0" err="1" smtClean="0"/>
              <a:t>version</a:t>
            </a:r>
            <a:r>
              <a:rPr lang="es-ES" dirty="0" smtClean="0"/>
              <a:t> "Compatible </a:t>
            </a:r>
            <a:r>
              <a:rPr lang="es-ES" dirty="0" err="1" smtClean="0"/>
              <a:t>with</a:t>
            </a:r>
            <a:r>
              <a:rPr lang="es-ES" dirty="0" smtClean="0"/>
              <a:t> </a:t>
            </a:r>
            <a:r>
              <a:rPr lang="es-ES" dirty="0" err="1" smtClean="0"/>
              <a:t>version</a:t>
            </a:r>
            <a:r>
              <a:rPr lang="es-ES" dirty="0" smtClean="0"/>
              <a:t>" </a:t>
            </a:r>
            <a:r>
              <a:rPr lang="es-ES" dirty="0" err="1" smtClean="0"/>
              <a:t>See</a:t>
            </a:r>
            <a:r>
              <a:rPr lang="es-ES" dirty="0" smtClean="0"/>
              <a:t> </a:t>
            </a:r>
            <a:r>
              <a:rPr lang="es-ES" dirty="0" err="1" smtClean="0"/>
              <a:t>npm</a:t>
            </a:r>
            <a:r>
              <a:rPr lang="es-ES" dirty="0" smtClean="0"/>
              <a:t> </a:t>
            </a:r>
            <a:r>
              <a:rPr lang="es-ES" dirty="0" err="1" smtClean="0"/>
              <a:t>semver</a:t>
            </a:r>
            <a:r>
              <a:rPr lang="es-ES" dirty="0" smtClean="0"/>
              <a:t> - </a:t>
            </a:r>
            <a:r>
              <a:rPr lang="es-ES" dirty="0" err="1" smtClean="0"/>
              <a:t>Caret</a:t>
            </a:r>
            <a:r>
              <a:rPr lang="es-ES" dirty="0" smtClean="0"/>
              <a:t> </a:t>
            </a:r>
            <a:r>
              <a:rPr lang="es-ES" dirty="0" err="1" smtClean="0"/>
              <a:t>Ranges</a:t>
            </a:r>
            <a:r>
              <a:rPr lang="es-ES" dirty="0" smtClean="0"/>
              <a:t> &amp; </a:t>
            </a:r>
            <a:r>
              <a:rPr lang="es-ES" dirty="0" err="1" smtClean="0"/>
              <a:t>semver</a:t>
            </a:r>
            <a:r>
              <a:rPr lang="es-ES" dirty="0" smtClean="0"/>
              <a:t> (7)</a:t>
            </a:r>
          </a:p>
          <a:p>
            <a:r>
              <a:rPr lang="es-ES" dirty="0" err="1" smtClean="0"/>
              <a:t>version</a:t>
            </a:r>
            <a:r>
              <a:rPr lang="es-ES" dirty="0" smtClean="0"/>
              <a:t> </a:t>
            </a:r>
            <a:r>
              <a:rPr lang="es-ES" dirty="0" err="1" smtClean="0"/>
              <a:t>Must</a:t>
            </a:r>
            <a:r>
              <a:rPr lang="es-ES" dirty="0" smtClean="0"/>
              <a:t> match </a:t>
            </a:r>
            <a:r>
              <a:rPr lang="es-ES" dirty="0" err="1" smtClean="0"/>
              <a:t>version</a:t>
            </a:r>
            <a:r>
              <a:rPr lang="es-ES" dirty="0" smtClean="0"/>
              <a:t> </a:t>
            </a:r>
            <a:r>
              <a:rPr lang="es-ES" dirty="0" err="1" smtClean="0"/>
              <a:t>exactly</a:t>
            </a:r>
            <a:endParaRPr lang="es-ES" dirty="0" smtClean="0"/>
          </a:p>
          <a:p>
            <a:r>
              <a:rPr lang="es-ES" dirty="0" smtClean="0"/>
              <a:t>&gt;</a:t>
            </a:r>
            <a:r>
              <a:rPr lang="es-ES" dirty="0" err="1" smtClean="0"/>
              <a:t>version</a:t>
            </a:r>
            <a:r>
              <a:rPr lang="es-ES" dirty="0" smtClean="0"/>
              <a:t> </a:t>
            </a:r>
            <a:r>
              <a:rPr lang="es-ES" dirty="0" err="1" smtClean="0"/>
              <a:t>Must</a:t>
            </a:r>
            <a:r>
              <a:rPr lang="es-ES" dirty="0" smtClean="0"/>
              <a:t> be </a:t>
            </a:r>
            <a:r>
              <a:rPr lang="es-ES" dirty="0" err="1" smtClean="0"/>
              <a:t>greater</a:t>
            </a:r>
            <a:r>
              <a:rPr lang="es-ES" dirty="0" smtClean="0"/>
              <a:t> </a:t>
            </a:r>
            <a:r>
              <a:rPr lang="es-ES" dirty="0" err="1" smtClean="0"/>
              <a:t>than</a:t>
            </a:r>
            <a:r>
              <a:rPr lang="es-ES" dirty="0" smtClean="0"/>
              <a:t> </a:t>
            </a:r>
            <a:r>
              <a:rPr lang="es-ES" dirty="0" err="1" smtClean="0"/>
              <a:t>version</a:t>
            </a:r>
            <a:endParaRPr lang="es-ES" dirty="0" smtClean="0"/>
          </a:p>
          <a:p>
            <a:r>
              <a:rPr lang="es-ES" dirty="0" smtClean="0"/>
              <a:t>&gt;=</a:t>
            </a:r>
            <a:r>
              <a:rPr lang="es-ES" dirty="0" err="1" smtClean="0"/>
              <a:t>version</a:t>
            </a:r>
            <a:r>
              <a:rPr lang="es-ES" dirty="0" smtClean="0"/>
              <a:t> </a:t>
            </a:r>
            <a:r>
              <a:rPr lang="es-ES" dirty="0" err="1" smtClean="0"/>
              <a:t>etc</a:t>
            </a:r>
            <a:endParaRPr lang="es-ES" dirty="0" smtClean="0"/>
          </a:p>
          <a:p>
            <a:r>
              <a:rPr lang="es-ES" dirty="0" smtClean="0"/>
              <a:t>&lt;</a:t>
            </a:r>
            <a:r>
              <a:rPr lang="es-ES" dirty="0" err="1" smtClean="0"/>
              <a:t>version</a:t>
            </a:r>
            <a:endParaRPr lang="es-ES" dirty="0" smtClean="0"/>
          </a:p>
          <a:p>
            <a:r>
              <a:rPr lang="es-ES" dirty="0" smtClean="0"/>
              <a:t>&lt;=</a:t>
            </a:r>
            <a:r>
              <a:rPr lang="es-ES" dirty="0" err="1" smtClean="0"/>
              <a:t>version</a:t>
            </a:r>
            <a:endParaRPr lang="es-ES" dirty="0" smtClean="0"/>
          </a:p>
          <a:p>
            <a:r>
              <a:rPr lang="es-ES" dirty="0" smtClean="0"/>
              <a:t>1.2.x 1.2.0, 1.2.1, etc., </a:t>
            </a:r>
            <a:r>
              <a:rPr lang="es-ES" dirty="0" err="1" smtClean="0"/>
              <a:t>but</a:t>
            </a:r>
            <a:r>
              <a:rPr lang="es-ES" dirty="0" smtClean="0"/>
              <a:t> </a:t>
            </a:r>
            <a:r>
              <a:rPr lang="es-ES" dirty="0" err="1" smtClean="0"/>
              <a:t>not</a:t>
            </a:r>
            <a:r>
              <a:rPr lang="es-ES" dirty="0" smtClean="0"/>
              <a:t> 1.3.0</a:t>
            </a:r>
          </a:p>
          <a:p>
            <a:r>
              <a:rPr lang="es-ES" dirty="0" smtClean="0"/>
              <a:t>http://</a:t>
            </a:r>
            <a:r>
              <a:rPr lang="es-ES" dirty="0" err="1" smtClean="0"/>
              <a:t>sometarballurl</a:t>
            </a:r>
            <a:r>
              <a:rPr lang="es-ES" dirty="0" smtClean="0"/>
              <a:t> (</a:t>
            </a:r>
            <a:r>
              <a:rPr lang="es-ES" dirty="0" err="1" smtClean="0"/>
              <a:t>this</a:t>
            </a:r>
            <a:r>
              <a:rPr lang="es-ES" dirty="0" smtClean="0"/>
              <a:t> </a:t>
            </a:r>
            <a:r>
              <a:rPr lang="es-ES" dirty="0" err="1" smtClean="0"/>
              <a:t>may</a:t>
            </a:r>
            <a:r>
              <a:rPr lang="es-ES" dirty="0" smtClean="0"/>
              <a:t> be </a:t>
            </a:r>
            <a:r>
              <a:rPr lang="es-ES" dirty="0" err="1" smtClean="0"/>
              <a:t>the</a:t>
            </a:r>
            <a:r>
              <a:rPr lang="es-ES" dirty="0" smtClean="0"/>
              <a:t> URL of a </a:t>
            </a:r>
            <a:r>
              <a:rPr lang="es-ES" dirty="0" err="1" smtClean="0"/>
              <a:t>tarball</a:t>
            </a:r>
            <a:r>
              <a:rPr lang="es-ES" dirty="0" smtClean="0"/>
              <a:t> </a:t>
            </a:r>
            <a:r>
              <a:rPr lang="es-ES" dirty="0" err="1" smtClean="0"/>
              <a:t>which</a:t>
            </a:r>
            <a:r>
              <a:rPr lang="es-ES" dirty="0" smtClean="0"/>
              <a:t> </a:t>
            </a:r>
            <a:r>
              <a:rPr lang="es-ES" dirty="0" err="1" smtClean="0"/>
              <a:t>will</a:t>
            </a:r>
            <a:r>
              <a:rPr lang="es-ES" dirty="0" smtClean="0"/>
              <a:t> be </a:t>
            </a:r>
            <a:r>
              <a:rPr lang="es-ES" dirty="0" err="1" smtClean="0"/>
              <a:t>downloaded</a:t>
            </a:r>
            <a:r>
              <a:rPr lang="es-ES" dirty="0" smtClean="0"/>
              <a:t> and </a:t>
            </a:r>
            <a:r>
              <a:rPr lang="es-ES" dirty="0" err="1" smtClean="0"/>
              <a:t>installed</a:t>
            </a:r>
            <a:r>
              <a:rPr lang="es-ES" dirty="0" smtClean="0"/>
              <a:t> </a:t>
            </a:r>
            <a:r>
              <a:rPr lang="es-ES" dirty="0" err="1" smtClean="0"/>
              <a:t>locally</a:t>
            </a:r>
            <a:endParaRPr lang="es-ES" dirty="0" smtClean="0"/>
          </a:p>
          <a:p>
            <a:r>
              <a:rPr lang="es-ES" dirty="0" smtClean="0"/>
              <a:t>* </a:t>
            </a:r>
            <a:r>
              <a:rPr lang="es-ES" dirty="0" err="1" smtClean="0"/>
              <a:t>Matches</a:t>
            </a:r>
            <a:r>
              <a:rPr lang="es-ES" dirty="0" smtClean="0"/>
              <a:t> </a:t>
            </a:r>
            <a:r>
              <a:rPr lang="es-ES" dirty="0" err="1" smtClean="0"/>
              <a:t>any</a:t>
            </a:r>
            <a:r>
              <a:rPr lang="es-ES" dirty="0" smtClean="0"/>
              <a:t> </a:t>
            </a:r>
            <a:r>
              <a:rPr lang="es-ES" dirty="0" err="1" smtClean="0"/>
              <a:t>version</a:t>
            </a:r>
            <a:endParaRPr lang="es-ES" dirty="0" smtClean="0"/>
          </a:p>
          <a:p>
            <a:r>
              <a:rPr lang="es-ES" dirty="0" err="1" smtClean="0"/>
              <a:t>latest</a:t>
            </a:r>
            <a:r>
              <a:rPr lang="es-ES" dirty="0" smtClean="0"/>
              <a:t> </a:t>
            </a:r>
            <a:r>
              <a:rPr lang="es-ES" dirty="0" err="1" smtClean="0"/>
              <a:t>Obtains</a:t>
            </a:r>
            <a:r>
              <a:rPr lang="es-ES" dirty="0" smtClean="0"/>
              <a:t> </a:t>
            </a:r>
            <a:r>
              <a:rPr lang="es-ES" dirty="0" err="1" smtClean="0"/>
              <a:t>latest</a:t>
            </a:r>
            <a:r>
              <a:rPr lang="es-ES" dirty="0" smtClean="0"/>
              <a:t> </a:t>
            </a:r>
            <a:r>
              <a:rPr lang="es-ES" dirty="0" err="1" smtClean="0"/>
              <a:t>release</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60</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Este comando revisará el archivo "</a:t>
            </a:r>
            <a:r>
              <a:rPr lang="es-ES" dirty="0" err="1" smtClean="0"/>
              <a:t>polymer.json</a:t>
            </a:r>
            <a:r>
              <a:rPr lang="es-ES" dirty="0" smtClean="0"/>
              <a:t>" que hay en raíz y atendiendo a las definiciones creará los archivos para distribución. Aquí entra en juego algo muy importante y relativamente nuevo en </a:t>
            </a:r>
            <a:r>
              <a:rPr lang="es-ES" dirty="0" err="1" smtClean="0"/>
              <a:t>Polymer</a:t>
            </a:r>
            <a:r>
              <a:rPr lang="es-ES" dirty="0" smtClean="0"/>
              <a:t>, que es la parte del </a:t>
            </a:r>
            <a:r>
              <a:rPr lang="es-ES" dirty="0" err="1" smtClean="0"/>
              <a:t>lazy</a:t>
            </a:r>
            <a:r>
              <a:rPr lang="es-ES" dirty="0" smtClean="0"/>
              <a:t>-load de </a:t>
            </a:r>
            <a:r>
              <a:rPr lang="es-ES" dirty="0" err="1" smtClean="0"/>
              <a:t>components</a:t>
            </a:r>
            <a:r>
              <a:rPr lang="es-ES" dirty="0" smtClean="0"/>
              <a:t>. Para orientar al proceso de despliegue justamente </a:t>
            </a:r>
            <a:r>
              <a:rPr lang="es-ES" dirty="0" err="1" smtClean="0"/>
              <a:t>encontrarmos</a:t>
            </a:r>
            <a:r>
              <a:rPr lang="es-ES" dirty="0" smtClean="0"/>
              <a:t> en "</a:t>
            </a:r>
            <a:r>
              <a:rPr lang="es-ES" dirty="0" err="1" smtClean="0"/>
              <a:t>polymer.json</a:t>
            </a:r>
            <a:r>
              <a:rPr lang="es-ES" dirty="0" smtClean="0"/>
              <a:t>" tanto el punto de entrada que debe usar para crear los archivos para producción, como los fragmentos para producir el "</a:t>
            </a:r>
            <a:r>
              <a:rPr lang="es-ES" dirty="0" err="1" smtClean="0"/>
              <a:t>lazy</a:t>
            </a:r>
            <a:r>
              <a:rPr lang="es-ES" dirty="0" smtClean="0"/>
              <a:t>-load".</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El proceso de </a:t>
            </a:r>
            <a:r>
              <a:rPr lang="es-ES" dirty="0" err="1" smtClean="0"/>
              <a:t>Build</a:t>
            </a:r>
            <a:r>
              <a:rPr lang="es-ES" dirty="0" smtClean="0"/>
              <a:t> además generará dos carpetas para distribución. Una de ellas tendrá todos los elementos compactados en un solo archivo y otra carpeta tendrá todos los archivos sueltos. Esto es así porque si el servidor donde vas a colocar tus archivos soporta HTTP 2 no es necesario unirlos todos en un único fichero.</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Los archivos para despliegue te los colocará en la carpeta "</a:t>
            </a:r>
            <a:r>
              <a:rPr lang="es-ES" dirty="0" err="1" smtClean="0"/>
              <a:t>build</a:t>
            </a:r>
            <a:r>
              <a:rPr lang="es-ES" dirty="0" smtClean="0"/>
              <a:t>", que encontrarás una vez finalizado el proceso. Verás que tienes dos directorios dentro, "</a:t>
            </a:r>
            <a:r>
              <a:rPr lang="es-ES" dirty="0" err="1" smtClean="0"/>
              <a:t>bundled</a:t>
            </a:r>
            <a:r>
              <a:rPr lang="es-ES" dirty="0" smtClean="0"/>
              <a:t>" contiene los archivos compactados, que usarás en la mayoría de las ocasiones por el momento (servidores HTTP) y "</a:t>
            </a:r>
            <a:r>
              <a:rPr lang="es-ES" dirty="0" err="1" smtClean="0"/>
              <a:t>unbundled</a:t>
            </a:r>
            <a:r>
              <a:rPr lang="es-ES" dirty="0" smtClean="0"/>
              <a:t>" que tiene los archivos sin compactar (para servidores HTTP 2).</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Esta parte es bastante sofisticada, como puedes ver. Con esto conoces lo básico, aunque habrá que analizarla con más calma en el momento en el que expliquemos la parte del "</a:t>
            </a:r>
            <a:r>
              <a:rPr lang="es-ES" dirty="0" err="1" smtClean="0"/>
              <a:t>lazy</a:t>
            </a:r>
            <a:r>
              <a:rPr lang="es-ES" dirty="0" smtClean="0"/>
              <a:t>-load".</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61</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El manifiesto de aplicaciones web proporciona información sobre una aplicación (como nombre, autor, icono y descripción) en un documento simplificado. Su principal propósito es crear </a:t>
            </a:r>
            <a:r>
              <a:rPr lang="es-ES" dirty="0" err="1" smtClean="0"/>
              <a:t>progressive</a:t>
            </a:r>
            <a:r>
              <a:rPr lang="es-ES" dirty="0" smtClean="0"/>
              <a:t> web </a:t>
            </a:r>
            <a:r>
              <a:rPr lang="es-ES" dirty="0" err="1" smtClean="0"/>
              <a:t>apps</a:t>
            </a:r>
            <a:r>
              <a:rPr lang="es-ES" dirty="0" smtClean="0"/>
              <a:t>: aplicaciones web que se pueden instalar desde la pantalla principal de un dispositivo sin necesidad de hacerlo a </a:t>
            </a:r>
            <a:r>
              <a:rPr lang="es-ES" dirty="0" err="1" smtClean="0"/>
              <a:t>traves</a:t>
            </a:r>
            <a:r>
              <a:rPr lang="es-ES" dirty="0" smtClean="0"/>
              <a:t> de una </a:t>
            </a:r>
            <a:r>
              <a:rPr lang="es-ES" dirty="0" err="1" smtClean="0"/>
              <a:t>app</a:t>
            </a:r>
            <a:r>
              <a:rPr lang="es-ES" dirty="0" smtClean="0"/>
              <a:t> </a:t>
            </a:r>
            <a:r>
              <a:rPr lang="es-ES" dirty="0" err="1" smtClean="0"/>
              <a:t>store</a:t>
            </a:r>
            <a:r>
              <a:rPr lang="es-ES" dirty="0" smtClean="0"/>
              <a:t> (y otras ventajas como disponibilidad offline y enviar notificaciones </a:t>
            </a:r>
            <a:r>
              <a:rPr lang="es-ES" dirty="0" err="1" smtClean="0"/>
              <a:t>push</a:t>
            </a:r>
            <a:r>
              <a:rPr lang="es-ES" dirty="0" smtClean="0"/>
              <a:t> cuando cambia el contenido de la aplicación.)</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62</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Este comando revisará el archivo "</a:t>
            </a:r>
            <a:r>
              <a:rPr lang="es-ES" dirty="0" err="1" smtClean="0"/>
              <a:t>polymer.json</a:t>
            </a:r>
            <a:r>
              <a:rPr lang="es-ES" dirty="0" smtClean="0"/>
              <a:t>" que hay en raíz y atendiendo a las definiciones creará los archivos para distribución. Aquí entra en juego algo muy importante y relativamente nuevo en </a:t>
            </a:r>
            <a:r>
              <a:rPr lang="es-ES" dirty="0" err="1" smtClean="0"/>
              <a:t>Polymer</a:t>
            </a:r>
            <a:r>
              <a:rPr lang="es-ES" dirty="0" smtClean="0"/>
              <a:t>, que es la parte del </a:t>
            </a:r>
            <a:r>
              <a:rPr lang="es-ES" dirty="0" err="1" smtClean="0"/>
              <a:t>lazy</a:t>
            </a:r>
            <a:r>
              <a:rPr lang="es-ES" dirty="0" smtClean="0"/>
              <a:t>-load de </a:t>
            </a:r>
            <a:r>
              <a:rPr lang="es-ES" dirty="0" err="1" smtClean="0"/>
              <a:t>components</a:t>
            </a:r>
            <a:r>
              <a:rPr lang="es-ES" dirty="0" smtClean="0"/>
              <a:t>. Para orientar al proceso de despliegue justamente </a:t>
            </a:r>
            <a:r>
              <a:rPr lang="es-ES" dirty="0" err="1" smtClean="0"/>
              <a:t>encontrarmos</a:t>
            </a:r>
            <a:r>
              <a:rPr lang="es-ES" dirty="0" smtClean="0"/>
              <a:t> en "</a:t>
            </a:r>
            <a:r>
              <a:rPr lang="es-ES" dirty="0" err="1" smtClean="0"/>
              <a:t>polymer.json</a:t>
            </a:r>
            <a:r>
              <a:rPr lang="es-ES" dirty="0" smtClean="0"/>
              <a:t>" tanto el punto de entrada que debe usar para crear los archivos para producción, como los fragmentos para producir el "</a:t>
            </a:r>
            <a:r>
              <a:rPr lang="es-ES" dirty="0" err="1" smtClean="0"/>
              <a:t>lazy</a:t>
            </a:r>
            <a:r>
              <a:rPr lang="es-ES" dirty="0" smtClean="0"/>
              <a:t>-load".</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El proceso de </a:t>
            </a:r>
            <a:r>
              <a:rPr lang="es-ES" dirty="0" err="1" smtClean="0"/>
              <a:t>Build</a:t>
            </a:r>
            <a:r>
              <a:rPr lang="es-ES" dirty="0" smtClean="0"/>
              <a:t> además generará dos carpetas para distribución. Una de ellas tendrá todos los elementos compactados en un solo archivo y otra carpeta tendrá todos los archivos sueltos. Esto es así porque si el servidor donde vas a colocar tus archivos soporta HTTP 2 no es necesario unirlos todos en un único fichero.</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Los archivos para despliegue te los colocará en la carpeta "</a:t>
            </a:r>
            <a:r>
              <a:rPr lang="es-ES" dirty="0" err="1" smtClean="0"/>
              <a:t>build</a:t>
            </a:r>
            <a:r>
              <a:rPr lang="es-ES" dirty="0" smtClean="0"/>
              <a:t>", que encontrarás una vez finalizado el proceso. Verás que tienes dos directorios dentro, "</a:t>
            </a:r>
            <a:r>
              <a:rPr lang="es-ES" dirty="0" err="1" smtClean="0"/>
              <a:t>bundled</a:t>
            </a:r>
            <a:r>
              <a:rPr lang="es-ES" dirty="0" smtClean="0"/>
              <a:t>" contiene los archivos compactados, que usarás en la mayoría de las ocasiones por el momento (servidores HTTP) y "</a:t>
            </a:r>
            <a:r>
              <a:rPr lang="es-ES" dirty="0" err="1" smtClean="0"/>
              <a:t>unbundled</a:t>
            </a:r>
            <a:r>
              <a:rPr lang="es-ES" dirty="0" smtClean="0"/>
              <a:t>" que tiene los archivos sin compactar (para servidores HTTP 2).</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Esta parte es bastante sofisticada, como puedes ver. Con esto conoces lo básico, aunque habrá que analizarla con más calma en el momento en el que expliquemos la parte del "</a:t>
            </a:r>
            <a:r>
              <a:rPr lang="es-ES" dirty="0" err="1" smtClean="0"/>
              <a:t>lazy</a:t>
            </a:r>
            <a:r>
              <a:rPr lang="es-ES" dirty="0" smtClean="0"/>
              <a:t>-load".</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63</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smtClean="0"/>
              <a:t>Revisión de código de las diferentes Demos.</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64</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Este comando revisará el archivo "</a:t>
            </a:r>
            <a:r>
              <a:rPr lang="es-ES" dirty="0" err="1" smtClean="0"/>
              <a:t>polymer.json</a:t>
            </a:r>
            <a:r>
              <a:rPr lang="es-ES" dirty="0" smtClean="0"/>
              <a:t>" que hay en raíz y atendiendo a las definiciones creará los archivos para distribución. Aquí entra en juego algo muy importante y relativamente nuevo en </a:t>
            </a:r>
            <a:r>
              <a:rPr lang="es-ES" dirty="0" err="1" smtClean="0"/>
              <a:t>Polymer</a:t>
            </a:r>
            <a:r>
              <a:rPr lang="es-ES" dirty="0" smtClean="0"/>
              <a:t>, que es la parte del </a:t>
            </a:r>
            <a:r>
              <a:rPr lang="es-ES" dirty="0" err="1" smtClean="0"/>
              <a:t>lazy</a:t>
            </a:r>
            <a:r>
              <a:rPr lang="es-ES" dirty="0" smtClean="0"/>
              <a:t>-load de </a:t>
            </a:r>
            <a:r>
              <a:rPr lang="es-ES" dirty="0" err="1" smtClean="0"/>
              <a:t>components</a:t>
            </a:r>
            <a:r>
              <a:rPr lang="es-ES" dirty="0" smtClean="0"/>
              <a:t>. Para orientar al proceso de despliegue justamente </a:t>
            </a:r>
            <a:r>
              <a:rPr lang="es-ES" dirty="0" err="1" smtClean="0"/>
              <a:t>encontrarmos</a:t>
            </a:r>
            <a:r>
              <a:rPr lang="es-ES" dirty="0" smtClean="0"/>
              <a:t> en "</a:t>
            </a:r>
            <a:r>
              <a:rPr lang="es-ES" dirty="0" err="1" smtClean="0"/>
              <a:t>polymer.json</a:t>
            </a:r>
            <a:r>
              <a:rPr lang="es-ES" dirty="0" smtClean="0"/>
              <a:t>" tanto el punto de entrada que debe usar para crear los archivos para producción, como los fragmentos para producir el "</a:t>
            </a:r>
            <a:r>
              <a:rPr lang="es-ES" dirty="0" err="1" smtClean="0"/>
              <a:t>lazy</a:t>
            </a:r>
            <a:r>
              <a:rPr lang="es-ES" dirty="0" smtClean="0"/>
              <a:t>-load".</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El proceso de </a:t>
            </a:r>
            <a:r>
              <a:rPr lang="es-ES" dirty="0" err="1" smtClean="0"/>
              <a:t>Build</a:t>
            </a:r>
            <a:r>
              <a:rPr lang="es-ES" dirty="0" smtClean="0"/>
              <a:t> además generará dos carpetas para distribución. Una de ellas tendrá todos los elementos compactados en un solo archivo y otra carpeta tendrá todos los archivos sueltos. Esto es así porque si el servidor donde vas a colocar tus archivos soporta HTTP 2 no es necesario unirlos todos en un único fichero.</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Los archivos para despliegue te los colocará en la carpeta "</a:t>
            </a:r>
            <a:r>
              <a:rPr lang="es-ES" dirty="0" err="1" smtClean="0"/>
              <a:t>build</a:t>
            </a:r>
            <a:r>
              <a:rPr lang="es-ES" dirty="0" smtClean="0"/>
              <a:t>", que encontrarás una vez finalizado el proceso. Verás que tienes dos directorios dentro, "</a:t>
            </a:r>
            <a:r>
              <a:rPr lang="es-ES" dirty="0" err="1" smtClean="0"/>
              <a:t>bundled</a:t>
            </a:r>
            <a:r>
              <a:rPr lang="es-ES" dirty="0" smtClean="0"/>
              <a:t>" contiene los archivos compactados, que usarás en la mayoría de las ocasiones por el momento (servidores HTTP) y "</a:t>
            </a:r>
            <a:r>
              <a:rPr lang="es-ES" dirty="0" err="1" smtClean="0"/>
              <a:t>unbundled</a:t>
            </a:r>
            <a:r>
              <a:rPr lang="es-ES" dirty="0" smtClean="0"/>
              <a:t>" que tiene los archivos sin compactar (para servidores HTTP 2).</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Esta parte es bastante sofisticada, como puedes ver. Con esto conoces lo básico, aunque habrá que analizarla con más calma en el momento en el que expliquemos la parte del "</a:t>
            </a:r>
            <a:r>
              <a:rPr lang="es-ES" dirty="0" err="1" smtClean="0"/>
              <a:t>lazy</a:t>
            </a:r>
            <a:r>
              <a:rPr lang="es-ES" dirty="0" smtClean="0"/>
              <a:t>-load".</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65</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Este comando revisará el archivo "</a:t>
            </a:r>
            <a:r>
              <a:rPr lang="es-ES" dirty="0" err="1" smtClean="0"/>
              <a:t>polymer.json</a:t>
            </a:r>
            <a:r>
              <a:rPr lang="es-ES" dirty="0" smtClean="0"/>
              <a:t>" que hay en raíz y atendiendo a las definiciones creará los archivos para distribución. Aquí entra en juego algo muy importante y relativamente nuevo en </a:t>
            </a:r>
            <a:r>
              <a:rPr lang="es-ES" dirty="0" err="1" smtClean="0"/>
              <a:t>Polymer</a:t>
            </a:r>
            <a:r>
              <a:rPr lang="es-ES" dirty="0" smtClean="0"/>
              <a:t>, que es la parte del </a:t>
            </a:r>
            <a:r>
              <a:rPr lang="es-ES" dirty="0" err="1" smtClean="0"/>
              <a:t>lazy</a:t>
            </a:r>
            <a:r>
              <a:rPr lang="es-ES" dirty="0" smtClean="0"/>
              <a:t>-load de </a:t>
            </a:r>
            <a:r>
              <a:rPr lang="es-ES" dirty="0" err="1" smtClean="0"/>
              <a:t>components</a:t>
            </a:r>
            <a:r>
              <a:rPr lang="es-ES" dirty="0" smtClean="0"/>
              <a:t>. Para orientar al proceso de despliegue justamente </a:t>
            </a:r>
            <a:r>
              <a:rPr lang="es-ES" dirty="0" err="1" smtClean="0"/>
              <a:t>encontrarmos</a:t>
            </a:r>
            <a:r>
              <a:rPr lang="es-ES" dirty="0" smtClean="0"/>
              <a:t> en "</a:t>
            </a:r>
            <a:r>
              <a:rPr lang="es-ES" dirty="0" err="1" smtClean="0"/>
              <a:t>polymer.json</a:t>
            </a:r>
            <a:r>
              <a:rPr lang="es-ES" dirty="0" smtClean="0"/>
              <a:t>" tanto el punto de entrada que debe usar para crear los archivos para producción, como los fragmentos para producir el "</a:t>
            </a:r>
            <a:r>
              <a:rPr lang="es-ES" dirty="0" err="1" smtClean="0"/>
              <a:t>lazy</a:t>
            </a:r>
            <a:r>
              <a:rPr lang="es-ES" dirty="0" smtClean="0"/>
              <a:t>-load".</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El proceso de </a:t>
            </a:r>
            <a:r>
              <a:rPr lang="es-ES" dirty="0" err="1" smtClean="0"/>
              <a:t>Build</a:t>
            </a:r>
            <a:r>
              <a:rPr lang="es-ES" dirty="0" smtClean="0"/>
              <a:t> además generará dos carpetas para distribución. Una de ellas tendrá todos los elementos compactados en un solo archivo y otra carpeta tendrá todos los archivos sueltos. Esto es así porque si el servidor donde vas a colocar tus archivos soporta HTTP 2 no es necesario unirlos todos en un único fichero.</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Los archivos para despliegue te los colocará en la carpeta "</a:t>
            </a:r>
            <a:r>
              <a:rPr lang="es-ES" dirty="0" err="1" smtClean="0"/>
              <a:t>build</a:t>
            </a:r>
            <a:r>
              <a:rPr lang="es-ES" dirty="0" smtClean="0"/>
              <a:t>", que encontrarás una vez finalizado el proceso. Verás que tienes dos directorios dentro, "</a:t>
            </a:r>
            <a:r>
              <a:rPr lang="es-ES" dirty="0" err="1" smtClean="0"/>
              <a:t>bundled</a:t>
            </a:r>
            <a:r>
              <a:rPr lang="es-ES" dirty="0" smtClean="0"/>
              <a:t>" contiene los archivos compactados, que usarás en la mayoría de las ocasiones por el momento (servidores HTTP) y "</a:t>
            </a:r>
            <a:r>
              <a:rPr lang="es-ES" dirty="0" err="1" smtClean="0"/>
              <a:t>unbundled</a:t>
            </a:r>
            <a:r>
              <a:rPr lang="es-ES" dirty="0" smtClean="0"/>
              <a:t>" que tiene los archivos sin compactar (para servidores HTTP 2).</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Esta parte es bastante sofisticada, como puedes ver. Con esto conoces lo básico, aunque habrá que analizarla con más calma en el momento en el que expliquemos la parte del "</a:t>
            </a:r>
            <a:r>
              <a:rPr lang="es-ES" dirty="0" err="1" smtClean="0"/>
              <a:t>lazy</a:t>
            </a:r>
            <a:r>
              <a:rPr lang="es-ES" dirty="0" smtClean="0"/>
              <a:t>-load".</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66</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&lt;!DOCTYPE </a:t>
            </a:r>
            <a:r>
              <a:rPr lang="es-ES" dirty="0" err="1" smtClean="0"/>
              <a:t>html</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html</a:t>
            </a:r>
            <a:r>
              <a:rPr lang="es-ES" dirty="0" smtClean="0"/>
              <a:t> </a:t>
            </a:r>
            <a:r>
              <a:rPr lang="es-ES" dirty="0" err="1" smtClean="0"/>
              <a:t>lang</a:t>
            </a:r>
            <a:r>
              <a:rPr lang="es-ES" dirty="0" smtClean="0"/>
              <a:t>="en"&gt;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&lt;head&gt;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&lt;meta </a:t>
            </a:r>
            <a:r>
              <a:rPr lang="es-ES" dirty="0" err="1" smtClean="0"/>
              <a:t>charset</a:t>
            </a:r>
            <a:r>
              <a:rPr lang="es-ES" dirty="0" smtClean="0"/>
              <a:t>="UTF-8"&gt;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title</a:t>
            </a:r>
            <a:r>
              <a:rPr lang="es-ES" dirty="0" smtClean="0"/>
              <a:t>&gt;demo </a:t>
            </a:r>
            <a:r>
              <a:rPr lang="es-ES" dirty="0" err="1" smtClean="0"/>
              <a:t>dw-feedback</a:t>
            </a:r>
            <a:r>
              <a:rPr lang="es-ES" dirty="0" smtClean="0"/>
              <a:t>&lt;/</a:t>
            </a:r>
            <a:r>
              <a:rPr lang="es-ES" dirty="0" err="1" smtClean="0"/>
              <a:t>title</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&lt;link </a:t>
            </a:r>
            <a:r>
              <a:rPr lang="es-ES" dirty="0" err="1" smtClean="0"/>
              <a:t>rel</a:t>
            </a:r>
            <a:r>
              <a:rPr lang="es-ES" dirty="0" smtClean="0"/>
              <a:t>="</a:t>
            </a:r>
            <a:r>
              <a:rPr lang="es-ES" dirty="0" err="1" smtClean="0"/>
              <a:t>import</a:t>
            </a:r>
            <a:r>
              <a:rPr lang="es-ES" dirty="0" smtClean="0"/>
              <a:t>" </a:t>
            </a:r>
            <a:r>
              <a:rPr lang="es-ES" dirty="0" err="1" smtClean="0"/>
              <a:t>href</a:t>
            </a:r>
            <a:r>
              <a:rPr lang="es-ES" dirty="0" smtClean="0"/>
              <a:t>="ciclo-</a:t>
            </a:r>
            <a:r>
              <a:rPr lang="es-ES" dirty="0" err="1" smtClean="0"/>
              <a:t>vida.html</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&lt;/head&gt;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body</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&lt;H1&gt;Demo ciclo-vida&lt;/H1&gt;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&lt;ciclo-vida&gt;&lt;/ciclo-vida&gt;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cambiaAtributo</a:t>
            </a:r>
            <a:r>
              <a:rPr lang="es-ES" dirty="0" smtClean="0"/>
              <a:t>"&gt;Cambia Atributo&lt;/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quitaElemento</a:t>
            </a:r>
            <a:r>
              <a:rPr lang="es-ES" dirty="0" smtClean="0"/>
              <a:t>"&gt;Quita el elemento del DOM&lt;/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creaElemento</a:t>
            </a:r>
            <a:r>
              <a:rPr lang="es-ES" dirty="0" smtClean="0"/>
              <a:t>"&gt;Crea un nuevo elemento en memoria </a:t>
            </a:r>
            <a:r>
              <a:rPr lang="es-ES" dirty="0" err="1" smtClean="0"/>
              <a:t>Javascript</a:t>
            </a:r>
            <a:r>
              <a:rPr lang="es-ES" dirty="0" smtClean="0"/>
              <a:t>&lt;/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creaInyectaElemento</a:t>
            </a:r>
            <a:r>
              <a:rPr lang="es-ES" dirty="0" smtClean="0"/>
              <a:t>"&gt;Crea un nuevo elemento e </a:t>
            </a:r>
            <a:r>
              <a:rPr lang="es-ES" dirty="0" err="1" smtClean="0"/>
              <a:t>injecta</a:t>
            </a:r>
            <a:r>
              <a:rPr lang="es-ES" dirty="0" smtClean="0"/>
              <a:t> en el DOM&lt;/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&lt;script&gt;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cambiaAtributo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document.querySelector</a:t>
            </a:r>
            <a:r>
              <a:rPr lang="es-ES" dirty="0" smtClean="0"/>
              <a:t>('ciclo-vida').</a:t>
            </a:r>
            <a:r>
              <a:rPr lang="es-ES" dirty="0" err="1" smtClean="0"/>
              <a:t>setAttribute</a:t>
            </a:r>
            <a:r>
              <a:rPr lang="es-ES" dirty="0" smtClean="0"/>
              <a:t>("atributo", 'valor');</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quitaElemento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document.body.removeChild</a:t>
            </a:r>
            <a:r>
              <a:rPr lang="es-ES" dirty="0" smtClean="0"/>
              <a:t>(</a:t>
            </a:r>
            <a:r>
              <a:rPr lang="es-ES" dirty="0" err="1" smtClean="0"/>
              <a:t>document.querySelector</a:t>
            </a:r>
            <a:r>
              <a:rPr lang="es-ES" dirty="0" smtClean="0"/>
              <a:t>('ciclo-vida'));</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creaElemento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document.createElement</a:t>
            </a:r>
            <a:r>
              <a:rPr lang="es-ES" dirty="0" smtClean="0"/>
              <a:t>('ciclo-vida');</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creaInyectaElemento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var</a:t>
            </a:r>
            <a:r>
              <a:rPr lang="es-ES" dirty="0" smtClean="0"/>
              <a:t> </a:t>
            </a:r>
            <a:r>
              <a:rPr lang="es-ES" dirty="0" err="1" smtClean="0"/>
              <a:t>elem</a:t>
            </a:r>
            <a:r>
              <a:rPr lang="es-ES" dirty="0" smtClean="0"/>
              <a:t> = </a:t>
            </a:r>
            <a:r>
              <a:rPr lang="es-ES" dirty="0" err="1" smtClean="0"/>
              <a:t>document.createElement</a:t>
            </a:r>
            <a:r>
              <a:rPr lang="es-ES" dirty="0" smtClean="0"/>
              <a:t>('ciclo-vida');</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document.body.appendChild</a:t>
            </a:r>
            <a:r>
              <a:rPr lang="es-ES" dirty="0" smtClean="0"/>
              <a:t>(</a:t>
            </a:r>
            <a:r>
              <a:rPr lang="es-ES" dirty="0" err="1" smtClean="0"/>
              <a:t>elem</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&lt;/script&gt;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body</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html</a:t>
            </a:r>
            <a:r>
              <a:rPr lang="es-ES" dirty="0" smtClean="0"/>
              <a:t>&gt;</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67</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&lt;!DOCTYPE </a:t>
            </a:r>
            <a:r>
              <a:rPr lang="es-ES" dirty="0" err="1" smtClean="0"/>
              <a:t>html</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html</a:t>
            </a:r>
            <a:r>
              <a:rPr lang="es-ES" dirty="0" smtClean="0"/>
              <a:t> </a:t>
            </a:r>
            <a:r>
              <a:rPr lang="es-ES" dirty="0" err="1" smtClean="0"/>
              <a:t>lang</a:t>
            </a:r>
            <a:r>
              <a:rPr lang="es-ES" dirty="0" smtClean="0"/>
              <a:t>="en"&gt;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&lt;head&gt;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&lt;meta </a:t>
            </a:r>
            <a:r>
              <a:rPr lang="es-ES" dirty="0" err="1" smtClean="0"/>
              <a:t>charset</a:t>
            </a:r>
            <a:r>
              <a:rPr lang="es-ES" dirty="0" smtClean="0"/>
              <a:t>="UTF-8"&gt;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title</a:t>
            </a:r>
            <a:r>
              <a:rPr lang="es-ES" dirty="0" smtClean="0"/>
              <a:t>&gt;demo </a:t>
            </a:r>
            <a:r>
              <a:rPr lang="es-ES" dirty="0" err="1" smtClean="0"/>
              <a:t>dw-feedback</a:t>
            </a:r>
            <a:r>
              <a:rPr lang="es-ES" dirty="0" smtClean="0"/>
              <a:t>&lt;/</a:t>
            </a:r>
            <a:r>
              <a:rPr lang="es-ES" dirty="0" err="1" smtClean="0"/>
              <a:t>title</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&lt;link </a:t>
            </a:r>
            <a:r>
              <a:rPr lang="es-ES" dirty="0" err="1" smtClean="0"/>
              <a:t>rel</a:t>
            </a:r>
            <a:r>
              <a:rPr lang="es-ES" dirty="0" smtClean="0"/>
              <a:t>="</a:t>
            </a:r>
            <a:r>
              <a:rPr lang="es-ES" dirty="0" err="1" smtClean="0"/>
              <a:t>import</a:t>
            </a:r>
            <a:r>
              <a:rPr lang="es-ES" dirty="0" smtClean="0"/>
              <a:t>" </a:t>
            </a:r>
            <a:r>
              <a:rPr lang="es-ES" dirty="0" err="1" smtClean="0"/>
              <a:t>href</a:t>
            </a:r>
            <a:r>
              <a:rPr lang="es-ES" dirty="0" smtClean="0"/>
              <a:t>="ciclo-</a:t>
            </a:r>
            <a:r>
              <a:rPr lang="es-ES" dirty="0" err="1" smtClean="0"/>
              <a:t>vida.html</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&lt;/head&gt;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body</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&lt;H1&gt;Demo ciclo-vida&lt;/H1&gt;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&lt;ciclo-vida&gt;&lt;/ciclo-vida&gt;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cambiaAtributo</a:t>
            </a:r>
            <a:r>
              <a:rPr lang="es-ES" dirty="0" smtClean="0"/>
              <a:t>"&gt;Cambia Atributo&lt;/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quitaElemento</a:t>
            </a:r>
            <a:r>
              <a:rPr lang="es-ES" dirty="0" smtClean="0"/>
              <a:t>"&gt;Quita el elemento del DOM&lt;/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creaElemento</a:t>
            </a:r>
            <a:r>
              <a:rPr lang="es-ES" dirty="0" smtClean="0"/>
              <a:t>"&gt;Crea un nuevo elemento en memoria </a:t>
            </a:r>
            <a:r>
              <a:rPr lang="es-ES" dirty="0" err="1" smtClean="0"/>
              <a:t>Javascript</a:t>
            </a:r>
            <a:r>
              <a:rPr lang="es-ES" dirty="0" smtClean="0"/>
              <a:t>&lt;/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creaInyectaElemento</a:t>
            </a:r>
            <a:r>
              <a:rPr lang="es-ES" dirty="0" smtClean="0"/>
              <a:t>"&gt;Crea un nuevo elemento e </a:t>
            </a:r>
            <a:r>
              <a:rPr lang="es-ES" dirty="0" err="1" smtClean="0"/>
              <a:t>injecta</a:t>
            </a:r>
            <a:r>
              <a:rPr lang="es-ES" dirty="0" smtClean="0"/>
              <a:t> en el DOM&lt;/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&lt;script&gt;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cambiaAtributo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document.querySelector</a:t>
            </a:r>
            <a:r>
              <a:rPr lang="es-ES" dirty="0" smtClean="0"/>
              <a:t>('ciclo-vida').</a:t>
            </a:r>
            <a:r>
              <a:rPr lang="es-ES" dirty="0" err="1" smtClean="0"/>
              <a:t>setAttribute</a:t>
            </a:r>
            <a:r>
              <a:rPr lang="es-ES" dirty="0" smtClean="0"/>
              <a:t>("atributo", 'valor');</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quitaElemento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document.body.removeChild</a:t>
            </a:r>
            <a:r>
              <a:rPr lang="es-ES" dirty="0" smtClean="0"/>
              <a:t>(</a:t>
            </a:r>
            <a:r>
              <a:rPr lang="es-ES" dirty="0" err="1" smtClean="0"/>
              <a:t>document.querySelector</a:t>
            </a:r>
            <a:r>
              <a:rPr lang="es-ES" dirty="0" smtClean="0"/>
              <a:t>('ciclo-vida'));</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creaElemento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document.createElement</a:t>
            </a:r>
            <a:r>
              <a:rPr lang="es-ES" dirty="0" smtClean="0"/>
              <a:t>('ciclo-vida');</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creaInyectaElemento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var</a:t>
            </a:r>
            <a:r>
              <a:rPr lang="es-ES" dirty="0" smtClean="0"/>
              <a:t> </a:t>
            </a:r>
            <a:r>
              <a:rPr lang="es-ES" dirty="0" err="1" smtClean="0"/>
              <a:t>elem</a:t>
            </a:r>
            <a:r>
              <a:rPr lang="es-ES" dirty="0" smtClean="0"/>
              <a:t> = </a:t>
            </a:r>
            <a:r>
              <a:rPr lang="es-ES" dirty="0" err="1" smtClean="0"/>
              <a:t>document.createElement</a:t>
            </a:r>
            <a:r>
              <a:rPr lang="es-ES" dirty="0" smtClean="0"/>
              <a:t>('ciclo-vida');</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document.body.appendChild</a:t>
            </a:r>
            <a:r>
              <a:rPr lang="es-ES" dirty="0" smtClean="0"/>
              <a:t>(</a:t>
            </a:r>
            <a:r>
              <a:rPr lang="es-ES" dirty="0" err="1" smtClean="0"/>
              <a:t>elem</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&lt;/script&gt;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body</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html</a:t>
            </a:r>
            <a:r>
              <a:rPr lang="es-ES" dirty="0" smtClean="0"/>
              <a:t>&gt;</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68</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&lt;!DOCTYPE </a:t>
            </a:r>
            <a:r>
              <a:rPr lang="es-ES" dirty="0" err="1" smtClean="0"/>
              <a:t>html</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html</a:t>
            </a:r>
            <a:r>
              <a:rPr lang="es-ES" dirty="0" smtClean="0"/>
              <a:t> </a:t>
            </a:r>
            <a:r>
              <a:rPr lang="es-ES" dirty="0" err="1" smtClean="0"/>
              <a:t>lang</a:t>
            </a:r>
            <a:r>
              <a:rPr lang="es-ES" dirty="0" smtClean="0"/>
              <a:t>="en"&gt;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&lt;head&gt;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&lt;meta </a:t>
            </a:r>
            <a:r>
              <a:rPr lang="es-ES" dirty="0" err="1" smtClean="0"/>
              <a:t>charset</a:t>
            </a:r>
            <a:r>
              <a:rPr lang="es-ES" dirty="0" smtClean="0"/>
              <a:t>="UTF-8"&gt;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title</a:t>
            </a:r>
            <a:r>
              <a:rPr lang="es-ES" dirty="0" smtClean="0"/>
              <a:t>&gt;demo </a:t>
            </a:r>
            <a:r>
              <a:rPr lang="es-ES" dirty="0" err="1" smtClean="0"/>
              <a:t>dw-feedback</a:t>
            </a:r>
            <a:r>
              <a:rPr lang="es-ES" dirty="0" smtClean="0"/>
              <a:t>&lt;/</a:t>
            </a:r>
            <a:r>
              <a:rPr lang="es-ES" dirty="0" err="1" smtClean="0"/>
              <a:t>title</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&lt;link </a:t>
            </a:r>
            <a:r>
              <a:rPr lang="es-ES" dirty="0" err="1" smtClean="0"/>
              <a:t>rel</a:t>
            </a:r>
            <a:r>
              <a:rPr lang="es-ES" dirty="0" smtClean="0"/>
              <a:t>="</a:t>
            </a:r>
            <a:r>
              <a:rPr lang="es-ES" dirty="0" err="1" smtClean="0"/>
              <a:t>import</a:t>
            </a:r>
            <a:r>
              <a:rPr lang="es-ES" dirty="0" smtClean="0"/>
              <a:t>" </a:t>
            </a:r>
            <a:r>
              <a:rPr lang="es-ES" dirty="0" err="1" smtClean="0"/>
              <a:t>href</a:t>
            </a:r>
            <a:r>
              <a:rPr lang="es-ES" dirty="0" smtClean="0"/>
              <a:t>="ciclo-</a:t>
            </a:r>
            <a:r>
              <a:rPr lang="es-ES" dirty="0" err="1" smtClean="0"/>
              <a:t>vida.html</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&lt;/head&gt;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body</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&lt;H1&gt;Demo ciclo-vida&lt;/H1&gt;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&lt;ciclo-vida&gt;&lt;/ciclo-vida&gt;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cambiaAtributo</a:t>
            </a:r>
            <a:r>
              <a:rPr lang="es-ES" dirty="0" smtClean="0"/>
              <a:t>"&gt;Cambia Atributo&lt;/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quitaElemento</a:t>
            </a:r>
            <a:r>
              <a:rPr lang="es-ES" dirty="0" smtClean="0"/>
              <a:t>"&gt;Quita el elemento del DOM&lt;/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creaElemento</a:t>
            </a:r>
            <a:r>
              <a:rPr lang="es-ES" dirty="0" smtClean="0"/>
              <a:t>"&gt;Crea un nuevo elemento en memoria </a:t>
            </a:r>
            <a:r>
              <a:rPr lang="es-ES" dirty="0" err="1" smtClean="0"/>
              <a:t>Javascript</a:t>
            </a:r>
            <a:r>
              <a:rPr lang="es-ES" dirty="0" smtClean="0"/>
              <a:t>&lt;/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creaInyectaElemento</a:t>
            </a:r>
            <a:r>
              <a:rPr lang="es-ES" dirty="0" smtClean="0"/>
              <a:t>"&gt;Crea un nuevo elemento e </a:t>
            </a:r>
            <a:r>
              <a:rPr lang="es-ES" dirty="0" err="1" smtClean="0"/>
              <a:t>injecta</a:t>
            </a:r>
            <a:r>
              <a:rPr lang="es-ES" dirty="0" smtClean="0"/>
              <a:t> en el DOM&lt;/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&lt;script&gt;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cambiaAtributo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document.querySelector</a:t>
            </a:r>
            <a:r>
              <a:rPr lang="es-ES" dirty="0" smtClean="0"/>
              <a:t>('ciclo-vida').</a:t>
            </a:r>
            <a:r>
              <a:rPr lang="es-ES" dirty="0" err="1" smtClean="0"/>
              <a:t>setAttribute</a:t>
            </a:r>
            <a:r>
              <a:rPr lang="es-ES" dirty="0" smtClean="0"/>
              <a:t>("atributo", 'valor');</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quitaElemento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document.body.removeChild</a:t>
            </a:r>
            <a:r>
              <a:rPr lang="es-ES" dirty="0" smtClean="0"/>
              <a:t>(</a:t>
            </a:r>
            <a:r>
              <a:rPr lang="es-ES" dirty="0" err="1" smtClean="0"/>
              <a:t>document.querySelector</a:t>
            </a:r>
            <a:r>
              <a:rPr lang="es-ES" dirty="0" smtClean="0"/>
              <a:t>('ciclo-vida'));</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creaElemento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document.createElement</a:t>
            </a:r>
            <a:r>
              <a:rPr lang="es-ES" dirty="0" smtClean="0"/>
              <a:t>('ciclo-vida');</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creaInyectaElemento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var</a:t>
            </a:r>
            <a:r>
              <a:rPr lang="es-ES" dirty="0" smtClean="0"/>
              <a:t> </a:t>
            </a:r>
            <a:r>
              <a:rPr lang="es-ES" dirty="0" err="1" smtClean="0"/>
              <a:t>elem</a:t>
            </a:r>
            <a:r>
              <a:rPr lang="es-ES" dirty="0" smtClean="0"/>
              <a:t> = </a:t>
            </a:r>
            <a:r>
              <a:rPr lang="es-ES" dirty="0" err="1" smtClean="0"/>
              <a:t>document.createElement</a:t>
            </a:r>
            <a:r>
              <a:rPr lang="es-ES" dirty="0" smtClean="0"/>
              <a:t>('ciclo-vida');</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document.body.appendChild</a:t>
            </a:r>
            <a:r>
              <a:rPr lang="es-ES" dirty="0" smtClean="0"/>
              <a:t>(</a:t>
            </a:r>
            <a:r>
              <a:rPr lang="es-ES" dirty="0" err="1" smtClean="0"/>
              <a:t>elem</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&lt;/script&gt;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body</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html</a:t>
            </a:r>
            <a:r>
              <a:rPr lang="es-ES" dirty="0" smtClean="0"/>
              <a:t>&gt;</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69</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Este comando revisará el archivo "</a:t>
            </a:r>
            <a:r>
              <a:rPr lang="es-ES" dirty="0" err="1" smtClean="0"/>
              <a:t>polymer.json</a:t>
            </a:r>
            <a:r>
              <a:rPr lang="es-ES" dirty="0" smtClean="0"/>
              <a:t>" que hay en raíz y atendiendo a las definiciones creará los archivos para distribución. Aquí entra en juego algo muy importante y relativamente nuevo en </a:t>
            </a:r>
            <a:r>
              <a:rPr lang="es-ES" dirty="0" err="1" smtClean="0"/>
              <a:t>Polymer</a:t>
            </a:r>
            <a:r>
              <a:rPr lang="es-ES" dirty="0" smtClean="0"/>
              <a:t>, que es la parte del </a:t>
            </a:r>
            <a:r>
              <a:rPr lang="es-ES" dirty="0" err="1" smtClean="0"/>
              <a:t>lazy</a:t>
            </a:r>
            <a:r>
              <a:rPr lang="es-ES" dirty="0" smtClean="0"/>
              <a:t>-load de </a:t>
            </a:r>
            <a:r>
              <a:rPr lang="es-ES" dirty="0" err="1" smtClean="0"/>
              <a:t>components</a:t>
            </a:r>
            <a:r>
              <a:rPr lang="es-ES" dirty="0" smtClean="0"/>
              <a:t>. Para orientar al proceso de despliegue justamente </a:t>
            </a:r>
            <a:r>
              <a:rPr lang="es-ES" dirty="0" err="1" smtClean="0"/>
              <a:t>encontrarmos</a:t>
            </a:r>
            <a:r>
              <a:rPr lang="es-ES" dirty="0" smtClean="0"/>
              <a:t> en "</a:t>
            </a:r>
            <a:r>
              <a:rPr lang="es-ES" dirty="0" err="1" smtClean="0"/>
              <a:t>polymer.json</a:t>
            </a:r>
            <a:r>
              <a:rPr lang="es-ES" dirty="0" smtClean="0"/>
              <a:t>" tanto el punto de entrada que debe usar para crear los archivos para producción, como los fragmentos para producir el "</a:t>
            </a:r>
            <a:r>
              <a:rPr lang="es-ES" dirty="0" err="1" smtClean="0"/>
              <a:t>lazy</a:t>
            </a:r>
            <a:r>
              <a:rPr lang="es-ES" dirty="0" smtClean="0"/>
              <a:t>-load".</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El proceso de </a:t>
            </a:r>
            <a:r>
              <a:rPr lang="es-ES" dirty="0" err="1" smtClean="0"/>
              <a:t>Build</a:t>
            </a:r>
            <a:r>
              <a:rPr lang="es-ES" dirty="0" smtClean="0"/>
              <a:t> además generará dos carpetas para distribución. Una de ellas tendrá todos los elementos compactados en un solo archivo y otra carpeta tendrá todos los archivos sueltos. Esto es así porque si el servidor donde vas a colocar tus archivos soporta HTTP 2 no es necesario unirlos todos en un único fichero.</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Los archivos para despliegue te los colocará en la carpeta "</a:t>
            </a:r>
            <a:r>
              <a:rPr lang="es-ES" dirty="0" err="1" smtClean="0"/>
              <a:t>build</a:t>
            </a:r>
            <a:r>
              <a:rPr lang="es-ES" dirty="0" smtClean="0"/>
              <a:t>", que encontrarás una vez finalizado el proceso. Verás que tienes dos directorios dentro, "</a:t>
            </a:r>
            <a:r>
              <a:rPr lang="es-ES" dirty="0" err="1" smtClean="0"/>
              <a:t>bundled</a:t>
            </a:r>
            <a:r>
              <a:rPr lang="es-ES" dirty="0" smtClean="0"/>
              <a:t>" contiene los archivos compactados, que usarás en la mayoría de las ocasiones por el momento (servidores HTTP) y "</a:t>
            </a:r>
            <a:r>
              <a:rPr lang="es-ES" dirty="0" err="1" smtClean="0"/>
              <a:t>unbundled</a:t>
            </a:r>
            <a:r>
              <a:rPr lang="es-ES" dirty="0" smtClean="0"/>
              <a:t>" que tiene los archivos sin compactar (para servidores HTTP 2).</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Esta parte es bastante sofisticada, como puedes ver. Con esto conoces lo básico, aunque habrá que analizarla con más calma en el momento en el que expliquemos la parte del "</a:t>
            </a:r>
            <a:r>
              <a:rPr lang="es-ES" dirty="0" err="1" smtClean="0"/>
              <a:t>lazy</a:t>
            </a:r>
            <a:r>
              <a:rPr lang="es-ES" dirty="0" smtClean="0"/>
              <a:t>-load".</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70</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Este comando revisará el archivo "</a:t>
            </a:r>
            <a:r>
              <a:rPr lang="es-ES" dirty="0" err="1" smtClean="0"/>
              <a:t>polymer.json</a:t>
            </a:r>
            <a:r>
              <a:rPr lang="es-ES" dirty="0" smtClean="0"/>
              <a:t>" que hay en raíz y atendiendo a las definiciones creará los archivos para distribución. Aquí entra en juego algo muy importante y relativamente nuevo en </a:t>
            </a:r>
            <a:r>
              <a:rPr lang="es-ES" dirty="0" err="1" smtClean="0"/>
              <a:t>Polymer</a:t>
            </a:r>
            <a:r>
              <a:rPr lang="es-ES" dirty="0" smtClean="0"/>
              <a:t>, que es la parte del </a:t>
            </a:r>
            <a:r>
              <a:rPr lang="es-ES" dirty="0" err="1" smtClean="0"/>
              <a:t>lazy</a:t>
            </a:r>
            <a:r>
              <a:rPr lang="es-ES" dirty="0" smtClean="0"/>
              <a:t>-load de </a:t>
            </a:r>
            <a:r>
              <a:rPr lang="es-ES" dirty="0" err="1" smtClean="0"/>
              <a:t>components</a:t>
            </a:r>
            <a:r>
              <a:rPr lang="es-ES" dirty="0" smtClean="0"/>
              <a:t>. Para orientar al proceso de despliegue justamente </a:t>
            </a:r>
            <a:r>
              <a:rPr lang="es-ES" dirty="0" err="1" smtClean="0"/>
              <a:t>encontrarmos</a:t>
            </a:r>
            <a:r>
              <a:rPr lang="es-ES" dirty="0" smtClean="0"/>
              <a:t> en "</a:t>
            </a:r>
            <a:r>
              <a:rPr lang="es-ES" dirty="0" err="1" smtClean="0"/>
              <a:t>polymer.json</a:t>
            </a:r>
            <a:r>
              <a:rPr lang="es-ES" dirty="0" smtClean="0"/>
              <a:t>" tanto el punto de entrada que debe usar para crear los archivos para producción, como los fragmentos para producir el "</a:t>
            </a:r>
            <a:r>
              <a:rPr lang="es-ES" dirty="0" err="1" smtClean="0"/>
              <a:t>lazy</a:t>
            </a:r>
            <a:r>
              <a:rPr lang="es-ES" dirty="0" smtClean="0"/>
              <a:t>-load".</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El proceso de </a:t>
            </a:r>
            <a:r>
              <a:rPr lang="es-ES" dirty="0" err="1" smtClean="0"/>
              <a:t>Build</a:t>
            </a:r>
            <a:r>
              <a:rPr lang="es-ES" dirty="0" smtClean="0"/>
              <a:t> además generará dos carpetas para distribución. Una de ellas tendrá todos los elementos compactados en un solo archivo y otra carpeta tendrá todos los archivos sueltos. Esto es así porque si el servidor donde vas a colocar tus archivos soporta HTTP 2 no es necesario unirlos todos en un único fichero.</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Los archivos para despliegue te los colocará en la carpeta "</a:t>
            </a:r>
            <a:r>
              <a:rPr lang="es-ES" dirty="0" err="1" smtClean="0"/>
              <a:t>build</a:t>
            </a:r>
            <a:r>
              <a:rPr lang="es-ES" dirty="0" smtClean="0"/>
              <a:t>", que encontrarás una vez finalizado el proceso. Verás que tienes dos directorios dentro, "</a:t>
            </a:r>
            <a:r>
              <a:rPr lang="es-ES" dirty="0" err="1" smtClean="0"/>
              <a:t>bundled</a:t>
            </a:r>
            <a:r>
              <a:rPr lang="es-ES" dirty="0" smtClean="0"/>
              <a:t>" contiene los archivos compactados, que usarás en la mayoría de las ocasiones por el momento (servidores HTTP) y "</a:t>
            </a:r>
            <a:r>
              <a:rPr lang="es-ES" dirty="0" err="1" smtClean="0"/>
              <a:t>unbundled</a:t>
            </a:r>
            <a:r>
              <a:rPr lang="es-ES" dirty="0" smtClean="0"/>
              <a:t>" que tiene los archivos sin compactar (para servidores HTTP 2).</a:t>
            </a:r>
          </a:p>
          <a:p>
            <a:pPr marL="0" marR="0" indent="0" algn="l" defTabSz="457200" rtl="0" eaLnBrk="1" fontAlgn="auto" latinLnBrk="0" hangingPunct="1">
              <a:lnSpc>
                <a:spcPct val="100000"/>
              </a:lnSpc>
              <a:spcBef>
                <a:spcPts val="0"/>
              </a:spcBef>
              <a:spcAft>
                <a:spcPts val="0"/>
              </a:spcAft>
              <a:buClrTx/>
              <a:buSzTx/>
              <a:buFontTx/>
              <a:buNone/>
              <a:tabLst/>
              <a:defRPr/>
            </a:pPr>
            <a:endParaRPr lang="es-ES"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Esta parte es bastante sofisticada, como puedes ver. Con esto conoces lo básico, aunque habrá que analizarla con más calma en el momento en el que expliquemos la parte del "</a:t>
            </a:r>
            <a:r>
              <a:rPr lang="es-ES" dirty="0" err="1" smtClean="0"/>
              <a:t>lazy</a:t>
            </a:r>
            <a:r>
              <a:rPr lang="es-ES" dirty="0" smtClean="0"/>
              <a:t>-load".</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71</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72</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err="1" smtClean="0">
                <a:solidFill>
                  <a:schemeClr val="tx1"/>
                </a:solidFill>
                <a:latin typeface="+mn-lt"/>
                <a:ea typeface="+mn-ea"/>
                <a:cs typeface="+mn-cs"/>
              </a:rPr>
              <a:t>type</a:t>
            </a:r>
            <a:r>
              <a:rPr lang="es-ES" sz="1200" b="0" i="0" u="none" strike="noStrike" kern="1200" baseline="0" dirty="0" smtClean="0">
                <a:solidFill>
                  <a:schemeClr val="tx1"/>
                </a:solidFill>
                <a:latin typeface="+mn-lt"/>
                <a:ea typeface="+mn-ea"/>
                <a:cs typeface="+mn-cs"/>
              </a:rPr>
              <a:t>: Sirve para indicar el tipo (</a:t>
            </a:r>
            <a:r>
              <a:rPr lang="es-ES" sz="1200" b="0" i="0" u="none" strike="noStrike" kern="1200" baseline="0" dirty="0" err="1" smtClean="0">
                <a:solidFill>
                  <a:schemeClr val="tx1"/>
                </a:solidFill>
                <a:latin typeface="+mn-lt"/>
                <a:ea typeface="+mn-ea"/>
                <a:cs typeface="+mn-cs"/>
              </a:rPr>
              <a:t>Boolean</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Number</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String</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Array</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Object</a:t>
            </a:r>
            <a:r>
              <a:rPr lang="es-ES" sz="1200" b="0" i="0" u="none" strike="noStrike" kern="1200" baseline="0" dirty="0" smtClean="0">
                <a:solidFill>
                  <a:schemeClr val="tx1"/>
                </a:solidFill>
                <a:latin typeface="+mn-lt"/>
                <a:ea typeface="+mn-ea"/>
                <a:cs typeface="+mn-cs"/>
              </a:rPr>
              <a:t> y la menos conocida Date)</a:t>
            </a:r>
          </a:p>
          <a:p>
            <a:r>
              <a:rPr lang="es-ES" sz="1200" b="0" i="0" u="none" strike="noStrike" kern="1200" baseline="0" dirty="0" smtClean="0">
                <a:solidFill>
                  <a:schemeClr val="tx1"/>
                </a:solidFill>
                <a:latin typeface="+mn-lt"/>
                <a:ea typeface="+mn-ea"/>
                <a:cs typeface="+mn-cs"/>
              </a:rPr>
              <a:t>Sobre este asunto hemos hablado suficiente en el pasado artículo sobre los tipos y </a:t>
            </a:r>
            <a:r>
              <a:rPr lang="es-ES" sz="1200" b="0" i="0" u="none" strike="noStrike" kern="1200" baseline="0" dirty="0" err="1" smtClean="0">
                <a:solidFill>
                  <a:schemeClr val="tx1"/>
                </a:solidFill>
                <a:latin typeface="+mn-lt"/>
                <a:ea typeface="+mn-ea"/>
                <a:cs typeface="+mn-cs"/>
              </a:rPr>
              <a:t>deserialización</a:t>
            </a:r>
            <a:r>
              <a:rPr lang="es-ES" sz="1200" b="0" i="0" u="none" strike="noStrike" kern="1200" baseline="0" dirty="0" smtClean="0">
                <a:solidFill>
                  <a:schemeClr val="tx1"/>
                </a:solidFill>
                <a:latin typeface="+mn-lt"/>
                <a:ea typeface="+mn-ea"/>
                <a:cs typeface="+mn-cs"/>
              </a:rPr>
              <a:t> de</a:t>
            </a:r>
          </a:p>
          <a:p>
            <a:r>
              <a:rPr lang="es-ES" sz="1200" b="0" i="0" u="none" strike="noStrike" kern="1200" baseline="0" dirty="0" smtClean="0">
                <a:solidFill>
                  <a:schemeClr val="tx1"/>
                </a:solidFill>
                <a:latin typeface="+mn-lt"/>
                <a:ea typeface="+mn-ea"/>
                <a:cs typeface="+mn-cs"/>
              </a:rPr>
              <a:t>atributos.</a:t>
            </a:r>
          </a:p>
          <a:p>
            <a:r>
              <a:rPr lang="es-ES" sz="1200" b="0" i="0" u="none" strike="noStrike" kern="1200" baseline="0" dirty="0" err="1" smtClean="0">
                <a:solidFill>
                  <a:schemeClr val="tx1"/>
                </a:solidFill>
                <a:latin typeface="+mn-lt"/>
                <a:ea typeface="+mn-ea"/>
                <a:cs typeface="+mn-cs"/>
              </a:rPr>
              <a:t>value</a:t>
            </a:r>
            <a:r>
              <a:rPr lang="es-ES" sz="1200" b="0" i="0" u="none" strike="noStrike" kern="1200" baseline="0" dirty="0" smtClean="0">
                <a:solidFill>
                  <a:schemeClr val="tx1"/>
                </a:solidFill>
                <a:latin typeface="+mn-lt"/>
                <a:ea typeface="+mn-ea"/>
                <a:cs typeface="+mn-cs"/>
              </a:rPr>
              <a:t>: Sirve para definir el valor predeterminado de una propiedad. Si se indica, se usará para</a:t>
            </a:r>
          </a:p>
          <a:p>
            <a:r>
              <a:rPr lang="es-ES" sz="1200" b="0" i="0" u="none" strike="noStrike" kern="1200" baseline="0" dirty="0" smtClean="0">
                <a:solidFill>
                  <a:schemeClr val="tx1"/>
                </a:solidFill>
                <a:latin typeface="+mn-lt"/>
                <a:ea typeface="+mn-ea"/>
                <a:cs typeface="+mn-cs"/>
              </a:rPr>
              <a:t>inicializar esa propiedad, aunque a la hora de usar el componente mandará la posible inicialización</a:t>
            </a:r>
          </a:p>
          <a:p>
            <a:r>
              <a:rPr lang="es-ES" sz="1200" b="0" i="0" u="none" strike="noStrike" kern="1200" baseline="0" dirty="0" smtClean="0">
                <a:solidFill>
                  <a:schemeClr val="tx1"/>
                </a:solidFill>
                <a:latin typeface="+mn-lt"/>
                <a:ea typeface="+mn-ea"/>
                <a:cs typeface="+mn-cs"/>
              </a:rPr>
              <a:t>que se realice en el atributo HTML del componente asociado con esa propiedad. El valor también</a:t>
            </a:r>
          </a:p>
          <a:p>
            <a:r>
              <a:rPr lang="es-ES" sz="1200" b="0" i="0" u="none" strike="noStrike" kern="1200" baseline="0" dirty="0" smtClean="0">
                <a:solidFill>
                  <a:schemeClr val="tx1"/>
                </a:solidFill>
                <a:latin typeface="+mn-lt"/>
                <a:ea typeface="+mn-ea"/>
                <a:cs typeface="+mn-cs"/>
              </a:rPr>
              <a:t>se puede calcular por medio de una función, que se invocará si es necesario en la inicialización del</a:t>
            </a:r>
          </a:p>
          <a:p>
            <a:r>
              <a:rPr lang="es-ES" sz="1200" b="0" i="0" u="none" strike="noStrike" kern="1200" baseline="0" dirty="0" smtClean="0">
                <a:solidFill>
                  <a:schemeClr val="tx1"/>
                </a:solidFill>
                <a:latin typeface="+mn-lt"/>
                <a:ea typeface="+mn-ea"/>
                <a:cs typeface="+mn-cs"/>
              </a:rPr>
              <a:t>componente. Se usará el valor de devolución de la función para inicializar la propiedad. Además,</a:t>
            </a:r>
          </a:p>
          <a:p>
            <a:r>
              <a:rPr lang="es-ES" sz="1200" b="0" i="0" u="none" strike="noStrike" kern="1200" baseline="0" dirty="0" smtClean="0">
                <a:solidFill>
                  <a:schemeClr val="tx1"/>
                </a:solidFill>
                <a:latin typeface="+mn-lt"/>
                <a:ea typeface="+mn-ea"/>
                <a:cs typeface="+mn-cs"/>
              </a:rPr>
              <a:t>para propiedades de tipo </a:t>
            </a:r>
            <a:r>
              <a:rPr lang="es-ES" sz="1200" b="0" i="0" u="none" strike="noStrike" kern="1200" baseline="0" dirty="0" err="1" smtClean="0">
                <a:solidFill>
                  <a:schemeClr val="tx1"/>
                </a:solidFill>
                <a:latin typeface="+mn-lt"/>
                <a:ea typeface="+mn-ea"/>
                <a:cs typeface="+mn-cs"/>
              </a:rPr>
              <a:t>Array</a:t>
            </a:r>
            <a:r>
              <a:rPr lang="es-ES" sz="1200" b="0" i="0" u="none" strike="noStrike" kern="1200" baseline="0" dirty="0" smtClean="0">
                <a:solidFill>
                  <a:schemeClr val="tx1"/>
                </a:solidFill>
                <a:latin typeface="+mn-lt"/>
                <a:ea typeface="+mn-ea"/>
                <a:cs typeface="+mn-cs"/>
              </a:rPr>
              <a:t> y </a:t>
            </a:r>
            <a:r>
              <a:rPr lang="es-ES" sz="1200" b="0" i="0" u="none" strike="noStrike" kern="1200" baseline="0" dirty="0" err="1" smtClean="0">
                <a:solidFill>
                  <a:schemeClr val="tx1"/>
                </a:solidFill>
                <a:latin typeface="+mn-lt"/>
                <a:ea typeface="+mn-ea"/>
                <a:cs typeface="+mn-cs"/>
              </a:rPr>
              <a:t>Object</a:t>
            </a:r>
            <a:r>
              <a:rPr lang="es-ES" sz="1200" b="0" i="0" u="none" strike="noStrike" kern="1200" baseline="0" dirty="0" smtClean="0">
                <a:solidFill>
                  <a:schemeClr val="tx1"/>
                </a:solidFill>
                <a:latin typeface="+mn-lt"/>
                <a:ea typeface="+mn-ea"/>
                <a:cs typeface="+mn-cs"/>
              </a:rPr>
              <a:t>, si queremos que exista una copia del </a:t>
            </a:r>
            <a:r>
              <a:rPr lang="es-ES" sz="1200" b="0" i="0" u="none" strike="noStrike" kern="1200" baseline="0" dirty="0" err="1" smtClean="0">
                <a:solidFill>
                  <a:schemeClr val="tx1"/>
                </a:solidFill>
                <a:latin typeface="+mn-lt"/>
                <a:ea typeface="+mn-ea"/>
                <a:cs typeface="+mn-cs"/>
              </a:rPr>
              <a:t>array</a:t>
            </a:r>
            <a:r>
              <a:rPr lang="es-ES" sz="1200" b="0" i="0" u="none" strike="noStrike" kern="1200" baseline="0" dirty="0" smtClean="0">
                <a:solidFill>
                  <a:schemeClr val="tx1"/>
                </a:solidFill>
                <a:latin typeface="+mn-lt"/>
                <a:ea typeface="+mn-ea"/>
                <a:cs typeface="+mn-cs"/>
              </a:rPr>
              <a:t> o el objeto para</a:t>
            </a:r>
          </a:p>
          <a:p>
            <a:r>
              <a:rPr lang="es-ES" sz="1200" b="0" i="0" u="none" strike="noStrike" kern="1200" baseline="0" dirty="0" smtClean="0">
                <a:solidFill>
                  <a:schemeClr val="tx1"/>
                </a:solidFill>
                <a:latin typeface="+mn-lt"/>
                <a:ea typeface="+mn-ea"/>
                <a:cs typeface="+mn-cs"/>
              </a:rPr>
              <a:t>cada elemento generado, tenemos que producir ese </a:t>
            </a:r>
            <a:r>
              <a:rPr lang="es-ES" sz="1200" b="0" i="0" u="none" strike="noStrike" kern="1200" baseline="0" dirty="0" err="1" smtClean="0">
                <a:solidFill>
                  <a:schemeClr val="tx1"/>
                </a:solidFill>
                <a:latin typeface="+mn-lt"/>
                <a:ea typeface="+mn-ea"/>
                <a:cs typeface="+mn-cs"/>
              </a:rPr>
              <a:t>array</a:t>
            </a:r>
            <a:r>
              <a:rPr lang="es-ES" sz="1200" b="0" i="0" u="none" strike="noStrike" kern="1200" baseline="0" dirty="0" smtClean="0">
                <a:solidFill>
                  <a:schemeClr val="tx1"/>
                </a:solidFill>
                <a:latin typeface="+mn-lt"/>
                <a:ea typeface="+mn-ea"/>
                <a:cs typeface="+mn-cs"/>
              </a:rPr>
              <a:t> u objeto en una función, devolviendo el</a:t>
            </a:r>
          </a:p>
          <a:p>
            <a:r>
              <a:rPr lang="es-ES" sz="1200" b="0" i="0" u="none" strike="noStrike" kern="1200" baseline="0" dirty="0" smtClean="0">
                <a:solidFill>
                  <a:schemeClr val="tx1"/>
                </a:solidFill>
                <a:latin typeface="+mn-lt"/>
                <a:ea typeface="+mn-ea"/>
                <a:cs typeface="+mn-cs"/>
              </a:rPr>
              <a:t>valor a inicializar con el correspondiente </a:t>
            </a:r>
            <a:r>
              <a:rPr lang="es-ES" sz="1200" b="0" i="0" u="none" strike="noStrike" kern="1200" baseline="0" dirty="0" err="1" smtClean="0">
                <a:solidFill>
                  <a:schemeClr val="tx1"/>
                </a:solidFill>
                <a:latin typeface="+mn-lt"/>
                <a:ea typeface="+mn-ea"/>
                <a:cs typeface="+mn-cs"/>
              </a:rPr>
              <a:t>return</a:t>
            </a:r>
            <a:r>
              <a:rPr lang="es-ES" sz="1200" b="0" i="0" u="none" strike="noStrike" kern="1200" baseline="0" dirty="0" smtClean="0">
                <a:solidFill>
                  <a:schemeClr val="tx1"/>
                </a:solidFill>
                <a:latin typeface="+mn-lt"/>
                <a:ea typeface="+mn-ea"/>
                <a:cs typeface="+mn-cs"/>
              </a:rPr>
              <a:t>.</a:t>
            </a:r>
          </a:p>
          <a:p>
            <a:r>
              <a:rPr lang="es-ES" sz="1200" b="0" i="0" u="none" strike="noStrike" kern="1200" baseline="0" dirty="0" err="1" smtClean="0">
                <a:solidFill>
                  <a:schemeClr val="tx1"/>
                </a:solidFill>
                <a:latin typeface="+mn-lt"/>
                <a:ea typeface="+mn-ea"/>
                <a:cs typeface="+mn-cs"/>
              </a:rPr>
              <a:t>reflectToAttribute</a:t>
            </a:r>
            <a:r>
              <a:rPr lang="es-ES" sz="1200" b="0" i="0" u="none" strike="noStrike" kern="1200" baseline="0" dirty="0" smtClean="0">
                <a:solidFill>
                  <a:schemeClr val="tx1"/>
                </a:solidFill>
                <a:latin typeface="+mn-lt"/>
                <a:ea typeface="+mn-ea"/>
                <a:cs typeface="+mn-cs"/>
              </a:rPr>
              <a:t>: Sirve para que el valor de la propiedad actualice el valor de la propiedad en el</a:t>
            </a:r>
          </a:p>
          <a:p>
            <a:r>
              <a:rPr lang="es-ES" sz="1200" b="0" i="0" u="none" strike="noStrike" kern="1200" baseline="0" dirty="0" smtClean="0">
                <a:solidFill>
                  <a:schemeClr val="tx1"/>
                </a:solidFill>
                <a:latin typeface="+mn-lt"/>
                <a:ea typeface="+mn-ea"/>
                <a:cs typeface="+mn-cs"/>
              </a:rPr>
              <a:t>elemento. Por defecto esto no ocurre, por lo que, si se cambia el valor de una propiedad, no se</a:t>
            </a:r>
          </a:p>
          <a:p>
            <a:r>
              <a:rPr lang="es-ES" sz="1200" b="0" i="0" u="none" strike="noStrike" kern="1200" baseline="0" dirty="0" smtClean="0">
                <a:solidFill>
                  <a:schemeClr val="tx1"/>
                </a:solidFill>
                <a:latin typeface="+mn-lt"/>
                <a:ea typeface="+mn-ea"/>
                <a:cs typeface="+mn-cs"/>
              </a:rPr>
              <a:t>refleja en el HTML del componente host. Si queremos que se actualice el atributo en la etiqueta</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73</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err="1" smtClean="0">
                <a:solidFill>
                  <a:schemeClr val="tx1"/>
                </a:solidFill>
                <a:latin typeface="+mn-lt"/>
                <a:ea typeface="+mn-ea"/>
                <a:cs typeface="+mn-cs"/>
              </a:rPr>
              <a:t>type</a:t>
            </a:r>
            <a:r>
              <a:rPr lang="es-ES" sz="1200" b="0" i="0" u="none" strike="noStrike" kern="1200" baseline="0" dirty="0" smtClean="0">
                <a:solidFill>
                  <a:schemeClr val="tx1"/>
                </a:solidFill>
                <a:latin typeface="+mn-lt"/>
                <a:ea typeface="+mn-ea"/>
                <a:cs typeface="+mn-cs"/>
              </a:rPr>
              <a:t>: Sirve para indicar el tipo (</a:t>
            </a:r>
            <a:r>
              <a:rPr lang="es-ES" sz="1200" b="0" i="0" u="none" strike="noStrike" kern="1200" baseline="0" dirty="0" err="1" smtClean="0">
                <a:solidFill>
                  <a:schemeClr val="tx1"/>
                </a:solidFill>
                <a:latin typeface="+mn-lt"/>
                <a:ea typeface="+mn-ea"/>
                <a:cs typeface="+mn-cs"/>
              </a:rPr>
              <a:t>Boolean</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Number</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String</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Array</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Object</a:t>
            </a:r>
            <a:r>
              <a:rPr lang="es-ES" sz="1200" b="0" i="0" u="none" strike="noStrike" kern="1200" baseline="0" dirty="0" smtClean="0">
                <a:solidFill>
                  <a:schemeClr val="tx1"/>
                </a:solidFill>
                <a:latin typeface="+mn-lt"/>
                <a:ea typeface="+mn-ea"/>
                <a:cs typeface="+mn-cs"/>
              </a:rPr>
              <a:t> y la menos conocida Date)</a:t>
            </a:r>
          </a:p>
          <a:p>
            <a:r>
              <a:rPr lang="es-ES" sz="1200" b="0" i="0" u="none" strike="noStrike" kern="1200" baseline="0" dirty="0" smtClean="0">
                <a:solidFill>
                  <a:schemeClr val="tx1"/>
                </a:solidFill>
                <a:latin typeface="+mn-lt"/>
                <a:ea typeface="+mn-ea"/>
                <a:cs typeface="+mn-cs"/>
              </a:rPr>
              <a:t>Sobre este asunto hemos hablado suficiente en el pasado artículo sobre los tipos y </a:t>
            </a:r>
            <a:r>
              <a:rPr lang="es-ES" sz="1200" b="0" i="0" u="none" strike="noStrike" kern="1200" baseline="0" dirty="0" err="1" smtClean="0">
                <a:solidFill>
                  <a:schemeClr val="tx1"/>
                </a:solidFill>
                <a:latin typeface="+mn-lt"/>
                <a:ea typeface="+mn-ea"/>
                <a:cs typeface="+mn-cs"/>
              </a:rPr>
              <a:t>deserialización</a:t>
            </a:r>
            <a:r>
              <a:rPr lang="es-ES" sz="1200" b="0" i="0" u="none" strike="noStrike" kern="1200" baseline="0" dirty="0" smtClean="0">
                <a:solidFill>
                  <a:schemeClr val="tx1"/>
                </a:solidFill>
                <a:latin typeface="+mn-lt"/>
                <a:ea typeface="+mn-ea"/>
                <a:cs typeface="+mn-cs"/>
              </a:rPr>
              <a:t> de</a:t>
            </a:r>
          </a:p>
          <a:p>
            <a:r>
              <a:rPr lang="es-ES" sz="1200" b="0" i="0" u="none" strike="noStrike" kern="1200" baseline="0" dirty="0" smtClean="0">
                <a:solidFill>
                  <a:schemeClr val="tx1"/>
                </a:solidFill>
                <a:latin typeface="+mn-lt"/>
                <a:ea typeface="+mn-ea"/>
                <a:cs typeface="+mn-cs"/>
              </a:rPr>
              <a:t>atributos.</a:t>
            </a:r>
          </a:p>
          <a:p>
            <a:r>
              <a:rPr lang="es-ES" sz="1200" b="0" i="0" u="none" strike="noStrike" kern="1200" baseline="0" dirty="0" err="1" smtClean="0">
                <a:solidFill>
                  <a:schemeClr val="tx1"/>
                </a:solidFill>
                <a:latin typeface="+mn-lt"/>
                <a:ea typeface="+mn-ea"/>
                <a:cs typeface="+mn-cs"/>
              </a:rPr>
              <a:t>value</a:t>
            </a:r>
            <a:r>
              <a:rPr lang="es-ES" sz="1200" b="0" i="0" u="none" strike="noStrike" kern="1200" baseline="0" dirty="0" smtClean="0">
                <a:solidFill>
                  <a:schemeClr val="tx1"/>
                </a:solidFill>
                <a:latin typeface="+mn-lt"/>
                <a:ea typeface="+mn-ea"/>
                <a:cs typeface="+mn-cs"/>
              </a:rPr>
              <a:t>: Sirve para definir el valor predeterminado de una propiedad. Si se indica, se usará para</a:t>
            </a:r>
          </a:p>
          <a:p>
            <a:r>
              <a:rPr lang="es-ES" sz="1200" b="0" i="0" u="none" strike="noStrike" kern="1200" baseline="0" dirty="0" smtClean="0">
                <a:solidFill>
                  <a:schemeClr val="tx1"/>
                </a:solidFill>
                <a:latin typeface="+mn-lt"/>
                <a:ea typeface="+mn-ea"/>
                <a:cs typeface="+mn-cs"/>
              </a:rPr>
              <a:t>inicializar esa propiedad, aunque a la hora de usar el componente mandará la posible inicialización</a:t>
            </a:r>
          </a:p>
          <a:p>
            <a:r>
              <a:rPr lang="es-ES" sz="1200" b="0" i="0" u="none" strike="noStrike" kern="1200" baseline="0" dirty="0" smtClean="0">
                <a:solidFill>
                  <a:schemeClr val="tx1"/>
                </a:solidFill>
                <a:latin typeface="+mn-lt"/>
                <a:ea typeface="+mn-ea"/>
                <a:cs typeface="+mn-cs"/>
              </a:rPr>
              <a:t>que se realice en el atributo HTML del componente asociado con esa propiedad. El valor también</a:t>
            </a:r>
          </a:p>
          <a:p>
            <a:r>
              <a:rPr lang="es-ES" sz="1200" b="0" i="0" u="none" strike="noStrike" kern="1200" baseline="0" dirty="0" smtClean="0">
                <a:solidFill>
                  <a:schemeClr val="tx1"/>
                </a:solidFill>
                <a:latin typeface="+mn-lt"/>
                <a:ea typeface="+mn-ea"/>
                <a:cs typeface="+mn-cs"/>
              </a:rPr>
              <a:t>se puede calcular por medio de una función, que se invocará si es necesario en la inicialización del</a:t>
            </a:r>
          </a:p>
          <a:p>
            <a:r>
              <a:rPr lang="es-ES" sz="1200" b="0" i="0" u="none" strike="noStrike" kern="1200" baseline="0" dirty="0" smtClean="0">
                <a:solidFill>
                  <a:schemeClr val="tx1"/>
                </a:solidFill>
                <a:latin typeface="+mn-lt"/>
                <a:ea typeface="+mn-ea"/>
                <a:cs typeface="+mn-cs"/>
              </a:rPr>
              <a:t>componente. Se usará el valor de devolución de la función para inicializar la propiedad. Además,</a:t>
            </a:r>
          </a:p>
          <a:p>
            <a:r>
              <a:rPr lang="es-ES" sz="1200" b="0" i="0" u="none" strike="noStrike" kern="1200" baseline="0" dirty="0" smtClean="0">
                <a:solidFill>
                  <a:schemeClr val="tx1"/>
                </a:solidFill>
                <a:latin typeface="+mn-lt"/>
                <a:ea typeface="+mn-ea"/>
                <a:cs typeface="+mn-cs"/>
              </a:rPr>
              <a:t>para propiedades de tipo </a:t>
            </a:r>
            <a:r>
              <a:rPr lang="es-ES" sz="1200" b="0" i="0" u="none" strike="noStrike" kern="1200" baseline="0" dirty="0" err="1" smtClean="0">
                <a:solidFill>
                  <a:schemeClr val="tx1"/>
                </a:solidFill>
                <a:latin typeface="+mn-lt"/>
                <a:ea typeface="+mn-ea"/>
                <a:cs typeface="+mn-cs"/>
              </a:rPr>
              <a:t>Array</a:t>
            </a:r>
            <a:r>
              <a:rPr lang="es-ES" sz="1200" b="0" i="0" u="none" strike="noStrike" kern="1200" baseline="0" dirty="0" smtClean="0">
                <a:solidFill>
                  <a:schemeClr val="tx1"/>
                </a:solidFill>
                <a:latin typeface="+mn-lt"/>
                <a:ea typeface="+mn-ea"/>
                <a:cs typeface="+mn-cs"/>
              </a:rPr>
              <a:t> y </a:t>
            </a:r>
            <a:r>
              <a:rPr lang="es-ES" sz="1200" b="0" i="0" u="none" strike="noStrike" kern="1200" baseline="0" dirty="0" err="1" smtClean="0">
                <a:solidFill>
                  <a:schemeClr val="tx1"/>
                </a:solidFill>
                <a:latin typeface="+mn-lt"/>
                <a:ea typeface="+mn-ea"/>
                <a:cs typeface="+mn-cs"/>
              </a:rPr>
              <a:t>Object</a:t>
            </a:r>
            <a:r>
              <a:rPr lang="es-ES" sz="1200" b="0" i="0" u="none" strike="noStrike" kern="1200" baseline="0" dirty="0" smtClean="0">
                <a:solidFill>
                  <a:schemeClr val="tx1"/>
                </a:solidFill>
                <a:latin typeface="+mn-lt"/>
                <a:ea typeface="+mn-ea"/>
                <a:cs typeface="+mn-cs"/>
              </a:rPr>
              <a:t>, si queremos que exista una copia del </a:t>
            </a:r>
            <a:r>
              <a:rPr lang="es-ES" sz="1200" b="0" i="0" u="none" strike="noStrike" kern="1200" baseline="0" dirty="0" err="1" smtClean="0">
                <a:solidFill>
                  <a:schemeClr val="tx1"/>
                </a:solidFill>
                <a:latin typeface="+mn-lt"/>
                <a:ea typeface="+mn-ea"/>
                <a:cs typeface="+mn-cs"/>
              </a:rPr>
              <a:t>array</a:t>
            </a:r>
            <a:r>
              <a:rPr lang="es-ES" sz="1200" b="0" i="0" u="none" strike="noStrike" kern="1200" baseline="0" dirty="0" smtClean="0">
                <a:solidFill>
                  <a:schemeClr val="tx1"/>
                </a:solidFill>
                <a:latin typeface="+mn-lt"/>
                <a:ea typeface="+mn-ea"/>
                <a:cs typeface="+mn-cs"/>
              </a:rPr>
              <a:t> o el objeto para</a:t>
            </a:r>
          </a:p>
          <a:p>
            <a:r>
              <a:rPr lang="es-ES" sz="1200" b="0" i="0" u="none" strike="noStrike" kern="1200" baseline="0" dirty="0" smtClean="0">
                <a:solidFill>
                  <a:schemeClr val="tx1"/>
                </a:solidFill>
                <a:latin typeface="+mn-lt"/>
                <a:ea typeface="+mn-ea"/>
                <a:cs typeface="+mn-cs"/>
              </a:rPr>
              <a:t>cada elemento generado, tenemos que producir ese </a:t>
            </a:r>
            <a:r>
              <a:rPr lang="es-ES" sz="1200" b="0" i="0" u="none" strike="noStrike" kern="1200" baseline="0" dirty="0" err="1" smtClean="0">
                <a:solidFill>
                  <a:schemeClr val="tx1"/>
                </a:solidFill>
                <a:latin typeface="+mn-lt"/>
                <a:ea typeface="+mn-ea"/>
                <a:cs typeface="+mn-cs"/>
              </a:rPr>
              <a:t>array</a:t>
            </a:r>
            <a:r>
              <a:rPr lang="es-ES" sz="1200" b="0" i="0" u="none" strike="noStrike" kern="1200" baseline="0" dirty="0" smtClean="0">
                <a:solidFill>
                  <a:schemeClr val="tx1"/>
                </a:solidFill>
                <a:latin typeface="+mn-lt"/>
                <a:ea typeface="+mn-ea"/>
                <a:cs typeface="+mn-cs"/>
              </a:rPr>
              <a:t> u objeto en una función, devolviendo el</a:t>
            </a:r>
          </a:p>
          <a:p>
            <a:r>
              <a:rPr lang="es-ES" sz="1200" b="0" i="0" u="none" strike="noStrike" kern="1200" baseline="0" dirty="0" smtClean="0">
                <a:solidFill>
                  <a:schemeClr val="tx1"/>
                </a:solidFill>
                <a:latin typeface="+mn-lt"/>
                <a:ea typeface="+mn-ea"/>
                <a:cs typeface="+mn-cs"/>
              </a:rPr>
              <a:t>valor a inicializar con el correspondiente </a:t>
            </a:r>
            <a:r>
              <a:rPr lang="es-ES" sz="1200" b="0" i="0" u="none" strike="noStrike" kern="1200" baseline="0" dirty="0" err="1" smtClean="0">
                <a:solidFill>
                  <a:schemeClr val="tx1"/>
                </a:solidFill>
                <a:latin typeface="+mn-lt"/>
                <a:ea typeface="+mn-ea"/>
                <a:cs typeface="+mn-cs"/>
              </a:rPr>
              <a:t>return</a:t>
            </a:r>
            <a:r>
              <a:rPr lang="es-ES" sz="1200" b="0" i="0" u="none" strike="noStrike" kern="1200" baseline="0" dirty="0" smtClean="0">
                <a:solidFill>
                  <a:schemeClr val="tx1"/>
                </a:solidFill>
                <a:latin typeface="+mn-lt"/>
                <a:ea typeface="+mn-ea"/>
                <a:cs typeface="+mn-cs"/>
              </a:rPr>
              <a:t>.</a:t>
            </a:r>
          </a:p>
          <a:p>
            <a:r>
              <a:rPr lang="es-ES" sz="1200" b="0" i="0" u="none" strike="noStrike" kern="1200" baseline="0" dirty="0" err="1" smtClean="0">
                <a:solidFill>
                  <a:schemeClr val="tx1"/>
                </a:solidFill>
                <a:latin typeface="+mn-lt"/>
                <a:ea typeface="+mn-ea"/>
                <a:cs typeface="+mn-cs"/>
              </a:rPr>
              <a:t>reflectToAttribute</a:t>
            </a:r>
            <a:r>
              <a:rPr lang="es-ES" sz="1200" b="0" i="0" u="none" strike="noStrike" kern="1200" baseline="0" dirty="0" smtClean="0">
                <a:solidFill>
                  <a:schemeClr val="tx1"/>
                </a:solidFill>
                <a:latin typeface="+mn-lt"/>
                <a:ea typeface="+mn-ea"/>
                <a:cs typeface="+mn-cs"/>
              </a:rPr>
              <a:t>: Sirve para que el valor de la propiedad actualice el valor de la propiedad en el</a:t>
            </a:r>
          </a:p>
          <a:p>
            <a:r>
              <a:rPr lang="es-ES" sz="1200" b="0" i="0" u="none" strike="noStrike" kern="1200" baseline="0" dirty="0" smtClean="0">
                <a:solidFill>
                  <a:schemeClr val="tx1"/>
                </a:solidFill>
                <a:latin typeface="+mn-lt"/>
                <a:ea typeface="+mn-ea"/>
                <a:cs typeface="+mn-cs"/>
              </a:rPr>
              <a:t>elemento. Por defecto esto no ocurre, por lo que, si se cambia el valor de una propiedad, no se</a:t>
            </a:r>
          </a:p>
          <a:p>
            <a:r>
              <a:rPr lang="es-ES" sz="1200" b="0" i="0" u="none" strike="noStrike" kern="1200" baseline="0" dirty="0" smtClean="0">
                <a:solidFill>
                  <a:schemeClr val="tx1"/>
                </a:solidFill>
                <a:latin typeface="+mn-lt"/>
                <a:ea typeface="+mn-ea"/>
                <a:cs typeface="+mn-cs"/>
              </a:rPr>
              <a:t>refleja en el HTML del componente host. Si queremos que se actualice el atributo en la etiqueta</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74</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Nota: este paso, la </a:t>
            </a:r>
            <a:r>
              <a:rPr lang="es-ES" sz="1200" b="0" i="0" u="none" strike="noStrike" kern="1200" baseline="0" dirty="0" err="1" smtClean="0">
                <a:solidFill>
                  <a:schemeClr val="tx1"/>
                </a:solidFill>
                <a:latin typeface="+mn-lt"/>
                <a:ea typeface="+mn-ea"/>
                <a:cs typeface="+mn-cs"/>
              </a:rPr>
              <a:t>serialización</a:t>
            </a:r>
            <a:r>
              <a:rPr lang="es-ES" sz="1200" b="0" i="0" u="none" strike="noStrike" kern="1200" baseline="0" dirty="0" smtClean="0">
                <a:solidFill>
                  <a:schemeClr val="tx1"/>
                </a:solidFill>
                <a:latin typeface="+mn-lt"/>
                <a:ea typeface="+mn-ea"/>
                <a:cs typeface="+mn-cs"/>
              </a:rPr>
              <a:t> de las propiedades reflejadas, es básicamente el opuesto de la</a:t>
            </a:r>
          </a:p>
          <a:p>
            <a:r>
              <a:rPr lang="es-ES" sz="1200" b="0" i="0" u="none" strike="noStrike" kern="1200" baseline="0" dirty="0" err="1" smtClean="0">
                <a:solidFill>
                  <a:schemeClr val="tx1"/>
                </a:solidFill>
                <a:latin typeface="+mn-lt"/>
                <a:ea typeface="+mn-ea"/>
                <a:cs typeface="+mn-cs"/>
              </a:rPr>
              <a:t>deserialización</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75</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Nota: este paso, la </a:t>
            </a:r>
            <a:r>
              <a:rPr lang="es-ES" sz="1200" b="0" i="0" u="none" strike="noStrike" kern="1200" baseline="0" dirty="0" err="1" smtClean="0">
                <a:solidFill>
                  <a:schemeClr val="tx1"/>
                </a:solidFill>
                <a:latin typeface="+mn-lt"/>
                <a:ea typeface="+mn-ea"/>
                <a:cs typeface="+mn-cs"/>
              </a:rPr>
              <a:t>serialización</a:t>
            </a:r>
            <a:r>
              <a:rPr lang="es-ES" sz="1200" b="0" i="0" u="none" strike="noStrike" kern="1200" baseline="0" dirty="0" smtClean="0">
                <a:solidFill>
                  <a:schemeClr val="tx1"/>
                </a:solidFill>
                <a:latin typeface="+mn-lt"/>
                <a:ea typeface="+mn-ea"/>
                <a:cs typeface="+mn-cs"/>
              </a:rPr>
              <a:t> de las propiedades reflejadas, es básicamente el opuesto de la</a:t>
            </a:r>
          </a:p>
          <a:p>
            <a:r>
              <a:rPr lang="es-ES" sz="1200" b="0" i="0" u="none" strike="noStrike" kern="1200" baseline="0" dirty="0" err="1" smtClean="0">
                <a:solidFill>
                  <a:schemeClr val="tx1"/>
                </a:solidFill>
                <a:latin typeface="+mn-lt"/>
                <a:ea typeface="+mn-ea"/>
                <a:cs typeface="+mn-cs"/>
              </a:rPr>
              <a:t>deserialización</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76</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Nota: Ojo con el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dos direcciones, puesto que es un poco más pesado para la aplicación, en</a:t>
            </a:r>
          </a:p>
          <a:p>
            <a:r>
              <a:rPr lang="es-ES" sz="1200" b="0" i="0" u="none" strike="noStrike" kern="1200" baseline="0" dirty="0" smtClean="0">
                <a:solidFill>
                  <a:schemeClr val="tx1"/>
                </a:solidFill>
                <a:latin typeface="+mn-lt"/>
                <a:ea typeface="+mn-ea"/>
                <a:cs typeface="+mn-cs"/>
              </a:rPr>
              <a:t>términos de tiempo de procesamiento. Por eso en muchas ocasiones es preferible usar </a:t>
            </a:r>
            <a:r>
              <a:rPr lang="es-ES" sz="1200" b="0" i="0" u="none" strike="noStrike" kern="1200" baseline="0" dirty="0" err="1" smtClean="0">
                <a:solidFill>
                  <a:schemeClr val="tx1"/>
                </a:solidFill>
                <a:latin typeface="+mn-lt"/>
                <a:ea typeface="+mn-ea"/>
                <a:cs typeface="+mn-cs"/>
              </a:rPr>
              <a:t>bindeo</a:t>
            </a:r>
            <a:r>
              <a:rPr lang="es-ES" sz="1200" b="0" i="0" u="none" strike="noStrike" kern="1200" baseline="0" dirty="0" smtClean="0">
                <a:solidFill>
                  <a:schemeClr val="tx1"/>
                </a:solidFill>
                <a:latin typeface="+mn-lt"/>
                <a:ea typeface="+mn-ea"/>
                <a:cs typeface="+mn-cs"/>
              </a:rPr>
              <a:t> de una</a:t>
            </a:r>
          </a:p>
          <a:p>
            <a:r>
              <a:rPr lang="es-ES" sz="1200" b="0" i="0" u="none" strike="noStrike" kern="1200" baseline="0" dirty="0" smtClean="0">
                <a:solidFill>
                  <a:schemeClr val="tx1"/>
                </a:solidFill>
                <a:latin typeface="+mn-lt"/>
                <a:ea typeface="+mn-ea"/>
                <a:cs typeface="+mn-cs"/>
              </a:rPr>
              <a:t>sola dirección y usar mecanismos como los eventos para producir el aviso a los padres cuando los hijos</a:t>
            </a:r>
          </a:p>
          <a:p>
            <a:r>
              <a:rPr lang="es-ES" sz="1200" b="0" i="0" u="none" strike="noStrike" kern="1200" baseline="0" dirty="0" smtClean="0">
                <a:solidFill>
                  <a:schemeClr val="tx1"/>
                </a:solidFill>
                <a:latin typeface="+mn-lt"/>
                <a:ea typeface="+mn-ea"/>
                <a:cs typeface="+mn-cs"/>
              </a:rPr>
              <a:t>desean cambiar el valor de las propiedades. Hablaremos de esto más adelante en otros ejemplos cuando</a:t>
            </a:r>
          </a:p>
          <a:p>
            <a:r>
              <a:rPr lang="es-ES" sz="1200" b="0" i="0" u="none" strike="noStrike" kern="1200" baseline="0" dirty="0" smtClean="0">
                <a:solidFill>
                  <a:schemeClr val="tx1"/>
                </a:solidFill>
                <a:latin typeface="+mn-lt"/>
                <a:ea typeface="+mn-ea"/>
                <a:cs typeface="+mn-cs"/>
              </a:rPr>
              <a:t>hayamos abordado el tema de los eventos en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a:t>
            </a:r>
          </a:p>
          <a:p>
            <a:endParaRPr lang="es-ES" sz="1200" b="0" i="0" u="none" strike="noStrike" kern="1200" baseline="0" dirty="0" smtClean="0">
              <a:solidFill>
                <a:schemeClr val="tx1"/>
              </a:solidFill>
              <a:latin typeface="+mn-lt"/>
              <a:ea typeface="+mn-ea"/>
              <a:cs typeface="+mn-cs"/>
            </a:endParaRPr>
          </a:p>
          <a:p>
            <a:r>
              <a:rPr lang="es-ES" sz="1200" b="0" i="0" u="none" strike="noStrike" kern="1200" baseline="0" dirty="0" smtClean="0">
                <a:solidFill>
                  <a:schemeClr val="tx1"/>
                </a:solidFill>
                <a:latin typeface="+mn-lt"/>
                <a:ea typeface="+mn-ea"/>
                <a:cs typeface="+mn-cs"/>
              </a:rPr>
              <a:t>Nota: Para que quede claro, con respecto al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dos direcciones, debes entender que por mucho</a:t>
            </a:r>
          </a:p>
          <a:p>
            <a:r>
              <a:rPr lang="es-ES" sz="1200" b="0" i="0" u="none" strike="noStrike" kern="1200" baseline="0" dirty="0" smtClean="0">
                <a:solidFill>
                  <a:schemeClr val="tx1"/>
                </a:solidFill>
                <a:latin typeface="+mn-lt"/>
                <a:ea typeface="+mn-ea"/>
                <a:cs typeface="+mn-cs"/>
              </a:rPr>
              <a:t>que tú lo uses al declarar el </a:t>
            </a:r>
            <a:r>
              <a:rPr lang="es-ES" sz="1200" b="0" i="0" u="none" strike="noStrike" kern="1200" baseline="0" dirty="0" err="1" smtClean="0">
                <a:solidFill>
                  <a:schemeClr val="tx1"/>
                </a:solidFill>
                <a:latin typeface="+mn-lt"/>
                <a:ea typeface="+mn-ea"/>
                <a:cs typeface="+mn-cs"/>
              </a:rPr>
              <a:t>bindeo</a:t>
            </a:r>
            <a:r>
              <a:rPr lang="es-ES" sz="1200" b="0" i="0" u="none" strike="noStrike" kern="1200" baseline="0" dirty="0" smtClean="0">
                <a:solidFill>
                  <a:schemeClr val="tx1"/>
                </a:solidFill>
                <a:latin typeface="+mn-lt"/>
                <a:ea typeface="+mn-ea"/>
                <a:cs typeface="+mn-cs"/>
              </a:rPr>
              <a:t> en el </a:t>
            </a:r>
            <a:r>
              <a:rPr lang="es-ES" sz="1200" b="0" i="0" u="none" strike="noStrike" kern="1200" baseline="0" dirty="0" err="1" smtClean="0">
                <a:solidFill>
                  <a:schemeClr val="tx1"/>
                </a:solidFill>
                <a:latin typeface="+mn-lt"/>
                <a:ea typeface="+mn-ea"/>
                <a:cs typeface="+mn-cs"/>
              </a:rPr>
              <a:t>template</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no siempre lo implementará y te hará un</a:t>
            </a:r>
          </a:p>
          <a:p>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una única dirección. Por ejemplo, también te ocurrirá cuando </a:t>
            </a:r>
            <a:r>
              <a:rPr lang="es-ES" sz="1200" b="0" i="0" u="none" strike="noStrike" kern="1200" baseline="0" dirty="0" err="1" smtClean="0">
                <a:solidFill>
                  <a:schemeClr val="tx1"/>
                </a:solidFill>
                <a:latin typeface="+mn-lt"/>
                <a:ea typeface="+mn-ea"/>
                <a:cs typeface="+mn-cs"/>
              </a:rPr>
              <a:t>bindeas</a:t>
            </a:r>
            <a:r>
              <a:rPr lang="es-ES" sz="1200" b="0" i="0" u="none" strike="noStrike" kern="1200" baseline="0" dirty="0" smtClean="0">
                <a:solidFill>
                  <a:schemeClr val="tx1"/>
                </a:solidFill>
                <a:latin typeface="+mn-lt"/>
                <a:ea typeface="+mn-ea"/>
                <a:cs typeface="+mn-cs"/>
              </a:rPr>
              <a:t> al contenido de una</a:t>
            </a:r>
          </a:p>
          <a:p>
            <a:r>
              <a:rPr lang="es-ES" sz="1200" b="0" i="0" u="none" strike="noStrike" kern="1200" baseline="0" dirty="0" smtClean="0">
                <a:solidFill>
                  <a:schemeClr val="tx1"/>
                </a:solidFill>
                <a:latin typeface="+mn-lt"/>
                <a:ea typeface="+mn-ea"/>
                <a:cs typeface="+mn-cs"/>
              </a:rPr>
              <a:t>etiqueta HTML párrafo (etiqueta P). Por mucho que uses dobles llaves no servirá para nada, ya que ese</a:t>
            </a:r>
          </a:p>
          <a:p>
            <a:r>
              <a:rPr lang="es-ES" sz="1200" b="0" i="0" u="none" strike="noStrike" kern="1200" baseline="0" dirty="0" smtClean="0">
                <a:solidFill>
                  <a:schemeClr val="tx1"/>
                </a:solidFill>
                <a:latin typeface="+mn-lt"/>
                <a:ea typeface="+mn-ea"/>
                <a:cs typeface="+mn-cs"/>
              </a:rPr>
              <a:t>párrafo no está preparado para avisar al padre hipotéticos cambios.</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77</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En los componentes de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tenemos propiedades, declaradas mediante la declaración "</a:t>
            </a:r>
            <a:r>
              <a:rPr lang="es-ES" sz="1200" b="0" i="0" u="none" strike="noStrike" kern="1200" baseline="0" dirty="0" err="1" smtClean="0">
                <a:solidFill>
                  <a:schemeClr val="tx1"/>
                </a:solidFill>
                <a:latin typeface="+mn-lt"/>
                <a:ea typeface="+mn-ea"/>
                <a:cs typeface="+mn-cs"/>
              </a:rPr>
              <a:t>properties</a:t>
            </a:r>
            <a:r>
              <a:rPr lang="es-ES" sz="1200" b="0" i="0" u="none" strike="noStrike" kern="1200" baseline="0" dirty="0" smtClean="0">
                <a:solidFill>
                  <a:schemeClr val="tx1"/>
                </a:solidFill>
                <a:latin typeface="+mn-lt"/>
                <a:ea typeface="+mn-ea"/>
                <a:cs typeface="+mn-cs"/>
              </a:rPr>
              <a:t>". Eso</a:t>
            </a:r>
          </a:p>
          <a:p>
            <a:r>
              <a:rPr lang="es-ES" sz="1200" b="0" i="0" u="none" strike="noStrike" kern="1200" baseline="0" dirty="0" smtClean="0">
                <a:solidFill>
                  <a:schemeClr val="tx1"/>
                </a:solidFill>
                <a:latin typeface="+mn-lt"/>
                <a:ea typeface="+mn-ea"/>
                <a:cs typeface="+mn-cs"/>
              </a:rPr>
              <a:t>son lo que llamamos propiedades del componente y son las que hemos usado repetidas veces a lo largo del</a:t>
            </a:r>
          </a:p>
          <a:p>
            <a:r>
              <a:rPr lang="es-ES" sz="1200" b="0" i="0" u="none" strike="noStrike" kern="1200" baseline="0" dirty="0" smtClean="0">
                <a:solidFill>
                  <a:schemeClr val="tx1"/>
                </a:solidFill>
                <a:latin typeface="+mn-lt"/>
                <a:ea typeface="+mn-ea"/>
                <a:cs typeface="+mn-cs"/>
              </a:rPr>
              <a:t>manual.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facilita la asignación de valores a esas propiedades del componente, por medio del</a:t>
            </a:r>
          </a:p>
          <a:p>
            <a:r>
              <a:rPr lang="es-ES" sz="1200" b="0" i="0" u="none" strike="noStrike" kern="1200" baseline="0" dirty="0" err="1" smtClean="0">
                <a:solidFill>
                  <a:schemeClr val="tx1"/>
                </a:solidFill>
                <a:latin typeface="+mn-lt"/>
                <a:ea typeface="+mn-ea"/>
                <a:cs typeface="+mn-cs"/>
              </a:rPr>
              <a:t>template</a:t>
            </a:r>
            <a:r>
              <a:rPr lang="es-ES" sz="1200" b="0" i="0" u="none" strike="noStrike" kern="1200" baseline="0" dirty="0" smtClean="0">
                <a:solidFill>
                  <a:schemeClr val="tx1"/>
                </a:solidFill>
                <a:latin typeface="+mn-lt"/>
                <a:ea typeface="+mn-ea"/>
                <a:cs typeface="+mn-cs"/>
              </a:rPr>
              <a:t>.</a:t>
            </a:r>
          </a:p>
          <a:p>
            <a:r>
              <a:rPr lang="es-ES" sz="1200" b="0" i="0" u="none" strike="noStrike" kern="1200" baseline="0" dirty="0" smtClean="0">
                <a:solidFill>
                  <a:schemeClr val="tx1"/>
                </a:solidFill>
                <a:latin typeface="+mn-lt"/>
                <a:ea typeface="+mn-ea"/>
                <a:cs typeface="+mn-cs"/>
              </a:rPr>
              <a:t>&lt;</a:t>
            </a:r>
            <a:r>
              <a:rPr lang="es-ES" sz="1200" b="0" i="0" u="none" strike="noStrike" kern="1200" baseline="0" dirty="0" err="1" smtClean="0">
                <a:solidFill>
                  <a:schemeClr val="tx1"/>
                </a:solidFill>
                <a:latin typeface="+mn-lt"/>
                <a:ea typeface="+mn-ea"/>
                <a:cs typeface="+mn-cs"/>
              </a:rPr>
              <a:t>paper</a:t>
            </a:r>
            <a:r>
              <a:rPr lang="es-ES" sz="1200" b="0" i="0" u="none" strike="noStrike" kern="1200" baseline="0" dirty="0" smtClean="0">
                <a:solidFill>
                  <a:schemeClr val="tx1"/>
                </a:solidFill>
                <a:latin typeface="+mn-lt"/>
                <a:ea typeface="+mn-ea"/>
                <a:cs typeface="+mn-cs"/>
              </a:rPr>
              <a:t>-input </a:t>
            </a:r>
            <a:r>
              <a:rPr lang="es-ES" sz="1200" b="0" i="0" u="none" strike="noStrike" kern="1200" baseline="0" dirty="0" err="1" smtClean="0">
                <a:solidFill>
                  <a:schemeClr val="tx1"/>
                </a:solidFill>
                <a:latin typeface="+mn-lt"/>
                <a:ea typeface="+mn-ea"/>
                <a:cs typeface="+mn-cs"/>
              </a:rPr>
              <a:t>label</a:t>
            </a:r>
            <a:r>
              <a:rPr lang="es-ES" sz="1200" b="0" i="0" u="none" strike="noStrike" kern="1200" baseline="0" dirty="0" smtClean="0">
                <a:solidFill>
                  <a:schemeClr val="tx1"/>
                </a:solidFill>
                <a:latin typeface="+mn-lt"/>
                <a:ea typeface="+mn-ea"/>
                <a:cs typeface="+mn-cs"/>
              </a:rPr>
              <a:t>="Escribe algo" </a:t>
            </a:r>
            <a:r>
              <a:rPr lang="es-ES" sz="1200" b="0" i="0" u="none" strike="noStrike" kern="1200" baseline="0" dirty="0" err="1" smtClean="0">
                <a:solidFill>
                  <a:schemeClr val="tx1"/>
                </a:solidFill>
                <a:latin typeface="+mn-lt"/>
                <a:ea typeface="+mn-ea"/>
                <a:cs typeface="+mn-cs"/>
              </a:rPr>
              <a:t>value</a:t>
            </a:r>
            <a:r>
              <a:rPr lang="es-ES" sz="1200" b="0" i="0" u="none" strike="noStrike" kern="1200" baseline="0" dirty="0" smtClean="0">
                <a:solidFill>
                  <a:schemeClr val="tx1"/>
                </a:solidFill>
                <a:latin typeface="+mn-lt"/>
                <a:ea typeface="+mn-ea"/>
                <a:cs typeface="+mn-cs"/>
              </a:rPr>
              <a:t>="{{</a:t>
            </a:r>
            <a:r>
              <a:rPr lang="es-ES" sz="1200" b="0" i="0" u="none" strike="noStrike" kern="1200" baseline="0" dirty="0" err="1" smtClean="0">
                <a:solidFill>
                  <a:schemeClr val="tx1"/>
                </a:solidFill>
                <a:latin typeface="+mn-lt"/>
                <a:ea typeface="+mn-ea"/>
                <a:cs typeface="+mn-cs"/>
              </a:rPr>
              <a:t>valorEscrito</a:t>
            </a:r>
            <a:r>
              <a:rPr lang="es-ES" sz="1200" b="0" i="0" u="none" strike="noStrike" kern="1200" baseline="0" dirty="0" smtClean="0">
                <a:solidFill>
                  <a:schemeClr val="tx1"/>
                </a:solidFill>
                <a:latin typeface="+mn-lt"/>
                <a:ea typeface="+mn-ea"/>
                <a:cs typeface="+mn-cs"/>
              </a:rPr>
              <a:t>}}"&gt;&lt;/</a:t>
            </a:r>
            <a:r>
              <a:rPr lang="es-ES" sz="1200" b="0" i="0" u="none" strike="noStrike" kern="1200" baseline="0" dirty="0" err="1" smtClean="0">
                <a:solidFill>
                  <a:schemeClr val="tx1"/>
                </a:solidFill>
                <a:latin typeface="+mn-lt"/>
                <a:ea typeface="+mn-ea"/>
                <a:cs typeface="+mn-cs"/>
              </a:rPr>
              <a:t>paper</a:t>
            </a:r>
            <a:r>
              <a:rPr lang="es-ES" sz="1200" b="0" i="0" u="none" strike="noStrike" kern="1200" baseline="0" dirty="0" smtClean="0">
                <a:solidFill>
                  <a:schemeClr val="tx1"/>
                </a:solidFill>
                <a:latin typeface="+mn-lt"/>
                <a:ea typeface="+mn-ea"/>
                <a:cs typeface="+mn-cs"/>
              </a:rPr>
              <a:t>-input&gt;</a:t>
            </a:r>
          </a:p>
          <a:p>
            <a:r>
              <a:rPr lang="es-ES" sz="1200" b="0" i="0" u="none" strike="noStrike" kern="1200" baseline="0" dirty="0" smtClean="0">
                <a:solidFill>
                  <a:schemeClr val="tx1"/>
                </a:solidFill>
                <a:latin typeface="+mn-lt"/>
                <a:ea typeface="+mn-ea"/>
                <a:cs typeface="+mn-cs"/>
              </a:rPr>
              <a:t>Ves dos casos interesantes en el anterior código:</a:t>
            </a:r>
          </a:p>
          <a:p>
            <a:r>
              <a:rPr lang="es-ES" sz="1200" b="0" i="0" u="none" strike="noStrike" kern="1200" baseline="0" dirty="0" smtClean="0">
                <a:solidFill>
                  <a:schemeClr val="tx1"/>
                </a:solidFill>
                <a:latin typeface="+mn-lt"/>
                <a:ea typeface="+mn-ea"/>
                <a:cs typeface="+mn-cs"/>
              </a:rPr>
              <a:t>A una propiedad como "</a:t>
            </a:r>
            <a:r>
              <a:rPr lang="es-ES" sz="1200" b="0" i="0" u="none" strike="noStrike" kern="1200" baseline="0" dirty="0" err="1" smtClean="0">
                <a:solidFill>
                  <a:schemeClr val="tx1"/>
                </a:solidFill>
                <a:latin typeface="+mn-lt"/>
                <a:ea typeface="+mn-ea"/>
                <a:cs typeface="+mn-cs"/>
              </a:rPr>
              <a:t>label</a:t>
            </a:r>
            <a:r>
              <a:rPr lang="es-ES" sz="1200" b="0" i="0" u="none" strike="noStrike" kern="1200" baseline="0" dirty="0" smtClean="0">
                <a:solidFill>
                  <a:schemeClr val="tx1"/>
                </a:solidFill>
                <a:latin typeface="+mn-lt"/>
                <a:ea typeface="+mn-ea"/>
                <a:cs typeface="+mn-cs"/>
              </a:rPr>
              <a:t>" le podemos asignar directamente un literal de cadena.</a:t>
            </a:r>
          </a:p>
          <a:p>
            <a:r>
              <a:rPr lang="es-ES" sz="1200" b="0" i="0" u="none" strike="noStrike" kern="1200" baseline="0" dirty="0" smtClean="0">
                <a:solidFill>
                  <a:schemeClr val="tx1"/>
                </a:solidFill>
                <a:latin typeface="+mn-lt"/>
                <a:ea typeface="+mn-ea"/>
                <a:cs typeface="+mn-cs"/>
              </a:rPr>
              <a:t>A la propiedad "</a:t>
            </a:r>
            <a:r>
              <a:rPr lang="es-ES" sz="1200" b="0" i="0" u="none" strike="noStrike" kern="1200" baseline="0" dirty="0" err="1" smtClean="0">
                <a:solidFill>
                  <a:schemeClr val="tx1"/>
                </a:solidFill>
                <a:latin typeface="+mn-lt"/>
                <a:ea typeface="+mn-ea"/>
                <a:cs typeface="+mn-cs"/>
              </a:rPr>
              <a:t>value</a:t>
            </a:r>
            <a:r>
              <a:rPr lang="es-ES" sz="1200" b="0" i="0" u="none" strike="noStrike" kern="1200" baseline="0" dirty="0" smtClean="0">
                <a:solidFill>
                  <a:schemeClr val="tx1"/>
                </a:solidFill>
                <a:latin typeface="+mn-lt"/>
                <a:ea typeface="+mn-ea"/>
                <a:cs typeface="+mn-cs"/>
              </a:rPr>
              <a:t>" le estamos asignando el valor de otra propiedad del componente padre</a:t>
            </a:r>
          </a:p>
          <a:p>
            <a:r>
              <a:rPr lang="es-ES" sz="1200" b="0" i="0" u="none" strike="noStrike" kern="1200" baseline="0" dirty="0" smtClean="0">
                <a:solidFill>
                  <a:schemeClr val="tx1"/>
                </a:solidFill>
                <a:latin typeface="+mn-lt"/>
                <a:ea typeface="+mn-ea"/>
                <a:cs typeface="+mn-cs"/>
              </a:rPr>
              <a:t>("</a:t>
            </a:r>
            <a:r>
              <a:rPr lang="es-ES" sz="1200" b="0" i="0" u="none" strike="noStrike" kern="1200" baseline="0" dirty="0" err="1" smtClean="0">
                <a:solidFill>
                  <a:schemeClr val="tx1"/>
                </a:solidFill>
                <a:latin typeface="+mn-lt"/>
                <a:ea typeface="+mn-ea"/>
                <a:cs typeface="+mn-cs"/>
              </a:rPr>
              <a:t>valorEscrito</a:t>
            </a:r>
            <a:r>
              <a:rPr lang="es-ES" sz="1200" b="0" i="0" u="none" strike="noStrike" kern="1200" baseline="0" dirty="0" smtClean="0">
                <a:solidFill>
                  <a:schemeClr val="tx1"/>
                </a:solidFill>
                <a:latin typeface="+mn-lt"/>
                <a:ea typeface="+mn-ea"/>
                <a:cs typeface="+mn-cs"/>
              </a:rPr>
              <a:t>").</a:t>
            </a:r>
          </a:p>
          <a:p>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se encarga de asignar esos valores a las propiedades. En el caso de "</a:t>
            </a:r>
            <a:r>
              <a:rPr lang="es-ES" sz="1200" b="0" i="0" u="none" strike="noStrike" kern="1200" baseline="0" dirty="0" err="1" smtClean="0">
                <a:solidFill>
                  <a:schemeClr val="tx1"/>
                </a:solidFill>
                <a:latin typeface="+mn-lt"/>
                <a:ea typeface="+mn-ea"/>
                <a:cs typeface="+mn-cs"/>
              </a:rPr>
              <a:t>label</a:t>
            </a:r>
            <a:r>
              <a:rPr lang="es-ES" sz="1200" b="0" i="0" u="none" strike="noStrike" kern="1200" baseline="0" dirty="0" smtClean="0">
                <a:solidFill>
                  <a:schemeClr val="tx1"/>
                </a:solidFill>
                <a:latin typeface="+mn-lt"/>
                <a:ea typeface="+mn-ea"/>
                <a:cs typeface="+mn-cs"/>
              </a:rPr>
              <a:t>" simplemente le asigna</a:t>
            </a:r>
          </a:p>
          <a:p>
            <a:r>
              <a:rPr lang="es-ES" sz="1200" b="0" i="0" u="none" strike="noStrike" kern="1200" baseline="0" dirty="0" smtClean="0">
                <a:solidFill>
                  <a:schemeClr val="tx1"/>
                </a:solidFill>
                <a:latin typeface="+mn-lt"/>
                <a:ea typeface="+mn-ea"/>
                <a:cs typeface="+mn-cs"/>
              </a:rPr>
              <a:t>ese valor literal, pero en el caso del "</a:t>
            </a:r>
            <a:r>
              <a:rPr lang="es-ES" sz="1200" b="0" i="0" u="none" strike="noStrike" kern="1200" baseline="0" dirty="0" err="1" smtClean="0">
                <a:solidFill>
                  <a:schemeClr val="tx1"/>
                </a:solidFill>
                <a:latin typeface="+mn-lt"/>
                <a:ea typeface="+mn-ea"/>
                <a:cs typeface="+mn-cs"/>
              </a:rPr>
              <a:t>value</a:t>
            </a:r>
            <a:r>
              <a:rPr lang="es-ES" sz="1200" b="0" i="0" u="none" strike="noStrike" kern="1200" baseline="0" dirty="0" smtClean="0">
                <a:solidFill>
                  <a:schemeClr val="tx1"/>
                </a:solidFill>
                <a:latin typeface="+mn-lt"/>
                <a:ea typeface="+mn-ea"/>
                <a:cs typeface="+mn-cs"/>
              </a:rPr>
              <a:t>" tenemos un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propiedad. En este caso "</a:t>
            </a:r>
            <a:r>
              <a:rPr lang="es-ES" sz="1200" b="0" i="0" u="none" strike="noStrike" kern="1200" baseline="0" dirty="0" err="1" smtClean="0">
                <a:solidFill>
                  <a:schemeClr val="tx1"/>
                </a:solidFill>
                <a:latin typeface="+mn-lt"/>
                <a:ea typeface="+mn-ea"/>
                <a:cs typeface="+mn-cs"/>
              </a:rPr>
              <a:t>value</a:t>
            </a:r>
            <a:r>
              <a:rPr lang="es-ES" sz="1200" b="0" i="0" u="none" strike="noStrike" kern="1200" baseline="0" dirty="0" smtClean="0">
                <a:solidFill>
                  <a:schemeClr val="tx1"/>
                </a:solidFill>
                <a:latin typeface="+mn-lt"/>
                <a:ea typeface="+mn-ea"/>
                <a:cs typeface="+mn-cs"/>
              </a:rPr>
              <a:t>" es una</a:t>
            </a:r>
          </a:p>
          <a:p>
            <a:r>
              <a:rPr lang="es-ES" sz="1200" b="0" i="0" u="none" strike="noStrike" kern="1200" baseline="0" dirty="0" smtClean="0">
                <a:solidFill>
                  <a:schemeClr val="tx1"/>
                </a:solidFill>
                <a:latin typeface="+mn-lt"/>
                <a:ea typeface="+mn-ea"/>
                <a:cs typeface="+mn-cs"/>
              </a:rPr>
              <a:t>propiedad del elemento "</a:t>
            </a:r>
            <a:r>
              <a:rPr lang="es-ES" sz="1200" b="0" i="0" u="none" strike="noStrike" kern="1200" baseline="0" dirty="0" err="1" smtClean="0">
                <a:solidFill>
                  <a:schemeClr val="tx1"/>
                </a:solidFill>
                <a:latin typeface="+mn-lt"/>
                <a:ea typeface="+mn-ea"/>
                <a:cs typeface="+mn-cs"/>
              </a:rPr>
              <a:t>paper</a:t>
            </a:r>
            <a:r>
              <a:rPr lang="es-ES" sz="1200" b="0" i="0" u="none" strike="noStrike" kern="1200" baseline="0" dirty="0" smtClean="0">
                <a:solidFill>
                  <a:schemeClr val="tx1"/>
                </a:solidFill>
                <a:latin typeface="+mn-lt"/>
                <a:ea typeface="+mn-ea"/>
                <a:cs typeface="+mn-cs"/>
              </a:rPr>
              <a:t>-input", propia de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78</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79</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Sobre los </a:t>
            </a:r>
            <a:r>
              <a:rPr lang="es-ES" sz="1200" b="0" i="0" u="none" strike="noStrike" kern="1200" baseline="0" dirty="0" err="1" smtClean="0">
                <a:solidFill>
                  <a:schemeClr val="tx1"/>
                </a:solidFill>
                <a:latin typeface="+mn-lt"/>
                <a:ea typeface="+mn-ea"/>
                <a:cs typeface="+mn-cs"/>
              </a:rPr>
              <a:t>computed</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bindings</a:t>
            </a:r>
            <a:r>
              <a:rPr lang="es-ES" sz="1200" b="0" i="0" u="none" strike="noStrike" kern="1200" baseline="0" dirty="0" smtClean="0">
                <a:solidFill>
                  <a:schemeClr val="tx1"/>
                </a:solidFill>
                <a:latin typeface="+mn-lt"/>
                <a:ea typeface="+mn-ea"/>
                <a:cs typeface="+mn-cs"/>
              </a:rPr>
              <a:t> debes saber además:</a:t>
            </a:r>
          </a:p>
          <a:p>
            <a:r>
              <a:rPr lang="es-ES" sz="1200" b="0" i="0" u="none" strike="noStrike" kern="1200" baseline="0" dirty="0" smtClean="0">
                <a:solidFill>
                  <a:schemeClr val="tx1"/>
                </a:solidFill>
                <a:latin typeface="+mn-lt"/>
                <a:ea typeface="+mn-ea"/>
                <a:cs typeface="+mn-cs"/>
              </a:rPr>
              <a:t>Las dependencias del </a:t>
            </a:r>
            <a:r>
              <a:rPr lang="es-ES" sz="1200" b="0" i="0" u="none" strike="noStrike" kern="1200" baseline="0" dirty="0" err="1" smtClean="0">
                <a:solidFill>
                  <a:schemeClr val="tx1"/>
                </a:solidFill>
                <a:latin typeface="+mn-lt"/>
                <a:ea typeface="+mn-ea"/>
                <a:cs typeface="+mn-cs"/>
              </a:rPr>
              <a:t>bindeo</a:t>
            </a:r>
            <a:r>
              <a:rPr lang="es-ES" sz="1200" b="0" i="0" u="none" strike="noStrike" kern="1200" baseline="0" dirty="0" smtClean="0">
                <a:solidFill>
                  <a:schemeClr val="tx1"/>
                </a:solidFill>
                <a:latin typeface="+mn-lt"/>
                <a:ea typeface="+mn-ea"/>
                <a:cs typeface="+mn-cs"/>
              </a:rPr>
              <a:t> computado, que son los datos que necesita para calcular el valor a</a:t>
            </a:r>
          </a:p>
          <a:p>
            <a:r>
              <a:rPr lang="es-ES" sz="1200" b="0" i="0" u="none" strike="noStrike" kern="1200" baseline="0" dirty="0" smtClean="0">
                <a:solidFill>
                  <a:schemeClr val="tx1"/>
                </a:solidFill>
                <a:latin typeface="+mn-lt"/>
                <a:ea typeface="+mn-ea"/>
                <a:cs typeface="+mn-cs"/>
              </a:rPr>
              <a:t>mostrar, serán derivados del </a:t>
            </a:r>
            <a:r>
              <a:rPr lang="es-ES" sz="1200" b="0" i="0" u="none" strike="noStrike" kern="1200" baseline="0" dirty="0" err="1" smtClean="0">
                <a:solidFill>
                  <a:schemeClr val="tx1"/>
                </a:solidFill>
                <a:latin typeface="+mn-lt"/>
                <a:ea typeface="+mn-ea"/>
                <a:cs typeface="+mn-cs"/>
              </a:rPr>
              <a:t>scope</a:t>
            </a:r>
            <a:r>
              <a:rPr lang="es-ES" sz="1200" b="0" i="0" u="none" strike="noStrike" kern="1200" baseline="0" dirty="0" smtClean="0">
                <a:solidFill>
                  <a:schemeClr val="tx1"/>
                </a:solidFill>
                <a:latin typeface="+mn-lt"/>
                <a:ea typeface="+mn-ea"/>
                <a:cs typeface="+mn-cs"/>
              </a:rPr>
              <a:t> (ámbito) actual. Esto quiere decir que dentro de un </a:t>
            </a:r>
            <a:r>
              <a:rPr lang="es-ES" sz="1200" b="0" i="0" u="none" strike="noStrike" kern="1200" baseline="0" dirty="0" err="1" smtClean="0">
                <a:solidFill>
                  <a:schemeClr val="tx1"/>
                </a:solidFill>
                <a:latin typeface="+mn-lt"/>
                <a:ea typeface="+mn-ea"/>
                <a:cs typeface="+mn-cs"/>
              </a:rPr>
              <a:t>template</a:t>
            </a:r>
            <a:r>
              <a:rPr lang="es-ES" sz="1200" b="0" i="0" u="none" strike="noStrike" kern="1200" baseline="0" dirty="0" smtClean="0">
                <a:solidFill>
                  <a:schemeClr val="tx1"/>
                </a:solidFill>
                <a:latin typeface="+mn-lt"/>
                <a:ea typeface="+mn-ea"/>
                <a:cs typeface="+mn-cs"/>
              </a:rPr>
              <a:t> de</a:t>
            </a:r>
          </a:p>
          <a:p>
            <a:r>
              <a:rPr lang="es-ES" sz="1200" b="0" i="0" u="none" strike="noStrike" kern="1200" baseline="0" dirty="0" smtClean="0">
                <a:solidFill>
                  <a:schemeClr val="tx1"/>
                </a:solidFill>
                <a:latin typeface="+mn-lt"/>
                <a:ea typeface="+mn-ea"/>
                <a:cs typeface="+mn-cs"/>
              </a:rPr>
              <a:t>repetición (</a:t>
            </a:r>
            <a:r>
              <a:rPr lang="es-ES" sz="1200" b="0" i="0" u="none" strike="noStrike" kern="1200" baseline="0" dirty="0" err="1" smtClean="0">
                <a:solidFill>
                  <a:schemeClr val="tx1"/>
                </a:solidFill>
                <a:latin typeface="+mn-lt"/>
                <a:ea typeface="+mn-ea"/>
                <a:cs typeface="+mn-cs"/>
              </a:rPr>
              <a:t>dom-repeat</a:t>
            </a:r>
            <a:r>
              <a:rPr lang="es-ES" sz="1200" b="0" i="0" u="none" strike="noStrike" kern="1200" baseline="0" dirty="0" smtClean="0">
                <a:solidFill>
                  <a:schemeClr val="tx1"/>
                </a:solidFill>
                <a:latin typeface="+mn-lt"/>
                <a:ea typeface="+mn-ea"/>
                <a:cs typeface="+mn-cs"/>
              </a:rPr>
              <a:t>), el </a:t>
            </a:r>
            <a:r>
              <a:rPr lang="es-ES" sz="1200" b="0" i="0" u="none" strike="noStrike" kern="1200" baseline="0" dirty="0" err="1" smtClean="0">
                <a:solidFill>
                  <a:schemeClr val="tx1"/>
                </a:solidFill>
                <a:latin typeface="+mn-lt"/>
                <a:ea typeface="+mn-ea"/>
                <a:cs typeface="+mn-cs"/>
              </a:rPr>
              <a:t>scope</a:t>
            </a:r>
            <a:r>
              <a:rPr lang="es-ES" sz="1200" b="0" i="0" u="none" strike="noStrike" kern="1200" baseline="0" dirty="0" smtClean="0">
                <a:solidFill>
                  <a:schemeClr val="tx1"/>
                </a:solidFill>
                <a:latin typeface="+mn-lt"/>
                <a:ea typeface="+mn-ea"/>
                <a:cs typeface="+mn-cs"/>
              </a:rPr>
              <a:t> puede incluir la propiedad "</a:t>
            </a:r>
            <a:r>
              <a:rPr lang="es-ES" sz="1200" b="0" i="0" u="none" strike="noStrike" kern="1200" baseline="0" dirty="0" err="1" smtClean="0">
                <a:solidFill>
                  <a:schemeClr val="tx1"/>
                </a:solidFill>
                <a:latin typeface="+mn-lt"/>
                <a:ea typeface="+mn-ea"/>
                <a:cs typeface="+mn-cs"/>
              </a:rPr>
              <a:t>item</a:t>
            </a:r>
            <a:r>
              <a:rPr lang="es-ES" sz="1200" b="0" i="0" u="none" strike="noStrike" kern="1200" baseline="0" dirty="0" smtClean="0">
                <a:solidFill>
                  <a:schemeClr val="tx1"/>
                </a:solidFill>
                <a:latin typeface="+mn-lt"/>
                <a:ea typeface="+mn-ea"/>
                <a:cs typeface="+mn-cs"/>
              </a:rPr>
              <a:t>", que no es una propiedad del</a:t>
            </a:r>
          </a:p>
          <a:p>
            <a:r>
              <a:rPr lang="es-ES" sz="1200" b="0" i="0" u="none" strike="noStrike" kern="1200" baseline="0" dirty="0" smtClean="0">
                <a:solidFill>
                  <a:schemeClr val="tx1"/>
                </a:solidFill>
                <a:latin typeface="+mn-lt"/>
                <a:ea typeface="+mn-ea"/>
                <a:cs typeface="+mn-cs"/>
              </a:rPr>
              <a:t>propio componente.</a:t>
            </a:r>
          </a:p>
          <a:p>
            <a:r>
              <a:rPr lang="es-ES" sz="1200" b="0" i="0" u="none" strike="noStrike" kern="1200" baseline="0" dirty="0" smtClean="0">
                <a:solidFill>
                  <a:schemeClr val="tx1"/>
                </a:solidFill>
                <a:latin typeface="+mn-lt"/>
                <a:ea typeface="+mn-ea"/>
                <a:cs typeface="+mn-cs"/>
              </a:rPr>
              <a:t>Puedes enviar literales de cualquier tipo a los métodos del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computado.</a:t>
            </a:r>
          </a:p>
          <a:p>
            <a:r>
              <a:rPr lang="es-ES" sz="1200" b="0" i="0" u="none" strike="noStrike" kern="1200" baseline="0" dirty="0" smtClean="0">
                <a:solidFill>
                  <a:schemeClr val="tx1"/>
                </a:solidFill>
                <a:latin typeface="+mn-lt"/>
                <a:ea typeface="+mn-ea"/>
                <a:cs typeface="+mn-cs"/>
              </a:rPr>
              <a:t>Si un </a:t>
            </a:r>
            <a:r>
              <a:rPr lang="es-ES" sz="1200" b="0" i="0" u="none" strike="noStrike" kern="1200" baseline="0" dirty="0" err="1" smtClean="0">
                <a:solidFill>
                  <a:schemeClr val="tx1"/>
                </a:solidFill>
                <a:latin typeface="+mn-lt"/>
                <a:ea typeface="+mn-ea"/>
                <a:cs typeface="+mn-cs"/>
              </a:rPr>
              <a:t>computed</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no tiene ningún parámetro ocurrirá que la invocación al método se realizará</a:t>
            </a:r>
          </a:p>
          <a:p>
            <a:r>
              <a:rPr lang="es-ES" sz="1200" b="0" i="0" u="none" strike="noStrike" kern="1200" baseline="0" dirty="0" smtClean="0">
                <a:solidFill>
                  <a:schemeClr val="tx1"/>
                </a:solidFill>
                <a:latin typeface="+mn-lt"/>
                <a:ea typeface="+mn-ea"/>
                <a:cs typeface="+mn-cs"/>
              </a:rPr>
              <a:t>una única vez.</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80</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81</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82</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err="1" smtClean="0">
                <a:solidFill>
                  <a:schemeClr val="tx1"/>
                </a:solidFill>
                <a:latin typeface="+mn-lt"/>
                <a:ea typeface="+mn-ea"/>
                <a:cs typeface="+mn-cs"/>
              </a:rPr>
              <a:t>Notify</a:t>
            </a:r>
            <a:r>
              <a:rPr lang="es-ES" sz="1200" b="0" i="0" u="none" strike="noStrike" kern="1200" baseline="0" dirty="0" smtClean="0">
                <a:solidFill>
                  <a:schemeClr val="tx1"/>
                </a:solidFill>
                <a:latin typeface="+mn-lt"/>
                <a:ea typeface="+mn-ea"/>
                <a:cs typeface="+mn-cs"/>
              </a:rPr>
              <a:t> es una configuración que no se debería usar, a no ser que realmente sea necesaria. Si el componente</a:t>
            </a:r>
          </a:p>
          <a:p>
            <a:r>
              <a:rPr lang="es-ES" sz="1200" b="0" i="0" u="none" strike="noStrike" kern="1200" baseline="0" dirty="0" smtClean="0">
                <a:solidFill>
                  <a:schemeClr val="tx1"/>
                </a:solidFill>
                <a:latin typeface="+mn-lt"/>
                <a:ea typeface="+mn-ea"/>
                <a:cs typeface="+mn-cs"/>
              </a:rPr>
              <a:t>no necesita comunicarse con el padre para nada, entonces no tiene sentido usar </a:t>
            </a:r>
            <a:r>
              <a:rPr lang="es-ES" sz="1200" b="0" i="0" u="none" strike="noStrike" kern="1200" baseline="0" dirty="0" err="1" smtClean="0">
                <a:solidFill>
                  <a:schemeClr val="tx1"/>
                </a:solidFill>
                <a:latin typeface="+mn-lt"/>
                <a:ea typeface="+mn-ea"/>
                <a:cs typeface="+mn-cs"/>
              </a:rPr>
              <a:t>notify</a:t>
            </a:r>
            <a:r>
              <a:rPr lang="es-ES" sz="1200" b="0" i="0" u="none" strike="noStrike" kern="1200" baseline="0" dirty="0" smtClean="0">
                <a:solidFill>
                  <a:schemeClr val="tx1"/>
                </a:solidFill>
                <a:latin typeface="+mn-lt"/>
                <a:ea typeface="+mn-ea"/>
                <a:cs typeface="+mn-cs"/>
              </a:rPr>
              <a:t>. Solo en el caso que</a:t>
            </a:r>
          </a:p>
          <a:p>
            <a:r>
              <a:rPr lang="es-ES" sz="1200" b="0" i="0" u="none" strike="noStrike" kern="1200" baseline="0" dirty="0" smtClean="0">
                <a:solidFill>
                  <a:schemeClr val="tx1"/>
                </a:solidFill>
                <a:latin typeface="+mn-lt"/>
                <a:ea typeface="+mn-ea"/>
                <a:cs typeface="+mn-cs"/>
              </a:rPr>
              <a:t>el componente necesite comunicar con el padre tendría sentido configurar alguna de sus propiedades con</a:t>
            </a:r>
          </a:p>
          <a:p>
            <a:r>
              <a:rPr lang="es-ES" sz="1200" b="0" i="0" u="none" strike="noStrike" kern="1200" baseline="0" dirty="0" err="1" smtClean="0">
                <a:solidFill>
                  <a:schemeClr val="tx1"/>
                </a:solidFill>
                <a:latin typeface="+mn-lt"/>
                <a:ea typeface="+mn-ea"/>
                <a:cs typeface="+mn-cs"/>
              </a:rPr>
              <a:t>notify</a:t>
            </a:r>
            <a:r>
              <a:rPr lang="es-ES" sz="1200" b="0" i="0" u="none" strike="noStrike" kern="1200" baseline="0" dirty="0" smtClean="0">
                <a:solidFill>
                  <a:schemeClr val="tx1"/>
                </a:solidFill>
                <a:latin typeface="+mn-lt"/>
                <a:ea typeface="+mn-ea"/>
                <a:cs typeface="+mn-cs"/>
              </a:rPr>
              <a:t> a true, pero aún así no siempre será la mejor opción.</a:t>
            </a:r>
          </a:p>
          <a:p>
            <a:endParaRPr lang="es-ES" sz="1200" b="1" i="0" u="none" strike="noStrike" kern="1200" baseline="0" dirty="0" smtClean="0">
              <a:solidFill>
                <a:schemeClr val="tx1"/>
              </a:solidFill>
              <a:latin typeface="+mn-lt"/>
              <a:ea typeface="+mn-ea"/>
              <a:cs typeface="+mn-cs"/>
            </a:endParaRPr>
          </a:p>
          <a:p>
            <a:r>
              <a:rPr lang="es-ES" sz="1200" b="1" i="0" u="none" strike="noStrike" kern="1200" baseline="0" dirty="0" smtClean="0">
                <a:solidFill>
                  <a:schemeClr val="tx1"/>
                </a:solidFill>
                <a:latin typeface="+mn-lt"/>
                <a:ea typeface="+mn-ea"/>
                <a:cs typeface="+mn-cs"/>
              </a:rPr>
              <a:t>Variantes dependiendo del tipo de componente:</a:t>
            </a:r>
          </a:p>
          <a:p>
            <a:r>
              <a:rPr lang="es-ES" sz="1200" b="0" i="0" u="none" strike="noStrike" kern="1200" baseline="0" dirty="0" smtClean="0">
                <a:solidFill>
                  <a:schemeClr val="tx1"/>
                </a:solidFill>
                <a:latin typeface="+mn-lt"/>
                <a:ea typeface="+mn-ea"/>
                <a:cs typeface="+mn-cs"/>
              </a:rPr>
              <a:t>El campo INPUT, por ser nativo del HTML y no un componente de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tiene un tratamiento</a:t>
            </a:r>
          </a:p>
          <a:p>
            <a:r>
              <a:rPr lang="es-ES" sz="1200" b="0" i="0" u="none" strike="noStrike" kern="1200" baseline="0" dirty="0" smtClean="0">
                <a:solidFill>
                  <a:schemeClr val="tx1"/>
                </a:solidFill>
                <a:latin typeface="+mn-lt"/>
                <a:ea typeface="+mn-ea"/>
                <a:cs typeface="+mn-cs"/>
              </a:rPr>
              <a:t>del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que es un poco más avanzado y que veremos en otro artículo.</a:t>
            </a:r>
          </a:p>
          <a:p>
            <a:endParaRPr lang="es-ES" sz="1200" b="0" i="0" u="none" strike="noStrike" kern="1200" baseline="0" dirty="0" smtClean="0">
              <a:solidFill>
                <a:schemeClr val="tx1"/>
              </a:solidFill>
              <a:latin typeface="+mn-lt"/>
              <a:ea typeface="+mn-ea"/>
              <a:cs typeface="+mn-cs"/>
            </a:endParaRPr>
          </a:p>
          <a:p>
            <a:r>
              <a:rPr lang="es-ES" sz="1200" b="0" i="0" u="none" strike="noStrike" kern="1200" baseline="0" dirty="0" smtClean="0">
                <a:solidFill>
                  <a:schemeClr val="tx1"/>
                </a:solidFill>
                <a:latin typeface="+mn-lt"/>
                <a:ea typeface="+mn-ea"/>
                <a:cs typeface="+mn-cs"/>
              </a:rPr>
              <a:t>El campo </a:t>
            </a:r>
            <a:r>
              <a:rPr lang="es-ES" sz="1200" b="0" i="0" u="none" strike="noStrike" kern="1200" baseline="0" dirty="0" err="1" smtClean="0">
                <a:solidFill>
                  <a:schemeClr val="tx1"/>
                </a:solidFill>
                <a:latin typeface="+mn-lt"/>
                <a:ea typeface="+mn-ea"/>
                <a:cs typeface="+mn-cs"/>
              </a:rPr>
              <a:t>paper</a:t>
            </a:r>
            <a:r>
              <a:rPr lang="es-ES" sz="1200" b="0" i="0" u="none" strike="noStrike" kern="1200" baseline="0" dirty="0" smtClean="0">
                <a:solidFill>
                  <a:schemeClr val="tx1"/>
                </a:solidFill>
                <a:latin typeface="+mn-lt"/>
                <a:ea typeface="+mn-ea"/>
                <a:cs typeface="+mn-cs"/>
              </a:rPr>
              <a:t>-input está ya construido y forma parte del catálogo de componentes del equipo de</a:t>
            </a:r>
          </a:p>
          <a:p>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En este caso el componente ya está construido para que permita un doble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Lo</a:t>
            </a:r>
          </a:p>
          <a:p>
            <a:r>
              <a:rPr lang="es-ES" sz="1200" b="0" i="0" u="none" strike="noStrike" kern="1200" baseline="0" dirty="0" smtClean="0">
                <a:solidFill>
                  <a:schemeClr val="tx1"/>
                </a:solidFill>
                <a:latin typeface="+mn-lt"/>
                <a:ea typeface="+mn-ea"/>
                <a:cs typeface="+mn-cs"/>
              </a:rPr>
              <a:t>puedes comprobar si te fijas en la documentación del elemento, en su propiedad "</a:t>
            </a:r>
            <a:r>
              <a:rPr lang="es-ES" sz="1200" b="0" i="0" u="none" strike="noStrike" kern="1200" baseline="0" dirty="0" err="1" smtClean="0">
                <a:solidFill>
                  <a:schemeClr val="tx1"/>
                </a:solidFill>
                <a:latin typeface="+mn-lt"/>
                <a:ea typeface="+mn-ea"/>
                <a:cs typeface="+mn-cs"/>
              </a:rPr>
              <a:t>value</a:t>
            </a:r>
            <a:r>
              <a:rPr lang="es-ES" sz="1200" b="0" i="0" u="none" strike="noStrike" kern="1200" baseline="0" dirty="0" smtClean="0">
                <a:solidFill>
                  <a:schemeClr val="tx1"/>
                </a:solidFill>
                <a:latin typeface="+mn-lt"/>
                <a:ea typeface="+mn-ea"/>
                <a:cs typeface="+mn-cs"/>
              </a:rPr>
              <a:t>", donde</a:t>
            </a:r>
          </a:p>
          <a:p>
            <a:r>
              <a:rPr lang="es-ES" sz="1200" b="0" i="0" u="none" strike="noStrike" kern="1200" baseline="0" dirty="0" smtClean="0">
                <a:solidFill>
                  <a:schemeClr val="tx1"/>
                </a:solidFill>
                <a:latin typeface="+mn-lt"/>
                <a:ea typeface="+mn-ea"/>
                <a:cs typeface="+mn-cs"/>
              </a:rPr>
              <a:t>indican que es una propiedad configurada con </a:t>
            </a:r>
            <a:r>
              <a:rPr lang="es-ES" sz="1200" b="0" i="0" u="none" strike="noStrike" kern="1200" baseline="0" dirty="0" err="1" smtClean="0">
                <a:solidFill>
                  <a:schemeClr val="tx1"/>
                </a:solidFill>
                <a:latin typeface="+mn-lt"/>
                <a:ea typeface="+mn-ea"/>
                <a:cs typeface="+mn-cs"/>
              </a:rPr>
              <a:t>notify</a:t>
            </a:r>
            <a:r>
              <a:rPr lang="es-ES" sz="1200" b="0" i="0" u="none" strike="noStrike" kern="1200" baseline="0" dirty="0" smtClean="0">
                <a:solidFill>
                  <a:schemeClr val="tx1"/>
                </a:solidFill>
                <a:latin typeface="+mn-lt"/>
                <a:ea typeface="+mn-ea"/>
                <a:cs typeface="+mn-cs"/>
              </a:rPr>
              <a:t>.</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83</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Solo a título informativo, los elementos de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hacen internamente y de manera transparente para el</a:t>
            </a:r>
          </a:p>
          <a:p>
            <a:r>
              <a:rPr lang="es-ES" sz="1200" b="0" i="0" u="none" strike="noStrike" kern="1200" baseline="0" dirty="0" smtClean="0">
                <a:solidFill>
                  <a:schemeClr val="tx1"/>
                </a:solidFill>
                <a:latin typeface="+mn-lt"/>
                <a:ea typeface="+mn-ea"/>
                <a:cs typeface="+mn-cs"/>
              </a:rPr>
              <a:t>desarrollador una notificación de eventos de cambio, que usa la librería para controlar cuándo las</a:t>
            </a:r>
          </a:p>
          <a:p>
            <a:r>
              <a:rPr lang="es-ES" sz="1200" b="0" i="0" u="none" strike="noStrike" kern="1200" baseline="0" dirty="0" smtClean="0">
                <a:solidFill>
                  <a:schemeClr val="tx1"/>
                </a:solidFill>
                <a:latin typeface="+mn-lt"/>
                <a:ea typeface="+mn-ea"/>
                <a:cs typeface="+mn-cs"/>
              </a:rPr>
              <a:t>propiedades se alteran y poner en marcha los mecanismos de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a dos direcciones.</a:t>
            </a:r>
          </a:p>
          <a:p>
            <a:r>
              <a:rPr lang="es-ES" sz="1200" b="0" i="0" u="none" strike="noStrike" kern="1200" baseline="0" dirty="0" smtClean="0">
                <a:solidFill>
                  <a:schemeClr val="tx1"/>
                </a:solidFill>
                <a:latin typeface="+mn-lt"/>
                <a:ea typeface="+mn-ea"/>
                <a:cs typeface="+mn-cs"/>
              </a:rPr>
              <a:t>Sin embargo, elementos nativos del HTML y Non-</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en general no realizan esas notificaciones de</a:t>
            </a:r>
          </a:p>
          <a:p>
            <a:r>
              <a:rPr lang="es-ES" sz="1200" b="0" i="0" u="none" strike="noStrike" kern="1200" baseline="0" dirty="0" smtClean="0">
                <a:solidFill>
                  <a:schemeClr val="tx1"/>
                </a:solidFill>
                <a:latin typeface="+mn-lt"/>
                <a:ea typeface="+mn-ea"/>
                <a:cs typeface="+mn-cs"/>
              </a:rPr>
              <a:t>cambios, por lo que es imposible que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realice los mecanismos de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a dos direcciones.</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84</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85</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86</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87</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88</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89</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Nota: Ojo con el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dos direcciones, puesto que es un poco más pesado para la aplicación, en</a:t>
            </a:r>
          </a:p>
          <a:p>
            <a:r>
              <a:rPr lang="es-ES" sz="1200" b="0" i="0" u="none" strike="noStrike" kern="1200" baseline="0" dirty="0" smtClean="0">
                <a:solidFill>
                  <a:schemeClr val="tx1"/>
                </a:solidFill>
                <a:latin typeface="+mn-lt"/>
                <a:ea typeface="+mn-ea"/>
                <a:cs typeface="+mn-cs"/>
              </a:rPr>
              <a:t>términos de tiempo de procesamiento. Por eso en muchas ocasiones es preferible usar </a:t>
            </a:r>
            <a:r>
              <a:rPr lang="es-ES" sz="1200" b="0" i="0" u="none" strike="noStrike" kern="1200" baseline="0" dirty="0" err="1" smtClean="0">
                <a:solidFill>
                  <a:schemeClr val="tx1"/>
                </a:solidFill>
                <a:latin typeface="+mn-lt"/>
                <a:ea typeface="+mn-ea"/>
                <a:cs typeface="+mn-cs"/>
              </a:rPr>
              <a:t>bindeo</a:t>
            </a:r>
            <a:r>
              <a:rPr lang="es-ES" sz="1200" b="0" i="0" u="none" strike="noStrike" kern="1200" baseline="0" dirty="0" smtClean="0">
                <a:solidFill>
                  <a:schemeClr val="tx1"/>
                </a:solidFill>
                <a:latin typeface="+mn-lt"/>
                <a:ea typeface="+mn-ea"/>
                <a:cs typeface="+mn-cs"/>
              </a:rPr>
              <a:t> de una</a:t>
            </a:r>
          </a:p>
          <a:p>
            <a:r>
              <a:rPr lang="es-ES" sz="1200" b="0" i="0" u="none" strike="noStrike" kern="1200" baseline="0" dirty="0" smtClean="0">
                <a:solidFill>
                  <a:schemeClr val="tx1"/>
                </a:solidFill>
                <a:latin typeface="+mn-lt"/>
                <a:ea typeface="+mn-ea"/>
                <a:cs typeface="+mn-cs"/>
              </a:rPr>
              <a:t>sola dirección y usar mecanismos como los eventos para producir el aviso a los padres cuando los hijos</a:t>
            </a:r>
          </a:p>
          <a:p>
            <a:r>
              <a:rPr lang="es-ES" sz="1200" b="0" i="0" u="none" strike="noStrike" kern="1200" baseline="0" dirty="0" smtClean="0">
                <a:solidFill>
                  <a:schemeClr val="tx1"/>
                </a:solidFill>
                <a:latin typeface="+mn-lt"/>
                <a:ea typeface="+mn-ea"/>
                <a:cs typeface="+mn-cs"/>
              </a:rPr>
              <a:t>desean cambiar el valor de las propiedades. Hablaremos de esto más adelante en otros ejemplos cuando</a:t>
            </a:r>
          </a:p>
          <a:p>
            <a:r>
              <a:rPr lang="es-ES" sz="1200" b="0" i="0" u="none" strike="noStrike" kern="1200" baseline="0" dirty="0" smtClean="0">
                <a:solidFill>
                  <a:schemeClr val="tx1"/>
                </a:solidFill>
                <a:latin typeface="+mn-lt"/>
                <a:ea typeface="+mn-ea"/>
                <a:cs typeface="+mn-cs"/>
              </a:rPr>
              <a:t>hayamos abordado el tema de los eventos en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a:t>
            </a:r>
          </a:p>
          <a:p>
            <a:endParaRPr lang="es-ES" sz="1200" b="0" i="0" u="none" strike="noStrike" kern="1200" baseline="0" dirty="0" smtClean="0">
              <a:solidFill>
                <a:schemeClr val="tx1"/>
              </a:solidFill>
              <a:latin typeface="+mn-lt"/>
              <a:ea typeface="+mn-ea"/>
              <a:cs typeface="+mn-cs"/>
            </a:endParaRPr>
          </a:p>
          <a:p>
            <a:r>
              <a:rPr lang="es-ES" sz="1200" b="0" i="0" u="none" strike="noStrike" kern="1200" baseline="0" dirty="0" smtClean="0">
                <a:solidFill>
                  <a:schemeClr val="tx1"/>
                </a:solidFill>
                <a:latin typeface="+mn-lt"/>
                <a:ea typeface="+mn-ea"/>
                <a:cs typeface="+mn-cs"/>
              </a:rPr>
              <a:t>Nota: Para que quede claro, con respecto al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dos direcciones, debes entender que por mucho</a:t>
            </a:r>
          </a:p>
          <a:p>
            <a:r>
              <a:rPr lang="es-ES" sz="1200" b="0" i="0" u="none" strike="noStrike" kern="1200" baseline="0" dirty="0" smtClean="0">
                <a:solidFill>
                  <a:schemeClr val="tx1"/>
                </a:solidFill>
                <a:latin typeface="+mn-lt"/>
                <a:ea typeface="+mn-ea"/>
                <a:cs typeface="+mn-cs"/>
              </a:rPr>
              <a:t>que tú lo uses al declarar el </a:t>
            </a:r>
            <a:r>
              <a:rPr lang="es-ES" sz="1200" b="0" i="0" u="none" strike="noStrike" kern="1200" baseline="0" dirty="0" err="1" smtClean="0">
                <a:solidFill>
                  <a:schemeClr val="tx1"/>
                </a:solidFill>
                <a:latin typeface="+mn-lt"/>
                <a:ea typeface="+mn-ea"/>
                <a:cs typeface="+mn-cs"/>
              </a:rPr>
              <a:t>bindeo</a:t>
            </a:r>
            <a:r>
              <a:rPr lang="es-ES" sz="1200" b="0" i="0" u="none" strike="noStrike" kern="1200" baseline="0" dirty="0" smtClean="0">
                <a:solidFill>
                  <a:schemeClr val="tx1"/>
                </a:solidFill>
                <a:latin typeface="+mn-lt"/>
                <a:ea typeface="+mn-ea"/>
                <a:cs typeface="+mn-cs"/>
              </a:rPr>
              <a:t> en el </a:t>
            </a:r>
            <a:r>
              <a:rPr lang="es-ES" sz="1200" b="0" i="0" u="none" strike="noStrike" kern="1200" baseline="0" dirty="0" err="1" smtClean="0">
                <a:solidFill>
                  <a:schemeClr val="tx1"/>
                </a:solidFill>
                <a:latin typeface="+mn-lt"/>
                <a:ea typeface="+mn-ea"/>
                <a:cs typeface="+mn-cs"/>
              </a:rPr>
              <a:t>template</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no siempre lo implementará y te hará un</a:t>
            </a:r>
          </a:p>
          <a:p>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una única dirección. Por ejemplo, también te ocurrirá cuando </a:t>
            </a:r>
            <a:r>
              <a:rPr lang="es-ES" sz="1200" b="0" i="0" u="none" strike="noStrike" kern="1200" baseline="0" dirty="0" err="1" smtClean="0">
                <a:solidFill>
                  <a:schemeClr val="tx1"/>
                </a:solidFill>
                <a:latin typeface="+mn-lt"/>
                <a:ea typeface="+mn-ea"/>
                <a:cs typeface="+mn-cs"/>
              </a:rPr>
              <a:t>bindeas</a:t>
            </a:r>
            <a:r>
              <a:rPr lang="es-ES" sz="1200" b="0" i="0" u="none" strike="noStrike" kern="1200" baseline="0" dirty="0" smtClean="0">
                <a:solidFill>
                  <a:schemeClr val="tx1"/>
                </a:solidFill>
                <a:latin typeface="+mn-lt"/>
                <a:ea typeface="+mn-ea"/>
                <a:cs typeface="+mn-cs"/>
              </a:rPr>
              <a:t> al contenido de una</a:t>
            </a:r>
          </a:p>
          <a:p>
            <a:r>
              <a:rPr lang="es-ES" sz="1200" b="0" i="0" u="none" strike="noStrike" kern="1200" baseline="0" dirty="0" smtClean="0">
                <a:solidFill>
                  <a:schemeClr val="tx1"/>
                </a:solidFill>
                <a:latin typeface="+mn-lt"/>
                <a:ea typeface="+mn-ea"/>
                <a:cs typeface="+mn-cs"/>
              </a:rPr>
              <a:t>etiqueta HTML párrafo (etiqueta P). Por mucho que uses dobles llaves no servirá para nada, ya que ese</a:t>
            </a:r>
          </a:p>
          <a:p>
            <a:r>
              <a:rPr lang="es-ES" sz="1200" b="0" i="0" u="none" strike="noStrike" kern="1200" baseline="0" dirty="0" smtClean="0">
                <a:solidFill>
                  <a:schemeClr val="tx1"/>
                </a:solidFill>
                <a:latin typeface="+mn-lt"/>
                <a:ea typeface="+mn-ea"/>
                <a:cs typeface="+mn-cs"/>
              </a:rPr>
              <a:t>párrafo no está preparado para avisar al padre hipotéticos cambios.</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90</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Nota: Ojo con el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dos direcciones, puesto que es un poco más pesado para la aplicación, en</a:t>
            </a:r>
          </a:p>
          <a:p>
            <a:r>
              <a:rPr lang="es-ES" sz="1200" b="0" i="0" u="none" strike="noStrike" kern="1200" baseline="0" dirty="0" smtClean="0">
                <a:solidFill>
                  <a:schemeClr val="tx1"/>
                </a:solidFill>
                <a:latin typeface="+mn-lt"/>
                <a:ea typeface="+mn-ea"/>
                <a:cs typeface="+mn-cs"/>
              </a:rPr>
              <a:t>términos de tiempo de procesamiento. Por eso en muchas ocasiones es preferible usar </a:t>
            </a:r>
            <a:r>
              <a:rPr lang="es-ES" sz="1200" b="0" i="0" u="none" strike="noStrike" kern="1200" baseline="0" dirty="0" err="1" smtClean="0">
                <a:solidFill>
                  <a:schemeClr val="tx1"/>
                </a:solidFill>
                <a:latin typeface="+mn-lt"/>
                <a:ea typeface="+mn-ea"/>
                <a:cs typeface="+mn-cs"/>
              </a:rPr>
              <a:t>bindeo</a:t>
            </a:r>
            <a:r>
              <a:rPr lang="es-ES" sz="1200" b="0" i="0" u="none" strike="noStrike" kern="1200" baseline="0" dirty="0" smtClean="0">
                <a:solidFill>
                  <a:schemeClr val="tx1"/>
                </a:solidFill>
                <a:latin typeface="+mn-lt"/>
                <a:ea typeface="+mn-ea"/>
                <a:cs typeface="+mn-cs"/>
              </a:rPr>
              <a:t> de una</a:t>
            </a:r>
          </a:p>
          <a:p>
            <a:r>
              <a:rPr lang="es-ES" sz="1200" b="0" i="0" u="none" strike="noStrike" kern="1200" baseline="0" dirty="0" smtClean="0">
                <a:solidFill>
                  <a:schemeClr val="tx1"/>
                </a:solidFill>
                <a:latin typeface="+mn-lt"/>
                <a:ea typeface="+mn-ea"/>
                <a:cs typeface="+mn-cs"/>
              </a:rPr>
              <a:t>sola dirección y usar mecanismos como los eventos para producir el aviso a los padres cuando los hijos</a:t>
            </a:r>
          </a:p>
          <a:p>
            <a:r>
              <a:rPr lang="es-ES" sz="1200" b="0" i="0" u="none" strike="noStrike" kern="1200" baseline="0" dirty="0" smtClean="0">
                <a:solidFill>
                  <a:schemeClr val="tx1"/>
                </a:solidFill>
                <a:latin typeface="+mn-lt"/>
                <a:ea typeface="+mn-ea"/>
                <a:cs typeface="+mn-cs"/>
              </a:rPr>
              <a:t>desean cambiar el valor de las propiedades. Hablaremos de esto más adelante en otros ejemplos cuando</a:t>
            </a:r>
          </a:p>
          <a:p>
            <a:r>
              <a:rPr lang="es-ES" sz="1200" b="0" i="0" u="none" strike="noStrike" kern="1200" baseline="0" dirty="0" smtClean="0">
                <a:solidFill>
                  <a:schemeClr val="tx1"/>
                </a:solidFill>
                <a:latin typeface="+mn-lt"/>
                <a:ea typeface="+mn-ea"/>
                <a:cs typeface="+mn-cs"/>
              </a:rPr>
              <a:t>hayamos abordado el tema de los eventos en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a:t>
            </a:r>
          </a:p>
          <a:p>
            <a:endParaRPr lang="es-ES" sz="1200" b="0" i="0" u="none" strike="noStrike" kern="1200" baseline="0" dirty="0" smtClean="0">
              <a:solidFill>
                <a:schemeClr val="tx1"/>
              </a:solidFill>
              <a:latin typeface="+mn-lt"/>
              <a:ea typeface="+mn-ea"/>
              <a:cs typeface="+mn-cs"/>
            </a:endParaRPr>
          </a:p>
          <a:p>
            <a:r>
              <a:rPr lang="es-ES" sz="1200" b="0" i="0" u="none" strike="noStrike" kern="1200" baseline="0" dirty="0" smtClean="0">
                <a:solidFill>
                  <a:schemeClr val="tx1"/>
                </a:solidFill>
                <a:latin typeface="+mn-lt"/>
                <a:ea typeface="+mn-ea"/>
                <a:cs typeface="+mn-cs"/>
              </a:rPr>
              <a:t>Nota: Para que quede claro, con respecto al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dos direcciones, debes entender que por mucho</a:t>
            </a:r>
          </a:p>
          <a:p>
            <a:r>
              <a:rPr lang="es-ES" sz="1200" b="0" i="0" u="none" strike="noStrike" kern="1200" baseline="0" dirty="0" smtClean="0">
                <a:solidFill>
                  <a:schemeClr val="tx1"/>
                </a:solidFill>
                <a:latin typeface="+mn-lt"/>
                <a:ea typeface="+mn-ea"/>
                <a:cs typeface="+mn-cs"/>
              </a:rPr>
              <a:t>que tú lo uses al declarar el </a:t>
            </a:r>
            <a:r>
              <a:rPr lang="es-ES" sz="1200" b="0" i="0" u="none" strike="noStrike" kern="1200" baseline="0" dirty="0" err="1" smtClean="0">
                <a:solidFill>
                  <a:schemeClr val="tx1"/>
                </a:solidFill>
                <a:latin typeface="+mn-lt"/>
                <a:ea typeface="+mn-ea"/>
                <a:cs typeface="+mn-cs"/>
              </a:rPr>
              <a:t>bindeo</a:t>
            </a:r>
            <a:r>
              <a:rPr lang="es-ES" sz="1200" b="0" i="0" u="none" strike="noStrike" kern="1200" baseline="0" dirty="0" smtClean="0">
                <a:solidFill>
                  <a:schemeClr val="tx1"/>
                </a:solidFill>
                <a:latin typeface="+mn-lt"/>
                <a:ea typeface="+mn-ea"/>
                <a:cs typeface="+mn-cs"/>
              </a:rPr>
              <a:t> en el </a:t>
            </a:r>
            <a:r>
              <a:rPr lang="es-ES" sz="1200" b="0" i="0" u="none" strike="noStrike" kern="1200" baseline="0" dirty="0" err="1" smtClean="0">
                <a:solidFill>
                  <a:schemeClr val="tx1"/>
                </a:solidFill>
                <a:latin typeface="+mn-lt"/>
                <a:ea typeface="+mn-ea"/>
                <a:cs typeface="+mn-cs"/>
              </a:rPr>
              <a:t>template</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no siempre lo implementará y te hará un</a:t>
            </a:r>
          </a:p>
          <a:p>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una única dirección. Por ejemplo, también te ocurrirá cuando </a:t>
            </a:r>
            <a:r>
              <a:rPr lang="es-ES" sz="1200" b="0" i="0" u="none" strike="noStrike" kern="1200" baseline="0" dirty="0" err="1" smtClean="0">
                <a:solidFill>
                  <a:schemeClr val="tx1"/>
                </a:solidFill>
                <a:latin typeface="+mn-lt"/>
                <a:ea typeface="+mn-ea"/>
                <a:cs typeface="+mn-cs"/>
              </a:rPr>
              <a:t>bindeas</a:t>
            </a:r>
            <a:r>
              <a:rPr lang="es-ES" sz="1200" b="0" i="0" u="none" strike="noStrike" kern="1200" baseline="0" dirty="0" smtClean="0">
                <a:solidFill>
                  <a:schemeClr val="tx1"/>
                </a:solidFill>
                <a:latin typeface="+mn-lt"/>
                <a:ea typeface="+mn-ea"/>
                <a:cs typeface="+mn-cs"/>
              </a:rPr>
              <a:t> al contenido de una</a:t>
            </a:r>
          </a:p>
          <a:p>
            <a:r>
              <a:rPr lang="es-ES" sz="1200" b="0" i="0" u="none" strike="noStrike" kern="1200" baseline="0" dirty="0" smtClean="0">
                <a:solidFill>
                  <a:schemeClr val="tx1"/>
                </a:solidFill>
                <a:latin typeface="+mn-lt"/>
                <a:ea typeface="+mn-ea"/>
                <a:cs typeface="+mn-cs"/>
              </a:rPr>
              <a:t>etiqueta HTML párrafo (etiqueta P). Por mucho que uses dobles llaves no servirá para nada, ya que ese</a:t>
            </a:r>
          </a:p>
          <a:p>
            <a:r>
              <a:rPr lang="es-ES" sz="1200" b="0" i="0" u="none" strike="noStrike" kern="1200" baseline="0" dirty="0" smtClean="0">
                <a:solidFill>
                  <a:schemeClr val="tx1"/>
                </a:solidFill>
                <a:latin typeface="+mn-lt"/>
                <a:ea typeface="+mn-ea"/>
                <a:cs typeface="+mn-cs"/>
              </a:rPr>
              <a:t>párrafo no está preparado para avisar al padre hipotéticos cambios.</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91</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b="0" i="0" u="none" strike="noStrike" kern="1200" baseline="0" dirty="0" smtClean="0">
                <a:solidFill>
                  <a:schemeClr val="tx1"/>
                </a:solidFill>
                <a:latin typeface="+mn-lt"/>
                <a:ea typeface="+mn-ea"/>
                <a:cs typeface="+mn-cs"/>
              </a:rPr>
              <a:t>Nota: Ojo con el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dos direcciones, puesto que es un poco más pesado para la aplicación, en</a:t>
            </a:r>
          </a:p>
          <a:p>
            <a:r>
              <a:rPr lang="es-ES" sz="1200" b="0" i="0" u="none" strike="noStrike" kern="1200" baseline="0" dirty="0" smtClean="0">
                <a:solidFill>
                  <a:schemeClr val="tx1"/>
                </a:solidFill>
                <a:latin typeface="+mn-lt"/>
                <a:ea typeface="+mn-ea"/>
                <a:cs typeface="+mn-cs"/>
              </a:rPr>
              <a:t>términos de tiempo de procesamiento. Por eso en muchas ocasiones es preferible usar </a:t>
            </a:r>
            <a:r>
              <a:rPr lang="es-ES" sz="1200" b="0" i="0" u="none" strike="noStrike" kern="1200" baseline="0" dirty="0" err="1" smtClean="0">
                <a:solidFill>
                  <a:schemeClr val="tx1"/>
                </a:solidFill>
                <a:latin typeface="+mn-lt"/>
                <a:ea typeface="+mn-ea"/>
                <a:cs typeface="+mn-cs"/>
              </a:rPr>
              <a:t>bindeo</a:t>
            </a:r>
            <a:r>
              <a:rPr lang="es-ES" sz="1200" b="0" i="0" u="none" strike="noStrike" kern="1200" baseline="0" dirty="0" smtClean="0">
                <a:solidFill>
                  <a:schemeClr val="tx1"/>
                </a:solidFill>
                <a:latin typeface="+mn-lt"/>
                <a:ea typeface="+mn-ea"/>
                <a:cs typeface="+mn-cs"/>
              </a:rPr>
              <a:t> de una</a:t>
            </a:r>
          </a:p>
          <a:p>
            <a:r>
              <a:rPr lang="es-ES" sz="1200" b="0" i="0" u="none" strike="noStrike" kern="1200" baseline="0" dirty="0" smtClean="0">
                <a:solidFill>
                  <a:schemeClr val="tx1"/>
                </a:solidFill>
                <a:latin typeface="+mn-lt"/>
                <a:ea typeface="+mn-ea"/>
                <a:cs typeface="+mn-cs"/>
              </a:rPr>
              <a:t>sola dirección y usar mecanismos como los eventos para producir el aviso a los padres cuando los hijos</a:t>
            </a:r>
          </a:p>
          <a:p>
            <a:r>
              <a:rPr lang="es-ES" sz="1200" b="0" i="0" u="none" strike="noStrike" kern="1200" baseline="0" dirty="0" smtClean="0">
                <a:solidFill>
                  <a:schemeClr val="tx1"/>
                </a:solidFill>
                <a:latin typeface="+mn-lt"/>
                <a:ea typeface="+mn-ea"/>
                <a:cs typeface="+mn-cs"/>
              </a:rPr>
              <a:t>desean cambiar el valor de las propiedades. Hablaremos de esto más adelante en otros ejemplos cuando</a:t>
            </a:r>
          </a:p>
          <a:p>
            <a:r>
              <a:rPr lang="es-ES" sz="1200" b="0" i="0" u="none" strike="noStrike" kern="1200" baseline="0" dirty="0" smtClean="0">
                <a:solidFill>
                  <a:schemeClr val="tx1"/>
                </a:solidFill>
                <a:latin typeface="+mn-lt"/>
                <a:ea typeface="+mn-ea"/>
                <a:cs typeface="+mn-cs"/>
              </a:rPr>
              <a:t>hayamos abordado el tema de los eventos en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a:t>
            </a:r>
          </a:p>
          <a:p>
            <a:endParaRPr lang="es-ES" sz="1200" b="0" i="0" u="none" strike="noStrike" kern="1200" baseline="0" dirty="0" smtClean="0">
              <a:solidFill>
                <a:schemeClr val="tx1"/>
              </a:solidFill>
              <a:latin typeface="+mn-lt"/>
              <a:ea typeface="+mn-ea"/>
              <a:cs typeface="+mn-cs"/>
            </a:endParaRPr>
          </a:p>
          <a:p>
            <a:r>
              <a:rPr lang="es-ES" sz="1200" b="0" i="0" u="none" strike="noStrike" kern="1200" baseline="0" dirty="0" smtClean="0">
                <a:solidFill>
                  <a:schemeClr val="tx1"/>
                </a:solidFill>
                <a:latin typeface="+mn-lt"/>
                <a:ea typeface="+mn-ea"/>
                <a:cs typeface="+mn-cs"/>
              </a:rPr>
              <a:t>Nota: Para que quede claro, con respecto al </a:t>
            </a:r>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dos direcciones, debes entender que por mucho</a:t>
            </a:r>
          </a:p>
          <a:p>
            <a:r>
              <a:rPr lang="es-ES" sz="1200" b="0" i="0" u="none" strike="noStrike" kern="1200" baseline="0" dirty="0" smtClean="0">
                <a:solidFill>
                  <a:schemeClr val="tx1"/>
                </a:solidFill>
                <a:latin typeface="+mn-lt"/>
                <a:ea typeface="+mn-ea"/>
                <a:cs typeface="+mn-cs"/>
              </a:rPr>
              <a:t>que tú lo uses al declarar el </a:t>
            </a:r>
            <a:r>
              <a:rPr lang="es-ES" sz="1200" b="0" i="0" u="none" strike="noStrike" kern="1200" baseline="0" dirty="0" err="1" smtClean="0">
                <a:solidFill>
                  <a:schemeClr val="tx1"/>
                </a:solidFill>
                <a:latin typeface="+mn-lt"/>
                <a:ea typeface="+mn-ea"/>
                <a:cs typeface="+mn-cs"/>
              </a:rPr>
              <a:t>bindeo</a:t>
            </a:r>
            <a:r>
              <a:rPr lang="es-ES" sz="1200" b="0" i="0" u="none" strike="noStrike" kern="1200" baseline="0" dirty="0" smtClean="0">
                <a:solidFill>
                  <a:schemeClr val="tx1"/>
                </a:solidFill>
                <a:latin typeface="+mn-lt"/>
                <a:ea typeface="+mn-ea"/>
                <a:cs typeface="+mn-cs"/>
              </a:rPr>
              <a:t> en el </a:t>
            </a:r>
            <a:r>
              <a:rPr lang="es-ES" sz="1200" b="0" i="0" u="none" strike="noStrike" kern="1200" baseline="0" dirty="0" err="1" smtClean="0">
                <a:solidFill>
                  <a:schemeClr val="tx1"/>
                </a:solidFill>
                <a:latin typeface="+mn-lt"/>
                <a:ea typeface="+mn-ea"/>
                <a:cs typeface="+mn-cs"/>
              </a:rPr>
              <a:t>template</a:t>
            </a:r>
            <a:r>
              <a:rPr lang="es-ES" sz="1200" b="0" i="0" u="none" strike="noStrike" kern="1200" baseline="0" dirty="0" smtClean="0">
                <a:solidFill>
                  <a:schemeClr val="tx1"/>
                </a:solidFill>
                <a:latin typeface="+mn-lt"/>
                <a:ea typeface="+mn-ea"/>
                <a:cs typeface="+mn-cs"/>
              </a:rPr>
              <a:t>, </a:t>
            </a:r>
            <a:r>
              <a:rPr lang="es-ES" sz="1200" b="0" i="0" u="none" strike="noStrike" kern="1200" baseline="0" dirty="0" err="1" smtClean="0">
                <a:solidFill>
                  <a:schemeClr val="tx1"/>
                </a:solidFill>
                <a:latin typeface="+mn-lt"/>
                <a:ea typeface="+mn-ea"/>
                <a:cs typeface="+mn-cs"/>
              </a:rPr>
              <a:t>Polymer</a:t>
            </a:r>
            <a:r>
              <a:rPr lang="es-ES" sz="1200" b="0" i="0" u="none" strike="noStrike" kern="1200" baseline="0" dirty="0" smtClean="0">
                <a:solidFill>
                  <a:schemeClr val="tx1"/>
                </a:solidFill>
                <a:latin typeface="+mn-lt"/>
                <a:ea typeface="+mn-ea"/>
                <a:cs typeface="+mn-cs"/>
              </a:rPr>
              <a:t> no siempre lo implementará y te hará un</a:t>
            </a:r>
          </a:p>
          <a:p>
            <a:r>
              <a:rPr lang="es-ES" sz="1200" b="0" i="0" u="none" strike="noStrike" kern="1200" baseline="0" dirty="0" err="1" smtClean="0">
                <a:solidFill>
                  <a:schemeClr val="tx1"/>
                </a:solidFill>
                <a:latin typeface="+mn-lt"/>
                <a:ea typeface="+mn-ea"/>
                <a:cs typeface="+mn-cs"/>
              </a:rPr>
              <a:t>binding</a:t>
            </a:r>
            <a:r>
              <a:rPr lang="es-ES" sz="1200" b="0" i="0" u="none" strike="noStrike" kern="1200" baseline="0" dirty="0" smtClean="0">
                <a:solidFill>
                  <a:schemeClr val="tx1"/>
                </a:solidFill>
                <a:latin typeface="+mn-lt"/>
                <a:ea typeface="+mn-ea"/>
                <a:cs typeface="+mn-cs"/>
              </a:rPr>
              <a:t> de una única dirección. Por ejemplo, también te ocurrirá cuando </a:t>
            </a:r>
            <a:r>
              <a:rPr lang="es-ES" sz="1200" b="0" i="0" u="none" strike="noStrike" kern="1200" baseline="0" dirty="0" err="1" smtClean="0">
                <a:solidFill>
                  <a:schemeClr val="tx1"/>
                </a:solidFill>
                <a:latin typeface="+mn-lt"/>
                <a:ea typeface="+mn-ea"/>
                <a:cs typeface="+mn-cs"/>
              </a:rPr>
              <a:t>bindeas</a:t>
            </a:r>
            <a:r>
              <a:rPr lang="es-ES" sz="1200" b="0" i="0" u="none" strike="noStrike" kern="1200" baseline="0" dirty="0" smtClean="0">
                <a:solidFill>
                  <a:schemeClr val="tx1"/>
                </a:solidFill>
                <a:latin typeface="+mn-lt"/>
                <a:ea typeface="+mn-ea"/>
                <a:cs typeface="+mn-cs"/>
              </a:rPr>
              <a:t> al contenido de una</a:t>
            </a:r>
          </a:p>
          <a:p>
            <a:r>
              <a:rPr lang="es-ES" sz="1200" b="0" i="0" u="none" strike="noStrike" kern="1200" baseline="0" dirty="0" smtClean="0">
                <a:solidFill>
                  <a:schemeClr val="tx1"/>
                </a:solidFill>
                <a:latin typeface="+mn-lt"/>
                <a:ea typeface="+mn-ea"/>
                <a:cs typeface="+mn-cs"/>
              </a:rPr>
              <a:t>etiqueta HTML párrafo (etiqueta P). Por mucho que uses dobles llaves no servirá para nada, ya que ese</a:t>
            </a:r>
          </a:p>
          <a:p>
            <a:r>
              <a:rPr lang="es-ES" sz="1200" b="0" i="0" u="none" strike="noStrike" kern="1200" baseline="0" dirty="0" smtClean="0">
                <a:solidFill>
                  <a:schemeClr val="tx1"/>
                </a:solidFill>
                <a:latin typeface="+mn-lt"/>
                <a:ea typeface="+mn-ea"/>
                <a:cs typeface="+mn-cs"/>
              </a:rPr>
              <a:t>párrafo no está preparado para avisar al padre hipotéticos cambios.</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92</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93</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&lt;!DOCTYPE </a:t>
            </a:r>
            <a:r>
              <a:rPr lang="es-ES" dirty="0" err="1" smtClean="0"/>
              <a:t>html</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html</a:t>
            </a:r>
            <a:r>
              <a:rPr lang="es-ES" dirty="0" smtClean="0"/>
              <a:t> </a:t>
            </a:r>
            <a:r>
              <a:rPr lang="es-ES" dirty="0" err="1" smtClean="0"/>
              <a:t>lang</a:t>
            </a:r>
            <a:r>
              <a:rPr lang="es-ES" dirty="0" smtClean="0"/>
              <a:t>="en"&gt;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&lt;head&gt;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&lt;meta </a:t>
            </a:r>
            <a:r>
              <a:rPr lang="es-ES" dirty="0" err="1" smtClean="0"/>
              <a:t>charset</a:t>
            </a:r>
            <a:r>
              <a:rPr lang="es-ES" dirty="0" smtClean="0"/>
              <a:t>="UTF-8"&gt;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title</a:t>
            </a:r>
            <a:r>
              <a:rPr lang="es-ES" dirty="0" smtClean="0"/>
              <a:t>&gt;demo </a:t>
            </a:r>
            <a:r>
              <a:rPr lang="es-ES" dirty="0" err="1" smtClean="0"/>
              <a:t>dw-feedback</a:t>
            </a:r>
            <a:r>
              <a:rPr lang="es-ES" dirty="0" smtClean="0"/>
              <a:t>&lt;/</a:t>
            </a:r>
            <a:r>
              <a:rPr lang="es-ES" dirty="0" err="1" smtClean="0"/>
              <a:t>title</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&lt;link </a:t>
            </a:r>
            <a:r>
              <a:rPr lang="es-ES" dirty="0" err="1" smtClean="0"/>
              <a:t>rel</a:t>
            </a:r>
            <a:r>
              <a:rPr lang="es-ES" dirty="0" smtClean="0"/>
              <a:t>="</a:t>
            </a:r>
            <a:r>
              <a:rPr lang="es-ES" dirty="0" err="1" smtClean="0"/>
              <a:t>import</a:t>
            </a:r>
            <a:r>
              <a:rPr lang="es-ES" dirty="0" smtClean="0"/>
              <a:t>" </a:t>
            </a:r>
            <a:r>
              <a:rPr lang="es-ES" dirty="0" err="1" smtClean="0"/>
              <a:t>href</a:t>
            </a:r>
            <a:r>
              <a:rPr lang="es-ES" dirty="0" smtClean="0"/>
              <a:t>="ciclo-</a:t>
            </a:r>
            <a:r>
              <a:rPr lang="es-ES" dirty="0" err="1" smtClean="0"/>
              <a:t>vida.html</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&lt;/head&gt;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body</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&lt;H1&gt;Demo ciclo-vida&lt;/H1&gt;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&lt;ciclo-vida&gt;&lt;/ciclo-vida&gt;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cambiaAtributo</a:t>
            </a:r>
            <a:r>
              <a:rPr lang="es-ES" dirty="0" smtClean="0"/>
              <a:t>"&gt;Cambia Atributo&lt;/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quitaElemento</a:t>
            </a:r>
            <a:r>
              <a:rPr lang="es-ES" dirty="0" smtClean="0"/>
              <a:t>"&gt;Quita el elemento del DOM&lt;/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creaElemento</a:t>
            </a:r>
            <a:r>
              <a:rPr lang="es-ES" dirty="0" smtClean="0"/>
              <a:t>"&gt;Crea un nuevo elemento en memoria </a:t>
            </a:r>
            <a:r>
              <a:rPr lang="es-ES" dirty="0" err="1" smtClean="0"/>
              <a:t>Javascript</a:t>
            </a:r>
            <a:r>
              <a:rPr lang="es-ES" dirty="0" smtClean="0"/>
              <a:t>&lt;/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a:t>
            </a:r>
            <a:r>
              <a:rPr lang="es-ES" dirty="0" err="1" smtClean="0"/>
              <a:t>button</a:t>
            </a:r>
            <a:r>
              <a:rPr lang="es-ES" dirty="0" smtClean="0"/>
              <a:t> id="</a:t>
            </a:r>
            <a:r>
              <a:rPr lang="es-ES" dirty="0" err="1" smtClean="0"/>
              <a:t>creaInyectaElemento</a:t>
            </a:r>
            <a:r>
              <a:rPr lang="es-ES" dirty="0" smtClean="0"/>
              <a:t>"&gt;Crea un nuevo elemento e </a:t>
            </a:r>
            <a:r>
              <a:rPr lang="es-ES" dirty="0" err="1" smtClean="0"/>
              <a:t>injecta</a:t>
            </a:r>
            <a:r>
              <a:rPr lang="es-ES" dirty="0" smtClean="0"/>
              <a:t> en el DOM&lt;/</a:t>
            </a:r>
            <a:r>
              <a:rPr lang="es-ES" dirty="0" err="1" smtClean="0"/>
              <a:t>button</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&lt;script&gt;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cambiaAtributo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document.querySelector</a:t>
            </a:r>
            <a:r>
              <a:rPr lang="es-ES" dirty="0" smtClean="0"/>
              <a:t>('ciclo-vida').</a:t>
            </a:r>
            <a:r>
              <a:rPr lang="es-ES" dirty="0" err="1" smtClean="0"/>
              <a:t>setAttribute</a:t>
            </a:r>
            <a:r>
              <a:rPr lang="es-ES" dirty="0" smtClean="0"/>
              <a:t>("atributo", 'valor');</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quitaElemento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document.body.removeChild</a:t>
            </a:r>
            <a:r>
              <a:rPr lang="es-ES" dirty="0" smtClean="0"/>
              <a:t>(</a:t>
            </a:r>
            <a:r>
              <a:rPr lang="es-ES" dirty="0" err="1" smtClean="0"/>
              <a:t>document.querySelector</a:t>
            </a:r>
            <a:r>
              <a:rPr lang="es-ES" dirty="0" smtClean="0"/>
              <a:t>('ciclo-vida'));</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creaElemento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document.createElement</a:t>
            </a:r>
            <a:r>
              <a:rPr lang="es-ES" dirty="0" smtClean="0"/>
              <a:t>('ciclo-vida');</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document.getElementById</a:t>
            </a:r>
            <a:r>
              <a:rPr lang="es-ES" dirty="0" smtClean="0"/>
              <a:t>('</a:t>
            </a:r>
            <a:r>
              <a:rPr lang="es-ES" dirty="0" err="1" smtClean="0"/>
              <a:t>creaInyectaElemento</a:t>
            </a:r>
            <a:r>
              <a:rPr lang="es-ES" dirty="0" smtClean="0"/>
              <a:t>').</a:t>
            </a:r>
            <a:r>
              <a:rPr lang="es-ES" dirty="0" err="1" smtClean="0"/>
              <a:t>addEventListener</a:t>
            </a:r>
            <a:r>
              <a:rPr lang="es-ES" dirty="0" smtClean="0"/>
              <a:t>('</a:t>
            </a:r>
            <a:r>
              <a:rPr lang="es-ES" dirty="0" err="1" smtClean="0"/>
              <a:t>click</a:t>
            </a:r>
            <a:r>
              <a:rPr lang="es-ES" dirty="0" smtClean="0"/>
              <a:t>', </a:t>
            </a:r>
            <a:r>
              <a:rPr lang="es-ES" dirty="0" err="1" smtClean="0"/>
              <a:t>function</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var</a:t>
            </a:r>
            <a:r>
              <a:rPr lang="es-ES" dirty="0" smtClean="0"/>
              <a:t> </a:t>
            </a:r>
            <a:r>
              <a:rPr lang="es-ES" dirty="0" err="1" smtClean="0"/>
              <a:t>elem</a:t>
            </a:r>
            <a:r>
              <a:rPr lang="es-ES" dirty="0" smtClean="0"/>
              <a:t> = </a:t>
            </a:r>
            <a:r>
              <a:rPr lang="es-ES" dirty="0" err="1" smtClean="0"/>
              <a:t>document.createElement</a:t>
            </a:r>
            <a:r>
              <a:rPr lang="es-ES" dirty="0" smtClean="0"/>
              <a:t>('ciclo-vida');</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r>
              <a:rPr lang="es-ES" dirty="0" err="1" smtClean="0"/>
              <a:t>document.body.appendChild</a:t>
            </a:r>
            <a:r>
              <a:rPr lang="es-ES" dirty="0" smtClean="0"/>
              <a:t>(</a:t>
            </a:r>
            <a:r>
              <a:rPr lang="es-ES" dirty="0" err="1" smtClean="0"/>
              <a:t>elem</a:t>
            </a:r>
            <a:r>
              <a:rPr lang="es-ES" dirty="0" smtClean="0"/>
              <a: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  &lt;/script&gt;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body</a:t>
            </a:r>
            <a:r>
              <a:rPr lang="es-ES" dirty="0" smtClean="0"/>
              <a:t>&gt;</a:t>
            </a:r>
          </a:p>
          <a:p>
            <a:pPr marL="0" marR="0" indent="0" algn="l" defTabSz="457200" rtl="0" eaLnBrk="1" fontAlgn="auto" latinLnBrk="0" hangingPunct="1">
              <a:lnSpc>
                <a:spcPct val="100000"/>
              </a:lnSpc>
              <a:spcBef>
                <a:spcPts val="0"/>
              </a:spcBef>
              <a:spcAft>
                <a:spcPts val="0"/>
              </a:spcAft>
              <a:buClrTx/>
              <a:buSzTx/>
              <a:buFontTx/>
              <a:buNone/>
              <a:tabLst/>
              <a:defRPr/>
            </a:pPr>
            <a:r>
              <a:rPr lang="es-ES" dirty="0" smtClean="0"/>
              <a:t>&lt;/</a:t>
            </a:r>
            <a:r>
              <a:rPr lang="es-ES" dirty="0" err="1" smtClean="0"/>
              <a:t>html</a:t>
            </a:r>
            <a:r>
              <a:rPr lang="es-ES" dirty="0" smtClean="0"/>
              <a:t>&gt;</a:t>
            </a: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94</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95</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96</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97</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98</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99</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100</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101</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102</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103</a:t>
            </a:fld>
            <a:endParaRPr lang="es-ES"/>
          </a:p>
        </p:txBody>
      </p:sp>
    </p:spTree>
    <p:extLst>
      <p:ext uri="{BB962C8B-B14F-4D97-AF65-F5344CB8AC3E}">
        <p14:creationId xmlns:p14="http://schemas.microsoft.com/office/powerpoint/2010/main" val="199436675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s-ES" dirty="0"/>
          </a:p>
        </p:txBody>
      </p:sp>
      <p:sp>
        <p:nvSpPr>
          <p:cNvPr id="4" name="Marcador de número de diapositiva 3"/>
          <p:cNvSpPr>
            <a:spLocks noGrp="1"/>
          </p:cNvSpPr>
          <p:nvPr>
            <p:ph type="sldNum" sz="quarter" idx="10"/>
          </p:nvPr>
        </p:nvSpPr>
        <p:spPr/>
        <p:txBody>
          <a:bodyPr/>
          <a:lstStyle/>
          <a:p>
            <a:fld id="{6DEE8439-D3F3-834F-944C-DB2C1DCB3234}" type="slidenum">
              <a:rPr lang="es-ES" smtClean="0"/>
              <a:t>104</a:t>
            </a:fld>
            <a:endParaRPr lang="es-ES"/>
          </a:p>
        </p:txBody>
      </p:sp>
    </p:spTree>
    <p:extLst>
      <p:ext uri="{BB962C8B-B14F-4D97-AF65-F5344CB8AC3E}">
        <p14:creationId xmlns:p14="http://schemas.microsoft.com/office/powerpoint/2010/main" val="1994366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365248"/>
            <a:ext cx="7772400" cy="978408"/>
          </a:xfrm>
        </p:spPr>
        <p:txBody>
          <a:bodyPr vert="horz" lIns="91440" tIns="45720" rIns="91440" bIns="45720" rtlCol="0" anchor="b" anchorCtr="0">
            <a:noAutofit/>
          </a:bodyPr>
          <a:lstStyle>
            <a:lvl1pPr algn="ctr" defTabSz="914400" rtl="0" eaLnBrk="1" latinLnBrk="0" hangingPunct="1">
              <a:spcBef>
                <a:spcPct val="0"/>
              </a:spcBef>
              <a:buNone/>
              <a:defRPr sz="540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s-ES_tradnl" smtClean="0"/>
              <a:t>Clic para editar título</a:t>
            </a:r>
            <a:endParaRPr dirty="0"/>
          </a:p>
        </p:txBody>
      </p:sp>
      <p:sp>
        <p:nvSpPr>
          <p:cNvPr id="3" name="Subtitle 2"/>
          <p:cNvSpPr>
            <a:spLocks noGrp="1"/>
          </p:cNvSpPr>
          <p:nvPr>
            <p:ph type="subTitle" idx="1"/>
          </p:nvPr>
        </p:nvSpPr>
        <p:spPr>
          <a:xfrm>
            <a:off x="685800" y="3352800"/>
            <a:ext cx="7772400" cy="877824"/>
          </a:xfrm>
        </p:spPr>
        <p:txBody>
          <a:bodyPr vert="horz" lIns="91440" tIns="45720" rIns="91440" bIns="45720" rtlCol="0">
            <a:normAutofit/>
          </a:bodyPr>
          <a:lstStyle>
            <a:lvl1pPr marL="0" indent="0" algn="ctr" defTabSz="914400" rtl="0" eaLnBrk="1" latinLnBrk="0" hangingPunct="1">
              <a:spcBef>
                <a:spcPts val="300"/>
              </a:spcBef>
              <a:buFontTx/>
              <a:buNone/>
              <a:defRPr sz="2000" kern="1200">
                <a:solidFill>
                  <a:schemeClr val="tx1">
                    <a:tint val="75000"/>
                  </a:schemeClr>
                </a:solidFill>
                <a:effectLst>
                  <a:outerShdw blurRad="50800" dist="50800" dir="5400000" sx="101000" sy="101000" algn="t" rotWithShape="0">
                    <a:prstClr val="black">
                      <a:alpha val="40000"/>
                    </a:prstClr>
                  </a:outerShdw>
                </a:effectLst>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smtClean="0"/>
              <a:t>Haga clic para modificar el estilo de subtítulo del patrón</a:t>
            </a:r>
            <a:endParaRPr dirty="0"/>
          </a:p>
        </p:txBody>
      </p:sp>
      <p:sp>
        <p:nvSpPr>
          <p:cNvPr id="4" name="Date Placeholder 3"/>
          <p:cNvSpPr>
            <a:spLocks noGrp="1"/>
          </p:cNvSpPr>
          <p:nvPr>
            <p:ph type="dt" sz="half" idx="10"/>
          </p:nvPr>
        </p:nvSpPr>
        <p:spPr/>
        <p:txBody>
          <a:bodyPr/>
          <a:lstStyle/>
          <a:p>
            <a:fld id="{B001F8BC-9BD5-194D-BA2A-3343E2D25072}" type="datetime1">
              <a:rPr lang="es-ES" smtClean="0"/>
              <a:t>18/11/18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smtClean="0"/>
              <a:t>Clic para editar título</a:t>
            </a:r>
            <a:endParaRPr/>
          </a:p>
        </p:txBody>
      </p:sp>
      <p:sp>
        <p:nvSpPr>
          <p:cNvPr id="3" name="Content Placeholder 2"/>
          <p:cNvSpPr>
            <a:spLocks noGrp="1"/>
          </p:cNvSpPr>
          <p:nvPr>
            <p:ph idx="1"/>
          </p:nvPr>
        </p:nvSpPr>
        <p:spPr>
          <a:xfrm>
            <a:off x="685800" y="1869141"/>
            <a:ext cx="7770813" cy="4257022"/>
          </a:xfrm>
        </p:spPr>
        <p:txBody>
          <a:bodyPr/>
          <a:lstStyle>
            <a:lvl5pPr>
              <a:defRPr/>
            </a:lvl5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4" name="Date Placeholder 3"/>
          <p:cNvSpPr>
            <a:spLocks noGrp="1"/>
          </p:cNvSpPr>
          <p:nvPr>
            <p:ph type="dt" sz="half" idx="10"/>
          </p:nvPr>
        </p:nvSpPr>
        <p:spPr/>
        <p:txBody>
          <a:bodyPr/>
          <a:lstStyle/>
          <a:p>
            <a:fld id="{3A08D9AC-B29F-4E49-9C89-9ABC320E62C5}" type="datetime1">
              <a:rPr lang="es-ES" smtClean="0"/>
              <a:t>18/11/18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a de título con imagen">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267200"/>
            <a:ext cx="7772400" cy="977153"/>
          </a:xfrm>
        </p:spPr>
        <p:txBody>
          <a:bodyPr anchor="b" anchorCtr="0">
            <a:noAutofit/>
          </a:bodyPr>
          <a:lstStyle>
            <a:lvl1pPr>
              <a:defRPr sz="5400"/>
            </a:lvl1pPr>
          </a:lstStyle>
          <a:p>
            <a:r>
              <a:rPr lang="es-ES_tradnl" smtClean="0"/>
              <a:t>Clic para editar título</a:t>
            </a:r>
            <a:endParaRPr/>
          </a:p>
        </p:txBody>
      </p:sp>
      <p:sp>
        <p:nvSpPr>
          <p:cNvPr id="3" name="Subtitle 2"/>
          <p:cNvSpPr>
            <a:spLocks noGrp="1"/>
          </p:cNvSpPr>
          <p:nvPr>
            <p:ph type="subTitle" idx="1"/>
          </p:nvPr>
        </p:nvSpPr>
        <p:spPr>
          <a:xfrm>
            <a:off x="685799" y="5257800"/>
            <a:ext cx="7770813" cy="874058"/>
          </a:xfrm>
        </p:spPr>
        <p:txBody>
          <a:bodyPr>
            <a:normAutofit/>
          </a:bodyPr>
          <a:lstStyle>
            <a:lvl1pPr marL="0" indent="0" algn="ctr">
              <a:spcBef>
                <a:spcPts val="300"/>
              </a:spcBef>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smtClean="0"/>
              <a:t>Haga clic para modificar el estilo de subtítulo del patrón</a:t>
            </a:r>
            <a:endParaRPr dirty="0"/>
          </a:p>
        </p:txBody>
      </p:sp>
      <p:sp>
        <p:nvSpPr>
          <p:cNvPr id="4" name="Date Placeholder 3"/>
          <p:cNvSpPr>
            <a:spLocks noGrp="1"/>
          </p:cNvSpPr>
          <p:nvPr>
            <p:ph type="dt" sz="half" idx="10"/>
          </p:nvPr>
        </p:nvSpPr>
        <p:spPr/>
        <p:txBody>
          <a:bodyPr/>
          <a:lstStyle/>
          <a:p>
            <a:fld id="{43D26824-471B-D44C-B339-7305930644CA}" type="datetime1">
              <a:rPr lang="es-ES" smtClean="0"/>
              <a:t>18/11/18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‹Nr.›</a:t>
            </a:fld>
            <a:endParaRPr lang="en-US"/>
          </a:p>
        </p:txBody>
      </p:sp>
      <p:sp>
        <p:nvSpPr>
          <p:cNvPr id="8" name="Picture Placeholder 7"/>
          <p:cNvSpPr>
            <a:spLocks noGrp="1"/>
          </p:cNvSpPr>
          <p:nvPr>
            <p:ph type="pic" sz="quarter" idx="13"/>
          </p:nvPr>
        </p:nvSpPr>
        <p:spPr>
          <a:xfrm rot="21540000">
            <a:off x="2056196" y="424650"/>
            <a:ext cx="5031609" cy="337580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a:lstStyle>
            <a:lvl1pPr>
              <a:buFont typeface="Arial" pitchFamily="34" charset="0"/>
              <a:buNone/>
              <a:defRPr/>
            </a:lvl1pPr>
          </a:lstStyle>
          <a:p>
            <a:r>
              <a:rPr lang="es-ES_tradnl" smtClean="0"/>
              <a:t>Arrastre la imagen al marcador de posición o haga clic en el icono para agregar</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990600"/>
            <a:ext cx="7770813" cy="1743075"/>
          </a:xfrm>
        </p:spPr>
        <p:txBody>
          <a:bodyPr vert="horz" lIns="91440" tIns="45720" rIns="91440" bIns="45720" rtlCol="0" anchor="b" anchorCtr="0">
            <a:noAutofit/>
          </a:bodyPr>
          <a:lstStyle>
            <a:lvl1pPr algn="ctr" defTabSz="914400" rtl="0" eaLnBrk="1" latinLnBrk="0" hangingPunct="1">
              <a:spcBef>
                <a:spcPct val="0"/>
              </a:spcBef>
              <a:buNone/>
              <a:defRPr sz="540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s-ES_tradnl" smtClean="0"/>
              <a:t>Clic para editar título</a:t>
            </a:r>
            <a:endParaRPr/>
          </a:p>
        </p:txBody>
      </p:sp>
      <p:sp>
        <p:nvSpPr>
          <p:cNvPr id="3" name="Text Placeholder 2"/>
          <p:cNvSpPr>
            <a:spLocks noGrp="1"/>
          </p:cNvSpPr>
          <p:nvPr>
            <p:ph type="body" idx="1"/>
          </p:nvPr>
        </p:nvSpPr>
        <p:spPr>
          <a:xfrm>
            <a:off x="685800" y="2756647"/>
            <a:ext cx="7770813" cy="1281953"/>
          </a:xfrm>
        </p:spPr>
        <p:txBody>
          <a:bodyPr vert="horz" lIns="91440" tIns="45720" rIns="91440" bIns="45720" rtlCol="0">
            <a:normAutofit/>
          </a:bodyPr>
          <a:lstStyle>
            <a:lvl1pPr marL="0" indent="0" algn="ctr" defTabSz="914400" rtl="0" eaLnBrk="1" latinLnBrk="0" hangingPunct="1">
              <a:spcBef>
                <a:spcPts val="300"/>
              </a:spcBef>
              <a:buFontTx/>
              <a:buNone/>
              <a:defRPr sz="2000" kern="1200">
                <a:solidFill>
                  <a:schemeClr val="tx1">
                    <a:tint val="75000"/>
                  </a:schemeClr>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smtClean="0"/>
              <a:t>Haga clic para modificar el estilo de texto del patrón</a:t>
            </a:r>
          </a:p>
        </p:txBody>
      </p:sp>
      <p:sp>
        <p:nvSpPr>
          <p:cNvPr id="4" name="Date Placeholder 3"/>
          <p:cNvSpPr>
            <a:spLocks noGrp="1"/>
          </p:cNvSpPr>
          <p:nvPr>
            <p:ph type="dt" sz="half" idx="10"/>
          </p:nvPr>
        </p:nvSpPr>
        <p:spPr/>
        <p:txBody>
          <a:bodyPr/>
          <a:lstStyle/>
          <a:p>
            <a:fld id="{56DD055C-6ED9-4F4C-891B-3979BC57CF3A}" type="datetime1">
              <a:rPr lang="es-ES" smtClean="0"/>
              <a:t>18/11/18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85800" y="121023"/>
            <a:ext cx="7770813" cy="1429871"/>
          </a:xfrm>
        </p:spPr>
        <p:txBody>
          <a:bodyPr/>
          <a:lstStyle/>
          <a:p>
            <a:r>
              <a:rPr lang="es-ES_tradnl" smtClean="0"/>
              <a:t>Clic para editar título</a:t>
            </a:r>
            <a:endParaRPr/>
          </a:p>
        </p:txBody>
      </p:sp>
      <p:sp>
        <p:nvSpPr>
          <p:cNvPr id="3" name="Content Placeholder 2"/>
          <p:cNvSpPr>
            <a:spLocks noGrp="1"/>
          </p:cNvSpPr>
          <p:nvPr>
            <p:ph sz="half" idx="1"/>
          </p:nvPr>
        </p:nvSpPr>
        <p:spPr>
          <a:xfrm>
            <a:off x="685800" y="1760538"/>
            <a:ext cx="3611880" cy="4365625"/>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marL="2398713" indent="-336550">
              <a:defRPr sz="1800"/>
            </a:lvl8pPr>
            <a:lvl9pPr marL="2398713" indent="-336550">
              <a:defRPr sz="18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4" name="Content Placeholder 3"/>
          <p:cNvSpPr>
            <a:spLocks noGrp="1"/>
          </p:cNvSpPr>
          <p:nvPr>
            <p:ph sz="half" idx="2"/>
          </p:nvPr>
        </p:nvSpPr>
        <p:spPr>
          <a:xfrm>
            <a:off x="4844733" y="1760538"/>
            <a:ext cx="3611880" cy="4365625"/>
          </a:xfrm>
        </p:spPr>
        <p:txBody>
          <a:bodyPr>
            <a:normAutofit/>
          </a:bodyPr>
          <a:lstStyle>
            <a:lvl1pPr>
              <a:defRPr sz="2200"/>
            </a:lvl1pPr>
            <a:lvl2pPr>
              <a:defRPr sz="2000"/>
            </a:lvl2pPr>
            <a:lvl3pPr>
              <a:defRPr sz="2000"/>
            </a:lvl3pPr>
            <a:lvl4pPr>
              <a:defRPr sz="2000"/>
            </a:lvl4pPr>
            <a:lvl5pPr>
              <a:defRPr sz="2000"/>
            </a:lvl5pPr>
            <a:lvl6pPr>
              <a:defRPr sz="1800"/>
            </a:lvl6pPr>
            <a:lvl7pPr>
              <a:defRPr sz="1800"/>
            </a:lvl7pPr>
            <a:lvl8pPr marL="2398713" indent="-336550">
              <a:defRPr sz="1800"/>
            </a:lvl8pPr>
            <a:lvl9pPr marL="2398713" indent="-336550">
              <a:defRPr sz="18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5" name="Date Placeholder 4"/>
          <p:cNvSpPr>
            <a:spLocks noGrp="1"/>
          </p:cNvSpPr>
          <p:nvPr>
            <p:ph type="dt" sz="half" idx="10"/>
          </p:nvPr>
        </p:nvSpPr>
        <p:spPr/>
        <p:txBody>
          <a:bodyPr/>
          <a:lstStyle/>
          <a:p>
            <a:fld id="{7BBCBB59-2704-DF49-87B3-01CA858C7A35}" type="datetime1">
              <a:rPr lang="es-ES" smtClean="0"/>
              <a:t>18/11/18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85800" y="121023"/>
            <a:ext cx="7770813" cy="1429871"/>
          </a:xfrm>
        </p:spPr>
        <p:txBody>
          <a:bodyPr/>
          <a:lstStyle>
            <a:lvl1pPr>
              <a:defRPr/>
            </a:lvl1pPr>
          </a:lstStyle>
          <a:p>
            <a:r>
              <a:rPr lang="es-ES_tradnl" smtClean="0"/>
              <a:t>Clic para editar título</a:t>
            </a:r>
            <a:endParaRPr/>
          </a:p>
        </p:txBody>
      </p:sp>
      <p:sp>
        <p:nvSpPr>
          <p:cNvPr id="3" name="Text Placeholder 2"/>
          <p:cNvSpPr>
            <a:spLocks noGrp="1"/>
          </p:cNvSpPr>
          <p:nvPr>
            <p:ph type="body" idx="1"/>
          </p:nvPr>
        </p:nvSpPr>
        <p:spPr>
          <a:xfrm>
            <a:off x="685800" y="1550895"/>
            <a:ext cx="3611880" cy="614082"/>
          </a:xfrm>
        </p:spPr>
        <p:txBody>
          <a:bodyPr anchor="b" anchorCtr="0">
            <a:noAutofit/>
          </a:bodyPr>
          <a:lstStyle>
            <a:lvl1pPr marL="0" indent="0" algn="ctr">
              <a:spcBef>
                <a:spcPts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4" name="Content Placeholder 3"/>
          <p:cNvSpPr>
            <a:spLocks noGrp="1"/>
          </p:cNvSpPr>
          <p:nvPr>
            <p:ph sz="half" idx="2"/>
          </p:nvPr>
        </p:nvSpPr>
        <p:spPr>
          <a:xfrm>
            <a:off x="685800" y="2438400"/>
            <a:ext cx="3611880" cy="36877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marL="2398713" indent="-336550">
              <a:defRPr sz="1600"/>
            </a:lvl8pPr>
            <a:lvl9pPr marL="2398713" indent="-336550">
              <a:defRPr sz="16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5" name="Text Placeholder 4"/>
          <p:cNvSpPr>
            <a:spLocks noGrp="1"/>
          </p:cNvSpPr>
          <p:nvPr>
            <p:ph type="body" sz="quarter" idx="3"/>
          </p:nvPr>
        </p:nvSpPr>
        <p:spPr>
          <a:xfrm>
            <a:off x="4845526" y="1550895"/>
            <a:ext cx="3611880" cy="614082"/>
          </a:xfrm>
        </p:spPr>
        <p:txBody>
          <a:bodyPr anchor="b" anchorCtr="0">
            <a:noAutofit/>
          </a:bodyPr>
          <a:lstStyle>
            <a:lvl1pPr marL="0" indent="0" algn="ctr">
              <a:spcBef>
                <a:spcPts val="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6" name="Content Placeholder 5"/>
          <p:cNvSpPr>
            <a:spLocks noGrp="1"/>
          </p:cNvSpPr>
          <p:nvPr>
            <p:ph sz="quarter" idx="4"/>
          </p:nvPr>
        </p:nvSpPr>
        <p:spPr>
          <a:xfrm>
            <a:off x="4845526" y="2438400"/>
            <a:ext cx="3611880" cy="36877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marL="2398713" indent="-336550">
              <a:defRPr sz="1600"/>
            </a:lvl8pPr>
            <a:lvl9pPr marL="2398713" indent="-336550">
              <a:defRPr sz="16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7" name="Date Placeholder 6"/>
          <p:cNvSpPr>
            <a:spLocks noGrp="1"/>
          </p:cNvSpPr>
          <p:nvPr>
            <p:ph type="dt" sz="half" idx="10"/>
          </p:nvPr>
        </p:nvSpPr>
        <p:spPr/>
        <p:txBody>
          <a:bodyPr/>
          <a:lstStyle/>
          <a:p>
            <a:fld id="{66F242E2-F743-2648-8D81-210FBFCEADDE}" type="datetime1">
              <a:rPr lang="es-ES" smtClean="0"/>
              <a:t>18/11/18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1F5A0A-F6FC-4FFD-9B49-0DA8697211D9}" type="slidenum">
              <a:rPr lang="en-US" smtClean="0"/>
              <a:t>‹Nr.›</a:t>
            </a:fld>
            <a:endParaRPr lang="en-US"/>
          </a:p>
        </p:txBody>
      </p:sp>
      <p:cxnSp>
        <p:nvCxnSpPr>
          <p:cNvPr id="11" name="Straight Connector 10"/>
          <p:cNvCxnSpPr/>
          <p:nvPr/>
        </p:nvCxnSpPr>
        <p:spPr>
          <a:xfrm>
            <a:off x="786205" y="2191871"/>
            <a:ext cx="3429000" cy="1588"/>
          </a:xfrm>
          <a:prstGeom prst="line">
            <a:avLst/>
          </a:prstGeom>
          <a:ln>
            <a:solidFill>
              <a:srgbClr val="FFFFFF">
                <a:alpha val="4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936966" y="2191871"/>
            <a:ext cx="3429000" cy="1588"/>
          </a:xfrm>
          <a:prstGeom prst="line">
            <a:avLst/>
          </a:prstGeom>
          <a:ln>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smtClean="0"/>
              <a:t>Clic para editar título</a:t>
            </a:r>
            <a:endParaRPr/>
          </a:p>
        </p:txBody>
      </p:sp>
      <p:sp>
        <p:nvSpPr>
          <p:cNvPr id="3" name="Date Placeholder 2"/>
          <p:cNvSpPr>
            <a:spLocks noGrp="1"/>
          </p:cNvSpPr>
          <p:nvPr>
            <p:ph type="dt" sz="half" idx="10"/>
          </p:nvPr>
        </p:nvSpPr>
        <p:spPr/>
        <p:txBody>
          <a:bodyPr/>
          <a:lstStyle/>
          <a:p>
            <a:fld id="{9FC42B9D-2878-8748-971D-3992DD09DCBA}" type="datetime1">
              <a:rPr lang="es-ES" smtClean="0"/>
              <a:t>18/11/18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D6C80E-2972-2341-A18F-7B4FF1B74AB3}" type="datetime1">
              <a:rPr lang="es-ES" smtClean="0"/>
              <a:t>18/11/18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58905" y="971550"/>
            <a:ext cx="3657600" cy="1162050"/>
          </a:xfrm>
        </p:spPr>
        <p:txBody>
          <a:bodyPr anchor="b">
            <a:noAutofit/>
          </a:bodyPr>
          <a:lstStyle>
            <a:lvl1pPr algn="l">
              <a:defRPr sz="3600" b="0"/>
            </a:lvl1pPr>
          </a:lstStyle>
          <a:p>
            <a:r>
              <a:rPr lang="es-ES_tradnl" smtClean="0"/>
              <a:t>Clic para editar título</a:t>
            </a:r>
            <a:endParaRPr/>
          </a:p>
        </p:txBody>
      </p:sp>
      <p:sp>
        <p:nvSpPr>
          <p:cNvPr id="3" name="Content Placeholder 2"/>
          <p:cNvSpPr>
            <a:spLocks noGrp="1"/>
          </p:cNvSpPr>
          <p:nvPr>
            <p:ph idx="1"/>
          </p:nvPr>
        </p:nvSpPr>
        <p:spPr>
          <a:xfrm>
            <a:off x="4800600" y="457200"/>
            <a:ext cx="3657600" cy="56689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marL="2398713" indent="-336550">
              <a:defRPr sz="1800"/>
            </a:lvl8pPr>
            <a:lvl9pPr marL="2398713" indent="-336550">
              <a:defRPr sz="18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4" name="Text Placeholder 3"/>
          <p:cNvSpPr>
            <a:spLocks noGrp="1"/>
          </p:cNvSpPr>
          <p:nvPr>
            <p:ph type="body" sz="half" idx="2"/>
          </p:nvPr>
        </p:nvSpPr>
        <p:spPr>
          <a:xfrm>
            <a:off x="658905" y="2133601"/>
            <a:ext cx="3657600" cy="3581400"/>
          </a:xfrm>
        </p:spPr>
        <p:txBody>
          <a:bodyPr>
            <a:normAutofit/>
          </a:bodyPr>
          <a:lstStyle>
            <a:lvl1pPr marL="0" indent="0">
              <a:spcBef>
                <a:spcPts val="10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smtClean="0"/>
              <a:t>Haga clic para modificar el estilo de texto del patrón</a:t>
            </a:r>
          </a:p>
        </p:txBody>
      </p:sp>
      <p:sp>
        <p:nvSpPr>
          <p:cNvPr id="5" name="Date Placeholder 4"/>
          <p:cNvSpPr>
            <a:spLocks noGrp="1"/>
          </p:cNvSpPr>
          <p:nvPr>
            <p:ph type="dt" sz="half" idx="10"/>
          </p:nvPr>
        </p:nvSpPr>
        <p:spPr/>
        <p:txBody>
          <a:bodyPr/>
          <a:lstStyle/>
          <a:p>
            <a:fld id="{6C18BAE9-EA80-5646-BD87-110AB18C934A}" type="datetime1">
              <a:rPr lang="es-ES" smtClean="0"/>
              <a:t>18/11/18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805082" y="969264"/>
            <a:ext cx="3657600" cy="1161288"/>
          </a:xfrm>
        </p:spPr>
        <p:txBody>
          <a:bodyPr anchor="b">
            <a:noAutofit/>
          </a:bodyPr>
          <a:lstStyle>
            <a:lvl1pPr algn="l">
              <a:defRPr sz="3600" b="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s-ES_tradnl" smtClean="0"/>
              <a:t>Clic para editar título</a:t>
            </a:r>
            <a:endParaRPr/>
          </a:p>
        </p:txBody>
      </p:sp>
      <p:sp>
        <p:nvSpPr>
          <p:cNvPr id="3" name="Picture Placeholder 2"/>
          <p:cNvSpPr>
            <a:spLocks noGrp="1"/>
          </p:cNvSpPr>
          <p:nvPr>
            <p:ph type="pic" idx="1"/>
          </p:nvPr>
        </p:nvSpPr>
        <p:spPr>
          <a:xfrm>
            <a:off x="663388" y="510988"/>
            <a:ext cx="3657600" cy="5553636"/>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4" name="Text Placeholder 3"/>
          <p:cNvSpPr>
            <a:spLocks noGrp="1"/>
          </p:cNvSpPr>
          <p:nvPr>
            <p:ph type="body" sz="half" idx="2"/>
          </p:nvPr>
        </p:nvSpPr>
        <p:spPr>
          <a:xfrm>
            <a:off x="4799853" y="2130552"/>
            <a:ext cx="3657600" cy="3584448"/>
          </a:xfrm>
        </p:spPr>
        <p:txBody>
          <a:bodyPr vert="horz" lIns="91440" tIns="45720" rIns="91440" bIns="45720" rtlCol="0">
            <a:normAutofit/>
          </a:bodyPr>
          <a:lstStyle>
            <a:lvl1pPr marL="0" indent="0">
              <a:spcBef>
                <a:spcPts val="1000"/>
              </a:spcBef>
              <a:buNone/>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FontTx/>
              <a:buNone/>
            </a:pPr>
            <a:r>
              <a:rPr lang="es-ES_tradnl" smtClean="0"/>
              <a:t>Haga clic para modificar el estilo de texto del patrón</a:t>
            </a:r>
          </a:p>
        </p:txBody>
      </p:sp>
      <p:sp>
        <p:nvSpPr>
          <p:cNvPr id="5" name="Date Placeholder 4"/>
          <p:cNvSpPr>
            <a:spLocks noGrp="1"/>
          </p:cNvSpPr>
          <p:nvPr>
            <p:ph type="dt" sz="half" idx="10"/>
          </p:nvPr>
        </p:nvSpPr>
        <p:spPr/>
        <p:txBody>
          <a:bodyPr/>
          <a:lstStyle/>
          <a:p>
            <a:fld id="{9EB5F954-ED57-924C-BC4F-6283AC2D171C}" type="datetime1">
              <a:rPr lang="es-ES" smtClean="0"/>
              <a:t>18/11/18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encima del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4151376"/>
            <a:ext cx="7776882" cy="1014984"/>
          </a:xfrm>
        </p:spPr>
        <p:txBody>
          <a:bodyPr anchor="b">
            <a:noAutofit/>
          </a:bodyPr>
          <a:lstStyle>
            <a:lvl1pPr algn="ctr">
              <a:defRPr sz="3600" b="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s-ES_tradnl" smtClean="0"/>
              <a:t>Clic para editar título</a:t>
            </a:r>
            <a:endParaRPr/>
          </a:p>
        </p:txBody>
      </p:sp>
      <p:sp>
        <p:nvSpPr>
          <p:cNvPr id="3" name="Picture Placeholder 2"/>
          <p:cNvSpPr>
            <a:spLocks noGrp="1"/>
          </p:cNvSpPr>
          <p:nvPr>
            <p:ph type="pic" idx="1"/>
          </p:nvPr>
        </p:nvSpPr>
        <p:spPr>
          <a:xfrm>
            <a:off x="1828800" y="457199"/>
            <a:ext cx="5486400" cy="3644153"/>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4" name="Text Placeholder 3"/>
          <p:cNvSpPr>
            <a:spLocks noGrp="1"/>
          </p:cNvSpPr>
          <p:nvPr>
            <p:ph type="body" sz="half" idx="2"/>
          </p:nvPr>
        </p:nvSpPr>
        <p:spPr>
          <a:xfrm>
            <a:off x="680571" y="5181599"/>
            <a:ext cx="7776882" cy="950259"/>
          </a:xfrm>
        </p:spPr>
        <p:txBody>
          <a:bodyPr vert="horz" lIns="91440" tIns="45720" rIns="91440" bIns="45720" rtlCol="0">
            <a:normAutofit/>
          </a:bodyPr>
          <a:lstStyle>
            <a:lvl1pPr marL="0" indent="0" algn="ctr">
              <a:spcBef>
                <a:spcPts val="300"/>
              </a:spcBef>
              <a:buNone/>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FontTx/>
              <a:buNone/>
            </a:pPr>
            <a:r>
              <a:rPr lang="es-ES_tradnl" smtClean="0"/>
              <a:t>Haga clic para modificar el estilo de texto del patrón</a:t>
            </a:r>
          </a:p>
        </p:txBody>
      </p:sp>
      <p:sp>
        <p:nvSpPr>
          <p:cNvPr id="5" name="Date Placeholder 4"/>
          <p:cNvSpPr>
            <a:spLocks noGrp="1"/>
          </p:cNvSpPr>
          <p:nvPr>
            <p:ph type="dt" sz="half" idx="10"/>
          </p:nvPr>
        </p:nvSpPr>
        <p:spPr/>
        <p:txBody>
          <a:bodyPr/>
          <a:lstStyle/>
          <a:p>
            <a:fld id="{C3C17281-40A1-D144-9758-E193EEA61117}" type="datetime1">
              <a:rPr lang="es-ES" smtClean="0"/>
              <a:t>18/11/18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Guión gráfico">
    <p:spTree>
      <p:nvGrpSpPr>
        <p:cNvPr id="1" name=""/>
        <p:cNvGrpSpPr/>
        <p:nvPr/>
      </p:nvGrpSpPr>
      <p:grpSpPr>
        <a:xfrm>
          <a:off x="0" y="0"/>
          <a:ext cx="0" cy="0"/>
          <a:chOff x="0" y="0"/>
          <a:chExt cx="0" cy="0"/>
        </a:xfrm>
      </p:grpSpPr>
      <p:sp>
        <p:nvSpPr>
          <p:cNvPr id="2" name="Title 1"/>
          <p:cNvSpPr>
            <a:spLocks noGrp="1"/>
          </p:cNvSpPr>
          <p:nvPr>
            <p:ph type="title"/>
          </p:nvPr>
        </p:nvSpPr>
        <p:spPr>
          <a:xfrm>
            <a:off x="685800" y="4155141"/>
            <a:ext cx="7776882" cy="1013011"/>
          </a:xfrm>
        </p:spPr>
        <p:txBody>
          <a:bodyPr anchor="b">
            <a:noAutofit/>
          </a:bodyPr>
          <a:lstStyle>
            <a:lvl1pPr algn="ctr">
              <a:defRPr sz="3600" b="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a:lstStyle>
          <a:p>
            <a:r>
              <a:rPr lang="es-ES_tradnl" smtClean="0"/>
              <a:t>Clic para editar título</a:t>
            </a:r>
            <a:endParaRPr/>
          </a:p>
        </p:txBody>
      </p:sp>
      <p:sp>
        <p:nvSpPr>
          <p:cNvPr id="3" name="Picture Placeholder 2"/>
          <p:cNvSpPr>
            <a:spLocks noGrp="1"/>
          </p:cNvSpPr>
          <p:nvPr>
            <p:ph type="pic" idx="1"/>
          </p:nvPr>
        </p:nvSpPr>
        <p:spPr>
          <a:xfrm>
            <a:off x="685800" y="457200"/>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4" name="Text Placeholder 3"/>
          <p:cNvSpPr>
            <a:spLocks noGrp="1"/>
          </p:cNvSpPr>
          <p:nvPr>
            <p:ph type="body" sz="half" idx="2"/>
          </p:nvPr>
        </p:nvSpPr>
        <p:spPr>
          <a:xfrm>
            <a:off x="680571" y="5181599"/>
            <a:ext cx="7776882" cy="950259"/>
          </a:xfrm>
        </p:spPr>
        <p:txBody>
          <a:bodyPr vert="horz" lIns="91440" tIns="45720" rIns="91440" bIns="45720" rtlCol="0">
            <a:normAutofit/>
          </a:bodyPr>
          <a:lstStyle>
            <a:lvl1pPr marL="0" indent="0" algn="ctr">
              <a:spcBef>
                <a:spcPts val="300"/>
              </a:spcBef>
              <a:buNone/>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FontTx/>
              <a:buNone/>
            </a:pPr>
            <a:r>
              <a:rPr lang="es-ES_tradnl" smtClean="0"/>
              <a:t>Haga clic para modificar el estilo de texto del patrón</a:t>
            </a:r>
          </a:p>
        </p:txBody>
      </p:sp>
      <p:sp>
        <p:nvSpPr>
          <p:cNvPr id="5" name="Date Placeholder 4"/>
          <p:cNvSpPr>
            <a:spLocks noGrp="1"/>
          </p:cNvSpPr>
          <p:nvPr>
            <p:ph type="dt" sz="half" idx="10"/>
          </p:nvPr>
        </p:nvSpPr>
        <p:spPr/>
        <p:txBody>
          <a:bodyPr/>
          <a:lstStyle/>
          <a:p>
            <a:fld id="{C3D52D1C-CF74-EA4D-8736-EF33E4D6D58D}" type="datetime1">
              <a:rPr lang="es-ES" smtClean="0"/>
              <a:t>18/11/18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1F5A0A-F6FC-4FFD-9B49-0DA8697211D9}" type="slidenum">
              <a:rPr lang="en-US" smtClean="0"/>
              <a:t>‹Nr.›</a:t>
            </a:fld>
            <a:endParaRPr lang="en-US"/>
          </a:p>
        </p:txBody>
      </p:sp>
      <p:sp>
        <p:nvSpPr>
          <p:cNvPr id="11" name="Picture Placeholder 2"/>
          <p:cNvSpPr>
            <a:spLocks noGrp="1"/>
          </p:cNvSpPr>
          <p:nvPr>
            <p:ph type="pic" idx="13"/>
          </p:nvPr>
        </p:nvSpPr>
        <p:spPr>
          <a:xfrm>
            <a:off x="685800" y="2455433"/>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16" name="Picture Placeholder 2"/>
          <p:cNvSpPr>
            <a:spLocks noGrp="1"/>
          </p:cNvSpPr>
          <p:nvPr>
            <p:ph type="pic" idx="14"/>
          </p:nvPr>
        </p:nvSpPr>
        <p:spPr>
          <a:xfrm>
            <a:off x="3412490" y="457200"/>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17" name="Picture Placeholder 2"/>
          <p:cNvSpPr>
            <a:spLocks noGrp="1"/>
          </p:cNvSpPr>
          <p:nvPr>
            <p:ph type="pic" idx="15"/>
          </p:nvPr>
        </p:nvSpPr>
        <p:spPr>
          <a:xfrm>
            <a:off x="3412490" y="2455433"/>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18" name="Picture Placeholder 2"/>
          <p:cNvSpPr>
            <a:spLocks noGrp="1"/>
          </p:cNvSpPr>
          <p:nvPr>
            <p:ph type="pic" idx="16"/>
          </p:nvPr>
        </p:nvSpPr>
        <p:spPr>
          <a:xfrm>
            <a:off x="6139180" y="457200"/>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
        <p:nvSpPr>
          <p:cNvPr id="19" name="Picture Placeholder 2"/>
          <p:cNvSpPr>
            <a:spLocks noGrp="1"/>
          </p:cNvSpPr>
          <p:nvPr>
            <p:ph type="pic" idx="17"/>
          </p:nvPr>
        </p:nvSpPr>
        <p:spPr>
          <a:xfrm>
            <a:off x="6139180" y="2455433"/>
            <a:ext cx="2331720" cy="1645920"/>
          </a:xfrm>
          <a:solidFill>
            <a:schemeClr val="bg1">
              <a:lumMod val="75000"/>
              <a:lumOff val="25000"/>
            </a:schemeClr>
          </a:solidFill>
          <a:ln w="88900">
            <a:solidFill>
              <a:schemeClr val="tx1"/>
            </a:solidFill>
            <a:miter lim="800000"/>
          </a:ln>
          <a:effectLst>
            <a:outerShdw blurRad="127000" sx="102000" sy="102000" algn="ctr" rotWithShape="0">
              <a:prstClr val="black">
                <a:alpha val="40000"/>
              </a:prstClr>
            </a:outerShdw>
          </a:effectLst>
        </p:spPr>
        <p:txBody>
          <a:bodyPr vert="horz" lIns="91440" tIns="45720" rIns="91440" bIns="45720" rtlCol="0">
            <a:normAutofit/>
          </a:bodyPr>
          <a:lstStyle>
            <a:lvl1pPr marL="342900" indent="-342900" algn="l" defTabSz="914400" rtl="0" eaLnBrk="1" latinLnBrk="0" hangingPunct="1">
              <a:spcBef>
                <a:spcPts val="2000"/>
              </a:spcBef>
              <a:buFont typeface="Arial" pitchFamily="34" charset="0"/>
              <a:buNone/>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smtClean="0"/>
              <a:t>Clic para editar título</a:t>
            </a:r>
            <a:endParaRPr/>
          </a:p>
        </p:txBody>
      </p:sp>
      <p:sp>
        <p:nvSpPr>
          <p:cNvPr id="3" name="Vertical Text Placeholder 2"/>
          <p:cNvSpPr>
            <a:spLocks noGrp="1"/>
          </p:cNvSpPr>
          <p:nvPr>
            <p:ph type="body" orient="vert" idx="1"/>
          </p:nvPr>
        </p:nvSpPr>
        <p:spPr/>
        <p:txBody>
          <a:bodyPr vert="eaVert"/>
          <a:lstStyle>
            <a:lvl5pPr>
              <a:defRPr/>
            </a:lvl5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4" name="Date Placeholder 3"/>
          <p:cNvSpPr>
            <a:spLocks noGrp="1"/>
          </p:cNvSpPr>
          <p:nvPr>
            <p:ph type="dt" sz="half" idx="10"/>
          </p:nvPr>
        </p:nvSpPr>
        <p:spPr/>
        <p:txBody>
          <a:bodyPr/>
          <a:lstStyle/>
          <a:p>
            <a:fld id="{F921DB99-7352-D047-9342-C5917556E017}" type="datetime1">
              <a:rPr lang="es-ES" smtClean="0"/>
              <a:t>18/11/18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62800" y="533400"/>
            <a:ext cx="1600200" cy="5592763"/>
          </a:xfrm>
        </p:spPr>
        <p:txBody>
          <a:bodyPr vert="eaVert"/>
          <a:lstStyle/>
          <a:p>
            <a:r>
              <a:rPr lang="es-ES_tradnl" smtClean="0"/>
              <a:t>Clic para editar título</a:t>
            </a:r>
            <a:endParaRPr/>
          </a:p>
        </p:txBody>
      </p:sp>
      <p:sp>
        <p:nvSpPr>
          <p:cNvPr id="3" name="Vertical Text Placeholder 2"/>
          <p:cNvSpPr>
            <a:spLocks noGrp="1"/>
          </p:cNvSpPr>
          <p:nvPr>
            <p:ph type="body" orient="vert" idx="1"/>
          </p:nvPr>
        </p:nvSpPr>
        <p:spPr>
          <a:xfrm>
            <a:off x="685800" y="533400"/>
            <a:ext cx="6019800" cy="5592763"/>
          </a:xfrm>
        </p:spPr>
        <p:txBody>
          <a:bodyPr vert="eaVert"/>
          <a:lstStyle>
            <a:lvl5pPr>
              <a:defRPr/>
            </a:lvl5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4" name="Date Placeholder 3"/>
          <p:cNvSpPr>
            <a:spLocks noGrp="1"/>
          </p:cNvSpPr>
          <p:nvPr>
            <p:ph type="dt" sz="half" idx="10"/>
          </p:nvPr>
        </p:nvSpPr>
        <p:spPr/>
        <p:txBody>
          <a:bodyPr/>
          <a:lstStyle/>
          <a:p>
            <a:fld id="{B8B2CAF2-C75E-C94E-BE0D-0F7AC32AD649}" type="datetime1">
              <a:rPr lang="es-ES" smtClean="0"/>
              <a:t>18/11/18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1F5A0A-F6FC-4FFD-9B49-0DA8697211D9}" type="slidenum">
              <a:rPr lang="en-US" smtClean="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121023"/>
            <a:ext cx="7770813" cy="1429871"/>
          </a:xfrm>
          <a:prstGeom prst="rect">
            <a:avLst/>
          </a:prstGeom>
        </p:spPr>
        <p:txBody>
          <a:bodyPr vert="horz" lIns="91440" tIns="45720" rIns="91440" bIns="45720" rtlCol="0" anchor="ctr" anchorCtr="0">
            <a:normAutofit/>
          </a:bodyPr>
          <a:lstStyle/>
          <a:p>
            <a:r>
              <a:rPr lang="es-ES_tradnl" smtClean="0"/>
              <a:t>Clic para editar título</a:t>
            </a:r>
            <a:endParaRPr/>
          </a:p>
        </p:txBody>
      </p:sp>
      <p:sp>
        <p:nvSpPr>
          <p:cNvPr id="3" name="Text Placeholder 2"/>
          <p:cNvSpPr>
            <a:spLocks noGrp="1"/>
          </p:cNvSpPr>
          <p:nvPr>
            <p:ph type="body" idx="1"/>
          </p:nvPr>
        </p:nvSpPr>
        <p:spPr>
          <a:xfrm>
            <a:off x="685800" y="1752600"/>
            <a:ext cx="7770813" cy="4373563"/>
          </a:xfrm>
          <a:prstGeom prst="rect">
            <a:avLst/>
          </a:prstGeom>
        </p:spPr>
        <p:txBody>
          <a:bodyPr vert="horz" lIns="91440" tIns="45720" rIns="91440" bIns="45720" rtlCol="0">
            <a:normAutofit/>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dirty="0"/>
          </a:p>
        </p:txBody>
      </p:sp>
      <p:sp>
        <p:nvSpPr>
          <p:cNvPr id="4" name="Date Placeholder 3"/>
          <p:cNvSpPr>
            <a:spLocks noGrp="1"/>
          </p:cNvSpPr>
          <p:nvPr>
            <p:ph type="dt" sz="half" idx="2"/>
          </p:nvPr>
        </p:nvSpPr>
        <p:spPr>
          <a:xfrm>
            <a:off x="6620435" y="6356350"/>
            <a:ext cx="2133600" cy="365125"/>
          </a:xfrm>
          <a:prstGeom prst="rect">
            <a:avLst/>
          </a:prstGeom>
        </p:spPr>
        <p:txBody>
          <a:bodyPr vert="horz" lIns="91440" tIns="45720" rIns="91440" bIns="45720" rtlCol="0" anchor="ctr"/>
          <a:lstStyle>
            <a:lvl1pPr algn="r">
              <a:defRPr sz="1200">
                <a:solidFill>
                  <a:schemeClr val="tx1">
                    <a:tint val="75000"/>
                  </a:schemeClr>
                </a:solidFill>
                <a:effectLst>
                  <a:outerShdw blurRad="50800" dist="38100" dir="5400000" sx="101000" sy="101000" algn="t" rotWithShape="0">
                    <a:prstClr val="black">
                      <a:alpha val="40000"/>
                    </a:prstClr>
                  </a:outerShdw>
                </a:effectLst>
              </a:defRPr>
            </a:lvl1pPr>
          </a:lstStyle>
          <a:p>
            <a:fld id="{EE7C9CA8-1F79-D840-A538-8D3B927DB231}" type="datetime1">
              <a:rPr lang="es-ES" smtClean="0"/>
              <a:t>18/11/18</a:t>
            </a:fld>
            <a:endParaRPr lang="en-US"/>
          </a:p>
        </p:txBody>
      </p:sp>
      <p:sp>
        <p:nvSpPr>
          <p:cNvPr id="5" name="Footer Placeholder 4"/>
          <p:cNvSpPr>
            <a:spLocks noGrp="1"/>
          </p:cNvSpPr>
          <p:nvPr>
            <p:ph type="ftr" sz="quarter" idx="3"/>
          </p:nvPr>
        </p:nvSpPr>
        <p:spPr>
          <a:xfrm>
            <a:off x="354105" y="6356350"/>
            <a:ext cx="2895600" cy="365125"/>
          </a:xfrm>
          <a:prstGeom prst="rect">
            <a:avLst/>
          </a:prstGeom>
        </p:spPr>
        <p:txBody>
          <a:bodyPr vert="horz" lIns="91440" tIns="45720" rIns="91440" bIns="45720" rtlCol="0" anchor="ctr"/>
          <a:lstStyle>
            <a:lvl1pPr algn="l">
              <a:defRPr sz="1200">
                <a:solidFill>
                  <a:schemeClr val="tx1">
                    <a:tint val="75000"/>
                  </a:schemeClr>
                </a:solidFill>
                <a:effectLst>
                  <a:outerShdw blurRad="50800" dist="38100" dir="5400000" sx="101000" sy="101000" algn="t" rotWithShape="0">
                    <a:prstClr val="black">
                      <a:alpha val="40000"/>
                    </a:prstClr>
                  </a:outerShdw>
                </a:effectLst>
              </a:defRPr>
            </a:lvl1pPr>
          </a:lstStyle>
          <a:p>
            <a:endParaRPr lang="en-US"/>
          </a:p>
        </p:txBody>
      </p:sp>
      <p:sp>
        <p:nvSpPr>
          <p:cNvPr id="6" name="Slide Number Placeholder 5"/>
          <p:cNvSpPr>
            <a:spLocks noGrp="1"/>
          </p:cNvSpPr>
          <p:nvPr>
            <p:ph type="sldNum" sz="quarter" idx="4"/>
          </p:nvPr>
        </p:nvSpPr>
        <p:spPr>
          <a:xfrm>
            <a:off x="4229100" y="6356350"/>
            <a:ext cx="685800" cy="365125"/>
          </a:xfrm>
          <a:prstGeom prst="rect">
            <a:avLst/>
          </a:prstGeom>
        </p:spPr>
        <p:txBody>
          <a:bodyPr vert="horz" lIns="91440" tIns="45720" rIns="91440" bIns="45720" rtlCol="0" anchor="ctr"/>
          <a:lstStyle>
            <a:lvl1pPr algn="ctr">
              <a:defRPr sz="1200">
                <a:solidFill>
                  <a:schemeClr val="tx1">
                    <a:tint val="75000"/>
                  </a:schemeClr>
                </a:solidFill>
                <a:effectLst>
                  <a:outerShdw blurRad="50800" dist="38100" dir="5400000" sx="101000" sy="101000" algn="t" rotWithShape="0">
                    <a:prstClr val="black">
                      <a:alpha val="40000"/>
                    </a:prstClr>
                  </a:outerShdw>
                </a:effectLst>
              </a:defRPr>
            </a:lvl1pPr>
          </a:lstStyle>
          <a:p>
            <a:fld id="{9C1F5A0A-F6FC-4FFD-9B49-0DA8697211D9}" type="slidenum">
              <a:rPr lang="en-US" smtClean="0"/>
              <a:t>‹Nr.›</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ctr" defTabSz="914400" rtl="0" eaLnBrk="1" latinLnBrk="0" hangingPunct="1">
        <a:spcBef>
          <a:spcPct val="0"/>
        </a:spcBef>
        <a:buNone/>
        <a:defRPr sz="4800" kern="1200">
          <a:solidFill>
            <a:schemeClr val="tx1"/>
          </a:solidFill>
          <a:effectLst>
            <a:outerShdw blurRad="50800" dist="50800" dir="5400000" sx="101000" sy="101000" algn="t" rotWithShape="0">
              <a:prstClr val="black">
                <a:alpha val="40000"/>
              </a:prstClr>
            </a:outerShdw>
          </a:effectLst>
          <a:latin typeface="+mj-lt"/>
          <a:ea typeface="+mj-ea"/>
          <a:cs typeface="+mj-cs"/>
        </a:defRPr>
      </a:lvl1pPr>
    </p:titleStyle>
    <p:bodyStyle>
      <a:lvl1pPr marL="342900" indent="-342900" algn="l" defTabSz="914400" rtl="0" eaLnBrk="1" latinLnBrk="0" hangingPunct="1">
        <a:spcBef>
          <a:spcPts val="2000"/>
        </a:spcBef>
        <a:buFontTx/>
        <a:buBlip>
          <a:blip r:embed="rId16"/>
        </a:buBlip>
        <a:defRPr sz="2200" kern="1200">
          <a:solidFill>
            <a:schemeClr val="tx1"/>
          </a:solidFill>
          <a:effectLst>
            <a:outerShdw blurRad="50800" dist="50800" dir="5400000" sx="101000" sy="101000" algn="t" rotWithShape="0">
              <a:prstClr val="black">
                <a:alpha val="40000"/>
              </a:prstClr>
            </a:outerShdw>
          </a:effectLst>
          <a:latin typeface="+mn-lt"/>
          <a:ea typeface="+mn-ea"/>
          <a:cs typeface="+mn-cs"/>
        </a:defRPr>
      </a:lvl1pPr>
      <a:lvl2pPr marL="685800" indent="-336550" algn="l" defTabSz="914400" rtl="0" eaLnBrk="1" latinLnBrk="0" hangingPunct="1">
        <a:spcBef>
          <a:spcPts val="600"/>
        </a:spcBef>
        <a:buFontTx/>
        <a:buBlip>
          <a:blip r:embed="rId16"/>
        </a:buBlip>
        <a:defRPr sz="2000" kern="1200">
          <a:solidFill>
            <a:schemeClr val="tx1"/>
          </a:solidFill>
          <a:effectLst>
            <a:outerShdw blurRad="50800" dist="50800" dir="5400000" sx="101000" sy="101000" algn="t" rotWithShape="0">
              <a:prstClr val="black">
                <a:alpha val="40000"/>
              </a:prstClr>
            </a:outerShdw>
          </a:effectLst>
          <a:latin typeface="+mn-lt"/>
          <a:ea typeface="+mn-ea"/>
          <a:cs typeface="+mn-cs"/>
        </a:defRPr>
      </a:lvl2pPr>
      <a:lvl3pPr marL="1035050" indent="-349250" algn="l" defTabSz="914400" rtl="0" eaLnBrk="1" latinLnBrk="0" hangingPunct="1">
        <a:spcBef>
          <a:spcPts val="600"/>
        </a:spcBef>
        <a:buFontTx/>
        <a:buBlip>
          <a:blip r:embed="rId16"/>
        </a:buBlip>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3pPr>
      <a:lvl4pPr marL="1371600" indent="-336550" algn="l" defTabSz="914400" rtl="0" eaLnBrk="1" latinLnBrk="0" hangingPunct="1">
        <a:spcBef>
          <a:spcPts val="600"/>
        </a:spcBef>
        <a:buFontTx/>
        <a:buBlip>
          <a:blip r:embed="rId16"/>
        </a:buBlip>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4pPr>
      <a:lvl5pPr marL="1720850" indent="-349250" algn="l" defTabSz="914400" rtl="0" eaLnBrk="1" latinLnBrk="0" hangingPunct="1">
        <a:spcBef>
          <a:spcPts val="600"/>
        </a:spcBef>
        <a:buFontTx/>
        <a:buBlip>
          <a:blip r:embed="rId16"/>
        </a:buBlip>
        <a:defRPr sz="1800" kern="1200">
          <a:solidFill>
            <a:schemeClr val="tx1"/>
          </a:solidFill>
          <a:effectLst>
            <a:outerShdw blurRad="50800" dist="50800" dir="5400000" sx="101000" sy="101000" algn="t" rotWithShape="0">
              <a:prstClr val="black">
                <a:alpha val="40000"/>
              </a:prstClr>
            </a:outerShdw>
          </a:effectLst>
          <a:latin typeface="+mn-lt"/>
          <a:ea typeface="+mn-ea"/>
          <a:cs typeface="+mn-cs"/>
        </a:defRPr>
      </a:lvl5pPr>
      <a:lvl6pPr marL="2055813" indent="-336550" algn="l" defTabSz="914400" rtl="0" eaLnBrk="1" latinLnBrk="0" hangingPunct="1">
        <a:spcBef>
          <a:spcPct val="20000"/>
        </a:spcBef>
        <a:buFontTx/>
        <a:buBlip>
          <a:blip r:embed="rId16"/>
        </a:buBlip>
        <a:defRPr lang="en-US" sz="1800" kern="1200" dirty="0" smtClean="0">
          <a:solidFill>
            <a:schemeClr val="tx1"/>
          </a:solidFill>
          <a:effectLst>
            <a:outerShdw blurRad="50800" dist="50800" dir="5400000" sx="101000" sy="101000" algn="t" rotWithShape="0">
              <a:prstClr val="black">
                <a:alpha val="40000"/>
              </a:prstClr>
            </a:outerShdw>
          </a:effectLst>
          <a:latin typeface="+mn-lt"/>
          <a:ea typeface="+mn-ea"/>
          <a:cs typeface="+mn-cs"/>
        </a:defRPr>
      </a:lvl6pPr>
      <a:lvl7pPr marL="2398713" indent="-336550" algn="l" defTabSz="914400" rtl="0" eaLnBrk="1" latinLnBrk="0" hangingPunct="1">
        <a:spcBef>
          <a:spcPct val="20000"/>
        </a:spcBef>
        <a:buFontTx/>
        <a:buBlip>
          <a:blip r:embed="rId16"/>
        </a:buBlip>
        <a:defRPr lang="en-US" sz="1800" kern="1200" dirty="0" smtClean="0">
          <a:solidFill>
            <a:schemeClr val="tx1"/>
          </a:solidFill>
          <a:effectLst>
            <a:outerShdw blurRad="50800" dist="50800" dir="5400000" sx="101000" sy="101000" algn="t" rotWithShape="0">
              <a:prstClr val="black">
                <a:alpha val="40000"/>
              </a:prstClr>
            </a:outerShdw>
          </a:effectLst>
          <a:latin typeface="+mn-lt"/>
          <a:ea typeface="+mn-ea"/>
          <a:cs typeface="+mn-cs"/>
        </a:defRPr>
      </a:lvl7pPr>
      <a:lvl8pPr marL="2743200" indent="-336550" algn="l" defTabSz="914400" rtl="0" eaLnBrk="1" latinLnBrk="0" hangingPunct="1">
        <a:spcBef>
          <a:spcPct val="20000"/>
        </a:spcBef>
        <a:buFontTx/>
        <a:buBlip>
          <a:blip r:embed="rId16"/>
        </a:buBlip>
        <a:defRPr lang="en-US" sz="1800" kern="1200" dirty="0" smtClean="0">
          <a:solidFill>
            <a:schemeClr val="tx1"/>
          </a:solidFill>
          <a:effectLst>
            <a:outerShdw blurRad="50800" dist="50800" dir="5400000" sx="101000" sy="101000" algn="t" rotWithShape="0">
              <a:prstClr val="black">
                <a:alpha val="40000"/>
              </a:prstClr>
            </a:outerShdw>
          </a:effectLst>
          <a:latin typeface="+mn-lt"/>
          <a:ea typeface="+mn-ea"/>
          <a:cs typeface="+mn-cs"/>
        </a:defRPr>
      </a:lvl8pPr>
      <a:lvl9pPr marL="3087688" indent="-336550" algn="l" defTabSz="914400" rtl="0" eaLnBrk="1" latinLnBrk="0" hangingPunct="1">
        <a:spcBef>
          <a:spcPct val="20000"/>
        </a:spcBef>
        <a:buFontTx/>
        <a:buBlip>
          <a:blip r:embed="rId16"/>
        </a:buBlip>
        <a:defRPr lang="en-US" sz="1800" kern="1200" dirty="0">
          <a:solidFill>
            <a:schemeClr val="tx1"/>
          </a:solidFill>
          <a:effectLst>
            <a:outerShdw blurRad="50800" dist="50800" dir="5400000" sx="101000" sy="101000" algn="t" rotWithShape="0">
              <a:prstClr val="black">
                <a:alpha val="40000"/>
              </a:prstClr>
            </a:outerShdw>
          </a:effectLst>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png"/><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7.png"/><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8.png"/><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9.png"/><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0.png"/><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5.png"/><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9.png"/><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github.com/WebComponents/webcomponentsjs" TargetMode="External"/><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hyperlink" Target="https://www.html5rocks.com/en/tutorials/webcomponents/imports/" TargetMode="External"/><Relationship Id="rId5"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0.png"/><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www.polymer-project.org" TargetMode="External"/><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polygit.org/components/polymer/polymer-element.html" TargetMode="External"/><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lit-element.polymer-project.org/" TargetMode="External"/><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www.polymer-project.org/3.0/start/install-3-0" TargetMode="External"/><Relationship Id="rId6" Type="http://schemas.openxmlformats.org/officeDocument/2006/relationships/hyperlink" Target="https://www.polymer-project.org/2.0/docs/tools/polymer-cli%23windows-10" TargetMode="External"/><Relationship Id="rId1" Type="http://schemas.openxmlformats.org/officeDocument/2006/relationships/slideLayout" Target="../slideLayouts/slideLayout1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polymer-library.polymer-project.org/3.0/docs/tools/polymer-cli-commands" TargetMode="External"/><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4.png"/><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polymer-library.polymer-project.org/3.0/docs/tools/polymer-json" TargetMode="External"/><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developer.mozilla.org/en-US/docs/Web/Apps/Progressive" TargetMode="External"/><Relationship Id="rId6" Type="http://schemas.openxmlformats.org/officeDocument/2006/relationships/hyperlink" Target="https://developer.mozilla.org/es/docs/Web/Manifest" TargetMode="External"/><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polymer-library.polymer-project.org/3.0/docs/tools/polymer-cli-commands%23lint" TargetMode="External"/><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polymer-library.polymer-project.org/3.0/docs/apps/build-for-production" TargetMode="External"/><Relationship Id="rId1" Type="http://schemas.openxmlformats.org/officeDocument/2006/relationships/slideLayout" Target="../slideLayouts/slideLayout1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polymer-library.polymer-project.org/3.0/docs/upgrade" TargetMode="External"/><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hyperlink" Target="https://stackblitz.com/edit/lifecycle-monitor" TargetMode="External"/><Relationship Id="rId5"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polymer-library.polymer-project.org/2.0/docs/devguide/properties" TargetMode="External"/><Relationship Id="rId1" Type="http://schemas.openxmlformats.org/officeDocument/2006/relationships/slideLayout" Target="../slideLayouts/slideLayout1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hyperlink" Target="https://stackblitz.com/edit/propiedades-reflecttoattribute" TargetMode="External"/><Relationship Id="rId5"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hyperlink" Target="https://stackblitz.com/edit/propiedades-serializacion-reflecttoattribute" TargetMode="External"/><Relationship Id="rId5"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polymer-library.polymer-project.org/3.0/docs/devguide/data-binding" TargetMode="External"/><Relationship Id="rId1" Type="http://schemas.openxmlformats.org/officeDocument/2006/relationships/slideLayout" Target="../slideLayouts/slideLayout1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hyperlink" Target="https://stackblitz.com/edit/databinding-binding-del-componente" TargetMode="External"/><Relationship Id="rId5"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hyperlink" Target="https://stackblitz.com/edit/databinding-binding-entre-componentes" TargetMode="External"/><Relationship Id="rId5"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hyperlink" Target="https://stackblitz.com/edit/databinding-binding-a-atributos" TargetMode="External"/><Relationship Id="rId5"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hyperlink" Target="https://stackblitz.com/edit/databinding-binding-bidireccional-con-notify" TargetMode="External"/><Relationship Id="rId5"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polymer-library.polymer-project.org/3.0/docs/devguide/observers" TargetMode="External"/><Relationship Id="rId1" Type="http://schemas.openxmlformats.org/officeDocument/2006/relationships/slideLayout" Target="../slideLayouts/slideLayout1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polymer-library.polymer-project.org/3.0/docs/devguide/model-data%23array-mutation" TargetMode="External"/><Relationship Id="rId1" Type="http://schemas.openxmlformats.org/officeDocument/2006/relationships/slideLayout" Target="../slideLayouts/slideLayout1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www.polymer-project.org/blog/routing" TargetMode="External"/><Relationship Id="rId1" Type="http://schemas.openxmlformats.org/officeDocument/2006/relationships/slideLayout" Target="../slideLayouts/slideLayout1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5.png"/><Relationship Id="rId6" Type="http://schemas.openxmlformats.org/officeDocument/2006/relationships/image" Target="../media/image26.png"/><Relationship Id="rId1" Type="http://schemas.openxmlformats.org/officeDocument/2006/relationships/slideLayout" Target="../slideLayouts/slideLayout1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material.io/" TargetMode="External"/><Relationship Id="rId1" Type="http://schemas.openxmlformats.org/officeDocument/2006/relationships/slideLayout" Target="../slideLayouts/slideLayout1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polymer-library.polymer-project.org/3.0/docs/devguide/style-shadow-dom" TargetMode="External"/><Relationship Id="rId1" Type="http://schemas.openxmlformats.org/officeDocument/2006/relationships/slideLayout" Target="../slideLayouts/slideLayout1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1" Type="http://schemas.openxmlformats.org/officeDocument/2006/relationships/slideLayout" Target="../slideLayouts/slideLayout1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alligator.io/web-components/composing-slots-named-slots/" TargetMode="External"/><Relationship Id="rId1" Type="http://schemas.openxmlformats.org/officeDocument/2006/relationships/slideLayout" Target="../slideLayouts/slideLayout13.xml"/><Relationship Id="rId2" Type="http://schemas.openxmlformats.org/officeDocument/2006/relationships/notesSlide" Target="../notesSlides/notesSlide10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12" name="CuadroTexto 11"/>
          <p:cNvSpPr txBox="1"/>
          <p:nvPr/>
        </p:nvSpPr>
        <p:spPr>
          <a:xfrm>
            <a:off x="1753810" y="969230"/>
            <a:ext cx="5263021" cy="646331"/>
          </a:xfrm>
          <a:prstGeom prst="rect">
            <a:avLst/>
          </a:prstGeom>
          <a:noFill/>
        </p:spPr>
        <p:txBody>
          <a:bodyPr wrap="square" rtlCol="0">
            <a:spAutoFit/>
          </a:bodyPr>
          <a:lstStyle/>
          <a:p>
            <a:pPr algn="ctr"/>
            <a:r>
              <a:rPr lang="es-ES" sz="3600" u="sng" dirty="0" err="1" smtClean="0">
                <a:latin typeface="Arial Black"/>
                <a:cs typeface="Arial Black"/>
              </a:rPr>
              <a:t>Polymer</a:t>
            </a:r>
            <a:endParaRPr lang="es-ES" sz="3600" u="sng" dirty="0">
              <a:latin typeface="Arial Black"/>
              <a:cs typeface="Arial Black"/>
            </a:endParaRPr>
          </a:p>
        </p:txBody>
      </p:sp>
      <p:sp>
        <p:nvSpPr>
          <p:cNvPr id="19" name="Rectángulo 18"/>
          <p:cNvSpPr/>
          <p:nvPr/>
        </p:nvSpPr>
        <p:spPr>
          <a:xfrm>
            <a:off x="5727757" y="6359088"/>
            <a:ext cx="3239682" cy="338554"/>
          </a:xfrm>
          <a:prstGeom prst="rect">
            <a:avLst/>
          </a:prstGeom>
        </p:spPr>
        <p:txBody>
          <a:bodyPr wrap="square">
            <a:spAutoFit/>
          </a:bodyPr>
          <a:lstStyle/>
          <a:p>
            <a:pPr algn="ctr"/>
            <a:r>
              <a:rPr lang="es-ES" sz="1600" u="sng" dirty="0" smtClean="0">
                <a:latin typeface="Helvetica"/>
                <a:ea typeface="Lucida Grande"/>
                <a:cs typeface="Helvetica"/>
              </a:rPr>
              <a:t>Felipe Martínez Álvarez @2018 </a:t>
            </a:r>
            <a:endParaRPr lang="es-ES" sz="1600" u="sng" dirty="0">
              <a:latin typeface="Helvetica"/>
              <a:cs typeface="Helvetica"/>
            </a:endParaRPr>
          </a:p>
        </p:txBody>
      </p:sp>
      <p:pic>
        <p:nvPicPr>
          <p:cNvPr id="2" name="Imagen 1"/>
          <p:cNvPicPr>
            <a:picLocks noChangeAspect="1"/>
          </p:cNvPicPr>
          <p:nvPr/>
        </p:nvPicPr>
        <p:blipFill>
          <a:blip r:embed="rId3"/>
          <a:stretch>
            <a:fillRect/>
          </a:stretch>
        </p:blipFill>
        <p:spPr>
          <a:xfrm>
            <a:off x="2602086" y="2167753"/>
            <a:ext cx="3639056" cy="2531517"/>
          </a:xfrm>
          <a:prstGeom prst="rect">
            <a:avLst/>
          </a:prstGeom>
        </p:spPr>
      </p:pic>
      <p:sp>
        <p:nvSpPr>
          <p:cNvPr id="5" name="Marcador de número de diapositiva 4"/>
          <p:cNvSpPr>
            <a:spLocks noGrp="1"/>
          </p:cNvSpPr>
          <p:nvPr>
            <p:ph type="sldNum" sz="quarter" idx="12"/>
          </p:nvPr>
        </p:nvSpPr>
        <p:spPr/>
        <p:txBody>
          <a:bodyPr/>
          <a:lstStyle/>
          <a:p>
            <a:fld id="{9C1F5A0A-F6FC-4FFD-9B49-0DA8697211D9}" type="slidenum">
              <a:rPr lang="en-US" smtClean="0"/>
              <a:t>1</a:t>
            </a:fld>
            <a:endParaRPr lang="en-US"/>
          </a:p>
        </p:txBody>
      </p:sp>
    </p:spTree>
    <p:extLst>
      <p:ext uri="{BB962C8B-B14F-4D97-AF65-F5344CB8AC3E}">
        <p14:creationId xmlns:p14="http://schemas.microsoft.com/office/powerpoint/2010/main" val="3268153829"/>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Introducción</a:t>
            </a:r>
            <a:endParaRPr lang="es-ES" sz="2000" dirty="0">
              <a:solidFill>
                <a:srgbClr val="FFFFFF"/>
              </a:solidFill>
              <a:latin typeface="Helvetica"/>
              <a:cs typeface="Helvetica"/>
            </a:endParaRPr>
          </a:p>
        </p:txBody>
      </p:sp>
      <p:sp>
        <p:nvSpPr>
          <p:cNvPr id="20" name="Rectángulo 19"/>
          <p:cNvSpPr/>
          <p:nvPr/>
        </p:nvSpPr>
        <p:spPr>
          <a:xfrm>
            <a:off x="492433" y="1614742"/>
            <a:ext cx="8202871" cy="438582"/>
          </a:xfrm>
          <a:prstGeom prst="rect">
            <a:avLst/>
          </a:prstGeom>
        </p:spPr>
        <p:txBody>
          <a:bodyPr wrap="square">
            <a:spAutoFit/>
          </a:bodyPr>
          <a:lstStyle/>
          <a:p>
            <a:pPr algn="just">
              <a:lnSpc>
                <a:spcPct val="130000"/>
              </a:lnSpc>
            </a:pPr>
            <a:r>
              <a:rPr lang="es-ES" dirty="0" smtClean="0">
                <a:solidFill>
                  <a:srgbClr val="FFFFFF"/>
                </a:solidFill>
                <a:latin typeface="Helvetica"/>
                <a:cs typeface="Helvetica"/>
              </a:rPr>
              <a:t> </a:t>
            </a:r>
            <a:endParaRPr lang="es-ES"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Introducción</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pic>
        <p:nvPicPr>
          <p:cNvPr id="15" name="Imagen 14"/>
          <p:cNvPicPr>
            <a:picLocks noChangeAspect="1"/>
          </p:cNvPicPr>
          <p:nvPr/>
        </p:nvPicPr>
        <p:blipFill>
          <a:blip r:embed="rId5"/>
          <a:stretch>
            <a:fillRect/>
          </a:stretch>
        </p:blipFill>
        <p:spPr>
          <a:xfrm>
            <a:off x="505396" y="1825824"/>
            <a:ext cx="7739743" cy="2602847"/>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2</a:t>
            </a:fld>
            <a:endParaRPr lang="en-US"/>
          </a:p>
        </p:txBody>
      </p:sp>
    </p:spTree>
    <p:extLst>
      <p:ext uri="{BB962C8B-B14F-4D97-AF65-F5344CB8AC3E}">
        <p14:creationId xmlns:p14="http://schemas.microsoft.com/office/powerpoint/2010/main" val="3700519645"/>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a:latin typeface="Arial Black"/>
                <a:cs typeface="Arial Black"/>
              </a:rPr>
              <a:t>ECMAScript</a:t>
            </a:r>
            <a:r>
              <a:rPr lang="es-ES" sz="2200" u="sng" dirty="0">
                <a:latin typeface="Arial Black"/>
                <a:cs typeface="Arial Black"/>
              </a:rPr>
              <a:t> v6 </a:t>
            </a:r>
            <a:r>
              <a:rPr lang="es-ES" sz="2200" u="sng" dirty="0" smtClean="0">
                <a:latin typeface="Arial Black"/>
                <a:cs typeface="Arial Black"/>
              </a:rPr>
              <a:t>&gt; Historia</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pic>
        <p:nvPicPr>
          <p:cNvPr id="11" name="Imagen 10"/>
          <p:cNvPicPr>
            <a:picLocks noChangeAspect="1"/>
          </p:cNvPicPr>
          <p:nvPr/>
        </p:nvPicPr>
        <p:blipFill>
          <a:blip r:embed="rId5"/>
          <a:stretch>
            <a:fillRect/>
          </a:stretch>
        </p:blipFill>
        <p:spPr>
          <a:xfrm>
            <a:off x="1187539" y="2077956"/>
            <a:ext cx="6350000" cy="3009900"/>
          </a:xfrm>
          <a:prstGeom prst="rect">
            <a:avLst/>
          </a:prstGeom>
        </p:spPr>
      </p:pic>
      <p:sp>
        <p:nvSpPr>
          <p:cNvPr id="12" name="Marcador de número de diapositiva 11"/>
          <p:cNvSpPr>
            <a:spLocks noGrp="1"/>
          </p:cNvSpPr>
          <p:nvPr>
            <p:ph type="sldNum" sz="quarter" idx="12"/>
          </p:nvPr>
        </p:nvSpPr>
        <p:spPr/>
        <p:txBody>
          <a:bodyPr/>
          <a:lstStyle/>
          <a:p>
            <a:fld id="{9C1F5A0A-F6FC-4FFD-9B49-0DA8697211D9}" type="slidenum">
              <a:rPr lang="en-US" smtClean="0"/>
              <a:t>3</a:t>
            </a:fld>
            <a:endParaRPr lang="en-US"/>
          </a:p>
        </p:txBody>
      </p:sp>
    </p:spTree>
    <p:extLst>
      <p:ext uri="{BB962C8B-B14F-4D97-AF65-F5344CB8AC3E}">
        <p14:creationId xmlns:p14="http://schemas.microsoft.com/office/powerpoint/2010/main" val="4290930787"/>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a:latin typeface="Arial Black"/>
                <a:cs typeface="Arial Black"/>
              </a:rPr>
              <a:t>ECMAScript</a:t>
            </a:r>
            <a:r>
              <a:rPr lang="es-ES" sz="2200" u="sng" dirty="0">
                <a:latin typeface="Arial Black"/>
                <a:cs typeface="Arial Black"/>
              </a:rPr>
              <a:t> v6 </a:t>
            </a:r>
            <a:r>
              <a:rPr lang="es-ES" sz="2200" u="sng" dirty="0" smtClean="0">
                <a:latin typeface="Arial Black"/>
                <a:cs typeface="Arial Black"/>
              </a:rPr>
              <a:t>&gt; Historia</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pic>
        <p:nvPicPr>
          <p:cNvPr id="3" name="Imagen 2"/>
          <p:cNvPicPr>
            <a:picLocks noChangeAspect="1"/>
          </p:cNvPicPr>
          <p:nvPr/>
        </p:nvPicPr>
        <p:blipFill>
          <a:blip r:embed="rId5"/>
          <a:stretch>
            <a:fillRect/>
          </a:stretch>
        </p:blipFill>
        <p:spPr>
          <a:xfrm>
            <a:off x="1305474" y="2052556"/>
            <a:ext cx="6350000" cy="3060700"/>
          </a:xfrm>
          <a:prstGeom prst="rect">
            <a:avLst/>
          </a:prstGeom>
        </p:spPr>
      </p:pic>
      <p:sp>
        <p:nvSpPr>
          <p:cNvPr id="12" name="Marcador de número de diapositiva 11"/>
          <p:cNvSpPr>
            <a:spLocks noGrp="1"/>
          </p:cNvSpPr>
          <p:nvPr>
            <p:ph type="sldNum" sz="quarter" idx="12"/>
          </p:nvPr>
        </p:nvSpPr>
        <p:spPr/>
        <p:txBody>
          <a:bodyPr/>
          <a:lstStyle/>
          <a:p>
            <a:fld id="{9C1F5A0A-F6FC-4FFD-9B49-0DA8697211D9}" type="slidenum">
              <a:rPr lang="en-US" smtClean="0"/>
              <a:t>4</a:t>
            </a:fld>
            <a:endParaRPr lang="en-US"/>
          </a:p>
        </p:txBody>
      </p:sp>
    </p:spTree>
    <p:extLst>
      <p:ext uri="{BB962C8B-B14F-4D97-AF65-F5344CB8AC3E}">
        <p14:creationId xmlns:p14="http://schemas.microsoft.com/office/powerpoint/2010/main" val="342631231"/>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a:latin typeface="Arial Black"/>
                <a:cs typeface="Arial Black"/>
              </a:rPr>
              <a:t>ECMAScript</a:t>
            </a:r>
            <a:r>
              <a:rPr lang="es-ES" sz="2200" u="sng" dirty="0">
                <a:latin typeface="Arial Black"/>
                <a:cs typeface="Arial Black"/>
              </a:rPr>
              <a:t> v6 </a:t>
            </a:r>
            <a:r>
              <a:rPr lang="es-ES" sz="2200" u="sng" dirty="0" smtClean="0">
                <a:latin typeface="Arial Black"/>
                <a:cs typeface="Arial Black"/>
              </a:rPr>
              <a:t>&gt; Activar Funciones Experimentales</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798680"/>
          </a:xfrm>
          <a:prstGeom prst="rect">
            <a:avLst/>
          </a:prstGeom>
        </p:spPr>
        <p:txBody>
          <a:bodyPr wrap="square">
            <a:spAutoFit/>
          </a:bodyPr>
          <a:lstStyle/>
          <a:p>
            <a:pPr algn="just">
              <a:lnSpc>
                <a:spcPct val="130000"/>
              </a:lnSpc>
            </a:pPr>
            <a:r>
              <a:rPr lang="es-ES" dirty="0">
                <a:solidFill>
                  <a:srgbClr val="FFFFFF"/>
                </a:solidFill>
                <a:latin typeface="Helvetica"/>
                <a:cs typeface="Helvetica"/>
              </a:rPr>
              <a:t>Para probar directamente código ES6 en la consola de tu navegador. Escribe en la barra de direcciones </a:t>
            </a:r>
            <a:r>
              <a:rPr lang="es-ES" dirty="0" err="1">
                <a:solidFill>
                  <a:srgbClr val="FFFFFF"/>
                </a:solidFill>
                <a:latin typeface="Helvetica"/>
                <a:cs typeface="Helvetica"/>
              </a:rPr>
              <a:t>chrome</a:t>
            </a:r>
            <a:r>
              <a:rPr lang="es-ES" dirty="0">
                <a:solidFill>
                  <a:srgbClr val="FFFFFF"/>
                </a:solidFill>
                <a:latin typeface="Helvetica"/>
                <a:cs typeface="Helvetica"/>
              </a:rPr>
              <a:t>://</a:t>
            </a:r>
            <a:r>
              <a:rPr lang="es-ES" dirty="0" err="1">
                <a:solidFill>
                  <a:srgbClr val="FFFFFF"/>
                </a:solidFill>
                <a:latin typeface="Helvetica"/>
                <a:cs typeface="Helvetica"/>
              </a:rPr>
              <a:t>flags</a:t>
            </a:r>
            <a:r>
              <a:rPr lang="es-ES" dirty="0">
                <a:solidFill>
                  <a:srgbClr val="FFFFFF"/>
                </a:solidFill>
                <a:latin typeface="Helvetica"/>
                <a:cs typeface="Helvetica"/>
              </a:rPr>
              <a:t> y tendrás una página como ésta:</a:t>
            </a:r>
          </a:p>
        </p:txBody>
      </p:sp>
      <p:pic>
        <p:nvPicPr>
          <p:cNvPr id="12" name="Imagen 11"/>
          <p:cNvPicPr>
            <a:picLocks noChangeAspect="1"/>
          </p:cNvPicPr>
          <p:nvPr/>
        </p:nvPicPr>
        <p:blipFill>
          <a:blip r:embed="rId5"/>
          <a:stretch>
            <a:fillRect/>
          </a:stretch>
        </p:blipFill>
        <p:spPr>
          <a:xfrm>
            <a:off x="1290506" y="2413422"/>
            <a:ext cx="6350000" cy="4305300"/>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5</a:t>
            </a:fld>
            <a:endParaRPr lang="en-US"/>
          </a:p>
        </p:txBody>
      </p:sp>
    </p:spTree>
    <p:extLst>
      <p:ext uri="{BB962C8B-B14F-4D97-AF65-F5344CB8AC3E}">
        <p14:creationId xmlns:p14="http://schemas.microsoft.com/office/powerpoint/2010/main" val="2558346978"/>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a:latin typeface="Arial Black"/>
                <a:cs typeface="Arial Black"/>
              </a:rPr>
              <a:t>ECMAScript</a:t>
            </a:r>
            <a:r>
              <a:rPr lang="es-ES" sz="2200" u="sng" dirty="0">
                <a:latin typeface="Arial Black"/>
                <a:cs typeface="Arial Black"/>
              </a:rPr>
              <a:t> v6 </a:t>
            </a:r>
            <a:r>
              <a:rPr lang="es-ES" sz="2200" u="sng" dirty="0" smtClean="0">
                <a:latin typeface="Arial Black"/>
                <a:cs typeface="Arial Black"/>
              </a:rPr>
              <a:t>&gt; Novedades</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399667"/>
          </a:xfrm>
          <a:prstGeom prst="rect">
            <a:avLst/>
          </a:prstGeom>
        </p:spPr>
        <p:txBody>
          <a:bodyPr wrap="square">
            <a:spAutoFit/>
          </a:bodyPr>
          <a:lstStyle/>
          <a:p>
            <a:pPr marL="285750" indent="-285750" algn="just">
              <a:lnSpc>
                <a:spcPct val="130000"/>
              </a:lnSpc>
              <a:buFont typeface="Arial"/>
              <a:buChar char="•"/>
            </a:pPr>
            <a:r>
              <a:rPr lang="es-ES" dirty="0">
                <a:solidFill>
                  <a:srgbClr val="FFFFFF"/>
                </a:solidFill>
                <a:latin typeface="Helvetica"/>
                <a:cs typeface="Helvetica"/>
              </a:rPr>
              <a:t>Función </a:t>
            </a:r>
            <a:r>
              <a:rPr lang="es-ES" dirty="0" err="1" smtClean="0">
                <a:solidFill>
                  <a:srgbClr val="FFFFFF"/>
                </a:solidFill>
                <a:latin typeface="Helvetica"/>
                <a:cs typeface="Helvetica"/>
              </a:rPr>
              <a:t>Arrow</a:t>
            </a:r>
            <a:endParaRPr lang="es-ES" dirty="0" smtClean="0">
              <a:solidFill>
                <a:srgbClr val="FFFFFF"/>
              </a:solidFill>
              <a:latin typeface="Helvetica"/>
              <a:cs typeface="Helvetica"/>
            </a:endParaRPr>
          </a:p>
          <a:p>
            <a:pPr marL="285750" indent="-285750" algn="just">
              <a:lnSpc>
                <a:spcPct val="130000"/>
              </a:lnSpc>
              <a:buFont typeface="Arial"/>
              <a:buChar char="•"/>
            </a:pPr>
            <a:r>
              <a:rPr lang="es-ES" dirty="0" smtClean="0">
                <a:solidFill>
                  <a:srgbClr val="FFFFFF"/>
                </a:solidFill>
                <a:latin typeface="Helvetica"/>
                <a:cs typeface="Helvetica"/>
              </a:rPr>
              <a:t>Clases</a:t>
            </a:r>
          </a:p>
          <a:p>
            <a:pPr marL="285750" indent="-285750" algn="just">
              <a:lnSpc>
                <a:spcPct val="130000"/>
              </a:lnSpc>
              <a:buFont typeface="Arial"/>
              <a:buChar char="•"/>
            </a:pPr>
            <a:r>
              <a:rPr lang="es-ES" dirty="0" err="1" smtClean="0">
                <a:solidFill>
                  <a:srgbClr val="FFFFFF"/>
                </a:solidFill>
                <a:latin typeface="Helvetica"/>
                <a:cs typeface="Helvetica"/>
              </a:rPr>
              <a:t>This</a:t>
            </a:r>
            <a:r>
              <a:rPr lang="es-ES" dirty="0" smtClean="0">
                <a:solidFill>
                  <a:srgbClr val="FFFFFF"/>
                </a:solidFill>
                <a:latin typeface="Helvetica"/>
                <a:cs typeface="Helvetica"/>
              </a:rPr>
              <a:t> </a:t>
            </a:r>
          </a:p>
          <a:p>
            <a:pPr marL="285750" indent="-285750" algn="just">
              <a:lnSpc>
                <a:spcPct val="130000"/>
              </a:lnSpc>
              <a:buFont typeface="Arial"/>
              <a:buChar char="•"/>
            </a:pPr>
            <a:r>
              <a:rPr lang="es-ES" dirty="0" err="1">
                <a:solidFill>
                  <a:srgbClr val="FFFFFF"/>
                </a:solidFill>
                <a:latin typeface="Helvetica"/>
                <a:cs typeface="Helvetica"/>
              </a:rPr>
              <a:t>let</a:t>
            </a:r>
            <a:r>
              <a:rPr lang="es-ES" dirty="0">
                <a:solidFill>
                  <a:srgbClr val="FFFFFF"/>
                </a:solidFill>
                <a:latin typeface="Helvetica"/>
                <a:cs typeface="Helvetica"/>
              </a:rPr>
              <a:t> y </a:t>
            </a:r>
            <a:r>
              <a:rPr lang="es-ES" dirty="0" err="1" smtClean="0">
                <a:solidFill>
                  <a:srgbClr val="FFFFFF"/>
                </a:solidFill>
                <a:latin typeface="Helvetica"/>
                <a:cs typeface="Helvetica"/>
              </a:rPr>
              <a:t>const</a:t>
            </a:r>
            <a:endParaRPr lang="es-ES" dirty="0" smtClean="0">
              <a:solidFill>
                <a:srgbClr val="FFFFFF"/>
              </a:solidFill>
              <a:latin typeface="Helvetica"/>
              <a:cs typeface="Helvetica"/>
            </a:endParaRPr>
          </a:p>
          <a:p>
            <a:pPr marL="285750" indent="-285750" algn="just">
              <a:lnSpc>
                <a:spcPct val="130000"/>
              </a:lnSpc>
              <a:buFont typeface="Arial"/>
              <a:buChar char="•"/>
            </a:pPr>
            <a:r>
              <a:rPr lang="es-ES" dirty="0" err="1">
                <a:solidFill>
                  <a:srgbClr val="FFFFFF"/>
                </a:solidFill>
                <a:latin typeface="Helvetica"/>
                <a:cs typeface="Helvetica"/>
              </a:rPr>
              <a:t>Template</a:t>
            </a:r>
            <a:r>
              <a:rPr lang="es-ES" dirty="0">
                <a:solidFill>
                  <a:srgbClr val="FFFFFF"/>
                </a:solidFill>
                <a:latin typeface="Helvetica"/>
                <a:cs typeface="Helvetica"/>
              </a:rPr>
              <a:t> </a:t>
            </a:r>
            <a:r>
              <a:rPr lang="es-ES" dirty="0" err="1" smtClean="0">
                <a:solidFill>
                  <a:srgbClr val="FFFFFF"/>
                </a:solidFill>
                <a:latin typeface="Helvetica"/>
                <a:cs typeface="Helvetica"/>
              </a:rPr>
              <a:t>Strings</a:t>
            </a:r>
            <a:endParaRPr lang="es-ES" dirty="0" smtClean="0">
              <a:solidFill>
                <a:srgbClr val="FFFFFF"/>
              </a:solidFill>
              <a:latin typeface="Helvetica"/>
              <a:cs typeface="Helvetica"/>
            </a:endParaRPr>
          </a:p>
          <a:p>
            <a:pPr marL="285750" indent="-285750" algn="just">
              <a:lnSpc>
                <a:spcPct val="130000"/>
              </a:lnSpc>
              <a:buFont typeface="Arial"/>
              <a:buChar char="•"/>
            </a:pPr>
            <a:r>
              <a:rPr lang="es-ES" dirty="0" err="1">
                <a:solidFill>
                  <a:srgbClr val="FFFFFF"/>
                </a:solidFill>
                <a:latin typeface="Helvetica"/>
                <a:cs typeface="Helvetica"/>
              </a:rPr>
              <a:t>Destructuring</a:t>
            </a:r>
            <a:endParaRPr lang="es-ES" dirty="0">
              <a:solidFill>
                <a:srgbClr val="FFFFFF"/>
              </a:solidFill>
              <a:latin typeface="Helvetica"/>
              <a:cs typeface="Helvetica"/>
            </a:endParaRPr>
          </a:p>
          <a:p>
            <a:pPr marL="285750" indent="-285750" algn="just">
              <a:lnSpc>
                <a:spcPct val="130000"/>
              </a:lnSpc>
              <a:buFont typeface="Arial"/>
              <a:buChar char="•"/>
            </a:pPr>
            <a:r>
              <a:rPr lang="es-ES" dirty="0">
                <a:solidFill>
                  <a:srgbClr val="FFFFFF"/>
                </a:solidFill>
                <a:latin typeface="Helvetica"/>
                <a:cs typeface="Helvetica"/>
              </a:rPr>
              <a:t>Valores por </a:t>
            </a:r>
            <a:r>
              <a:rPr lang="es-ES" dirty="0" smtClean="0">
                <a:solidFill>
                  <a:srgbClr val="FFFFFF"/>
                </a:solidFill>
                <a:latin typeface="Helvetica"/>
                <a:cs typeface="Helvetica"/>
              </a:rPr>
              <a:t>defecto</a:t>
            </a:r>
          </a:p>
          <a:p>
            <a:pPr marL="285750" indent="-285750" algn="just">
              <a:lnSpc>
                <a:spcPct val="130000"/>
              </a:lnSpc>
              <a:buFont typeface="Arial"/>
              <a:buChar char="•"/>
            </a:pPr>
            <a:r>
              <a:rPr lang="es-ES" dirty="0" smtClean="0">
                <a:solidFill>
                  <a:srgbClr val="FFFFFF"/>
                </a:solidFill>
                <a:latin typeface="Helvetica"/>
                <a:cs typeface="Helvetica"/>
              </a:rPr>
              <a:t>Módulos</a:t>
            </a:r>
          </a:p>
          <a:p>
            <a:pPr marL="285750" indent="-285750" algn="just">
              <a:lnSpc>
                <a:spcPct val="130000"/>
              </a:lnSpc>
              <a:buFont typeface="Arial"/>
              <a:buChar char="•"/>
            </a:pPr>
            <a:r>
              <a:rPr lang="es-ES" dirty="0" smtClean="0">
                <a:solidFill>
                  <a:srgbClr val="FFFFFF"/>
                </a:solidFill>
                <a:latin typeface="Helvetica"/>
                <a:cs typeface="Helvetica"/>
              </a:rPr>
              <a:t>Promesas</a:t>
            </a:r>
            <a:endParaRPr lang="es-ES" dirty="0">
              <a:solidFill>
                <a:srgbClr val="FFFFFF"/>
              </a:solidFill>
              <a:latin typeface="Helvetica"/>
              <a:cs typeface="Helvetica"/>
            </a:endParaRPr>
          </a:p>
          <a:p>
            <a:pPr marL="285750" indent="-285750" algn="just">
              <a:lnSpc>
                <a:spcPct val="130000"/>
              </a:lnSpc>
              <a:buFont typeface="Arial"/>
              <a:buChar char="•"/>
            </a:pPr>
            <a:endParaRPr lang="es-ES" dirty="0">
              <a:solidFill>
                <a:srgbClr val="FFFFFF"/>
              </a:solidFill>
              <a:latin typeface="Helvetica"/>
              <a:cs typeface="Helvetica"/>
            </a:endParaRPr>
          </a:p>
          <a:p>
            <a:pPr marL="285750" indent="-285750" algn="just">
              <a:lnSpc>
                <a:spcPct val="130000"/>
              </a:lnSpc>
              <a:buFont typeface="Arial"/>
              <a:buChar char="•"/>
            </a:pPr>
            <a:endParaRPr lang="es-ES" dirty="0" smtClean="0">
              <a:solidFill>
                <a:srgbClr val="FFFFFF"/>
              </a:solidFill>
              <a:latin typeface="Helvetica"/>
              <a:cs typeface="Helvetica"/>
            </a:endParaRPr>
          </a:p>
          <a:p>
            <a:pPr marL="285750" indent="-285750" algn="just">
              <a:lnSpc>
                <a:spcPct val="130000"/>
              </a:lnSpc>
              <a:buFont typeface="Arial"/>
              <a:buChar char="•"/>
            </a:pPr>
            <a:endParaRPr lang="es-ES"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6</a:t>
            </a:fld>
            <a:endParaRPr lang="en-US"/>
          </a:p>
        </p:txBody>
      </p:sp>
    </p:spTree>
    <p:extLst>
      <p:ext uri="{BB962C8B-B14F-4D97-AF65-F5344CB8AC3E}">
        <p14:creationId xmlns:p14="http://schemas.microsoft.com/office/powerpoint/2010/main" val="2490668794"/>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769441"/>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dirty="0" err="1">
                <a:latin typeface="Arial Black"/>
                <a:cs typeface="Arial Black"/>
              </a:rPr>
              <a:t>ECMAScript</a:t>
            </a:r>
            <a:r>
              <a:rPr lang="es-ES" sz="2200" dirty="0">
                <a:latin typeface="Arial Black"/>
                <a:cs typeface="Arial Black"/>
              </a:rPr>
              <a:t> v6 </a:t>
            </a:r>
            <a:r>
              <a:rPr lang="es-ES" sz="2200" dirty="0" smtClean="0">
                <a:latin typeface="Arial Black"/>
                <a:cs typeface="Arial Black"/>
              </a:rPr>
              <a:t>&gt; </a:t>
            </a:r>
            <a:r>
              <a:rPr lang="es-ES" sz="2400" dirty="0">
                <a:solidFill>
                  <a:srgbClr val="FFFFFF"/>
                </a:solidFill>
                <a:latin typeface="Helvetica"/>
                <a:cs typeface="Helvetica"/>
              </a:rPr>
              <a:t>Función </a:t>
            </a:r>
            <a:r>
              <a:rPr lang="es-ES" sz="2400" dirty="0" err="1">
                <a:solidFill>
                  <a:srgbClr val="FFFFFF"/>
                </a:solidFill>
                <a:latin typeface="Helvetica"/>
                <a:cs typeface="Helvetica"/>
              </a:rPr>
              <a:t>Arrow</a:t>
            </a:r>
            <a:endParaRPr lang="es-ES" sz="2400" dirty="0">
              <a:solidFill>
                <a:srgbClr val="FFFFFF"/>
              </a:solidFill>
              <a:latin typeface="Helvetica"/>
              <a:cs typeface="Helvetica"/>
            </a:endParaRPr>
          </a:p>
          <a:p>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551374" y="1690294"/>
            <a:ext cx="7903322" cy="2031325"/>
          </a:xfrm>
          <a:prstGeom prst="rect">
            <a:avLst/>
          </a:prstGeom>
          <a:solidFill>
            <a:schemeClr val="bg2">
              <a:lumMod val="75000"/>
              <a:lumOff val="25000"/>
            </a:schemeClr>
          </a:solidFill>
          <a:ln w="12700" cmpd="sng">
            <a:solidFill>
              <a:srgbClr val="FF6600"/>
            </a:solidFill>
          </a:ln>
        </p:spPr>
        <p:txBody>
          <a:bodyPr wrap="square">
            <a:spAutoFit/>
          </a:bodyPr>
          <a:lstStyle/>
          <a:p>
            <a:r>
              <a:rPr lang="es-ES" dirty="0"/>
              <a:t>// ES5</a:t>
            </a:r>
          </a:p>
          <a:p>
            <a:r>
              <a:rPr lang="es-ES" dirty="0"/>
              <a:t>// Imaginemos una variable data que incluye un </a:t>
            </a:r>
            <a:r>
              <a:rPr lang="es-ES" dirty="0" err="1"/>
              <a:t>array</a:t>
            </a:r>
            <a:r>
              <a:rPr lang="es-ES" dirty="0"/>
              <a:t> de </a:t>
            </a:r>
            <a:r>
              <a:rPr lang="es-ES" dirty="0" err="1"/>
              <a:t>objectos</a:t>
            </a:r>
            <a:endParaRPr lang="es-ES" dirty="0"/>
          </a:p>
          <a:p>
            <a:r>
              <a:rPr lang="es-ES" dirty="0" err="1"/>
              <a:t>var</a:t>
            </a:r>
            <a:r>
              <a:rPr lang="es-ES" dirty="0"/>
              <a:t> data = [{...}, {...}, {...}, ...];</a:t>
            </a:r>
          </a:p>
          <a:p>
            <a:r>
              <a:rPr lang="es-ES" dirty="0" err="1"/>
              <a:t>data.forEach</a:t>
            </a:r>
            <a:r>
              <a:rPr lang="es-ES" dirty="0"/>
              <a:t>(</a:t>
            </a:r>
            <a:r>
              <a:rPr lang="es-ES" dirty="0" err="1"/>
              <a:t>function</a:t>
            </a:r>
            <a:r>
              <a:rPr lang="es-ES" dirty="0"/>
              <a:t>(</a:t>
            </a:r>
            <a:r>
              <a:rPr lang="es-ES" dirty="0" err="1"/>
              <a:t>elem</a:t>
            </a:r>
            <a:r>
              <a:rPr lang="es-ES" dirty="0"/>
              <a:t>){</a:t>
            </a:r>
          </a:p>
          <a:p>
            <a:r>
              <a:rPr lang="es-ES" dirty="0"/>
              <a:t>	// Tratamos el elemento</a:t>
            </a:r>
          </a:p>
          <a:p>
            <a:r>
              <a:rPr lang="es-ES" dirty="0"/>
              <a:t>    </a:t>
            </a:r>
            <a:r>
              <a:rPr lang="es-ES" dirty="0" err="1"/>
              <a:t>console.log</a:t>
            </a:r>
            <a:r>
              <a:rPr lang="es-ES" dirty="0"/>
              <a:t>(</a:t>
            </a:r>
            <a:r>
              <a:rPr lang="es-ES" dirty="0" err="1"/>
              <a:t>elem</a:t>
            </a:r>
            <a:r>
              <a:rPr lang="es-ES" dirty="0"/>
              <a:t>)</a:t>
            </a:r>
          </a:p>
          <a:p>
            <a:r>
              <a:rPr lang="es-ES" dirty="0"/>
              <a:t>});</a:t>
            </a:r>
          </a:p>
        </p:txBody>
      </p:sp>
      <p:sp>
        <p:nvSpPr>
          <p:cNvPr id="16" name="Rectángulo 15"/>
          <p:cNvSpPr/>
          <p:nvPr/>
        </p:nvSpPr>
        <p:spPr>
          <a:xfrm>
            <a:off x="551374" y="3880669"/>
            <a:ext cx="7903322" cy="1477328"/>
          </a:xfrm>
          <a:prstGeom prst="rect">
            <a:avLst/>
          </a:prstGeom>
          <a:solidFill>
            <a:schemeClr val="bg2">
              <a:lumMod val="75000"/>
              <a:lumOff val="25000"/>
            </a:schemeClr>
          </a:solidFill>
          <a:ln w="12700" cmpd="sng">
            <a:solidFill>
              <a:srgbClr val="3366FF"/>
            </a:solidFill>
          </a:ln>
        </p:spPr>
        <p:txBody>
          <a:bodyPr wrap="square">
            <a:spAutoFit/>
          </a:bodyPr>
          <a:lstStyle/>
          <a:p>
            <a:r>
              <a:rPr lang="mr-IN" dirty="0">
                <a:latin typeface="Calisto MT"/>
                <a:cs typeface="Calisto MT"/>
              </a:rPr>
              <a:t>//ES6</a:t>
            </a:r>
          </a:p>
          <a:p>
            <a:r>
              <a:rPr lang="mr-IN" dirty="0">
                <a:latin typeface="Calisto MT"/>
                <a:cs typeface="Calisto MT"/>
              </a:rPr>
              <a:t>var data = [{...}, {...}, {...}, ...];</a:t>
            </a:r>
          </a:p>
          <a:p>
            <a:r>
              <a:rPr lang="mr-IN" dirty="0">
                <a:latin typeface="Calisto MT"/>
                <a:cs typeface="Calisto MT"/>
              </a:rPr>
              <a:t>data.forEach(elem =&gt; {</a:t>
            </a:r>
          </a:p>
          <a:p>
            <a:r>
              <a:rPr lang="mr-IN" dirty="0">
                <a:latin typeface="Calisto MT"/>
                <a:cs typeface="Calisto MT"/>
              </a:rPr>
              <a:t>	console.log(elem);</a:t>
            </a:r>
          </a:p>
          <a:p>
            <a:r>
              <a:rPr lang="mr-IN" dirty="0">
                <a:latin typeface="Calisto MT"/>
                <a:cs typeface="Calisto MT"/>
              </a:rPr>
              <a:t>});</a:t>
            </a:r>
            <a:endParaRPr lang="es-ES" dirty="0">
              <a:latin typeface="Calisto MT"/>
              <a:cs typeface="Calisto MT"/>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7</a:t>
            </a:fld>
            <a:endParaRPr lang="en-US"/>
          </a:p>
        </p:txBody>
      </p:sp>
    </p:spTree>
    <p:extLst>
      <p:ext uri="{BB962C8B-B14F-4D97-AF65-F5344CB8AC3E}">
        <p14:creationId xmlns:p14="http://schemas.microsoft.com/office/powerpoint/2010/main" val="370015251"/>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769441"/>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dirty="0" err="1">
                <a:latin typeface="Arial Black"/>
                <a:cs typeface="Arial Black"/>
              </a:rPr>
              <a:t>ECMAScript</a:t>
            </a:r>
            <a:r>
              <a:rPr lang="es-ES" sz="2200" dirty="0">
                <a:latin typeface="Arial Black"/>
                <a:cs typeface="Arial Black"/>
              </a:rPr>
              <a:t> v6 </a:t>
            </a:r>
            <a:r>
              <a:rPr lang="es-ES" sz="2200" dirty="0" smtClean="0">
                <a:latin typeface="Arial Black"/>
                <a:cs typeface="Arial Black"/>
              </a:rPr>
              <a:t>&gt; </a:t>
            </a:r>
            <a:r>
              <a:rPr lang="es-ES" sz="2400" dirty="0" smtClean="0">
                <a:solidFill>
                  <a:srgbClr val="FFFFFF"/>
                </a:solidFill>
                <a:latin typeface="Helvetica"/>
                <a:cs typeface="Helvetica"/>
              </a:rPr>
              <a:t>Clases</a:t>
            </a:r>
            <a:endParaRPr lang="es-ES" sz="2400" dirty="0">
              <a:solidFill>
                <a:srgbClr val="FFFFFF"/>
              </a:solidFill>
              <a:latin typeface="Helvetica"/>
              <a:cs typeface="Helvetica"/>
            </a:endParaRPr>
          </a:p>
          <a:p>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6" name="Rectángulo 15"/>
          <p:cNvSpPr/>
          <p:nvPr/>
        </p:nvSpPr>
        <p:spPr>
          <a:xfrm>
            <a:off x="748048" y="1592286"/>
            <a:ext cx="7903322" cy="4616648"/>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err="1">
                <a:cs typeface="Calisto MT"/>
              </a:rPr>
              <a:t>classLibro</a:t>
            </a:r>
            <a:r>
              <a:rPr lang="es-ES" sz="1400" dirty="0">
                <a:cs typeface="Calisto MT"/>
              </a:rPr>
              <a:t>{</a:t>
            </a:r>
          </a:p>
          <a:p>
            <a:r>
              <a:rPr lang="es-ES" sz="1400" dirty="0">
                <a:cs typeface="Calisto MT"/>
              </a:rPr>
              <a:t> constructor(</a:t>
            </a:r>
            <a:r>
              <a:rPr lang="es-ES" sz="1400" dirty="0" err="1">
                <a:cs typeface="Calisto MT"/>
              </a:rPr>
              <a:t>autor,titulo</a:t>
            </a:r>
            <a:r>
              <a:rPr lang="es-ES" sz="1400" dirty="0">
                <a:cs typeface="Calisto MT"/>
              </a:rPr>
              <a:t>){</a:t>
            </a:r>
          </a:p>
          <a:p>
            <a:r>
              <a:rPr lang="es-ES" sz="1400" dirty="0">
                <a:cs typeface="Calisto MT"/>
              </a:rPr>
              <a:t> 	</a:t>
            </a:r>
            <a:r>
              <a:rPr lang="es-ES" sz="1400" dirty="0" err="1">
                <a:cs typeface="Calisto MT"/>
              </a:rPr>
              <a:t>this.autor</a:t>
            </a:r>
            <a:r>
              <a:rPr lang="es-ES" sz="1400" dirty="0">
                <a:cs typeface="Calisto MT"/>
              </a:rPr>
              <a:t>=autor;</a:t>
            </a:r>
          </a:p>
          <a:p>
            <a:r>
              <a:rPr lang="es-ES" sz="1400" dirty="0">
                <a:cs typeface="Calisto MT"/>
              </a:rPr>
              <a:t> 	</a:t>
            </a:r>
            <a:r>
              <a:rPr lang="es-ES" sz="1400" dirty="0" err="1">
                <a:cs typeface="Calisto MT"/>
              </a:rPr>
              <a:t>this.titulo</a:t>
            </a:r>
            <a:r>
              <a:rPr lang="es-ES" sz="1400" dirty="0">
                <a:cs typeface="Calisto MT"/>
              </a:rPr>
              <a:t>=titulo;</a:t>
            </a:r>
          </a:p>
          <a:p>
            <a:r>
              <a:rPr lang="es-ES" sz="1400" dirty="0">
                <a:cs typeface="Calisto MT"/>
              </a:rPr>
              <a:t> 	}</a:t>
            </a:r>
          </a:p>
          <a:p>
            <a:endParaRPr lang="es-ES" sz="1400" dirty="0">
              <a:cs typeface="Calisto MT"/>
            </a:endParaRPr>
          </a:p>
          <a:p>
            <a:r>
              <a:rPr lang="es-ES" sz="1400" dirty="0">
                <a:cs typeface="Calisto MT"/>
              </a:rPr>
              <a:t> mostrar(){</a:t>
            </a:r>
          </a:p>
          <a:p>
            <a:r>
              <a:rPr lang="es-ES" sz="1400" dirty="0">
                <a:cs typeface="Calisto MT"/>
              </a:rPr>
              <a:t> 	</a:t>
            </a:r>
            <a:r>
              <a:rPr lang="es-ES" sz="1400" dirty="0" err="1">
                <a:cs typeface="Calisto MT"/>
              </a:rPr>
              <a:t>console.log</a:t>
            </a:r>
            <a:r>
              <a:rPr lang="es-ES" sz="1400" dirty="0">
                <a:cs typeface="Calisto MT"/>
              </a:rPr>
              <a:t>(</a:t>
            </a:r>
            <a:r>
              <a:rPr lang="es-ES" sz="1400" dirty="0" err="1">
                <a:cs typeface="Calisto MT"/>
              </a:rPr>
              <a:t>this</a:t>
            </a:r>
            <a:r>
              <a:rPr lang="es-ES" sz="1400" dirty="0">
                <a:cs typeface="Calisto MT"/>
              </a:rPr>
              <a:t>);</a:t>
            </a:r>
          </a:p>
          <a:p>
            <a:r>
              <a:rPr lang="es-ES" sz="1400" dirty="0">
                <a:cs typeface="Calisto MT"/>
              </a:rPr>
              <a:t> 	}}</a:t>
            </a:r>
          </a:p>
          <a:p>
            <a:endParaRPr lang="es-ES" sz="1400" dirty="0">
              <a:cs typeface="Calisto MT"/>
            </a:endParaRPr>
          </a:p>
          <a:p>
            <a:r>
              <a:rPr lang="es-ES" sz="1400" dirty="0">
                <a:cs typeface="Calisto MT"/>
              </a:rPr>
              <a:t> </a:t>
            </a:r>
            <a:r>
              <a:rPr lang="es-ES" sz="1400" dirty="0" err="1">
                <a:cs typeface="Calisto MT"/>
              </a:rPr>
              <a:t>classLibroTecnico</a:t>
            </a:r>
            <a:r>
              <a:rPr lang="es-ES" sz="1400" dirty="0">
                <a:cs typeface="Calisto MT"/>
              </a:rPr>
              <a:t> </a:t>
            </a:r>
            <a:r>
              <a:rPr lang="es-ES" sz="1400" dirty="0" err="1">
                <a:cs typeface="Calisto MT"/>
              </a:rPr>
              <a:t>extends</a:t>
            </a:r>
            <a:r>
              <a:rPr lang="es-ES" sz="1400" dirty="0">
                <a:cs typeface="Calisto MT"/>
              </a:rPr>
              <a:t> Libro{</a:t>
            </a:r>
          </a:p>
          <a:p>
            <a:r>
              <a:rPr lang="es-ES" sz="1400" dirty="0">
                <a:cs typeface="Calisto MT"/>
              </a:rPr>
              <a:t> 	constructor(</a:t>
            </a:r>
            <a:r>
              <a:rPr lang="es-ES" sz="1400" dirty="0" err="1">
                <a:cs typeface="Calisto MT"/>
              </a:rPr>
              <a:t>autor,titulo,tema</a:t>
            </a:r>
            <a:r>
              <a:rPr lang="es-ES" sz="1400" dirty="0">
                <a:cs typeface="Calisto MT"/>
              </a:rPr>
              <a:t>){</a:t>
            </a:r>
          </a:p>
          <a:p>
            <a:r>
              <a:rPr lang="es-ES" sz="1400" dirty="0">
                <a:cs typeface="Calisto MT"/>
              </a:rPr>
              <a:t> 		</a:t>
            </a:r>
            <a:r>
              <a:rPr lang="es-ES" sz="1400" dirty="0" err="1">
                <a:cs typeface="Calisto MT"/>
              </a:rPr>
              <a:t>super</a:t>
            </a:r>
            <a:r>
              <a:rPr lang="es-ES" sz="1400" dirty="0">
                <a:cs typeface="Calisto MT"/>
              </a:rPr>
              <a:t>(</a:t>
            </a:r>
            <a:r>
              <a:rPr lang="es-ES" sz="1400" dirty="0" err="1">
                <a:cs typeface="Calisto MT"/>
              </a:rPr>
              <a:t>autor,titulo</a:t>
            </a:r>
            <a:r>
              <a:rPr lang="es-ES" sz="1400" dirty="0">
                <a:cs typeface="Calisto MT"/>
              </a:rPr>
              <a:t>);</a:t>
            </a:r>
          </a:p>
          <a:p>
            <a:r>
              <a:rPr lang="es-ES" sz="1400" dirty="0">
                <a:cs typeface="Calisto MT"/>
              </a:rPr>
              <a:t> 		</a:t>
            </a:r>
            <a:r>
              <a:rPr lang="es-ES" sz="1400" dirty="0" err="1">
                <a:cs typeface="Calisto MT"/>
              </a:rPr>
              <a:t>this.tema</a:t>
            </a:r>
            <a:r>
              <a:rPr lang="es-ES" sz="1400" dirty="0">
                <a:cs typeface="Calisto MT"/>
              </a:rPr>
              <a:t>=tema;</a:t>
            </a:r>
          </a:p>
          <a:p>
            <a:r>
              <a:rPr lang="es-ES" sz="1400" dirty="0">
                <a:cs typeface="Calisto MT"/>
              </a:rPr>
              <a:t> 		}}</a:t>
            </a:r>
          </a:p>
          <a:p>
            <a:endParaRPr lang="es-ES" sz="1400" dirty="0">
              <a:cs typeface="Calisto MT"/>
            </a:endParaRPr>
          </a:p>
          <a:p>
            <a:r>
              <a:rPr lang="es-ES" sz="1400" dirty="0">
                <a:cs typeface="Calisto MT"/>
              </a:rPr>
              <a:t> </a:t>
            </a:r>
            <a:r>
              <a:rPr lang="es-ES" sz="1400" dirty="0" err="1">
                <a:cs typeface="Calisto MT"/>
              </a:rPr>
              <a:t>constoLibro</a:t>
            </a:r>
            <a:r>
              <a:rPr lang="es-ES" sz="1400" dirty="0">
                <a:cs typeface="Calisto MT"/>
              </a:rPr>
              <a:t>=</a:t>
            </a:r>
            <a:r>
              <a:rPr lang="es-ES" sz="1400" dirty="0" err="1">
                <a:cs typeface="Calisto MT"/>
              </a:rPr>
              <a:t>newLibroTecnico</a:t>
            </a:r>
            <a:r>
              <a:rPr lang="es-ES" sz="1400" dirty="0">
                <a:cs typeface="Calisto MT"/>
              </a:rPr>
              <a:t>("</a:t>
            </a:r>
            <a:r>
              <a:rPr lang="es-ES" sz="1400" dirty="0" err="1">
                <a:cs typeface="Calisto MT"/>
              </a:rPr>
              <a:t>J.Pérez","Angular</a:t>
            </a:r>
            <a:r>
              <a:rPr lang="es-ES" sz="1400" dirty="0">
                <a:cs typeface="Calisto MT"/>
              </a:rPr>
              <a:t> </a:t>
            </a:r>
            <a:r>
              <a:rPr lang="es-ES" sz="1400" dirty="0" err="1">
                <a:cs typeface="Calisto MT"/>
              </a:rPr>
              <a:t>Facil</a:t>
            </a:r>
            <a:r>
              <a:rPr lang="es-ES" sz="1400" dirty="0">
                <a:cs typeface="Calisto MT"/>
              </a:rPr>
              <a:t>","</a:t>
            </a:r>
            <a:r>
              <a:rPr lang="es-ES" sz="1400" dirty="0" err="1">
                <a:cs typeface="Calisto MT"/>
              </a:rPr>
              <a:t>Programacion</a:t>
            </a:r>
            <a:r>
              <a:rPr lang="es-ES" sz="1400" dirty="0">
                <a:cs typeface="Calisto MT"/>
              </a:rPr>
              <a:t>")</a:t>
            </a:r>
          </a:p>
          <a:p>
            <a:endParaRPr lang="es-ES" sz="1400" dirty="0">
              <a:cs typeface="Calisto MT"/>
            </a:endParaRPr>
          </a:p>
          <a:p>
            <a:r>
              <a:rPr lang="es-ES" sz="1400" dirty="0">
                <a:cs typeface="Calisto MT"/>
              </a:rPr>
              <a:t> </a:t>
            </a:r>
            <a:r>
              <a:rPr lang="es-ES" sz="1400" dirty="0" err="1">
                <a:cs typeface="Calisto MT"/>
              </a:rPr>
              <a:t>oLibro.editorial</a:t>
            </a:r>
            <a:r>
              <a:rPr lang="es-ES" sz="1400" dirty="0">
                <a:cs typeface="Calisto MT"/>
              </a:rPr>
              <a:t>="Anaya";</a:t>
            </a:r>
          </a:p>
          <a:p>
            <a:endParaRPr lang="es-ES" sz="1400" dirty="0">
              <a:cs typeface="Calisto MT"/>
            </a:endParaRPr>
          </a:p>
          <a:p>
            <a:r>
              <a:rPr lang="es-ES" sz="1400" dirty="0">
                <a:cs typeface="Calisto MT"/>
              </a:rPr>
              <a:t> </a:t>
            </a:r>
            <a:r>
              <a:rPr lang="es-ES" sz="1400" dirty="0" err="1">
                <a:cs typeface="Calisto MT"/>
              </a:rPr>
              <a:t>oLibro.mostrar</a:t>
            </a:r>
            <a:r>
              <a:rPr lang="es-ES" sz="1400" dirty="0">
                <a:cs typeface="Calisto MT"/>
              </a:rPr>
              <a:t>();</a:t>
            </a: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8</a:t>
            </a:fld>
            <a:endParaRPr lang="en-US"/>
          </a:p>
        </p:txBody>
      </p:sp>
    </p:spTree>
    <p:extLst>
      <p:ext uri="{BB962C8B-B14F-4D97-AF65-F5344CB8AC3E}">
        <p14:creationId xmlns:p14="http://schemas.microsoft.com/office/powerpoint/2010/main" val="3295158106"/>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769441"/>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dirty="0" err="1">
                <a:latin typeface="Arial Black"/>
                <a:cs typeface="Arial Black"/>
              </a:rPr>
              <a:t>ECMAScript</a:t>
            </a:r>
            <a:r>
              <a:rPr lang="es-ES" sz="2200" dirty="0">
                <a:latin typeface="Arial Black"/>
                <a:cs typeface="Arial Black"/>
              </a:rPr>
              <a:t> v6 </a:t>
            </a:r>
            <a:r>
              <a:rPr lang="es-ES" sz="2200" dirty="0" smtClean="0">
                <a:latin typeface="Arial Black"/>
                <a:cs typeface="Arial Black"/>
              </a:rPr>
              <a:t>&gt; </a:t>
            </a:r>
            <a:r>
              <a:rPr lang="es-ES" sz="2400" smtClean="0">
                <a:solidFill>
                  <a:srgbClr val="FFFFFF"/>
                </a:solidFill>
                <a:latin typeface="Helvetica"/>
                <a:cs typeface="Helvetica"/>
              </a:rPr>
              <a:t>This</a:t>
            </a:r>
            <a:endParaRPr lang="es-ES" sz="2400" dirty="0">
              <a:solidFill>
                <a:srgbClr val="FFFFFF"/>
              </a:solidFill>
              <a:latin typeface="Helvetica"/>
              <a:cs typeface="Helvetica"/>
            </a:endParaRPr>
          </a:p>
          <a:p>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551374" y="1690294"/>
            <a:ext cx="7903322" cy="2585323"/>
          </a:xfrm>
          <a:prstGeom prst="rect">
            <a:avLst/>
          </a:prstGeom>
          <a:solidFill>
            <a:schemeClr val="bg2">
              <a:lumMod val="75000"/>
              <a:lumOff val="25000"/>
            </a:schemeClr>
          </a:solidFill>
          <a:ln w="12700" cmpd="sng">
            <a:solidFill>
              <a:srgbClr val="FF6600"/>
            </a:solidFill>
          </a:ln>
        </p:spPr>
        <p:txBody>
          <a:bodyPr wrap="square">
            <a:spAutoFit/>
          </a:bodyPr>
          <a:lstStyle/>
          <a:p>
            <a:r>
              <a:rPr lang="mr-IN" dirty="0">
                <a:latin typeface="Calisto MT"/>
                <a:cs typeface="Calisto MT"/>
              </a:rPr>
              <a:t>//ES5</a:t>
            </a:r>
          </a:p>
          <a:p>
            <a:r>
              <a:rPr lang="mr-IN" dirty="0">
                <a:latin typeface="Calisto MT"/>
                <a:cs typeface="Calisto MT"/>
              </a:rPr>
              <a:t>var obj = {</a:t>
            </a:r>
          </a:p>
          <a:p>
            <a:r>
              <a:rPr lang="mr-IN" dirty="0">
                <a:latin typeface="Calisto MT"/>
                <a:cs typeface="Calisto MT"/>
              </a:rPr>
              <a:t>	foo : function() {...},</a:t>
            </a:r>
          </a:p>
          <a:p>
            <a:r>
              <a:rPr lang="mr-IN" dirty="0">
                <a:latin typeface="Calisto MT"/>
                <a:cs typeface="Calisto MT"/>
              </a:rPr>
              <a:t>    bar : function() {</a:t>
            </a:r>
          </a:p>
          <a:p>
            <a:r>
              <a:rPr lang="mr-IN" dirty="0">
                <a:latin typeface="Calisto MT"/>
                <a:cs typeface="Calisto MT"/>
              </a:rPr>
              <a:t>        document.addEventListener("click", function(e) {</a:t>
            </a:r>
          </a:p>
          <a:p>
            <a:r>
              <a:rPr lang="mr-IN" dirty="0">
                <a:latin typeface="Calisto MT"/>
                <a:cs typeface="Calisto MT"/>
              </a:rPr>
              <a:t>        	this.foo();</a:t>
            </a:r>
          </a:p>
          <a:p>
            <a:r>
              <a:rPr lang="mr-IN" dirty="0">
                <a:latin typeface="Calisto MT"/>
                <a:cs typeface="Calisto MT"/>
              </a:rPr>
              <a:t>        }.bind(this));</a:t>
            </a:r>
          </a:p>
          <a:p>
            <a:r>
              <a:rPr lang="mr-IN" dirty="0">
                <a:latin typeface="Calisto MT"/>
                <a:cs typeface="Calisto MT"/>
              </a:rPr>
              <a:t>    }</a:t>
            </a:r>
          </a:p>
          <a:p>
            <a:r>
              <a:rPr lang="mr-IN" dirty="0">
                <a:latin typeface="Calisto MT"/>
                <a:cs typeface="Calisto MT"/>
              </a:rPr>
              <a:t>}</a:t>
            </a:r>
            <a:endParaRPr lang="es-ES" dirty="0">
              <a:latin typeface="Calisto MT"/>
              <a:cs typeface="Calisto MT"/>
            </a:endParaRPr>
          </a:p>
        </p:txBody>
      </p:sp>
      <p:sp>
        <p:nvSpPr>
          <p:cNvPr id="15" name="Rectángulo 14"/>
          <p:cNvSpPr/>
          <p:nvPr/>
        </p:nvSpPr>
        <p:spPr>
          <a:xfrm>
            <a:off x="551374" y="4400754"/>
            <a:ext cx="7903322" cy="1200329"/>
          </a:xfrm>
          <a:prstGeom prst="rect">
            <a:avLst/>
          </a:prstGeom>
          <a:solidFill>
            <a:schemeClr val="bg2">
              <a:lumMod val="75000"/>
              <a:lumOff val="25000"/>
            </a:schemeClr>
          </a:solidFill>
          <a:ln w="12700" cmpd="sng">
            <a:solidFill>
              <a:srgbClr val="3366FF"/>
            </a:solidFill>
          </a:ln>
        </p:spPr>
        <p:txBody>
          <a:bodyPr wrap="square">
            <a:spAutoFit/>
          </a:bodyPr>
          <a:lstStyle/>
          <a:p>
            <a:r>
              <a:rPr lang="mr-IN" dirty="0">
                <a:latin typeface="Calisto MT"/>
                <a:cs typeface="Calisto MT"/>
              </a:rPr>
              <a:t>//ES6</a:t>
            </a:r>
          </a:p>
          <a:p>
            <a:r>
              <a:rPr lang="mr-IN" dirty="0" smtClean="0">
                <a:latin typeface="Calisto MT"/>
                <a:cs typeface="Calisto MT"/>
              </a:rPr>
              <a:t>…</a:t>
            </a:r>
            <a:endParaRPr lang="es-ES_tradnl" dirty="0" smtClean="0">
              <a:latin typeface="Calisto MT"/>
              <a:cs typeface="Calisto MT"/>
            </a:endParaRPr>
          </a:p>
          <a:p>
            <a:r>
              <a:rPr lang="es-ES_tradnl" dirty="0" err="1">
                <a:cs typeface="Calisto MT"/>
              </a:rPr>
              <a:t>document.addEventListener</a:t>
            </a:r>
            <a:r>
              <a:rPr lang="es-ES_tradnl" dirty="0">
                <a:cs typeface="Calisto MT"/>
              </a:rPr>
              <a:t>("</a:t>
            </a:r>
            <a:r>
              <a:rPr lang="es-ES_tradnl" dirty="0" err="1">
                <a:cs typeface="Calisto MT"/>
              </a:rPr>
              <a:t>click</a:t>
            </a:r>
            <a:r>
              <a:rPr lang="es-ES_tradnl" dirty="0">
                <a:cs typeface="Calisto MT"/>
              </a:rPr>
              <a:t>", (e) =&gt; </a:t>
            </a:r>
            <a:r>
              <a:rPr lang="es-ES_tradnl" dirty="0" err="1">
                <a:cs typeface="Calisto MT"/>
              </a:rPr>
              <a:t>this.foo</a:t>
            </a:r>
            <a:r>
              <a:rPr lang="es-ES_tradnl" dirty="0">
                <a:cs typeface="Calisto MT"/>
              </a:rPr>
              <a:t>());</a:t>
            </a:r>
            <a:endParaRPr lang="es-ES_tradnl" dirty="0">
              <a:latin typeface="Calisto MT"/>
              <a:cs typeface="Calisto MT"/>
            </a:endParaRPr>
          </a:p>
          <a:p>
            <a:r>
              <a:rPr lang="mr-IN" dirty="0" smtClean="0">
                <a:latin typeface="Calisto MT"/>
                <a:cs typeface="Calisto MT"/>
              </a:rPr>
              <a:t>…</a:t>
            </a:r>
            <a:endParaRPr lang="es-ES" dirty="0">
              <a:latin typeface="Calisto MT"/>
              <a:cs typeface="Calisto MT"/>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9</a:t>
            </a:fld>
            <a:endParaRPr lang="en-US"/>
          </a:p>
        </p:txBody>
      </p:sp>
    </p:spTree>
    <p:extLst>
      <p:ext uri="{BB962C8B-B14F-4D97-AF65-F5344CB8AC3E}">
        <p14:creationId xmlns:p14="http://schemas.microsoft.com/office/powerpoint/2010/main" val="3447370859"/>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769441"/>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dirty="0" err="1">
                <a:latin typeface="Arial Black"/>
                <a:cs typeface="Arial Black"/>
              </a:rPr>
              <a:t>ECMAScript</a:t>
            </a:r>
            <a:r>
              <a:rPr lang="es-ES" sz="2200" dirty="0">
                <a:latin typeface="Arial Black"/>
                <a:cs typeface="Arial Black"/>
              </a:rPr>
              <a:t> v6 </a:t>
            </a:r>
            <a:r>
              <a:rPr lang="es-ES" sz="2200" dirty="0" smtClean="0">
                <a:latin typeface="Arial Black"/>
                <a:cs typeface="Arial Black"/>
              </a:rPr>
              <a:t>&gt; </a:t>
            </a:r>
            <a:r>
              <a:rPr lang="es-ES" sz="2400" dirty="0" err="1" smtClean="0">
                <a:solidFill>
                  <a:srgbClr val="FFFFFF"/>
                </a:solidFill>
                <a:latin typeface="Helvetica"/>
                <a:cs typeface="Helvetica"/>
              </a:rPr>
              <a:t>This</a:t>
            </a:r>
            <a:r>
              <a:rPr lang="es-ES" sz="2400" dirty="0" smtClean="0">
                <a:solidFill>
                  <a:srgbClr val="FFFFFF"/>
                </a:solidFill>
                <a:latin typeface="Helvetica"/>
                <a:cs typeface="Helvetica"/>
              </a:rPr>
              <a:t> </a:t>
            </a:r>
            <a:endParaRPr lang="es-ES" sz="2400" dirty="0">
              <a:solidFill>
                <a:srgbClr val="FFFFFF"/>
              </a:solidFill>
              <a:latin typeface="Helvetica"/>
              <a:cs typeface="Helvetica"/>
            </a:endParaRPr>
          </a:p>
          <a:p>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551374" y="1690294"/>
            <a:ext cx="7903322" cy="2585323"/>
          </a:xfrm>
          <a:prstGeom prst="rect">
            <a:avLst/>
          </a:prstGeom>
          <a:solidFill>
            <a:schemeClr val="bg2">
              <a:lumMod val="75000"/>
              <a:lumOff val="25000"/>
            </a:schemeClr>
          </a:solidFill>
          <a:ln w="12700" cmpd="sng">
            <a:solidFill>
              <a:srgbClr val="FF6600"/>
            </a:solidFill>
          </a:ln>
        </p:spPr>
        <p:txBody>
          <a:bodyPr wrap="square">
            <a:spAutoFit/>
          </a:bodyPr>
          <a:lstStyle/>
          <a:p>
            <a:r>
              <a:rPr lang="mr-IN" dirty="0">
                <a:latin typeface="Calisto MT"/>
                <a:cs typeface="Calisto MT"/>
              </a:rPr>
              <a:t>//ES5</a:t>
            </a:r>
          </a:p>
          <a:p>
            <a:r>
              <a:rPr lang="mr-IN" dirty="0">
                <a:latin typeface="Calisto MT"/>
                <a:cs typeface="Calisto MT"/>
              </a:rPr>
              <a:t>var obj = {</a:t>
            </a:r>
          </a:p>
          <a:p>
            <a:r>
              <a:rPr lang="mr-IN" dirty="0">
                <a:latin typeface="Calisto MT"/>
                <a:cs typeface="Calisto MT"/>
              </a:rPr>
              <a:t>	foo : function() {...},</a:t>
            </a:r>
          </a:p>
          <a:p>
            <a:r>
              <a:rPr lang="mr-IN" dirty="0">
                <a:latin typeface="Calisto MT"/>
                <a:cs typeface="Calisto MT"/>
              </a:rPr>
              <a:t>    bar : function() {</a:t>
            </a:r>
          </a:p>
          <a:p>
            <a:r>
              <a:rPr lang="mr-IN" dirty="0">
                <a:latin typeface="Calisto MT"/>
                <a:cs typeface="Calisto MT"/>
              </a:rPr>
              <a:t>        document.addEventListener("click", function(e) {</a:t>
            </a:r>
          </a:p>
          <a:p>
            <a:r>
              <a:rPr lang="mr-IN" dirty="0">
                <a:latin typeface="Calisto MT"/>
                <a:cs typeface="Calisto MT"/>
              </a:rPr>
              <a:t>        	this.foo();</a:t>
            </a:r>
          </a:p>
          <a:p>
            <a:r>
              <a:rPr lang="mr-IN" dirty="0">
                <a:latin typeface="Calisto MT"/>
                <a:cs typeface="Calisto MT"/>
              </a:rPr>
              <a:t>        }.bind(this));</a:t>
            </a:r>
          </a:p>
          <a:p>
            <a:r>
              <a:rPr lang="mr-IN" dirty="0">
                <a:latin typeface="Calisto MT"/>
                <a:cs typeface="Calisto MT"/>
              </a:rPr>
              <a:t>    }</a:t>
            </a:r>
          </a:p>
          <a:p>
            <a:r>
              <a:rPr lang="mr-IN" dirty="0">
                <a:latin typeface="Calisto MT"/>
                <a:cs typeface="Calisto MT"/>
              </a:rPr>
              <a:t>}</a:t>
            </a:r>
            <a:endParaRPr lang="es-ES" dirty="0">
              <a:latin typeface="Calisto MT"/>
              <a:cs typeface="Calisto MT"/>
            </a:endParaRPr>
          </a:p>
        </p:txBody>
      </p:sp>
      <p:sp>
        <p:nvSpPr>
          <p:cNvPr id="15" name="Rectángulo 14"/>
          <p:cNvSpPr/>
          <p:nvPr/>
        </p:nvSpPr>
        <p:spPr>
          <a:xfrm>
            <a:off x="551374" y="4400754"/>
            <a:ext cx="7903322" cy="1200329"/>
          </a:xfrm>
          <a:prstGeom prst="rect">
            <a:avLst/>
          </a:prstGeom>
          <a:solidFill>
            <a:schemeClr val="bg2">
              <a:lumMod val="75000"/>
              <a:lumOff val="25000"/>
            </a:schemeClr>
          </a:solidFill>
          <a:ln w="12700" cmpd="sng">
            <a:solidFill>
              <a:srgbClr val="3366FF"/>
            </a:solidFill>
          </a:ln>
        </p:spPr>
        <p:txBody>
          <a:bodyPr wrap="square">
            <a:spAutoFit/>
          </a:bodyPr>
          <a:lstStyle/>
          <a:p>
            <a:r>
              <a:rPr lang="mr-IN" dirty="0">
                <a:latin typeface="Calisto MT"/>
                <a:cs typeface="Calisto MT"/>
              </a:rPr>
              <a:t>//ES6</a:t>
            </a:r>
          </a:p>
          <a:p>
            <a:r>
              <a:rPr lang="mr-IN" dirty="0" smtClean="0">
                <a:latin typeface="Calisto MT"/>
                <a:cs typeface="Calisto MT"/>
              </a:rPr>
              <a:t>…</a:t>
            </a:r>
            <a:endParaRPr lang="es-ES_tradnl" dirty="0" smtClean="0">
              <a:latin typeface="Calisto MT"/>
              <a:cs typeface="Calisto MT"/>
            </a:endParaRPr>
          </a:p>
          <a:p>
            <a:r>
              <a:rPr lang="es-ES_tradnl" dirty="0" err="1">
                <a:cs typeface="Calisto MT"/>
              </a:rPr>
              <a:t>document.addEventListener</a:t>
            </a:r>
            <a:r>
              <a:rPr lang="es-ES_tradnl" dirty="0">
                <a:cs typeface="Calisto MT"/>
              </a:rPr>
              <a:t>("</a:t>
            </a:r>
            <a:r>
              <a:rPr lang="es-ES_tradnl" dirty="0" err="1">
                <a:cs typeface="Calisto MT"/>
              </a:rPr>
              <a:t>click</a:t>
            </a:r>
            <a:r>
              <a:rPr lang="es-ES_tradnl" dirty="0">
                <a:cs typeface="Calisto MT"/>
              </a:rPr>
              <a:t>", (e) =&gt; </a:t>
            </a:r>
            <a:r>
              <a:rPr lang="es-ES_tradnl" dirty="0" err="1">
                <a:cs typeface="Calisto MT"/>
              </a:rPr>
              <a:t>this.foo</a:t>
            </a:r>
            <a:r>
              <a:rPr lang="es-ES_tradnl" dirty="0">
                <a:cs typeface="Calisto MT"/>
              </a:rPr>
              <a:t>());</a:t>
            </a:r>
            <a:endParaRPr lang="es-ES_tradnl" dirty="0">
              <a:latin typeface="Calisto MT"/>
              <a:cs typeface="Calisto MT"/>
            </a:endParaRPr>
          </a:p>
          <a:p>
            <a:r>
              <a:rPr lang="mr-IN" dirty="0" smtClean="0">
                <a:latin typeface="Calisto MT"/>
                <a:cs typeface="Calisto MT"/>
              </a:rPr>
              <a:t>…</a:t>
            </a:r>
            <a:endParaRPr lang="es-ES" dirty="0">
              <a:latin typeface="Calisto MT"/>
              <a:cs typeface="Calisto MT"/>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10</a:t>
            </a:fld>
            <a:endParaRPr lang="en-US"/>
          </a:p>
        </p:txBody>
      </p:sp>
    </p:spTree>
    <p:extLst>
      <p:ext uri="{BB962C8B-B14F-4D97-AF65-F5344CB8AC3E}">
        <p14:creationId xmlns:p14="http://schemas.microsoft.com/office/powerpoint/2010/main" val="3175439833"/>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769441"/>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dirty="0" err="1">
                <a:latin typeface="Arial Black"/>
                <a:cs typeface="Arial Black"/>
              </a:rPr>
              <a:t>ECMAScript</a:t>
            </a:r>
            <a:r>
              <a:rPr lang="es-ES" sz="2200" dirty="0">
                <a:latin typeface="Arial Black"/>
                <a:cs typeface="Arial Black"/>
              </a:rPr>
              <a:t> v6 </a:t>
            </a:r>
            <a:r>
              <a:rPr lang="es-ES" sz="2200" dirty="0" smtClean="0">
                <a:latin typeface="Arial Black"/>
                <a:cs typeface="Arial Black"/>
              </a:rPr>
              <a:t>&gt; </a:t>
            </a:r>
            <a:r>
              <a:rPr lang="es-ES" sz="2400" dirty="0" err="1" smtClean="0">
                <a:solidFill>
                  <a:srgbClr val="FFFFFF"/>
                </a:solidFill>
                <a:latin typeface="Helvetica"/>
                <a:cs typeface="Helvetica"/>
              </a:rPr>
              <a:t>let</a:t>
            </a:r>
            <a:endParaRPr lang="es-ES" sz="2400" dirty="0">
              <a:solidFill>
                <a:srgbClr val="FFFFFF"/>
              </a:solidFill>
              <a:latin typeface="Helvetica"/>
              <a:cs typeface="Helvetica"/>
            </a:endParaRPr>
          </a:p>
          <a:p>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551374" y="1690294"/>
            <a:ext cx="7903322" cy="2246769"/>
          </a:xfrm>
          <a:prstGeom prst="rect">
            <a:avLst/>
          </a:prstGeom>
          <a:solidFill>
            <a:schemeClr val="bg2">
              <a:lumMod val="75000"/>
              <a:lumOff val="25000"/>
            </a:schemeClr>
          </a:solidFill>
          <a:ln w="12700" cmpd="sng">
            <a:solidFill>
              <a:srgbClr val="FF6600"/>
            </a:solidFill>
          </a:ln>
        </p:spPr>
        <p:txBody>
          <a:bodyPr wrap="square">
            <a:spAutoFit/>
          </a:bodyPr>
          <a:lstStyle/>
          <a:p>
            <a:r>
              <a:rPr lang="es-ES" sz="1400" dirty="0">
                <a:cs typeface="Calisto MT"/>
              </a:rPr>
              <a:t>//ES5</a:t>
            </a:r>
          </a:p>
          <a:p>
            <a:r>
              <a:rPr lang="es-ES" sz="1400" dirty="0">
                <a:cs typeface="Calisto MT"/>
              </a:rPr>
              <a:t>(</a:t>
            </a:r>
            <a:r>
              <a:rPr lang="es-ES" sz="1400" dirty="0" err="1">
                <a:cs typeface="Calisto MT"/>
              </a:rPr>
              <a:t>function</a:t>
            </a:r>
            <a:r>
              <a:rPr lang="es-ES" sz="1400" dirty="0">
                <a:cs typeface="Calisto MT"/>
              </a:rPr>
              <a:t>() {</a:t>
            </a:r>
          </a:p>
          <a:p>
            <a:r>
              <a:rPr lang="es-ES" sz="1400" dirty="0">
                <a:cs typeface="Calisto MT"/>
              </a:rPr>
              <a:t>	</a:t>
            </a:r>
            <a:r>
              <a:rPr lang="es-ES" sz="1400" dirty="0" err="1">
                <a:cs typeface="Calisto MT"/>
              </a:rPr>
              <a:t>console.log</a:t>
            </a:r>
            <a:r>
              <a:rPr lang="es-ES" sz="1400" dirty="0">
                <a:cs typeface="Calisto MT"/>
              </a:rPr>
              <a:t>(x); // x no está definida aún.</a:t>
            </a:r>
          </a:p>
          <a:p>
            <a:r>
              <a:rPr lang="es-ES" sz="1400" dirty="0">
                <a:cs typeface="Calisto MT"/>
              </a:rPr>
              <a:t>    </a:t>
            </a:r>
            <a:r>
              <a:rPr lang="es-ES" sz="1400" dirty="0" err="1">
                <a:cs typeface="Calisto MT"/>
              </a:rPr>
              <a:t>if</a:t>
            </a:r>
            <a:r>
              <a:rPr lang="es-ES" sz="1400" dirty="0">
                <a:cs typeface="Calisto MT"/>
              </a:rPr>
              <a:t>(true) {</a:t>
            </a:r>
          </a:p>
          <a:p>
            <a:r>
              <a:rPr lang="es-ES" sz="1400" dirty="0">
                <a:cs typeface="Calisto MT"/>
              </a:rPr>
              <a:t>    	</a:t>
            </a:r>
            <a:r>
              <a:rPr lang="es-ES" sz="1400" dirty="0" err="1">
                <a:cs typeface="Calisto MT"/>
              </a:rPr>
              <a:t>var</a:t>
            </a:r>
            <a:r>
              <a:rPr lang="es-ES" sz="1400" dirty="0">
                <a:cs typeface="Calisto MT"/>
              </a:rPr>
              <a:t> x = "hola mundo";</a:t>
            </a:r>
          </a:p>
          <a:p>
            <a:r>
              <a:rPr lang="es-ES" sz="1400" dirty="0">
                <a:cs typeface="Calisto MT"/>
              </a:rPr>
              <a:t>    }</a:t>
            </a:r>
          </a:p>
          <a:p>
            <a:r>
              <a:rPr lang="es-ES" sz="1400" dirty="0">
                <a:cs typeface="Calisto MT"/>
              </a:rPr>
              <a:t>    </a:t>
            </a:r>
            <a:r>
              <a:rPr lang="es-ES" sz="1400" dirty="0" err="1">
                <a:cs typeface="Calisto MT"/>
              </a:rPr>
              <a:t>console.log</a:t>
            </a:r>
            <a:r>
              <a:rPr lang="es-ES" sz="1400" dirty="0">
                <a:cs typeface="Calisto MT"/>
              </a:rPr>
              <a:t>(x); </a:t>
            </a:r>
          </a:p>
          <a:p>
            <a:r>
              <a:rPr lang="es-ES" sz="1400" dirty="0">
                <a:cs typeface="Calisto MT"/>
              </a:rPr>
              <a:t>    // Imprime "hola mundo", porque "</a:t>
            </a:r>
            <a:r>
              <a:rPr lang="es-ES" sz="1400" dirty="0" err="1">
                <a:cs typeface="Calisto MT"/>
              </a:rPr>
              <a:t>var</a:t>
            </a:r>
            <a:r>
              <a:rPr lang="es-ES" sz="1400" dirty="0">
                <a:cs typeface="Calisto MT"/>
              </a:rPr>
              <a:t>" hace que sea global</a:t>
            </a:r>
          </a:p>
          <a:p>
            <a:r>
              <a:rPr lang="es-ES" sz="1400" dirty="0">
                <a:cs typeface="Calisto MT"/>
              </a:rPr>
              <a:t>    // a la función;</a:t>
            </a:r>
          </a:p>
          <a:p>
            <a:r>
              <a:rPr lang="es-ES" sz="1400" dirty="0">
                <a:cs typeface="Calisto MT"/>
              </a:rPr>
              <a:t>})();</a:t>
            </a:r>
          </a:p>
        </p:txBody>
      </p:sp>
      <p:sp>
        <p:nvSpPr>
          <p:cNvPr id="15" name="Rectángulo 14"/>
          <p:cNvSpPr/>
          <p:nvPr/>
        </p:nvSpPr>
        <p:spPr>
          <a:xfrm>
            <a:off x="505396" y="4086278"/>
            <a:ext cx="7903322" cy="1815882"/>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a:cs typeface="Calisto MT"/>
              </a:rPr>
              <a:t>//ES6</a:t>
            </a:r>
          </a:p>
          <a:p>
            <a:r>
              <a:rPr lang="es-ES" sz="1400" dirty="0">
                <a:cs typeface="Calisto MT"/>
              </a:rPr>
              <a:t>(</a:t>
            </a:r>
            <a:r>
              <a:rPr lang="es-ES" sz="1400" dirty="0" err="1">
                <a:cs typeface="Calisto MT"/>
              </a:rPr>
              <a:t>function</a:t>
            </a:r>
            <a:r>
              <a:rPr lang="es-ES" sz="1400" dirty="0">
                <a:cs typeface="Calisto MT"/>
              </a:rPr>
              <a:t>() {</a:t>
            </a:r>
          </a:p>
          <a:p>
            <a:r>
              <a:rPr lang="es-ES" sz="1400" dirty="0">
                <a:cs typeface="Calisto MT"/>
              </a:rPr>
              <a:t>	</a:t>
            </a:r>
            <a:r>
              <a:rPr lang="es-ES" sz="1400" dirty="0" err="1">
                <a:cs typeface="Calisto MT"/>
              </a:rPr>
              <a:t>if</a:t>
            </a:r>
            <a:r>
              <a:rPr lang="es-ES" sz="1400" dirty="0">
                <a:cs typeface="Calisto MT"/>
              </a:rPr>
              <a:t>(true) {</a:t>
            </a:r>
          </a:p>
          <a:p>
            <a:r>
              <a:rPr lang="es-ES" sz="1400" dirty="0">
                <a:cs typeface="Calisto MT"/>
              </a:rPr>
              <a:t>    	</a:t>
            </a:r>
            <a:r>
              <a:rPr lang="es-ES" sz="1400" dirty="0" err="1">
                <a:cs typeface="Calisto MT"/>
              </a:rPr>
              <a:t>let</a:t>
            </a:r>
            <a:r>
              <a:rPr lang="es-ES" sz="1400" dirty="0">
                <a:cs typeface="Calisto MT"/>
              </a:rPr>
              <a:t> x = "hola mundo";</a:t>
            </a:r>
          </a:p>
          <a:p>
            <a:r>
              <a:rPr lang="es-ES" sz="1400" dirty="0">
                <a:cs typeface="Calisto MT"/>
              </a:rPr>
              <a:t>    }</a:t>
            </a:r>
          </a:p>
          <a:p>
            <a:r>
              <a:rPr lang="es-ES" sz="1400" dirty="0">
                <a:cs typeface="Calisto MT"/>
              </a:rPr>
              <a:t>    </a:t>
            </a:r>
            <a:r>
              <a:rPr lang="es-ES" sz="1400" dirty="0" err="1">
                <a:cs typeface="Calisto MT"/>
              </a:rPr>
              <a:t>console.log</a:t>
            </a:r>
            <a:r>
              <a:rPr lang="es-ES" sz="1400" dirty="0">
                <a:cs typeface="Calisto MT"/>
              </a:rPr>
              <a:t>(x); </a:t>
            </a:r>
          </a:p>
          <a:p>
            <a:r>
              <a:rPr lang="es-ES" sz="1400" dirty="0">
                <a:cs typeface="Calisto MT"/>
              </a:rPr>
              <a:t>    //Da error, porque "x" ha sido definida dentro del "</a:t>
            </a:r>
            <a:r>
              <a:rPr lang="es-ES" sz="1400" dirty="0" err="1">
                <a:cs typeface="Calisto MT"/>
              </a:rPr>
              <a:t>if</a:t>
            </a:r>
            <a:r>
              <a:rPr lang="es-ES" sz="1400" dirty="0">
                <a:cs typeface="Calisto MT"/>
              </a:rPr>
              <a:t>"</a:t>
            </a:r>
          </a:p>
          <a:p>
            <a:r>
              <a:rPr lang="es-ES" sz="1400" dirty="0">
                <a:cs typeface="Calisto MT"/>
              </a:rPr>
              <a:t>})();</a:t>
            </a:r>
            <a:endParaRPr lang="es-ES" sz="1400" dirty="0">
              <a:latin typeface="Calisto MT"/>
              <a:cs typeface="Calisto MT"/>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11</a:t>
            </a:fld>
            <a:endParaRPr lang="en-US"/>
          </a:p>
        </p:txBody>
      </p:sp>
    </p:spTree>
    <p:extLst>
      <p:ext uri="{BB962C8B-B14F-4D97-AF65-F5344CB8AC3E}">
        <p14:creationId xmlns:p14="http://schemas.microsoft.com/office/powerpoint/2010/main" val="480601722"/>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1138773"/>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dirty="0" err="1">
                <a:latin typeface="Arial Black"/>
                <a:cs typeface="Arial Black"/>
              </a:rPr>
              <a:t>ECMAScript</a:t>
            </a:r>
            <a:r>
              <a:rPr lang="es-ES" sz="2200" dirty="0">
                <a:latin typeface="Arial Black"/>
                <a:cs typeface="Arial Black"/>
              </a:rPr>
              <a:t> v6 </a:t>
            </a:r>
            <a:r>
              <a:rPr lang="es-ES" sz="2200" dirty="0" smtClean="0">
                <a:latin typeface="Arial Black"/>
                <a:cs typeface="Arial Black"/>
              </a:rPr>
              <a:t>&gt; </a:t>
            </a:r>
            <a:r>
              <a:rPr lang="es-ES" sz="2400" dirty="0" err="1" smtClean="0">
                <a:solidFill>
                  <a:srgbClr val="FFFFFF"/>
                </a:solidFill>
                <a:latin typeface="Helvetica"/>
                <a:cs typeface="Helvetica"/>
              </a:rPr>
              <a:t>const</a:t>
            </a:r>
            <a:endParaRPr lang="es-ES" sz="2400" dirty="0">
              <a:solidFill>
                <a:srgbClr val="FFFFFF"/>
              </a:solidFill>
              <a:latin typeface="Helvetica"/>
              <a:cs typeface="Helvetica"/>
            </a:endParaRPr>
          </a:p>
          <a:p>
            <a:endParaRPr lang="es-ES" sz="2400" dirty="0">
              <a:solidFill>
                <a:srgbClr val="FFFFFF"/>
              </a:solidFill>
              <a:latin typeface="Helvetica"/>
              <a:cs typeface="Helvetica"/>
            </a:endParaRPr>
          </a:p>
          <a:p>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505396" y="2883244"/>
            <a:ext cx="7903322" cy="2677656"/>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a:cs typeface="Calisto MT"/>
              </a:rPr>
              <a:t>(</a:t>
            </a:r>
            <a:r>
              <a:rPr lang="es-ES" sz="1400" dirty="0" err="1">
                <a:cs typeface="Calisto MT"/>
              </a:rPr>
              <a:t>function</a:t>
            </a:r>
            <a:r>
              <a:rPr lang="es-ES" sz="1400" dirty="0">
                <a:cs typeface="Calisto MT"/>
              </a:rPr>
              <a:t>() {</a:t>
            </a:r>
          </a:p>
          <a:p>
            <a:r>
              <a:rPr lang="es-ES" sz="1400" dirty="0">
                <a:cs typeface="Calisto MT"/>
              </a:rPr>
              <a:t>	</a:t>
            </a:r>
            <a:r>
              <a:rPr lang="es-ES" sz="1400" dirty="0" err="1">
                <a:cs typeface="Calisto MT"/>
              </a:rPr>
              <a:t>const</a:t>
            </a:r>
            <a:r>
              <a:rPr lang="es-ES" sz="1400" dirty="0">
                <a:cs typeface="Calisto MT"/>
              </a:rPr>
              <a:t> PI;</a:t>
            </a:r>
          </a:p>
          <a:p>
            <a:r>
              <a:rPr lang="es-ES" sz="1400" dirty="0">
                <a:cs typeface="Calisto MT"/>
              </a:rPr>
              <a:t>    PI = 3.15; </a:t>
            </a:r>
          </a:p>
          <a:p>
            <a:r>
              <a:rPr lang="es-ES" sz="1400" dirty="0">
                <a:cs typeface="Calisto MT"/>
              </a:rPr>
              <a:t>    // ERROR, porque ha de asignarse un valor en la </a:t>
            </a:r>
          </a:p>
          <a:p>
            <a:r>
              <a:rPr lang="es-ES" sz="1400" dirty="0">
                <a:cs typeface="Calisto MT"/>
              </a:rPr>
              <a:t>    // declaración</a:t>
            </a:r>
          </a:p>
          <a:p>
            <a:r>
              <a:rPr lang="es-ES" sz="1400" dirty="0">
                <a:cs typeface="Calisto MT"/>
              </a:rPr>
              <a:t>})();</a:t>
            </a:r>
          </a:p>
          <a:p>
            <a:endParaRPr lang="es-ES" sz="1400" dirty="0">
              <a:cs typeface="Calisto MT"/>
            </a:endParaRPr>
          </a:p>
          <a:p>
            <a:r>
              <a:rPr lang="es-ES" sz="1400" dirty="0">
                <a:cs typeface="Calisto MT"/>
              </a:rPr>
              <a:t>(</a:t>
            </a:r>
            <a:r>
              <a:rPr lang="es-ES" sz="1400" dirty="0" err="1">
                <a:cs typeface="Calisto MT"/>
              </a:rPr>
              <a:t>function</a:t>
            </a:r>
            <a:r>
              <a:rPr lang="es-ES" sz="1400" dirty="0">
                <a:cs typeface="Calisto MT"/>
              </a:rPr>
              <a:t>() {</a:t>
            </a:r>
          </a:p>
          <a:p>
            <a:r>
              <a:rPr lang="es-ES" sz="1400" dirty="0">
                <a:cs typeface="Calisto MT"/>
              </a:rPr>
              <a:t>	</a:t>
            </a:r>
            <a:r>
              <a:rPr lang="es-ES" sz="1400" dirty="0" err="1">
                <a:cs typeface="Calisto MT"/>
              </a:rPr>
              <a:t>const</a:t>
            </a:r>
            <a:r>
              <a:rPr lang="es-ES" sz="1400" dirty="0">
                <a:cs typeface="Calisto MT"/>
              </a:rPr>
              <a:t> PI = 3.15;</a:t>
            </a:r>
          </a:p>
          <a:p>
            <a:r>
              <a:rPr lang="es-ES" sz="1400" dirty="0">
                <a:cs typeface="Calisto MT"/>
              </a:rPr>
              <a:t>    PI = 3.14159;</a:t>
            </a:r>
          </a:p>
          <a:p>
            <a:r>
              <a:rPr lang="es-ES" sz="1400" dirty="0">
                <a:cs typeface="Calisto MT"/>
              </a:rPr>
              <a:t>    // ERROR de nuevo, porque es sólo-lectura</a:t>
            </a:r>
          </a:p>
          <a:p>
            <a:r>
              <a:rPr lang="es-ES" sz="1400" dirty="0">
                <a:cs typeface="Calisto MT"/>
              </a:rPr>
              <a:t>})();</a:t>
            </a:r>
            <a:endParaRPr lang="es-ES" sz="1400" dirty="0">
              <a:latin typeface="Calisto MT"/>
              <a:cs typeface="Calisto MT"/>
            </a:endParaRPr>
          </a:p>
        </p:txBody>
      </p:sp>
      <p:sp>
        <p:nvSpPr>
          <p:cNvPr id="16" name="Rectángulo 15"/>
          <p:cNvSpPr/>
          <p:nvPr/>
        </p:nvSpPr>
        <p:spPr>
          <a:xfrm>
            <a:off x="492433" y="1614742"/>
            <a:ext cx="8202871" cy="798680"/>
          </a:xfrm>
          <a:prstGeom prst="rect">
            <a:avLst/>
          </a:prstGeom>
        </p:spPr>
        <p:txBody>
          <a:bodyPr wrap="square">
            <a:spAutoFit/>
          </a:bodyPr>
          <a:lstStyle/>
          <a:p>
            <a:pPr algn="just">
              <a:lnSpc>
                <a:spcPct val="130000"/>
              </a:lnSpc>
            </a:pPr>
            <a:r>
              <a:rPr lang="es-ES" dirty="0">
                <a:solidFill>
                  <a:srgbClr val="FFFFFF"/>
                </a:solidFill>
                <a:latin typeface="Helvetica"/>
                <a:cs typeface="Helvetica"/>
              </a:rPr>
              <a:t>Ahora con </a:t>
            </a:r>
            <a:r>
              <a:rPr lang="es-ES" dirty="0" err="1">
                <a:solidFill>
                  <a:srgbClr val="FFFFFF"/>
                </a:solidFill>
                <a:latin typeface="Helvetica"/>
                <a:cs typeface="Helvetica"/>
              </a:rPr>
              <a:t>const</a:t>
            </a:r>
            <a:r>
              <a:rPr lang="es-ES" dirty="0">
                <a:solidFill>
                  <a:srgbClr val="FFFFFF"/>
                </a:solidFill>
                <a:latin typeface="Helvetica"/>
                <a:cs typeface="Helvetica"/>
              </a:rPr>
              <a:t> podemos crear constantes que sólo se puedan leer y no modificar a lo largo del código</a:t>
            </a:r>
            <a:r>
              <a:rPr lang="es-ES" dirty="0" smtClean="0">
                <a:solidFill>
                  <a:srgbClr val="FFFFFF"/>
                </a:solidFill>
                <a:latin typeface="Helvetica"/>
                <a:cs typeface="Helvetica"/>
              </a:rPr>
              <a:t>.</a:t>
            </a:r>
            <a:endParaRPr lang="es-ES"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12</a:t>
            </a:fld>
            <a:endParaRPr lang="en-US"/>
          </a:p>
        </p:txBody>
      </p:sp>
    </p:spTree>
    <p:extLst>
      <p:ext uri="{BB962C8B-B14F-4D97-AF65-F5344CB8AC3E}">
        <p14:creationId xmlns:p14="http://schemas.microsoft.com/office/powerpoint/2010/main" val="1680590354"/>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1138773"/>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dirty="0" err="1">
                <a:latin typeface="Arial Black"/>
                <a:cs typeface="Arial Black"/>
              </a:rPr>
              <a:t>ECMAScript</a:t>
            </a:r>
            <a:r>
              <a:rPr lang="es-ES" sz="2200" dirty="0">
                <a:latin typeface="Arial Black"/>
                <a:cs typeface="Arial Black"/>
              </a:rPr>
              <a:t> v6 </a:t>
            </a:r>
            <a:r>
              <a:rPr lang="es-ES" sz="2200" dirty="0" smtClean="0">
                <a:latin typeface="Arial Black"/>
                <a:cs typeface="Arial Black"/>
              </a:rPr>
              <a:t>&gt; </a:t>
            </a:r>
            <a:r>
              <a:rPr lang="es-ES" sz="2400" dirty="0" err="1">
                <a:solidFill>
                  <a:srgbClr val="FFFFFF"/>
                </a:solidFill>
                <a:latin typeface="Helvetica"/>
                <a:cs typeface="Helvetica"/>
              </a:rPr>
              <a:t>Template</a:t>
            </a:r>
            <a:r>
              <a:rPr lang="es-ES" sz="2400" dirty="0">
                <a:solidFill>
                  <a:srgbClr val="FFFFFF"/>
                </a:solidFill>
                <a:latin typeface="Helvetica"/>
                <a:cs typeface="Helvetica"/>
              </a:rPr>
              <a:t> </a:t>
            </a:r>
            <a:r>
              <a:rPr lang="es-ES" sz="2400" dirty="0" err="1">
                <a:solidFill>
                  <a:srgbClr val="FFFFFF"/>
                </a:solidFill>
                <a:latin typeface="Helvetica"/>
                <a:cs typeface="Helvetica"/>
              </a:rPr>
              <a:t>Strings</a:t>
            </a:r>
            <a:endParaRPr lang="es-ES" sz="2400" dirty="0">
              <a:solidFill>
                <a:srgbClr val="FFFFFF"/>
              </a:solidFill>
              <a:latin typeface="Helvetica"/>
              <a:cs typeface="Helvetica"/>
            </a:endParaRPr>
          </a:p>
          <a:p>
            <a:endParaRPr lang="es-ES" sz="2400" dirty="0">
              <a:solidFill>
                <a:srgbClr val="FFFFFF"/>
              </a:solidFill>
              <a:latin typeface="Helvetica"/>
              <a:cs typeface="Helvetica"/>
            </a:endParaRPr>
          </a:p>
          <a:p>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610555" y="2721413"/>
            <a:ext cx="4082398" cy="1384995"/>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a:cs typeface="Calisto MT"/>
              </a:rPr>
              <a:t>//ES6</a:t>
            </a:r>
          </a:p>
          <a:p>
            <a:r>
              <a:rPr lang="es-ES" sz="1400" dirty="0" err="1">
                <a:cs typeface="Calisto MT"/>
              </a:rPr>
              <a:t>let</a:t>
            </a:r>
            <a:r>
              <a:rPr lang="es-ES" sz="1400" dirty="0">
                <a:cs typeface="Calisto MT"/>
              </a:rPr>
              <a:t> nombre1 = "JavaScript";</a:t>
            </a:r>
          </a:p>
          <a:p>
            <a:r>
              <a:rPr lang="es-ES" sz="1400" dirty="0" err="1">
                <a:cs typeface="Calisto MT"/>
              </a:rPr>
              <a:t>let</a:t>
            </a:r>
            <a:r>
              <a:rPr lang="es-ES" sz="1400" dirty="0">
                <a:cs typeface="Calisto MT"/>
              </a:rPr>
              <a:t> nombre2 = "</a:t>
            </a:r>
            <a:r>
              <a:rPr lang="es-ES" sz="1400" dirty="0" err="1">
                <a:cs typeface="Calisto MT"/>
              </a:rPr>
              <a:t>awesome</a:t>
            </a:r>
            <a:r>
              <a:rPr lang="es-ES" sz="1400" dirty="0">
                <a:cs typeface="Calisto MT"/>
              </a:rPr>
              <a:t>";</a:t>
            </a:r>
          </a:p>
          <a:p>
            <a:r>
              <a:rPr lang="es-ES" sz="1400" dirty="0" err="1">
                <a:cs typeface="Calisto MT"/>
              </a:rPr>
              <a:t>console.log</a:t>
            </a:r>
            <a:r>
              <a:rPr lang="es-ES" sz="1400" dirty="0">
                <a:cs typeface="Calisto MT"/>
              </a:rPr>
              <a:t>(`Sólo quiero decir que ${nombre1} </a:t>
            </a:r>
            <a:r>
              <a:rPr lang="es-ES" sz="1400" dirty="0" err="1">
                <a:cs typeface="Calisto MT"/>
              </a:rPr>
              <a:t>is</a:t>
            </a:r>
            <a:r>
              <a:rPr lang="es-ES" sz="1400" dirty="0">
                <a:cs typeface="Calisto MT"/>
              </a:rPr>
              <a:t> ${nombre2`);</a:t>
            </a:r>
          </a:p>
          <a:p>
            <a:r>
              <a:rPr lang="es-ES" sz="1400" dirty="0">
                <a:cs typeface="Calisto MT"/>
              </a:rPr>
              <a:t>// Solo quiero decir que JavaScript </a:t>
            </a:r>
            <a:r>
              <a:rPr lang="es-ES" sz="1400" dirty="0" err="1">
                <a:cs typeface="Calisto MT"/>
              </a:rPr>
              <a:t>is</a:t>
            </a:r>
            <a:r>
              <a:rPr lang="es-ES" sz="1400" dirty="0">
                <a:cs typeface="Calisto MT"/>
              </a:rPr>
              <a:t> </a:t>
            </a:r>
            <a:r>
              <a:rPr lang="es-ES" sz="1400" dirty="0" err="1">
                <a:cs typeface="Calisto MT"/>
              </a:rPr>
              <a:t>awesome</a:t>
            </a:r>
            <a:endParaRPr lang="es-ES" sz="1400" dirty="0">
              <a:latin typeface="Calisto MT"/>
              <a:cs typeface="Calisto MT"/>
            </a:endParaRPr>
          </a:p>
        </p:txBody>
      </p:sp>
      <p:sp>
        <p:nvSpPr>
          <p:cNvPr id="14" name="Rectángulo 13"/>
          <p:cNvSpPr/>
          <p:nvPr/>
        </p:nvSpPr>
        <p:spPr>
          <a:xfrm>
            <a:off x="492433" y="1614742"/>
            <a:ext cx="8202871" cy="798680"/>
          </a:xfrm>
          <a:prstGeom prst="rect">
            <a:avLst/>
          </a:prstGeom>
        </p:spPr>
        <p:txBody>
          <a:bodyPr wrap="square">
            <a:spAutoFit/>
          </a:bodyPr>
          <a:lstStyle/>
          <a:p>
            <a:pPr algn="just">
              <a:lnSpc>
                <a:spcPct val="130000"/>
              </a:lnSpc>
            </a:pPr>
            <a:r>
              <a:rPr lang="es-ES" dirty="0">
                <a:solidFill>
                  <a:srgbClr val="FFFFFF"/>
                </a:solidFill>
                <a:latin typeface="Helvetica"/>
                <a:cs typeface="Helvetica"/>
              </a:rPr>
              <a:t>Con ES6 podemos interpolar </a:t>
            </a:r>
            <a:r>
              <a:rPr lang="es-ES" dirty="0" err="1">
                <a:solidFill>
                  <a:srgbClr val="FFFFFF"/>
                </a:solidFill>
                <a:latin typeface="Helvetica"/>
                <a:cs typeface="Helvetica"/>
              </a:rPr>
              <a:t>Strings</a:t>
            </a:r>
            <a:r>
              <a:rPr lang="es-ES" dirty="0">
                <a:solidFill>
                  <a:srgbClr val="FFFFFF"/>
                </a:solidFill>
                <a:latin typeface="Helvetica"/>
                <a:cs typeface="Helvetica"/>
              </a:rPr>
              <a:t> de una forma más sencilla que como estábamos haciendo hasta ahora.</a:t>
            </a:r>
          </a:p>
        </p:txBody>
      </p:sp>
      <p:sp>
        <p:nvSpPr>
          <p:cNvPr id="16" name="Rectángulo 15"/>
          <p:cNvSpPr/>
          <p:nvPr/>
        </p:nvSpPr>
        <p:spPr>
          <a:xfrm>
            <a:off x="4959048" y="2721413"/>
            <a:ext cx="3736256" cy="2893100"/>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a:cs typeface="Calisto MT"/>
              </a:rPr>
              <a:t>//ES5</a:t>
            </a:r>
          </a:p>
          <a:p>
            <a:r>
              <a:rPr lang="es-ES" sz="1400" dirty="0" err="1">
                <a:cs typeface="Calisto MT"/>
              </a:rPr>
              <a:t>var</a:t>
            </a:r>
            <a:r>
              <a:rPr lang="es-ES" sz="1400" dirty="0">
                <a:cs typeface="Calisto MT"/>
              </a:rPr>
              <a:t> saludo = "ola " +</a:t>
            </a:r>
          </a:p>
          <a:p>
            <a:r>
              <a:rPr lang="es-ES" sz="1400" dirty="0">
                <a:cs typeface="Calisto MT"/>
              </a:rPr>
              <a:t>"que " +</a:t>
            </a:r>
          </a:p>
          <a:p>
            <a:r>
              <a:rPr lang="es-ES" sz="1400" dirty="0">
                <a:cs typeface="Calisto MT"/>
              </a:rPr>
              <a:t>"ase ";</a:t>
            </a:r>
          </a:p>
          <a:p>
            <a:endParaRPr lang="es-ES" sz="1400" dirty="0">
              <a:cs typeface="Calisto MT"/>
            </a:endParaRPr>
          </a:p>
          <a:p>
            <a:r>
              <a:rPr lang="es-ES" sz="1400" dirty="0">
                <a:cs typeface="Calisto MT"/>
              </a:rPr>
              <a:t>//ES6</a:t>
            </a:r>
          </a:p>
          <a:p>
            <a:r>
              <a:rPr lang="es-ES" sz="1400" dirty="0" err="1">
                <a:cs typeface="Calisto MT"/>
              </a:rPr>
              <a:t>var</a:t>
            </a:r>
            <a:r>
              <a:rPr lang="es-ES" sz="1400" dirty="0">
                <a:cs typeface="Calisto MT"/>
              </a:rPr>
              <a:t> saludo = "ola</a:t>
            </a:r>
          </a:p>
          <a:p>
            <a:r>
              <a:rPr lang="es-ES" sz="1400" dirty="0">
                <a:cs typeface="Calisto MT"/>
              </a:rPr>
              <a:t>que</a:t>
            </a:r>
          </a:p>
          <a:p>
            <a:r>
              <a:rPr lang="es-ES" sz="1400" dirty="0">
                <a:cs typeface="Calisto MT"/>
              </a:rPr>
              <a:t>ase";</a:t>
            </a:r>
          </a:p>
          <a:p>
            <a:endParaRPr lang="es-ES" sz="1400" dirty="0">
              <a:cs typeface="Calisto MT"/>
            </a:endParaRPr>
          </a:p>
          <a:p>
            <a:r>
              <a:rPr lang="es-ES" sz="1400" dirty="0" err="1">
                <a:cs typeface="Calisto MT"/>
              </a:rPr>
              <a:t>console.log</a:t>
            </a:r>
            <a:r>
              <a:rPr lang="es-ES" sz="1400" dirty="0">
                <a:cs typeface="Calisto MT"/>
              </a:rPr>
              <a:t>("hola</a:t>
            </a:r>
          </a:p>
          <a:p>
            <a:r>
              <a:rPr lang="es-ES" sz="1400" dirty="0">
                <a:cs typeface="Calisto MT"/>
              </a:rPr>
              <a:t>que</a:t>
            </a:r>
          </a:p>
          <a:p>
            <a:r>
              <a:rPr lang="es-ES" sz="1400" dirty="0">
                <a:cs typeface="Calisto MT"/>
              </a:rPr>
              <a:t>ase");</a:t>
            </a:r>
            <a:endParaRPr lang="es-ES" sz="1400" dirty="0">
              <a:latin typeface="Calisto MT"/>
              <a:cs typeface="Calisto MT"/>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13</a:t>
            </a:fld>
            <a:endParaRPr lang="en-US"/>
          </a:p>
        </p:txBody>
      </p:sp>
    </p:spTree>
    <p:extLst>
      <p:ext uri="{BB962C8B-B14F-4D97-AF65-F5344CB8AC3E}">
        <p14:creationId xmlns:p14="http://schemas.microsoft.com/office/powerpoint/2010/main" val="694468484"/>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769441"/>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dirty="0" err="1">
                <a:latin typeface="Arial Black"/>
                <a:cs typeface="Arial Black"/>
              </a:rPr>
              <a:t>ECMAScript</a:t>
            </a:r>
            <a:r>
              <a:rPr lang="es-ES" sz="2200" dirty="0">
                <a:latin typeface="Arial Black"/>
                <a:cs typeface="Arial Black"/>
              </a:rPr>
              <a:t> v6 </a:t>
            </a:r>
            <a:r>
              <a:rPr lang="es-ES" sz="2200" dirty="0" smtClean="0">
                <a:latin typeface="Arial Black"/>
                <a:cs typeface="Arial Black"/>
              </a:rPr>
              <a:t>&gt; </a:t>
            </a:r>
            <a:r>
              <a:rPr lang="es-ES" sz="2400" dirty="0" err="1">
                <a:solidFill>
                  <a:srgbClr val="FFFFFF"/>
                </a:solidFill>
                <a:latin typeface="Helvetica"/>
                <a:cs typeface="Helvetica"/>
              </a:rPr>
              <a:t>Destructuring</a:t>
            </a:r>
            <a:endParaRPr lang="es-ES" sz="2400" dirty="0">
              <a:solidFill>
                <a:srgbClr val="FFFFFF"/>
              </a:solidFill>
              <a:latin typeface="Helvetica"/>
              <a:cs typeface="Helvetica"/>
            </a:endParaRPr>
          </a:p>
          <a:p>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610556" y="2564178"/>
            <a:ext cx="3888874" cy="1815882"/>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err="1">
                <a:cs typeface="Calisto MT"/>
              </a:rPr>
              <a:t>var</a:t>
            </a:r>
            <a:r>
              <a:rPr lang="es-ES" sz="1400" dirty="0">
                <a:cs typeface="Calisto MT"/>
              </a:rPr>
              <a:t> [a, b] = ["hola", "mundo"];</a:t>
            </a:r>
          </a:p>
          <a:p>
            <a:r>
              <a:rPr lang="es-ES" sz="1400" dirty="0" err="1">
                <a:cs typeface="Calisto MT"/>
              </a:rPr>
              <a:t>console.log</a:t>
            </a:r>
            <a:r>
              <a:rPr lang="es-ES" sz="1400" dirty="0">
                <a:cs typeface="Calisto MT"/>
              </a:rPr>
              <a:t>(a); // "hola"</a:t>
            </a:r>
          </a:p>
          <a:p>
            <a:r>
              <a:rPr lang="es-ES" sz="1400" dirty="0" err="1">
                <a:cs typeface="Calisto MT"/>
              </a:rPr>
              <a:t>console.log</a:t>
            </a:r>
            <a:r>
              <a:rPr lang="es-ES" sz="1400" dirty="0">
                <a:cs typeface="Calisto MT"/>
              </a:rPr>
              <a:t>(b); // "mundo"</a:t>
            </a:r>
          </a:p>
          <a:p>
            <a:endParaRPr lang="es-ES" sz="1400" dirty="0">
              <a:cs typeface="Calisto MT"/>
            </a:endParaRPr>
          </a:p>
          <a:p>
            <a:r>
              <a:rPr lang="es-ES" sz="1400" dirty="0" err="1">
                <a:cs typeface="Calisto MT"/>
              </a:rPr>
              <a:t>var</a:t>
            </a:r>
            <a:r>
              <a:rPr lang="es-ES" sz="1400" dirty="0">
                <a:cs typeface="Calisto MT"/>
              </a:rPr>
              <a:t> </a:t>
            </a:r>
            <a:r>
              <a:rPr lang="es-ES" sz="1400" dirty="0" err="1">
                <a:cs typeface="Calisto MT"/>
              </a:rPr>
              <a:t>obj</a:t>
            </a:r>
            <a:r>
              <a:rPr lang="es-ES" sz="1400" dirty="0">
                <a:cs typeface="Calisto MT"/>
              </a:rPr>
              <a:t> = { nombre: "Carlos", apellido: "</a:t>
            </a:r>
            <a:r>
              <a:rPr lang="es-ES" sz="1400" dirty="0" err="1">
                <a:cs typeface="Calisto MT"/>
              </a:rPr>
              <a:t>Azaustre</a:t>
            </a:r>
            <a:r>
              <a:rPr lang="es-ES" sz="1400" dirty="0">
                <a:cs typeface="Calisto MT"/>
              </a:rPr>
              <a:t>" };</a:t>
            </a:r>
          </a:p>
          <a:p>
            <a:r>
              <a:rPr lang="es-ES" sz="1400" dirty="0" err="1">
                <a:cs typeface="Calisto MT"/>
              </a:rPr>
              <a:t>var</a:t>
            </a:r>
            <a:r>
              <a:rPr lang="es-ES" sz="1400" dirty="0">
                <a:cs typeface="Calisto MT"/>
              </a:rPr>
              <a:t> { nombre, apellido } = </a:t>
            </a:r>
            <a:r>
              <a:rPr lang="es-ES" sz="1400" dirty="0" err="1">
                <a:cs typeface="Calisto MT"/>
              </a:rPr>
              <a:t>obj</a:t>
            </a:r>
            <a:r>
              <a:rPr lang="es-ES" sz="1400" dirty="0">
                <a:cs typeface="Calisto MT"/>
              </a:rPr>
              <a:t>;</a:t>
            </a:r>
          </a:p>
          <a:p>
            <a:r>
              <a:rPr lang="es-ES" sz="1400" dirty="0" err="1">
                <a:cs typeface="Calisto MT"/>
              </a:rPr>
              <a:t>console.log</a:t>
            </a:r>
            <a:r>
              <a:rPr lang="es-ES" sz="1400" dirty="0">
                <a:cs typeface="Calisto MT"/>
              </a:rPr>
              <a:t>(nombre); // "Carlos"</a:t>
            </a:r>
            <a:endParaRPr lang="es-ES" sz="1400" dirty="0">
              <a:latin typeface="Calisto MT"/>
              <a:cs typeface="Calisto MT"/>
            </a:endParaRPr>
          </a:p>
        </p:txBody>
      </p:sp>
      <p:sp>
        <p:nvSpPr>
          <p:cNvPr id="14" name="Rectángulo 13"/>
          <p:cNvSpPr/>
          <p:nvPr/>
        </p:nvSpPr>
        <p:spPr>
          <a:xfrm>
            <a:off x="492433" y="1614742"/>
            <a:ext cx="8202871" cy="438582"/>
          </a:xfrm>
          <a:prstGeom prst="rect">
            <a:avLst/>
          </a:prstGeom>
        </p:spPr>
        <p:txBody>
          <a:bodyPr wrap="square">
            <a:spAutoFit/>
          </a:bodyPr>
          <a:lstStyle/>
          <a:p>
            <a:pPr algn="just">
              <a:lnSpc>
                <a:spcPct val="130000"/>
              </a:lnSpc>
            </a:pPr>
            <a:r>
              <a:rPr lang="es-ES" dirty="0">
                <a:solidFill>
                  <a:srgbClr val="FFFFFF"/>
                </a:solidFill>
                <a:latin typeface="Helvetica"/>
                <a:cs typeface="Helvetica"/>
              </a:rPr>
              <a:t>Tenemos nuevas formas de asignar valores a </a:t>
            </a:r>
            <a:r>
              <a:rPr lang="es-ES" dirty="0" err="1">
                <a:solidFill>
                  <a:srgbClr val="FFFFFF"/>
                </a:solidFill>
                <a:latin typeface="Helvetica"/>
                <a:cs typeface="Helvetica"/>
              </a:rPr>
              <a:t>Arrays</a:t>
            </a:r>
            <a:r>
              <a:rPr lang="es-ES" dirty="0">
                <a:solidFill>
                  <a:srgbClr val="FFFFFF"/>
                </a:solidFill>
                <a:latin typeface="Helvetica"/>
                <a:cs typeface="Helvetica"/>
              </a:rPr>
              <a:t> y a Objetos</a:t>
            </a:r>
          </a:p>
        </p:txBody>
      </p:sp>
      <p:sp>
        <p:nvSpPr>
          <p:cNvPr id="17" name="Rectángulo 16"/>
          <p:cNvSpPr/>
          <p:nvPr/>
        </p:nvSpPr>
        <p:spPr>
          <a:xfrm>
            <a:off x="4717144" y="2564178"/>
            <a:ext cx="3870476" cy="3108544"/>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err="1">
                <a:cs typeface="Calisto MT"/>
              </a:rPr>
              <a:t>var</a:t>
            </a:r>
            <a:r>
              <a:rPr lang="es-ES" sz="1400" dirty="0">
                <a:cs typeface="Calisto MT"/>
              </a:rPr>
              <a:t> </a:t>
            </a:r>
            <a:r>
              <a:rPr lang="es-ES" sz="1400" dirty="0" err="1">
                <a:cs typeface="Calisto MT"/>
              </a:rPr>
              <a:t>foo</a:t>
            </a:r>
            <a:r>
              <a:rPr lang="es-ES" sz="1400" dirty="0">
                <a:cs typeface="Calisto MT"/>
              </a:rPr>
              <a:t> = </a:t>
            </a:r>
            <a:r>
              <a:rPr lang="es-ES" sz="1400" dirty="0" err="1">
                <a:cs typeface="Calisto MT"/>
              </a:rPr>
              <a:t>function</a:t>
            </a:r>
            <a:r>
              <a:rPr lang="es-ES" sz="1400" dirty="0">
                <a:cs typeface="Calisto MT"/>
              </a:rPr>
              <a:t>() {</a:t>
            </a:r>
          </a:p>
          <a:p>
            <a:r>
              <a:rPr lang="es-ES" sz="1400" dirty="0">
                <a:cs typeface="Calisto MT"/>
              </a:rPr>
              <a:t>	</a:t>
            </a:r>
            <a:r>
              <a:rPr lang="es-ES" sz="1400" dirty="0" err="1">
                <a:cs typeface="Calisto MT"/>
              </a:rPr>
              <a:t>return</a:t>
            </a:r>
            <a:r>
              <a:rPr lang="es-ES" sz="1400" dirty="0">
                <a:cs typeface="Calisto MT"/>
              </a:rPr>
              <a:t> ["175", "75"];</a:t>
            </a:r>
          </a:p>
          <a:p>
            <a:r>
              <a:rPr lang="es-ES" sz="1400" dirty="0">
                <a:cs typeface="Calisto MT"/>
              </a:rPr>
              <a:t>};</a:t>
            </a:r>
          </a:p>
          <a:p>
            <a:r>
              <a:rPr lang="es-ES" sz="1400" dirty="0" err="1">
                <a:cs typeface="Calisto MT"/>
              </a:rPr>
              <a:t>var</a:t>
            </a:r>
            <a:r>
              <a:rPr lang="es-ES" sz="1400" dirty="0">
                <a:cs typeface="Calisto MT"/>
              </a:rPr>
              <a:t> [estatura, peso] = </a:t>
            </a:r>
            <a:r>
              <a:rPr lang="es-ES" sz="1400" dirty="0" err="1">
                <a:cs typeface="Calisto MT"/>
              </a:rPr>
              <a:t>foo</a:t>
            </a:r>
            <a:r>
              <a:rPr lang="es-ES" sz="1400" dirty="0">
                <a:cs typeface="Calisto MT"/>
              </a:rPr>
              <a:t>();</a:t>
            </a:r>
          </a:p>
          <a:p>
            <a:r>
              <a:rPr lang="es-ES" sz="1400" dirty="0" err="1">
                <a:cs typeface="Calisto MT"/>
              </a:rPr>
              <a:t>console.log</a:t>
            </a:r>
            <a:r>
              <a:rPr lang="es-ES" sz="1400" dirty="0">
                <a:cs typeface="Calisto MT"/>
              </a:rPr>
              <a:t>(estatura); //175</a:t>
            </a:r>
          </a:p>
          <a:p>
            <a:r>
              <a:rPr lang="es-ES" sz="1400" dirty="0" err="1">
                <a:cs typeface="Calisto MT"/>
              </a:rPr>
              <a:t>console.log</a:t>
            </a:r>
            <a:r>
              <a:rPr lang="es-ES" sz="1400" dirty="0">
                <a:cs typeface="Calisto MT"/>
              </a:rPr>
              <a:t>(peso); //75[a, b] = ["hola", "mundo"];</a:t>
            </a:r>
          </a:p>
          <a:p>
            <a:r>
              <a:rPr lang="es-ES" sz="1400" dirty="0" err="1">
                <a:cs typeface="Calisto MT"/>
              </a:rPr>
              <a:t>console.log</a:t>
            </a:r>
            <a:r>
              <a:rPr lang="es-ES" sz="1400" dirty="0">
                <a:cs typeface="Calisto MT"/>
              </a:rPr>
              <a:t>(a); // "hola"</a:t>
            </a:r>
          </a:p>
          <a:p>
            <a:r>
              <a:rPr lang="es-ES" sz="1400" dirty="0" err="1">
                <a:cs typeface="Calisto MT"/>
              </a:rPr>
              <a:t>console.log</a:t>
            </a:r>
            <a:r>
              <a:rPr lang="es-ES" sz="1400" dirty="0">
                <a:cs typeface="Calisto MT"/>
              </a:rPr>
              <a:t>(b); // "mundo"</a:t>
            </a:r>
          </a:p>
          <a:p>
            <a:endParaRPr lang="es-ES" sz="1400" dirty="0">
              <a:cs typeface="Calisto MT"/>
            </a:endParaRPr>
          </a:p>
          <a:p>
            <a:r>
              <a:rPr lang="es-ES" sz="1400" dirty="0" err="1">
                <a:cs typeface="Calisto MT"/>
              </a:rPr>
              <a:t>var</a:t>
            </a:r>
            <a:r>
              <a:rPr lang="es-ES" sz="1400" dirty="0">
                <a:cs typeface="Calisto MT"/>
              </a:rPr>
              <a:t> </a:t>
            </a:r>
            <a:r>
              <a:rPr lang="es-ES" sz="1400" dirty="0" err="1">
                <a:cs typeface="Calisto MT"/>
              </a:rPr>
              <a:t>obj</a:t>
            </a:r>
            <a:r>
              <a:rPr lang="es-ES" sz="1400" dirty="0">
                <a:cs typeface="Calisto MT"/>
              </a:rPr>
              <a:t> = { nombre: "Carlos", apellido: "</a:t>
            </a:r>
            <a:r>
              <a:rPr lang="es-ES" sz="1400" dirty="0" err="1">
                <a:cs typeface="Calisto MT"/>
              </a:rPr>
              <a:t>Azaustre</a:t>
            </a:r>
            <a:r>
              <a:rPr lang="es-ES" sz="1400" dirty="0">
                <a:cs typeface="Calisto MT"/>
              </a:rPr>
              <a:t>" };</a:t>
            </a:r>
          </a:p>
          <a:p>
            <a:r>
              <a:rPr lang="es-ES" sz="1400" dirty="0" err="1">
                <a:cs typeface="Calisto MT"/>
              </a:rPr>
              <a:t>var</a:t>
            </a:r>
            <a:r>
              <a:rPr lang="es-ES" sz="1400" dirty="0">
                <a:cs typeface="Calisto MT"/>
              </a:rPr>
              <a:t> { nombre, apellido } = </a:t>
            </a:r>
            <a:r>
              <a:rPr lang="es-ES" sz="1400" dirty="0" err="1">
                <a:cs typeface="Calisto MT"/>
              </a:rPr>
              <a:t>obj</a:t>
            </a:r>
            <a:r>
              <a:rPr lang="es-ES" sz="1400" dirty="0">
                <a:cs typeface="Calisto MT"/>
              </a:rPr>
              <a:t>;</a:t>
            </a:r>
          </a:p>
          <a:p>
            <a:r>
              <a:rPr lang="es-ES" sz="1400" dirty="0" err="1">
                <a:cs typeface="Calisto MT"/>
              </a:rPr>
              <a:t>console.log</a:t>
            </a:r>
            <a:r>
              <a:rPr lang="es-ES" sz="1400" dirty="0">
                <a:cs typeface="Calisto MT"/>
              </a:rPr>
              <a:t>(nombre); // "Carlos"</a:t>
            </a:r>
            <a:endParaRPr lang="es-ES" sz="1400" dirty="0">
              <a:latin typeface="Calisto MT"/>
              <a:cs typeface="Calisto MT"/>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14</a:t>
            </a:fld>
            <a:endParaRPr lang="en-US"/>
          </a:p>
        </p:txBody>
      </p:sp>
    </p:spTree>
    <p:extLst>
      <p:ext uri="{BB962C8B-B14F-4D97-AF65-F5344CB8AC3E}">
        <p14:creationId xmlns:p14="http://schemas.microsoft.com/office/powerpoint/2010/main" val="1537492441"/>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1138773"/>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dirty="0" err="1">
                <a:latin typeface="Arial Black"/>
                <a:cs typeface="Arial Black"/>
              </a:rPr>
              <a:t>ECMAScript</a:t>
            </a:r>
            <a:r>
              <a:rPr lang="es-ES" sz="2200" dirty="0">
                <a:latin typeface="Arial Black"/>
                <a:cs typeface="Arial Black"/>
              </a:rPr>
              <a:t> v6 </a:t>
            </a:r>
            <a:r>
              <a:rPr lang="es-ES" sz="2200" dirty="0" smtClean="0">
                <a:latin typeface="Arial Black"/>
                <a:cs typeface="Arial Black"/>
              </a:rPr>
              <a:t>&gt; </a:t>
            </a:r>
            <a:r>
              <a:rPr lang="es-ES" sz="2400" dirty="0">
                <a:solidFill>
                  <a:srgbClr val="FFFFFF"/>
                </a:solidFill>
                <a:latin typeface="Helvetica"/>
                <a:cs typeface="Helvetica"/>
              </a:rPr>
              <a:t>Valores por defecto</a:t>
            </a:r>
          </a:p>
          <a:p>
            <a:endParaRPr lang="es-ES" sz="2400" dirty="0">
              <a:solidFill>
                <a:srgbClr val="FFFFFF"/>
              </a:solidFill>
              <a:latin typeface="Helvetica"/>
              <a:cs typeface="Helvetica"/>
            </a:endParaRPr>
          </a:p>
          <a:p>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610556" y="2564178"/>
            <a:ext cx="3888874" cy="1600438"/>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a:cs typeface="Calisto MT"/>
              </a:rPr>
              <a:t>//ES5</a:t>
            </a:r>
          </a:p>
          <a:p>
            <a:r>
              <a:rPr lang="es-ES" sz="1400" dirty="0" err="1">
                <a:cs typeface="Calisto MT"/>
              </a:rPr>
              <a:t>function</a:t>
            </a:r>
            <a:r>
              <a:rPr lang="es-ES" sz="1400" dirty="0">
                <a:cs typeface="Calisto MT"/>
              </a:rPr>
              <a:t>(valor) {</a:t>
            </a:r>
          </a:p>
          <a:p>
            <a:r>
              <a:rPr lang="es-ES" sz="1400" dirty="0">
                <a:cs typeface="Calisto MT"/>
              </a:rPr>
              <a:t>	valor = valor || "</a:t>
            </a:r>
            <a:r>
              <a:rPr lang="es-ES" sz="1400" dirty="0" err="1">
                <a:cs typeface="Calisto MT"/>
              </a:rPr>
              <a:t>foo</a:t>
            </a:r>
            <a:r>
              <a:rPr lang="es-ES" sz="1400" dirty="0">
                <a:cs typeface="Calisto MT"/>
              </a:rPr>
              <a:t>";</a:t>
            </a:r>
          </a:p>
          <a:p>
            <a:r>
              <a:rPr lang="es-ES" sz="1400" dirty="0">
                <a:cs typeface="Calisto MT"/>
              </a:rPr>
              <a:t>}</a:t>
            </a:r>
          </a:p>
          <a:p>
            <a:endParaRPr lang="es-ES" sz="1400" dirty="0">
              <a:cs typeface="Calisto MT"/>
            </a:endParaRPr>
          </a:p>
          <a:p>
            <a:r>
              <a:rPr lang="es-ES" sz="1400" dirty="0">
                <a:cs typeface="Calisto MT"/>
              </a:rPr>
              <a:t>//ES6</a:t>
            </a:r>
          </a:p>
          <a:p>
            <a:r>
              <a:rPr lang="es-ES" sz="1400" dirty="0" err="1">
                <a:cs typeface="Calisto MT"/>
              </a:rPr>
              <a:t>function</a:t>
            </a:r>
            <a:r>
              <a:rPr lang="es-ES" sz="1400" dirty="0">
                <a:cs typeface="Calisto MT"/>
              </a:rPr>
              <a:t>(valor = "</a:t>
            </a:r>
            <a:r>
              <a:rPr lang="es-ES" sz="1400" dirty="0" err="1">
                <a:cs typeface="Calisto MT"/>
              </a:rPr>
              <a:t>foo</a:t>
            </a:r>
            <a:r>
              <a:rPr lang="es-ES" sz="1400" dirty="0">
                <a:cs typeface="Calisto MT"/>
              </a:rPr>
              <a:t>") {...};</a:t>
            </a:r>
            <a:endParaRPr lang="es-ES" sz="1400" dirty="0">
              <a:latin typeface="Calisto MT"/>
              <a:cs typeface="Calisto MT"/>
            </a:endParaRPr>
          </a:p>
        </p:txBody>
      </p:sp>
      <p:sp>
        <p:nvSpPr>
          <p:cNvPr id="14" name="Rectángulo 13"/>
          <p:cNvSpPr/>
          <p:nvPr/>
        </p:nvSpPr>
        <p:spPr>
          <a:xfrm>
            <a:off x="492433" y="1614742"/>
            <a:ext cx="8202871" cy="438582"/>
          </a:xfrm>
          <a:prstGeom prst="rect">
            <a:avLst/>
          </a:prstGeom>
        </p:spPr>
        <p:txBody>
          <a:bodyPr wrap="square">
            <a:spAutoFit/>
          </a:bodyPr>
          <a:lstStyle/>
          <a:p>
            <a:pPr algn="just">
              <a:lnSpc>
                <a:spcPct val="130000"/>
              </a:lnSpc>
            </a:pPr>
            <a:r>
              <a:rPr lang="es-ES" dirty="0">
                <a:solidFill>
                  <a:srgbClr val="FFFFFF"/>
                </a:solidFill>
                <a:latin typeface="Helvetica"/>
                <a:cs typeface="Helvetica"/>
              </a:rPr>
              <a:t>Tenemos nuevas formas de asignar valores a </a:t>
            </a:r>
            <a:r>
              <a:rPr lang="es-ES" dirty="0" err="1">
                <a:solidFill>
                  <a:srgbClr val="FFFFFF"/>
                </a:solidFill>
                <a:latin typeface="Helvetica"/>
                <a:cs typeface="Helvetica"/>
              </a:rPr>
              <a:t>Arrays</a:t>
            </a:r>
            <a:r>
              <a:rPr lang="es-ES" dirty="0">
                <a:solidFill>
                  <a:srgbClr val="FFFFFF"/>
                </a:solidFill>
                <a:latin typeface="Helvetica"/>
                <a:cs typeface="Helvetica"/>
              </a:rPr>
              <a:t> y a Objetos</a:t>
            </a: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15</a:t>
            </a:fld>
            <a:endParaRPr lang="en-US"/>
          </a:p>
        </p:txBody>
      </p:sp>
    </p:spTree>
    <p:extLst>
      <p:ext uri="{BB962C8B-B14F-4D97-AF65-F5344CB8AC3E}">
        <p14:creationId xmlns:p14="http://schemas.microsoft.com/office/powerpoint/2010/main" val="127054292"/>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769441"/>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dirty="0" err="1">
                <a:latin typeface="Arial Black"/>
                <a:cs typeface="Arial Black"/>
              </a:rPr>
              <a:t>ECMAScript</a:t>
            </a:r>
            <a:r>
              <a:rPr lang="es-ES" sz="2200" dirty="0">
                <a:latin typeface="Arial Black"/>
                <a:cs typeface="Arial Black"/>
              </a:rPr>
              <a:t> v6 </a:t>
            </a:r>
            <a:r>
              <a:rPr lang="es-ES" sz="2200" dirty="0" smtClean="0">
                <a:latin typeface="Arial Black"/>
                <a:cs typeface="Arial Black"/>
              </a:rPr>
              <a:t>&gt; </a:t>
            </a:r>
            <a:r>
              <a:rPr lang="es-ES" sz="2400" dirty="0">
                <a:solidFill>
                  <a:srgbClr val="FFFFFF"/>
                </a:solidFill>
                <a:latin typeface="Helvetica"/>
                <a:cs typeface="Helvetica"/>
              </a:rPr>
              <a:t>Módulos</a:t>
            </a:r>
          </a:p>
          <a:p>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610556" y="2564178"/>
            <a:ext cx="3816301" cy="2462213"/>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a:cs typeface="Calisto MT"/>
              </a:rPr>
              <a:t>/File: </a:t>
            </a:r>
            <a:r>
              <a:rPr lang="es-ES" sz="1400" dirty="0" err="1">
                <a:cs typeface="Calisto MT"/>
              </a:rPr>
              <a:t>lib</a:t>
            </a:r>
            <a:r>
              <a:rPr lang="es-ES" sz="1400" dirty="0">
                <a:cs typeface="Calisto MT"/>
              </a:rPr>
              <a:t>/</a:t>
            </a:r>
            <a:r>
              <a:rPr lang="es-ES" sz="1400" dirty="0" err="1">
                <a:cs typeface="Calisto MT"/>
              </a:rPr>
              <a:t>person.js</a:t>
            </a:r>
            <a:endParaRPr lang="es-ES" sz="1400" dirty="0">
              <a:cs typeface="Calisto MT"/>
            </a:endParaRPr>
          </a:p>
          <a:p>
            <a:r>
              <a:rPr lang="es-ES" sz="1400" dirty="0">
                <a:cs typeface="Calisto MT"/>
              </a:rPr>
              <a:t>module "</a:t>
            </a:r>
            <a:r>
              <a:rPr lang="es-ES" sz="1400" dirty="0" err="1">
                <a:cs typeface="Calisto MT"/>
              </a:rPr>
              <a:t>person</a:t>
            </a:r>
            <a:r>
              <a:rPr lang="es-ES" sz="1400" dirty="0">
                <a:cs typeface="Calisto MT"/>
              </a:rPr>
              <a:t>" {</a:t>
            </a:r>
          </a:p>
          <a:p>
            <a:r>
              <a:rPr lang="es-ES" sz="1400" dirty="0">
                <a:cs typeface="Calisto MT"/>
              </a:rPr>
              <a:t>	</a:t>
            </a:r>
            <a:r>
              <a:rPr lang="es-ES" sz="1400" dirty="0" err="1">
                <a:cs typeface="Calisto MT"/>
              </a:rPr>
              <a:t>export</a:t>
            </a:r>
            <a:r>
              <a:rPr lang="es-ES" sz="1400" dirty="0">
                <a:cs typeface="Calisto MT"/>
              </a:rPr>
              <a:t> </a:t>
            </a:r>
            <a:r>
              <a:rPr lang="es-ES" sz="1400" dirty="0" err="1">
                <a:cs typeface="Calisto MT"/>
              </a:rPr>
              <a:t>function</a:t>
            </a:r>
            <a:r>
              <a:rPr lang="es-ES" sz="1400" dirty="0">
                <a:cs typeface="Calisto MT"/>
              </a:rPr>
              <a:t> </a:t>
            </a:r>
            <a:r>
              <a:rPr lang="es-ES" sz="1400" dirty="0" err="1">
                <a:cs typeface="Calisto MT"/>
              </a:rPr>
              <a:t>hello</a:t>
            </a:r>
            <a:r>
              <a:rPr lang="es-ES" sz="1400" dirty="0">
                <a:cs typeface="Calisto MT"/>
              </a:rPr>
              <a:t>(nombre) {</a:t>
            </a:r>
          </a:p>
          <a:p>
            <a:r>
              <a:rPr lang="es-ES" sz="1400" dirty="0">
                <a:cs typeface="Calisto MT"/>
              </a:rPr>
              <a:t>    	</a:t>
            </a:r>
            <a:r>
              <a:rPr lang="es-ES" sz="1400" dirty="0" err="1">
                <a:cs typeface="Calisto MT"/>
              </a:rPr>
              <a:t>return</a:t>
            </a:r>
            <a:r>
              <a:rPr lang="es-ES" sz="1400" dirty="0">
                <a:cs typeface="Calisto MT"/>
              </a:rPr>
              <a:t> nombre;</a:t>
            </a:r>
          </a:p>
          <a:p>
            <a:r>
              <a:rPr lang="es-ES" sz="1400" dirty="0">
                <a:cs typeface="Calisto MT"/>
              </a:rPr>
              <a:t>    }</a:t>
            </a:r>
          </a:p>
          <a:p>
            <a:r>
              <a:rPr lang="es-ES" sz="1400" dirty="0" smtClean="0">
                <a:cs typeface="Calisto MT"/>
              </a:rPr>
              <a:t>}</a:t>
            </a:r>
          </a:p>
          <a:p>
            <a:endParaRPr lang="es-ES" sz="1400" dirty="0" smtClean="0">
              <a:cs typeface="Calisto MT"/>
            </a:endParaRPr>
          </a:p>
          <a:p>
            <a:r>
              <a:rPr lang="es-ES" sz="1400" dirty="0" smtClean="0">
                <a:latin typeface="Calisto MT"/>
                <a:cs typeface="Calisto MT"/>
              </a:rPr>
              <a:t>o también se puede hacer así</a:t>
            </a:r>
            <a:endParaRPr lang="es-ES" sz="1400" dirty="0">
              <a:latin typeface="Calisto MT"/>
              <a:cs typeface="Calisto MT"/>
            </a:endParaRPr>
          </a:p>
          <a:p>
            <a:r>
              <a:rPr lang="es-ES" sz="1400" dirty="0" err="1">
                <a:cs typeface="Calisto MT"/>
              </a:rPr>
              <a:t>export</a:t>
            </a:r>
            <a:r>
              <a:rPr lang="es-ES" sz="1400" dirty="0">
                <a:cs typeface="Calisto MT"/>
              </a:rPr>
              <a:t> </a:t>
            </a:r>
            <a:r>
              <a:rPr lang="es-ES" sz="1400" dirty="0" err="1">
                <a:cs typeface="Calisto MT"/>
              </a:rPr>
              <a:t>function</a:t>
            </a:r>
            <a:r>
              <a:rPr lang="es-ES" sz="1400" dirty="0">
                <a:cs typeface="Calisto MT"/>
              </a:rPr>
              <a:t> </a:t>
            </a:r>
            <a:r>
              <a:rPr lang="es-ES" sz="1400" dirty="0" err="1">
                <a:cs typeface="Calisto MT"/>
              </a:rPr>
              <a:t>hello</a:t>
            </a:r>
            <a:r>
              <a:rPr lang="es-ES" sz="1400" dirty="0">
                <a:cs typeface="Calisto MT"/>
              </a:rPr>
              <a:t>(nombre) {...};</a:t>
            </a:r>
          </a:p>
          <a:p>
            <a:r>
              <a:rPr lang="es-ES" sz="1400" dirty="0">
                <a:cs typeface="Calisto MT"/>
              </a:rPr>
              <a:t>o también, si solo es una función la que tiene el módulo: </a:t>
            </a:r>
            <a:r>
              <a:rPr lang="es-ES" sz="1400" dirty="0" err="1">
                <a:cs typeface="Calisto MT"/>
              </a:rPr>
              <a:t>export</a:t>
            </a:r>
            <a:r>
              <a:rPr lang="es-ES" sz="1400" dirty="0">
                <a:cs typeface="Calisto MT"/>
              </a:rPr>
              <a:t> default </a:t>
            </a:r>
            <a:r>
              <a:rPr lang="es-ES" sz="1400" dirty="0" err="1">
                <a:cs typeface="Calisto MT"/>
              </a:rPr>
              <a:t>function</a:t>
            </a:r>
            <a:r>
              <a:rPr lang="es-ES" sz="1400" dirty="0">
                <a:cs typeface="Calisto MT"/>
              </a:rPr>
              <a:t>(nombre) {...};</a:t>
            </a:r>
            <a:endParaRPr lang="es-ES" sz="1400" dirty="0">
              <a:latin typeface="Calisto MT"/>
              <a:cs typeface="Calisto MT"/>
            </a:endParaRPr>
          </a:p>
        </p:txBody>
      </p:sp>
      <p:sp>
        <p:nvSpPr>
          <p:cNvPr id="14" name="Rectángulo 13"/>
          <p:cNvSpPr/>
          <p:nvPr/>
        </p:nvSpPr>
        <p:spPr>
          <a:xfrm>
            <a:off x="492433" y="1614742"/>
            <a:ext cx="8202871" cy="798680"/>
          </a:xfrm>
          <a:prstGeom prst="rect">
            <a:avLst/>
          </a:prstGeom>
        </p:spPr>
        <p:txBody>
          <a:bodyPr wrap="square">
            <a:spAutoFit/>
          </a:bodyPr>
          <a:lstStyle/>
          <a:p>
            <a:pPr algn="just">
              <a:lnSpc>
                <a:spcPct val="130000"/>
              </a:lnSpc>
            </a:pPr>
            <a:r>
              <a:rPr lang="es-ES" dirty="0">
                <a:solidFill>
                  <a:srgbClr val="FFFFFF"/>
                </a:solidFill>
                <a:latin typeface="Helvetica"/>
                <a:cs typeface="Helvetica"/>
              </a:rPr>
              <a:t>Llamamos a las funciones desde los propios Scripts, sin tener que importarlos en el </a:t>
            </a:r>
            <a:r>
              <a:rPr lang="es-ES" dirty="0" smtClean="0">
                <a:solidFill>
                  <a:srgbClr val="FFFFFF"/>
                </a:solidFill>
                <a:latin typeface="Helvetica"/>
                <a:cs typeface="Helvetica"/>
              </a:rPr>
              <a:t>HTML.</a:t>
            </a:r>
            <a:endParaRPr lang="es-ES" dirty="0">
              <a:solidFill>
                <a:srgbClr val="FFFFFF"/>
              </a:solidFill>
              <a:latin typeface="Helvetica"/>
              <a:cs typeface="Helvetica"/>
            </a:endParaRPr>
          </a:p>
        </p:txBody>
      </p:sp>
      <p:sp>
        <p:nvSpPr>
          <p:cNvPr id="16" name="Rectángulo 15"/>
          <p:cNvSpPr/>
          <p:nvPr/>
        </p:nvSpPr>
        <p:spPr>
          <a:xfrm>
            <a:off x="4601984" y="2564178"/>
            <a:ext cx="4093320" cy="1815882"/>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a:cs typeface="Calisto MT"/>
              </a:rPr>
              <a:t>//File: </a:t>
            </a:r>
            <a:r>
              <a:rPr lang="es-ES" sz="1400" dirty="0" err="1">
                <a:cs typeface="Calisto MT"/>
              </a:rPr>
              <a:t>app.js</a:t>
            </a:r>
            <a:endParaRPr lang="es-ES" sz="1400" dirty="0">
              <a:cs typeface="Calisto MT"/>
            </a:endParaRPr>
          </a:p>
          <a:p>
            <a:r>
              <a:rPr lang="es-ES" sz="1400" dirty="0" err="1">
                <a:cs typeface="Calisto MT"/>
              </a:rPr>
              <a:t>import</a:t>
            </a:r>
            <a:r>
              <a:rPr lang="es-ES" sz="1400" dirty="0">
                <a:cs typeface="Calisto MT"/>
              </a:rPr>
              <a:t> { </a:t>
            </a:r>
            <a:r>
              <a:rPr lang="es-ES" sz="1400" dirty="0" err="1">
                <a:cs typeface="Calisto MT"/>
              </a:rPr>
              <a:t>hello</a:t>
            </a:r>
            <a:r>
              <a:rPr lang="es-ES" sz="1400" dirty="0">
                <a:cs typeface="Calisto MT"/>
              </a:rPr>
              <a:t> } </a:t>
            </a:r>
            <a:r>
              <a:rPr lang="es-ES" sz="1400" dirty="0" err="1">
                <a:cs typeface="Calisto MT"/>
              </a:rPr>
              <a:t>from</a:t>
            </a:r>
            <a:r>
              <a:rPr lang="es-ES" sz="1400" dirty="0">
                <a:cs typeface="Calisto MT"/>
              </a:rPr>
              <a:t> "</a:t>
            </a:r>
            <a:r>
              <a:rPr lang="es-ES" sz="1400" dirty="0" err="1">
                <a:cs typeface="Calisto MT"/>
              </a:rPr>
              <a:t>person</a:t>
            </a:r>
            <a:r>
              <a:rPr lang="es-ES" sz="1400" dirty="0">
                <a:cs typeface="Calisto MT"/>
              </a:rPr>
              <a:t>";</a:t>
            </a:r>
          </a:p>
          <a:p>
            <a:r>
              <a:rPr lang="es-ES" sz="1400" dirty="0" err="1">
                <a:cs typeface="Calisto MT"/>
              </a:rPr>
              <a:t>var</a:t>
            </a:r>
            <a:r>
              <a:rPr lang="es-ES" sz="1400" dirty="0">
                <a:cs typeface="Calisto MT"/>
              </a:rPr>
              <a:t> </a:t>
            </a:r>
            <a:r>
              <a:rPr lang="es-ES" sz="1400" dirty="0" err="1">
                <a:cs typeface="Calisto MT"/>
              </a:rPr>
              <a:t>app</a:t>
            </a:r>
            <a:r>
              <a:rPr lang="es-ES" sz="1400" dirty="0">
                <a:cs typeface="Calisto MT"/>
              </a:rPr>
              <a:t> = {</a:t>
            </a:r>
          </a:p>
          <a:p>
            <a:r>
              <a:rPr lang="es-ES" sz="1400" dirty="0">
                <a:cs typeface="Calisto MT"/>
              </a:rPr>
              <a:t>	</a:t>
            </a:r>
            <a:r>
              <a:rPr lang="es-ES" sz="1400" dirty="0" err="1">
                <a:cs typeface="Calisto MT"/>
              </a:rPr>
              <a:t>foo</a:t>
            </a:r>
            <a:r>
              <a:rPr lang="es-ES" sz="1400" dirty="0">
                <a:cs typeface="Calisto MT"/>
              </a:rPr>
              <a:t>: </a:t>
            </a:r>
            <a:r>
              <a:rPr lang="es-ES" sz="1400" dirty="0" err="1">
                <a:cs typeface="Calisto MT"/>
              </a:rPr>
              <a:t>function</a:t>
            </a:r>
            <a:r>
              <a:rPr lang="es-ES" sz="1400" dirty="0">
                <a:cs typeface="Calisto MT"/>
              </a:rPr>
              <a:t>() {</a:t>
            </a:r>
          </a:p>
          <a:p>
            <a:r>
              <a:rPr lang="es-ES" sz="1400" dirty="0">
                <a:cs typeface="Calisto MT"/>
              </a:rPr>
              <a:t>    	</a:t>
            </a:r>
            <a:r>
              <a:rPr lang="es-ES" sz="1400" dirty="0" err="1">
                <a:cs typeface="Calisto MT"/>
              </a:rPr>
              <a:t>hello</a:t>
            </a:r>
            <a:r>
              <a:rPr lang="es-ES" sz="1400" dirty="0">
                <a:cs typeface="Calisto MT"/>
              </a:rPr>
              <a:t>("Carlos");</a:t>
            </a:r>
          </a:p>
          <a:p>
            <a:r>
              <a:rPr lang="es-ES" sz="1400" dirty="0">
                <a:cs typeface="Calisto MT"/>
              </a:rPr>
              <a:t>    }</a:t>
            </a:r>
          </a:p>
          <a:p>
            <a:r>
              <a:rPr lang="es-ES" sz="1400" dirty="0">
                <a:cs typeface="Calisto MT"/>
              </a:rPr>
              <a:t>}</a:t>
            </a:r>
          </a:p>
          <a:p>
            <a:r>
              <a:rPr lang="es-ES" sz="1400" dirty="0" err="1">
                <a:cs typeface="Calisto MT"/>
              </a:rPr>
              <a:t>export</a:t>
            </a:r>
            <a:r>
              <a:rPr lang="es-ES" sz="1400" dirty="0">
                <a:cs typeface="Calisto MT"/>
              </a:rPr>
              <a:t> </a:t>
            </a:r>
            <a:r>
              <a:rPr lang="es-ES" sz="1400" dirty="0" err="1">
                <a:cs typeface="Calisto MT"/>
              </a:rPr>
              <a:t>app</a:t>
            </a:r>
            <a:r>
              <a:rPr lang="es-ES" sz="1400" dirty="0">
                <a:cs typeface="Calisto MT"/>
              </a:rPr>
              <a:t>;</a:t>
            </a:r>
            <a:endParaRPr lang="es-ES" sz="1400" dirty="0">
              <a:latin typeface="Calisto MT"/>
              <a:cs typeface="Calisto MT"/>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16</a:t>
            </a:fld>
            <a:endParaRPr lang="en-US"/>
          </a:p>
        </p:txBody>
      </p:sp>
    </p:spTree>
    <p:extLst>
      <p:ext uri="{BB962C8B-B14F-4D97-AF65-F5344CB8AC3E}">
        <p14:creationId xmlns:p14="http://schemas.microsoft.com/office/powerpoint/2010/main" val="3198358128"/>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738664"/>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ECMAScript</a:t>
            </a:r>
            <a:r>
              <a:rPr lang="es-ES" sz="2000" dirty="0">
                <a:solidFill>
                  <a:srgbClr val="FFFFFF"/>
                </a:solidFill>
                <a:latin typeface="Helvetica"/>
                <a:ea typeface="Lucida Grande"/>
                <a:cs typeface="Helvetica"/>
              </a:rPr>
              <a:t> v6 </a:t>
            </a:r>
          </a:p>
          <a:p>
            <a:endParaRPr lang="es-ES" sz="2000" dirty="0">
              <a:solidFill>
                <a:srgbClr val="FFFFFF"/>
              </a:solidFill>
              <a:latin typeface="Helvetica"/>
              <a:cs typeface="Helvetica"/>
            </a:endParaRPr>
          </a:p>
        </p:txBody>
      </p:sp>
      <p:sp>
        <p:nvSpPr>
          <p:cNvPr id="25" name="Rectángulo 24"/>
          <p:cNvSpPr/>
          <p:nvPr/>
        </p:nvSpPr>
        <p:spPr>
          <a:xfrm>
            <a:off x="505396" y="1036937"/>
            <a:ext cx="8189908" cy="769441"/>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dirty="0" err="1">
                <a:latin typeface="Arial Black"/>
                <a:cs typeface="Arial Black"/>
              </a:rPr>
              <a:t>ECMAScript</a:t>
            </a:r>
            <a:r>
              <a:rPr lang="es-ES" sz="2200" dirty="0">
                <a:latin typeface="Arial Black"/>
                <a:cs typeface="Arial Black"/>
              </a:rPr>
              <a:t> v6 </a:t>
            </a:r>
            <a:r>
              <a:rPr lang="es-ES" sz="2200" dirty="0" smtClean="0">
                <a:latin typeface="Arial Black"/>
                <a:cs typeface="Arial Black"/>
              </a:rPr>
              <a:t>&gt; </a:t>
            </a:r>
            <a:r>
              <a:rPr lang="es-ES" sz="2400" dirty="0" smtClean="0">
                <a:solidFill>
                  <a:srgbClr val="FFFFFF"/>
                </a:solidFill>
                <a:latin typeface="Helvetica"/>
                <a:cs typeface="Helvetica"/>
              </a:rPr>
              <a:t>Promesas</a:t>
            </a:r>
            <a:endParaRPr lang="es-ES" sz="2400" dirty="0">
              <a:solidFill>
                <a:srgbClr val="FFFFFF"/>
              </a:solidFill>
              <a:latin typeface="Helvetica"/>
              <a:cs typeface="Helvetica"/>
            </a:endParaRPr>
          </a:p>
          <a:p>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651017" y="1797350"/>
            <a:ext cx="6751747" cy="3970318"/>
          </a:xfrm>
          <a:prstGeom prst="rect">
            <a:avLst/>
          </a:prstGeom>
          <a:solidFill>
            <a:schemeClr val="bg2">
              <a:lumMod val="75000"/>
              <a:lumOff val="25000"/>
            </a:schemeClr>
          </a:solidFill>
          <a:ln w="12700" cmpd="sng">
            <a:solidFill>
              <a:srgbClr val="3366FF"/>
            </a:solidFill>
          </a:ln>
        </p:spPr>
        <p:txBody>
          <a:bodyPr wrap="square">
            <a:spAutoFit/>
          </a:bodyPr>
          <a:lstStyle/>
          <a:p>
            <a:r>
              <a:rPr lang="mr-IN" sz="1400" dirty="0">
                <a:cs typeface="Calisto MT"/>
              </a:rPr>
              <a:t>function hacerAlgoPromesa (){</a:t>
            </a:r>
          </a:p>
          <a:p>
            <a:r>
              <a:rPr lang="mr-IN" sz="1400" dirty="0">
                <a:cs typeface="Calisto MT"/>
              </a:rPr>
              <a:t>    return new Promise (function (resolve, reject) {        </a:t>
            </a:r>
          </a:p>
          <a:p>
            <a:r>
              <a:rPr lang="mr-IN" sz="1400" dirty="0">
                <a:cs typeface="Calisto MT"/>
              </a:rPr>
              <a:t>        setTimeout(</a:t>
            </a:r>
          </a:p>
          <a:p>
            <a:r>
              <a:rPr lang="mr-IN" sz="1400" dirty="0">
                <a:cs typeface="Calisto MT"/>
              </a:rPr>
              <a:t>            () =&gt; {</a:t>
            </a:r>
          </a:p>
          <a:p>
            <a:r>
              <a:rPr lang="mr-IN" sz="1400" dirty="0">
                <a:cs typeface="Calisto MT"/>
              </a:rPr>
              <a:t>                console.log ( 'hacer algo que ha ocupado un tiempo...');</a:t>
            </a:r>
          </a:p>
          <a:p>
            <a:r>
              <a:rPr lang="mr-IN" sz="1400" dirty="0">
                <a:cs typeface="Calisto MT"/>
              </a:rPr>
              <a:t>                let number = Math.random()</a:t>
            </a:r>
          </a:p>
          <a:p>
            <a:r>
              <a:rPr lang="mr-IN" sz="1400" dirty="0">
                <a:cs typeface="Calisto MT"/>
              </a:rPr>
              <a:t>                if (number &lt; 0.7) {</a:t>
            </a:r>
          </a:p>
          <a:p>
            <a:r>
              <a:rPr lang="mr-IN" sz="1400" dirty="0">
                <a:cs typeface="Calisto MT"/>
              </a:rPr>
              <a:t>                    resolve(number) // correcto</a:t>
            </a:r>
          </a:p>
          <a:p>
            <a:r>
              <a:rPr lang="mr-IN" sz="1400" dirty="0">
                <a:cs typeface="Calisto MT"/>
              </a:rPr>
              <a:t>                }  else {</a:t>
            </a:r>
          </a:p>
          <a:p>
            <a:r>
              <a:rPr lang="mr-IN" sz="1400" dirty="0">
                <a:cs typeface="Calisto MT"/>
              </a:rPr>
              <a:t>                    reject(number) // incorrecto</a:t>
            </a:r>
          </a:p>
          <a:p>
            <a:r>
              <a:rPr lang="mr-IN" sz="1400" dirty="0">
                <a:cs typeface="Calisto MT"/>
              </a:rPr>
              <a:t>                }</a:t>
            </a:r>
          </a:p>
          <a:p>
            <a:r>
              <a:rPr lang="mr-IN" sz="1400" dirty="0">
                <a:cs typeface="Calisto MT"/>
              </a:rPr>
              <a:t>            },  2000);</a:t>
            </a:r>
          </a:p>
          <a:p>
            <a:r>
              <a:rPr lang="mr-IN" sz="1400" dirty="0">
                <a:cs typeface="Calisto MT"/>
              </a:rPr>
              <a:t>    })</a:t>
            </a:r>
          </a:p>
          <a:p>
            <a:r>
              <a:rPr lang="mr-IN" sz="1400" dirty="0">
                <a:cs typeface="Calisto MT"/>
              </a:rPr>
              <a:t> </a:t>
            </a:r>
            <a:r>
              <a:rPr lang="mr-IN" sz="1400" dirty="0" smtClean="0">
                <a:cs typeface="Calisto MT"/>
              </a:rPr>
              <a:t>}</a:t>
            </a:r>
            <a:endParaRPr lang="es-ES_tradnl" sz="1400" dirty="0" smtClean="0">
              <a:cs typeface="Calisto MT"/>
            </a:endParaRPr>
          </a:p>
          <a:p>
            <a:endParaRPr lang="es-ES_tradnl" sz="1400" dirty="0">
              <a:cs typeface="Calisto MT"/>
            </a:endParaRPr>
          </a:p>
          <a:p>
            <a:r>
              <a:rPr lang="es-ES_tradnl" sz="1400" dirty="0" err="1">
                <a:cs typeface="Calisto MT"/>
              </a:rPr>
              <a:t>hacerAlgoPromesa</a:t>
            </a:r>
            <a:r>
              <a:rPr lang="es-ES_tradnl" sz="1400" dirty="0">
                <a:cs typeface="Calisto MT"/>
              </a:rPr>
              <a:t>()</a:t>
            </a:r>
          </a:p>
          <a:p>
            <a:r>
              <a:rPr lang="es-ES_tradnl" sz="1400" dirty="0">
                <a:cs typeface="Calisto MT"/>
              </a:rPr>
              <a:t>    .</a:t>
            </a:r>
            <a:r>
              <a:rPr lang="es-ES_tradnl" sz="1400" dirty="0" err="1">
                <a:cs typeface="Calisto MT"/>
              </a:rPr>
              <a:t>then</a:t>
            </a:r>
            <a:r>
              <a:rPr lang="es-ES_tradnl" sz="1400" dirty="0">
                <a:cs typeface="Calisto MT"/>
              </a:rPr>
              <a:t>( (data) =&gt; {</a:t>
            </a:r>
            <a:r>
              <a:rPr lang="es-ES_tradnl" sz="1400" dirty="0" err="1">
                <a:cs typeface="Calisto MT"/>
              </a:rPr>
              <a:t>console.log</a:t>
            </a:r>
            <a:r>
              <a:rPr lang="es-ES_tradnl" sz="1400" dirty="0">
                <a:cs typeface="Calisto MT"/>
              </a:rPr>
              <a:t>('El resultado es', data)})</a:t>
            </a:r>
          </a:p>
          <a:p>
            <a:r>
              <a:rPr lang="es-ES_tradnl" sz="1400" dirty="0">
                <a:cs typeface="Calisto MT"/>
              </a:rPr>
              <a:t>    .catch( (error) =&gt; {</a:t>
            </a:r>
            <a:r>
              <a:rPr lang="es-ES_tradnl" sz="1400" dirty="0" err="1">
                <a:cs typeface="Calisto MT"/>
              </a:rPr>
              <a:t>console.log</a:t>
            </a:r>
            <a:r>
              <a:rPr lang="es-ES_tradnl" sz="1400" dirty="0">
                <a:cs typeface="Calisto MT"/>
              </a:rPr>
              <a:t>('Error', error)})</a:t>
            </a:r>
            <a:endParaRPr lang="es-ES" sz="1400" dirty="0">
              <a:latin typeface="Calisto MT"/>
              <a:cs typeface="Calisto MT"/>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17</a:t>
            </a:fld>
            <a:endParaRPr lang="en-US"/>
          </a:p>
        </p:txBody>
      </p:sp>
    </p:spTree>
    <p:extLst>
      <p:ext uri="{BB962C8B-B14F-4D97-AF65-F5344CB8AC3E}">
        <p14:creationId xmlns:p14="http://schemas.microsoft.com/office/powerpoint/2010/main" val="3959074881"/>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Introducción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Transpilar</a:t>
            </a:r>
            <a:r>
              <a:rPr lang="es-ES" sz="2000" dirty="0">
                <a:solidFill>
                  <a:srgbClr val="FFFFFF"/>
                </a:solidFill>
                <a:latin typeface="Helvetica"/>
                <a:ea typeface="Lucida Grande"/>
                <a:cs typeface="Helvetica"/>
              </a:rPr>
              <a:t> Vs Compilar</a:t>
            </a:r>
            <a:endParaRPr lang="es-ES" sz="2000" dirty="0">
              <a:solidFill>
                <a:srgbClr val="FFFFFF"/>
              </a:solidFill>
              <a:latin typeface="Helvetica"/>
              <a:cs typeface="Helvetica"/>
            </a:endParaRPr>
          </a:p>
        </p:txBody>
      </p:sp>
      <p:sp>
        <p:nvSpPr>
          <p:cNvPr id="25" name="Rectángulo 24"/>
          <p:cNvSpPr/>
          <p:nvPr/>
        </p:nvSpPr>
        <p:spPr>
          <a:xfrm>
            <a:off x="505396" y="1036937"/>
            <a:ext cx="8189908" cy="769441"/>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400" dirty="0" err="1" smtClean="0">
                <a:solidFill>
                  <a:srgbClr val="FFFFFF"/>
                </a:solidFill>
                <a:latin typeface="Helvetica"/>
                <a:cs typeface="Helvetica"/>
              </a:rPr>
              <a:t>Transpilar</a:t>
            </a:r>
            <a:r>
              <a:rPr lang="es-ES" sz="2400" dirty="0" smtClean="0">
                <a:solidFill>
                  <a:srgbClr val="FFFFFF"/>
                </a:solidFill>
                <a:latin typeface="Helvetica"/>
                <a:cs typeface="Helvetica"/>
              </a:rPr>
              <a:t> </a:t>
            </a:r>
            <a:r>
              <a:rPr lang="es-ES" sz="2400" dirty="0">
                <a:solidFill>
                  <a:srgbClr val="FFFFFF"/>
                </a:solidFill>
                <a:latin typeface="Helvetica"/>
                <a:cs typeface="Helvetica"/>
              </a:rPr>
              <a:t>Vs Compilar</a:t>
            </a:r>
          </a:p>
          <a:p>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2959272"/>
          </a:xfrm>
          <a:prstGeom prst="rect">
            <a:avLst/>
          </a:prstGeom>
        </p:spPr>
        <p:txBody>
          <a:bodyPr wrap="square">
            <a:spAutoFit/>
          </a:bodyPr>
          <a:lstStyle/>
          <a:p>
            <a:pPr algn="just">
              <a:lnSpc>
                <a:spcPct val="130000"/>
              </a:lnSpc>
            </a:pPr>
            <a:r>
              <a:rPr lang="es-ES" b="1" u="sng" dirty="0">
                <a:solidFill>
                  <a:srgbClr val="FFFFFF"/>
                </a:solidFill>
                <a:latin typeface="Helvetica"/>
                <a:cs typeface="Helvetica"/>
              </a:rPr>
              <a:t>Compilar: </a:t>
            </a:r>
            <a:r>
              <a:rPr lang="es-ES" dirty="0">
                <a:solidFill>
                  <a:srgbClr val="FFFFFF"/>
                </a:solidFill>
                <a:latin typeface="Helvetica"/>
                <a:cs typeface="Helvetica"/>
              </a:rPr>
              <a:t>es el proceso de transformar Código de Alto Nivel, es decir código que se entendible por personas con conocimientos en programación, a código que la maquina pueda entender, es decir código Máquina</a:t>
            </a:r>
            <a:r>
              <a:rPr lang="es-ES" dirty="0" smtClean="0">
                <a:solidFill>
                  <a:srgbClr val="FFFFFF"/>
                </a:solidFill>
                <a:latin typeface="Helvetica"/>
                <a:cs typeface="Helvetica"/>
              </a:rPr>
              <a:t>.</a:t>
            </a:r>
          </a:p>
          <a:p>
            <a:pPr algn="just">
              <a:lnSpc>
                <a:spcPct val="130000"/>
              </a:lnSpc>
            </a:pPr>
            <a:endParaRPr lang="es-ES" dirty="0">
              <a:solidFill>
                <a:srgbClr val="FFFFFF"/>
              </a:solidFill>
              <a:latin typeface="Helvetica"/>
              <a:cs typeface="Helvetica"/>
            </a:endParaRPr>
          </a:p>
          <a:p>
            <a:pPr algn="just">
              <a:lnSpc>
                <a:spcPct val="130000"/>
              </a:lnSpc>
            </a:pPr>
            <a:r>
              <a:rPr lang="es-ES" b="1" u="sng" dirty="0" err="1" smtClean="0">
                <a:solidFill>
                  <a:srgbClr val="FFFFFF"/>
                </a:solidFill>
                <a:latin typeface="Helvetica"/>
                <a:cs typeface="Helvetica"/>
              </a:rPr>
              <a:t>Transpilar</a:t>
            </a:r>
            <a:r>
              <a:rPr lang="es-ES" b="1" u="sng" dirty="0" smtClean="0">
                <a:solidFill>
                  <a:srgbClr val="FFFFFF"/>
                </a:solidFill>
                <a:latin typeface="Helvetica"/>
                <a:cs typeface="Helvetica"/>
              </a:rPr>
              <a:t>: </a:t>
            </a:r>
            <a:r>
              <a:rPr lang="es-ES" dirty="0" smtClean="0">
                <a:solidFill>
                  <a:srgbClr val="FFFFFF"/>
                </a:solidFill>
                <a:latin typeface="Helvetica"/>
                <a:cs typeface="Helvetica"/>
              </a:rPr>
              <a:t>por </a:t>
            </a:r>
            <a:r>
              <a:rPr lang="es-ES" dirty="0">
                <a:solidFill>
                  <a:srgbClr val="FFFFFF"/>
                </a:solidFill>
                <a:latin typeface="Helvetica"/>
                <a:cs typeface="Helvetica"/>
              </a:rPr>
              <a:t>otra parte es el proceso en el que transformamos Código de un lenguaje de programación a otro, similar a compilar, pero la diferencia esta en que el código que se transforma, tienen el mismo nivel, es decir que al final, es convertir código al mismo nivel de abstracción. </a:t>
            </a: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18</a:t>
            </a:fld>
            <a:endParaRPr lang="en-US"/>
          </a:p>
        </p:txBody>
      </p:sp>
    </p:spTree>
    <p:extLst>
      <p:ext uri="{BB962C8B-B14F-4D97-AF65-F5344CB8AC3E}">
        <p14:creationId xmlns:p14="http://schemas.microsoft.com/office/powerpoint/2010/main" val="2668943692"/>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Web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a:t>
            </a:r>
            <a:r>
              <a:rPr lang="es-ES" sz="2000" dirty="0">
                <a:solidFill>
                  <a:srgbClr val="FFFFFF"/>
                </a:solidFill>
                <a:latin typeface="Helvetica"/>
                <a:ea typeface="Lucida Grande"/>
                <a:cs typeface="Helvetica"/>
              </a:rPr>
              <a:t>Definición</a:t>
            </a:r>
            <a:endParaRPr lang="es-ES" sz="2000" dirty="0">
              <a:solidFill>
                <a:srgbClr val="FFFFFF"/>
              </a:solidFill>
              <a:latin typeface="Helvetica"/>
              <a:cs typeface="Helvetica"/>
            </a:endParaRPr>
          </a:p>
        </p:txBody>
      </p:sp>
      <p:sp>
        <p:nvSpPr>
          <p:cNvPr id="20" name="Rectángulo 19"/>
          <p:cNvSpPr/>
          <p:nvPr/>
        </p:nvSpPr>
        <p:spPr>
          <a:xfrm>
            <a:off x="492433" y="1614742"/>
            <a:ext cx="8202871" cy="4399667"/>
          </a:xfrm>
          <a:prstGeom prst="rect">
            <a:avLst/>
          </a:prstGeom>
        </p:spPr>
        <p:txBody>
          <a:bodyPr wrap="square">
            <a:spAutoFit/>
          </a:bodyPr>
          <a:lstStyle/>
          <a:p>
            <a:pPr algn="just">
              <a:lnSpc>
                <a:spcPct val="130000"/>
              </a:lnSpc>
            </a:pPr>
            <a:r>
              <a:rPr lang="es-ES" dirty="0">
                <a:solidFill>
                  <a:srgbClr val="FFFFFF"/>
                </a:solidFill>
                <a:latin typeface="Helvetica"/>
                <a:cs typeface="Helvetica"/>
              </a:rPr>
              <a:t>En los </a:t>
            </a:r>
            <a:r>
              <a:rPr lang="es-ES" dirty="0" smtClean="0">
                <a:solidFill>
                  <a:srgbClr val="FFFFFF"/>
                </a:solidFill>
                <a:latin typeface="Helvetica"/>
                <a:cs typeface="Helvetica"/>
              </a:rPr>
              <a:t>últimos </a:t>
            </a:r>
            <a:r>
              <a:rPr lang="es-ES" dirty="0">
                <a:solidFill>
                  <a:srgbClr val="FFFFFF"/>
                </a:solidFill>
                <a:latin typeface="Helvetica"/>
                <a:cs typeface="Helvetica"/>
              </a:rPr>
              <a:t>años se ha venido observando un claro movimiento hacia la </a:t>
            </a:r>
            <a:r>
              <a:rPr lang="es-ES" dirty="0" err="1">
                <a:solidFill>
                  <a:srgbClr val="FFFFFF"/>
                </a:solidFill>
                <a:latin typeface="Helvetica"/>
                <a:cs typeface="Helvetica"/>
              </a:rPr>
              <a:t>modularización</a:t>
            </a:r>
            <a:r>
              <a:rPr lang="es-ES" dirty="0">
                <a:solidFill>
                  <a:srgbClr val="FFFFFF"/>
                </a:solidFill>
                <a:latin typeface="Helvetica"/>
                <a:cs typeface="Helvetica"/>
              </a:rPr>
              <a:t> </a:t>
            </a:r>
            <a:r>
              <a:rPr lang="es-ES" dirty="0" smtClean="0">
                <a:solidFill>
                  <a:srgbClr val="FFFFFF"/>
                </a:solidFill>
                <a:latin typeface="Helvetica"/>
                <a:cs typeface="Helvetica"/>
              </a:rPr>
              <a:t>de la </a:t>
            </a:r>
            <a:r>
              <a:rPr lang="es-ES" dirty="0">
                <a:solidFill>
                  <a:srgbClr val="FFFFFF"/>
                </a:solidFill>
                <a:latin typeface="Helvetica"/>
                <a:cs typeface="Helvetica"/>
              </a:rPr>
              <a:t>Web</a:t>
            </a:r>
            <a:r>
              <a:rPr lang="es-ES" dirty="0" smtClean="0">
                <a:solidFill>
                  <a:srgbClr val="FFFFFF"/>
                </a:solidFill>
                <a:latin typeface="Helvetica"/>
                <a:cs typeface="Helvetica"/>
              </a:rPr>
              <a:t>.</a:t>
            </a:r>
          </a:p>
          <a:p>
            <a:pPr algn="just">
              <a:lnSpc>
                <a:spcPct val="130000"/>
              </a:lnSpc>
            </a:pPr>
            <a:endParaRPr lang="es-ES" dirty="0" smtClean="0">
              <a:solidFill>
                <a:srgbClr val="FFFFFF"/>
              </a:solidFill>
              <a:latin typeface="Helvetica"/>
              <a:cs typeface="Helvetica"/>
            </a:endParaRPr>
          </a:p>
          <a:p>
            <a:pPr algn="just">
              <a:lnSpc>
                <a:spcPct val="130000"/>
              </a:lnSpc>
            </a:pPr>
            <a:r>
              <a:rPr lang="es-ES" dirty="0" smtClean="0">
                <a:solidFill>
                  <a:srgbClr val="FFFFFF"/>
                </a:solidFill>
                <a:latin typeface="Helvetica"/>
                <a:cs typeface="Helvetica"/>
              </a:rPr>
              <a:t> Como </a:t>
            </a:r>
            <a:r>
              <a:rPr lang="es-ES" dirty="0">
                <a:solidFill>
                  <a:srgbClr val="FFFFFF"/>
                </a:solidFill>
                <a:latin typeface="Helvetica"/>
                <a:cs typeface="Helvetica"/>
              </a:rPr>
              <a:t>consecuencia de los esfuerzos de </a:t>
            </a:r>
            <a:r>
              <a:rPr lang="es-ES" dirty="0" err="1">
                <a:solidFill>
                  <a:srgbClr val="FFFFFF"/>
                </a:solidFill>
                <a:latin typeface="Helvetica"/>
                <a:cs typeface="Helvetica"/>
              </a:rPr>
              <a:t>modularización</a:t>
            </a:r>
            <a:r>
              <a:rPr lang="es-ES" dirty="0">
                <a:solidFill>
                  <a:srgbClr val="FFFFFF"/>
                </a:solidFill>
                <a:latin typeface="Helvetica"/>
                <a:cs typeface="Helvetica"/>
              </a:rPr>
              <a:t> y </a:t>
            </a:r>
            <a:r>
              <a:rPr lang="es-ES" dirty="0" smtClean="0">
                <a:solidFill>
                  <a:srgbClr val="FFFFFF"/>
                </a:solidFill>
                <a:latin typeface="Helvetica"/>
                <a:cs typeface="Helvetica"/>
              </a:rPr>
              <a:t>reutilización </a:t>
            </a:r>
            <a:r>
              <a:rPr lang="es-ES" dirty="0">
                <a:solidFill>
                  <a:srgbClr val="FFFFFF"/>
                </a:solidFill>
                <a:latin typeface="Helvetica"/>
                <a:cs typeface="Helvetica"/>
              </a:rPr>
              <a:t>anteriores surge, de </a:t>
            </a:r>
            <a:r>
              <a:rPr lang="es-ES" dirty="0" smtClean="0">
                <a:solidFill>
                  <a:srgbClr val="FFFFFF"/>
                </a:solidFill>
                <a:latin typeface="Helvetica"/>
                <a:cs typeface="Helvetica"/>
              </a:rPr>
              <a:t>la mano </a:t>
            </a:r>
            <a:r>
              <a:rPr lang="es-ES" dirty="0">
                <a:solidFill>
                  <a:srgbClr val="FFFFFF"/>
                </a:solidFill>
                <a:latin typeface="Helvetica"/>
                <a:cs typeface="Helvetica"/>
              </a:rPr>
              <a:t>de la W3C, el estándar de Componentes Web que pretende recoger estas inquietudes </a:t>
            </a:r>
            <a:r>
              <a:rPr lang="es-ES" dirty="0" smtClean="0">
                <a:solidFill>
                  <a:srgbClr val="FFFFFF"/>
                </a:solidFill>
                <a:latin typeface="Helvetica"/>
                <a:cs typeface="Helvetica"/>
              </a:rPr>
              <a:t>y resolver </a:t>
            </a:r>
            <a:r>
              <a:rPr lang="es-ES" dirty="0">
                <a:solidFill>
                  <a:srgbClr val="FFFFFF"/>
                </a:solidFill>
                <a:latin typeface="Helvetica"/>
                <a:cs typeface="Helvetica"/>
              </a:rPr>
              <a:t>algunos de los problemas que presentan las soluciones propuestas hasta la </a:t>
            </a:r>
            <a:r>
              <a:rPr lang="es-ES" dirty="0" smtClean="0">
                <a:solidFill>
                  <a:srgbClr val="FFFFFF"/>
                </a:solidFill>
                <a:latin typeface="Helvetica"/>
                <a:cs typeface="Helvetica"/>
              </a:rPr>
              <a:t>fecha (Encapsulamiento, modularidad , extensibilidad , </a:t>
            </a:r>
            <a:r>
              <a:rPr lang="es-ES" dirty="0" err="1" smtClean="0">
                <a:solidFill>
                  <a:srgbClr val="FFFFFF"/>
                </a:solidFill>
                <a:latin typeface="Helvetica"/>
                <a:cs typeface="Helvetica"/>
              </a:rPr>
              <a:t>templates</a:t>
            </a:r>
            <a:r>
              <a:rPr lang="es-ES" dirty="0">
                <a:solidFill>
                  <a:srgbClr val="FFFFFF"/>
                </a:solidFill>
                <a:latin typeface="Helvetica"/>
                <a:cs typeface="Helvetica"/>
              </a:rPr>
              <a:t>)</a:t>
            </a:r>
            <a:r>
              <a:rPr lang="es-ES" dirty="0" smtClean="0">
                <a:solidFill>
                  <a:srgbClr val="FFFFFF"/>
                </a:solidFill>
                <a:latin typeface="Helvetica"/>
                <a:cs typeface="Helvetica"/>
              </a:rPr>
              <a:t>. </a:t>
            </a:r>
          </a:p>
          <a:p>
            <a:pPr algn="just">
              <a:lnSpc>
                <a:spcPct val="130000"/>
              </a:lnSpc>
            </a:pPr>
            <a:endParaRPr lang="es-ES" dirty="0">
              <a:solidFill>
                <a:srgbClr val="FFFFFF"/>
              </a:solidFill>
              <a:latin typeface="Helvetica"/>
              <a:cs typeface="Helvetica"/>
            </a:endParaRPr>
          </a:p>
          <a:p>
            <a:pPr algn="just">
              <a:lnSpc>
                <a:spcPct val="130000"/>
              </a:lnSpc>
            </a:pPr>
            <a:r>
              <a:rPr lang="es-ES" dirty="0" smtClean="0">
                <a:solidFill>
                  <a:srgbClr val="FFFFFF"/>
                </a:solidFill>
                <a:latin typeface="Helvetica"/>
                <a:cs typeface="Helvetica"/>
              </a:rPr>
              <a:t>Un </a:t>
            </a:r>
            <a:r>
              <a:rPr lang="es-ES" dirty="0">
                <a:solidFill>
                  <a:srgbClr val="FFFFFF"/>
                </a:solidFill>
                <a:latin typeface="Helvetica"/>
                <a:cs typeface="Helvetica"/>
              </a:rPr>
              <a:t>Componente Web proporciona </a:t>
            </a:r>
            <a:r>
              <a:rPr lang="es-ES" u="sng" dirty="0">
                <a:solidFill>
                  <a:srgbClr val="FFFFFF"/>
                </a:solidFill>
                <a:latin typeface="Helvetica"/>
                <a:cs typeface="Helvetica"/>
              </a:rPr>
              <a:t>un mecanismo para construir nuevos elementos DOM personalizados</a:t>
            </a:r>
            <a:r>
              <a:rPr lang="es-ES" dirty="0">
                <a:solidFill>
                  <a:srgbClr val="FFFFFF"/>
                </a:solidFill>
                <a:latin typeface="Helvetica"/>
                <a:cs typeface="Helvetica"/>
              </a:rPr>
              <a:t> que incluyen semántica funcional nueva además de una estructura sintáctica potencialmente diferente.</a:t>
            </a: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Definición:</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19</a:t>
            </a:fld>
            <a:endParaRPr lang="en-US"/>
          </a:p>
        </p:txBody>
      </p:sp>
    </p:spTree>
    <p:extLst>
      <p:ext uri="{BB962C8B-B14F-4D97-AF65-F5344CB8AC3E}">
        <p14:creationId xmlns:p14="http://schemas.microsoft.com/office/powerpoint/2010/main" val="2258696191"/>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Web </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smtClean="0">
                <a:solidFill>
                  <a:srgbClr val="FFFFFF"/>
                </a:solidFill>
                <a:latin typeface="Helvetica"/>
                <a:ea typeface="Lucida Grande"/>
                <a:cs typeface="Helvetica"/>
              </a:rPr>
              <a:t> Objetivo</a:t>
            </a:r>
            <a:endParaRPr lang="es-ES" sz="2000" dirty="0">
              <a:solidFill>
                <a:srgbClr val="FFFFFF"/>
              </a:solidFill>
              <a:latin typeface="Helvetica"/>
              <a:cs typeface="Helvetica"/>
            </a:endParaRPr>
          </a:p>
        </p:txBody>
      </p:sp>
      <p:sp>
        <p:nvSpPr>
          <p:cNvPr id="20" name="Rectángulo 19"/>
          <p:cNvSpPr/>
          <p:nvPr/>
        </p:nvSpPr>
        <p:spPr>
          <a:xfrm>
            <a:off x="492433" y="1614742"/>
            <a:ext cx="8202871" cy="2239074"/>
          </a:xfrm>
          <a:prstGeom prst="rect">
            <a:avLst/>
          </a:prstGeom>
        </p:spPr>
        <p:txBody>
          <a:bodyPr wrap="square">
            <a:spAutoFit/>
          </a:bodyPr>
          <a:lstStyle/>
          <a:p>
            <a:pPr algn="just">
              <a:lnSpc>
                <a:spcPct val="130000"/>
              </a:lnSpc>
            </a:pPr>
            <a:r>
              <a:rPr lang="es-ES" dirty="0">
                <a:solidFill>
                  <a:srgbClr val="FFFFFF"/>
                </a:solidFill>
                <a:latin typeface="Helvetica"/>
                <a:cs typeface="Helvetica"/>
              </a:rPr>
              <a:t>No debemos olvidar que nuestro </a:t>
            </a:r>
            <a:r>
              <a:rPr lang="es-ES" dirty="0" smtClean="0">
                <a:solidFill>
                  <a:srgbClr val="FFFFFF"/>
                </a:solidFill>
                <a:latin typeface="Helvetica"/>
                <a:cs typeface="Helvetica"/>
              </a:rPr>
              <a:t>último objetivo </a:t>
            </a:r>
            <a:r>
              <a:rPr lang="es-ES" dirty="0">
                <a:solidFill>
                  <a:srgbClr val="FFFFFF"/>
                </a:solidFill>
                <a:latin typeface="Helvetica"/>
                <a:cs typeface="Helvetica"/>
              </a:rPr>
              <a:t>cuando construimos componentes Web </a:t>
            </a:r>
            <a:r>
              <a:rPr lang="es-ES" dirty="0" smtClean="0">
                <a:solidFill>
                  <a:srgbClr val="FFFFFF"/>
                </a:solidFill>
                <a:latin typeface="Helvetica"/>
                <a:cs typeface="Helvetica"/>
              </a:rPr>
              <a:t>es elaborar </a:t>
            </a:r>
            <a:r>
              <a:rPr lang="es-ES" dirty="0">
                <a:solidFill>
                  <a:srgbClr val="FFFFFF"/>
                </a:solidFill>
                <a:latin typeface="Helvetica"/>
                <a:cs typeface="Helvetica"/>
              </a:rPr>
              <a:t>sistemas funcionales complejos que puedan operar sobre la Web como plataforma.</a:t>
            </a:r>
          </a:p>
          <a:p>
            <a:pPr algn="just">
              <a:lnSpc>
                <a:spcPct val="130000"/>
              </a:lnSpc>
            </a:pPr>
            <a:r>
              <a:rPr lang="es-ES" dirty="0">
                <a:solidFill>
                  <a:srgbClr val="FFFFFF"/>
                </a:solidFill>
                <a:latin typeface="Helvetica"/>
                <a:cs typeface="Helvetica"/>
              </a:rPr>
              <a:t>Para hacer frente este problema es necesario poner foco de atención en la relación </a:t>
            </a:r>
            <a:r>
              <a:rPr lang="es-ES" dirty="0" smtClean="0">
                <a:solidFill>
                  <a:srgbClr val="FFFFFF"/>
                </a:solidFill>
                <a:latin typeface="Helvetica"/>
                <a:cs typeface="Helvetica"/>
              </a:rPr>
              <a:t>de coordinación </a:t>
            </a:r>
            <a:r>
              <a:rPr lang="es-ES" dirty="0">
                <a:solidFill>
                  <a:srgbClr val="FFFFFF"/>
                </a:solidFill>
                <a:latin typeface="Helvetica"/>
                <a:cs typeface="Helvetica"/>
              </a:rPr>
              <a:t>inherente que debe establecerse entre los servicios para dar lugar </a:t>
            </a:r>
            <a:r>
              <a:rPr lang="es-ES" dirty="0" smtClean="0">
                <a:solidFill>
                  <a:srgbClr val="FFFFFF"/>
                </a:solidFill>
                <a:latin typeface="Helvetica"/>
                <a:cs typeface="Helvetica"/>
              </a:rPr>
              <a:t>a componentes </a:t>
            </a:r>
            <a:r>
              <a:rPr lang="es-ES" dirty="0">
                <a:solidFill>
                  <a:srgbClr val="FFFFFF"/>
                </a:solidFill>
                <a:latin typeface="Helvetica"/>
                <a:cs typeface="Helvetica"/>
              </a:rPr>
              <a:t>que ofrezcan servicios de mayor valor</a:t>
            </a: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Objetivo:</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pic>
        <p:nvPicPr>
          <p:cNvPr id="3" name="Imagen 2"/>
          <p:cNvPicPr>
            <a:picLocks noChangeAspect="1"/>
          </p:cNvPicPr>
          <p:nvPr/>
        </p:nvPicPr>
        <p:blipFill>
          <a:blip r:embed="rId5"/>
          <a:stretch>
            <a:fillRect/>
          </a:stretch>
        </p:blipFill>
        <p:spPr>
          <a:xfrm>
            <a:off x="2418238" y="4001926"/>
            <a:ext cx="4170438" cy="2337570"/>
          </a:xfrm>
          <a:prstGeom prst="rect">
            <a:avLst/>
          </a:prstGeom>
        </p:spPr>
      </p:pic>
      <p:sp>
        <p:nvSpPr>
          <p:cNvPr id="12" name="Marcador de número de diapositiva 11"/>
          <p:cNvSpPr>
            <a:spLocks noGrp="1"/>
          </p:cNvSpPr>
          <p:nvPr>
            <p:ph type="sldNum" sz="quarter" idx="12"/>
          </p:nvPr>
        </p:nvSpPr>
        <p:spPr/>
        <p:txBody>
          <a:bodyPr/>
          <a:lstStyle/>
          <a:p>
            <a:fld id="{9C1F5A0A-F6FC-4FFD-9B49-0DA8697211D9}" type="slidenum">
              <a:rPr lang="en-US" smtClean="0"/>
              <a:t>20</a:t>
            </a:fld>
            <a:endParaRPr lang="en-US"/>
          </a:p>
        </p:txBody>
      </p:sp>
    </p:spTree>
    <p:extLst>
      <p:ext uri="{BB962C8B-B14F-4D97-AF65-F5344CB8AC3E}">
        <p14:creationId xmlns:p14="http://schemas.microsoft.com/office/powerpoint/2010/main" val="2680438043"/>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2599173"/>
          </a:xfrm>
          <a:prstGeom prst="rect">
            <a:avLst/>
          </a:prstGeom>
        </p:spPr>
        <p:txBody>
          <a:bodyPr wrap="square">
            <a:spAutoFit/>
          </a:bodyPr>
          <a:lstStyle/>
          <a:p>
            <a:pPr algn="just">
              <a:lnSpc>
                <a:spcPct val="130000"/>
              </a:lnSpc>
            </a:pPr>
            <a:r>
              <a:rPr lang="es-ES" dirty="0">
                <a:solidFill>
                  <a:srgbClr val="FFFFFF"/>
                </a:solidFill>
                <a:latin typeface="Helvetica"/>
                <a:cs typeface="Helvetica"/>
              </a:rPr>
              <a:t>El modelo de componentes para la Web definido por la W3C consiste en </a:t>
            </a:r>
            <a:r>
              <a:rPr lang="es-ES" dirty="0" smtClean="0">
                <a:solidFill>
                  <a:srgbClr val="FFFFFF"/>
                </a:solidFill>
                <a:latin typeface="Helvetica"/>
                <a:cs typeface="Helvetica"/>
              </a:rPr>
              <a:t>cuatro especificaciones </a:t>
            </a:r>
            <a:r>
              <a:rPr lang="es-ES" dirty="0">
                <a:solidFill>
                  <a:srgbClr val="FFFFFF"/>
                </a:solidFill>
                <a:latin typeface="Helvetica"/>
                <a:cs typeface="Helvetica"/>
              </a:rPr>
              <a:t>tecnológicamente independientes que cubren </a:t>
            </a:r>
            <a:r>
              <a:rPr lang="es-ES" dirty="0" smtClean="0">
                <a:solidFill>
                  <a:srgbClr val="FFFFFF"/>
                </a:solidFill>
                <a:latin typeface="Helvetica"/>
                <a:cs typeface="Helvetica"/>
              </a:rPr>
              <a:t>distintos </a:t>
            </a:r>
            <a:r>
              <a:rPr lang="es-ES" dirty="0">
                <a:solidFill>
                  <a:srgbClr val="FFFFFF"/>
                </a:solidFill>
                <a:latin typeface="Helvetica"/>
                <a:cs typeface="Helvetica"/>
              </a:rPr>
              <a:t>aspectos del </a:t>
            </a:r>
            <a:r>
              <a:rPr lang="es-ES" dirty="0" smtClean="0">
                <a:solidFill>
                  <a:srgbClr val="FFFFFF"/>
                </a:solidFill>
                <a:latin typeface="Helvetica"/>
                <a:cs typeface="Helvetica"/>
              </a:rPr>
              <a:t>proceso constructivo.</a:t>
            </a:r>
          </a:p>
          <a:p>
            <a:pPr algn="just">
              <a:lnSpc>
                <a:spcPct val="130000"/>
              </a:lnSpc>
            </a:pPr>
            <a:endParaRPr lang="es-ES" dirty="0">
              <a:solidFill>
                <a:srgbClr val="FFFFFF"/>
              </a:solidFill>
              <a:latin typeface="Helvetica"/>
              <a:cs typeface="Helvetica"/>
            </a:endParaRPr>
          </a:p>
          <a:p>
            <a:pPr marL="285750" indent="-285750" algn="just">
              <a:lnSpc>
                <a:spcPct val="130000"/>
              </a:lnSpc>
              <a:buFont typeface="Arial"/>
              <a:buChar char="•"/>
            </a:pP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Definición:</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pic>
        <p:nvPicPr>
          <p:cNvPr id="3" name="Imagen 2"/>
          <p:cNvPicPr>
            <a:picLocks noChangeAspect="1"/>
          </p:cNvPicPr>
          <p:nvPr/>
        </p:nvPicPr>
        <p:blipFill>
          <a:blip r:embed="rId5"/>
          <a:stretch>
            <a:fillRect/>
          </a:stretch>
        </p:blipFill>
        <p:spPr>
          <a:xfrm>
            <a:off x="1080906" y="2803101"/>
            <a:ext cx="3276600" cy="1678834"/>
          </a:xfrm>
          <a:prstGeom prst="rect">
            <a:avLst/>
          </a:prstGeom>
        </p:spPr>
      </p:pic>
      <p:pic>
        <p:nvPicPr>
          <p:cNvPr id="12" name="Imagen 11"/>
          <p:cNvPicPr>
            <a:picLocks noChangeAspect="1"/>
          </p:cNvPicPr>
          <p:nvPr/>
        </p:nvPicPr>
        <p:blipFill>
          <a:blip r:embed="rId6"/>
          <a:stretch>
            <a:fillRect/>
          </a:stretch>
        </p:blipFill>
        <p:spPr>
          <a:xfrm>
            <a:off x="1068206" y="4548796"/>
            <a:ext cx="3289300" cy="1790700"/>
          </a:xfrm>
          <a:prstGeom prst="rect">
            <a:avLst/>
          </a:prstGeom>
        </p:spPr>
      </p:pic>
      <p:pic>
        <p:nvPicPr>
          <p:cNvPr id="15" name="Imagen 14"/>
          <p:cNvPicPr>
            <a:picLocks noChangeAspect="1"/>
          </p:cNvPicPr>
          <p:nvPr/>
        </p:nvPicPr>
        <p:blipFill>
          <a:blip r:embed="rId7"/>
          <a:stretch>
            <a:fillRect/>
          </a:stretch>
        </p:blipFill>
        <p:spPr>
          <a:xfrm>
            <a:off x="4474321" y="2791006"/>
            <a:ext cx="3357016" cy="1714500"/>
          </a:xfrm>
          <a:prstGeom prst="rect">
            <a:avLst/>
          </a:prstGeom>
        </p:spPr>
      </p:pic>
      <p:pic>
        <p:nvPicPr>
          <p:cNvPr id="16" name="Imagen 15"/>
          <p:cNvPicPr>
            <a:picLocks noChangeAspect="1"/>
          </p:cNvPicPr>
          <p:nvPr/>
        </p:nvPicPr>
        <p:blipFill>
          <a:blip r:embed="rId8"/>
          <a:stretch>
            <a:fillRect/>
          </a:stretch>
        </p:blipFill>
        <p:spPr>
          <a:xfrm>
            <a:off x="4462226" y="4559120"/>
            <a:ext cx="3369111" cy="1794408"/>
          </a:xfrm>
          <a:prstGeom prst="rect">
            <a:avLst/>
          </a:prstGeom>
        </p:spPr>
      </p:pic>
      <p:sp>
        <p:nvSpPr>
          <p:cNvPr id="14" name="Marcador de número de diapositiva 13"/>
          <p:cNvSpPr>
            <a:spLocks noGrp="1"/>
          </p:cNvSpPr>
          <p:nvPr>
            <p:ph type="sldNum" sz="quarter" idx="12"/>
          </p:nvPr>
        </p:nvSpPr>
        <p:spPr/>
        <p:txBody>
          <a:bodyPr/>
          <a:lstStyle/>
          <a:p>
            <a:fld id="{9C1F5A0A-F6FC-4FFD-9B49-0DA8697211D9}" type="slidenum">
              <a:rPr lang="en-US" smtClean="0"/>
              <a:t>21</a:t>
            </a:fld>
            <a:endParaRPr lang="en-US"/>
          </a:p>
        </p:txBody>
      </p:sp>
    </p:spTree>
    <p:extLst>
      <p:ext uri="{BB962C8B-B14F-4D97-AF65-F5344CB8AC3E}">
        <p14:creationId xmlns:p14="http://schemas.microsoft.com/office/powerpoint/2010/main" val="2035785893"/>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4759766"/>
          </a:xfrm>
          <a:prstGeom prst="rect">
            <a:avLst/>
          </a:prstGeom>
        </p:spPr>
        <p:txBody>
          <a:bodyPr wrap="square">
            <a:spAutoFit/>
          </a:bodyPr>
          <a:lstStyle/>
          <a:p>
            <a:pPr algn="just">
              <a:lnSpc>
                <a:spcPct val="130000"/>
              </a:lnSpc>
            </a:pPr>
            <a:r>
              <a:rPr lang="es-ES" dirty="0" smtClean="0">
                <a:solidFill>
                  <a:srgbClr val="FFFFFF"/>
                </a:solidFill>
                <a:latin typeface="Helvetica"/>
                <a:cs typeface="Helvetica"/>
              </a:rPr>
              <a:t>Con </a:t>
            </a:r>
            <a:r>
              <a:rPr lang="es-ES" dirty="0" err="1">
                <a:solidFill>
                  <a:srgbClr val="FFFFFF"/>
                </a:solidFill>
                <a:latin typeface="Helvetica"/>
                <a:cs typeface="Helvetica"/>
              </a:rPr>
              <a:t>Custom</a:t>
            </a:r>
            <a:r>
              <a:rPr lang="es-ES" dirty="0">
                <a:solidFill>
                  <a:srgbClr val="FFFFFF"/>
                </a:solidFill>
                <a:latin typeface="Helvetica"/>
                <a:cs typeface="Helvetica"/>
              </a:rPr>
              <a:t> </a:t>
            </a:r>
            <a:r>
              <a:rPr lang="es-ES" dirty="0" err="1">
                <a:solidFill>
                  <a:srgbClr val="FFFFFF"/>
                </a:solidFill>
                <a:latin typeface="Helvetica"/>
                <a:cs typeface="Helvetica"/>
              </a:rPr>
              <a:t>Elements</a:t>
            </a:r>
            <a:r>
              <a:rPr lang="es-ES" dirty="0">
                <a:solidFill>
                  <a:srgbClr val="FFFFFF"/>
                </a:solidFill>
                <a:latin typeface="Helvetica"/>
                <a:cs typeface="Helvetica"/>
              </a:rPr>
              <a:t>, los programadores web pueden crear nuevas etiquetas HTML, reforzar las que existen o ampliar los componentes de otros desarrolladores. Aporta una estrategia web basada en estándares para crear componentes reutilizables usando solo JS/HTML/CSS básicos</a:t>
            </a:r>
            <a:r>
              <a:rPr lang="es-ES" dirty="0" smtClean="0">
                <a:solidFill>
                  <a:srgbClr val="FFFFFF"/>
                </a:solidFill>
                <a:latin typeface="Helvetica"/>
                <a:cs typeface="Helvetica"/>
              </a:rPr>
              <a:t>.</a:t>
            </a:r>
          </a:p>
          <a:p>
            <a:pPr algn="just">
              <a:lnSpc>
                <a:spcPct val="130000"/>
              </a:lnSpc>
            </a:pPr>
            <a:endParaRPr lang="es-ES" dirty="0">
              <a:solidFill>
                <a:srgbClr val="FFFFFF"/>
              </a:solidFill>
              <a:latin typeface="Helvetica"/>
              <a:cs typeface="Helvetica"/>
            </a:endParaRPr>
          </a:p>
          <a:p>
            <a:pPr algn="just">
              <a:lnSpc>
                <a:spcPct val="130000"/>
              </a:lnSpc>
            </a:pPr>
            <a:r>
              <a:rPr lang="es-ES" dirty="0">
                <a:solidFill>
                  <a:srgbClr val="FFFFFF"/>
                </a:solidFill>
                <a:latin typeface="Helvetica"/>
                <a:cs typeface="Helvetica"/>
              </a:rPr>
              <a:t>Para definir un nuevo elemento HTML, necesitamos el poder de JavaScript.</a:t>
            </a:r>
          </a:p>
          <a:p>
            <a:pPr algn="just">
              <a:lnSpc>
                <a:spcPct val="130000"/>
              </a:lnSpc>
            </a:pPr>
            <a:endParaRPr lang="es-ES" dirty="0">
              <a:solidFill>
                <a:srgbClr val="FFFFFF"/>
              </a:solidFill>
              <a:latin typeface="Helvetica"/>
              <a:cs typeface="Helvetica"/>
            </a:endParaRPr>
          </a:p>
          <a:p>
            <a:pPr algn="just">
              <a:lnSpc>
                <a:spcPct val="130000"/>
              </a:lnSpc>
            </a:pPr>
            <a:r>
              <a:rPr lang="es-ES" dirty="0">
                <a:solidFill>
                  <a:srgbClr val="FFFFFF"/>
                </a:solidFill>
                <a:latin typeface="Helvetica"/>
                <a:cs typeface="Helvetica"/>
              </a:rPr>
              <a:t>El </a:t>
            </a:r>
            <a:r>
              <a:rPr lang="es-ES" dirty="0" smtClean="0">
                <a:solidFill>
                  <a:srgbClr val="FFFFFF"/>
                </a:solidFill>
                <a:latin typeface="Helvetica"/>
                <a:cs typeface="Helvetica"/>
              </a:rPr>
              <a:t>elemento </a:t>
            </a:r>
            <a:r>
              <a:rPr lang="es-ES" dirty="0" err="1" smtClean="0">
                <a:solidFill>
                  <a:srgbClr val="FFFFFF"/>
                </a:solidFill>
                <a:latin typeface="Helvetica"/>
                <a:cs typeface="Helvetica"/>
              </a:rPr>
              <a:t>customElements</a:t>
            </a:r>
            <a:r>
              <a:rPr lang="es-ES" dirty="0" smtClean="0">
                <a:solidFill>
                  <a:srgbClr val="FFFFFF"/>
                </a:solidFill>
                <a:latin typeface="Helvetica"/>
                <a:cs typeface="Helvetica"/>
              </a:rPr>
              <a:t> global se usa para definir </a:t>
            </a:r>
            <a:r>
              <a:rPr lang="es-ES" dirty="0">
                <a:solidFill>
                  <a:srgbClr val="FFFFFF"/>
                </a:solidFill>
                <a:latin typeface="Helvetica"/>
                <a:cs typeface="Helvetica"/>
              </a:rPr>
              <a:t>un elemento personalizado y </a:t>
            </a:r>
            <a:r>
              <a:rPr lang="es-ES" dirty="0" smtClean="0">
                <a:solidFill>
                  <a:srgbClr val="FFFFFF"/>
                </a:solidFill>
                <a:latin typeface="Helvetica"/>
                <a:cs typeface="Helvetica"/>
              </a:rPr>
              <a:t>notificar </a:t>
            </a:r>
            <a:r>
              <a:rPr lang="es-ES" dirty="0">
                <a:solidFill>
                  <a:srgbClr val="FFFFFF"/>
                </a:solidFill>
                <a:latin typeface="Helvetica"/>
                <a:cs typeface="Helvetica"/>
              </a:rPr>
              <a:t>al navegador sobre una nueva etiqueta. Llama a </a:t>
            </a:r>
            <a:r>
              <a:rPr lang="es-ES" dirty="0" err="1">
                <a:solidFill>
                  <a:srgbClr val="FFFFFF"/>
                </a:solidFill>
                <a:latin typeface="Helvetica"/>
                <a:cs typeface="Helvetica"/>
              </a:rPr>
              <a:t>customElements.define</a:t>
            </a:r>
            <a:r>
              <a:rPr lang="es-ES" dirty="0">
                <a:solidFill>
                  <a:srgbClr val="FFFFFF"/>
                </a:solidFill>
                <a:latin typeface="Helvetica"/>
                <a:cs typeface="Helvetica"/>
              </a:rPr>
              <a:t>() con el nombre de etiqueta que desees crear y una </a:t>
            </a:r>
            <a:r>
              <a:rPr lang="es-ES" dirty="0" err="1">
                <a:solidFill>
                  <a:srgbClr val="FFFFFF"/>
                </a:solidFill>
                <a:latin typeface="Helvetica"/>
                <a:cs typeface="Helvetica"/>
              </a:rPr>
              <a:t>class</a:t>
            </a:r>
            <a:r>
              <a:rPr lang="es-ES" dirty="0">
                <a:solidFill>
                  <a:srgbClr val="FFFFFF"/>
                </a:solidFill>
                <a:latin typeface="Helvetica"/>
                <a:cs typeface="Helvetica"/>
              </a:rPr>
              <a:t> JavaScript que extienda el </a:t>
            </a:r>
            <a:r>
              <a:rPr lang="es-ES" dirty="0" err="1">
                <a:solidFill>
                  <a:srgbClr val="FFFFFF"/>
                </a:solidFill>
                <a:latin typeface="Helvetica"/>
                <a:cs typeface="Helvetica"/>
              </a:rPr>
              <a:t>HTMLElement</a:t>
            </a:r>
            <a:r>
              <a:rPr lang="es-ES" dirty="0">
                <a:solidFill>
                  <a:srgbClr val="FFFFFF"/>
                </a:solidFill>
                <a:latin typeface="Helvetica"/>
                <a:cs typeface="Helvetica"/>
              </a:rPr>
              <a:t> básico.</a:t>
            </a:r>
            <a:endParaRPr lang="es-ES" dirty="0" smtClean="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a:latin typeface="Arial Black"/>
                <a:cs typeface="Arial Black"/>
              </a:rPr>
              <a:t>Custom</a:t>
            </a:r>
            <a:r>
              <a:rPr lang="es-ES" sz="2200" u="sng" dirty="0">
                <a:latin typeface="Arial Black"/>
                <a:cs typeface="Arial Black"/>
              </a:rPr>
              <a:t> </a:t>
            </a:r>
            <a:r>
              <a:rPr lang="es-ES" sz="2200" u="sng" dirty="0" err="1" smtClean="0">
                <a:latin typeface="Arial Black"/>
                <a:cs typeface="Arial Black"/>
              </a:rPr>
              <a:t>Elements</a:t>
            </a:r>
            <a:endParaRPr lang="es-ES" sz="2000" u="sng" dirty="0">
              <a:solidFill>
                <a:srgbClr val="FFFFFF"/>
              </a:solidFill>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22</a:t>
            </a:fld>
            <a:endParaRPr lang="en-US"/>
          </a:p>
        </p:txBody>
      </p:sp>
    </p:spTree>
    <p:extLst>
      <p:ext uri="{BB962C8B-B14F-4D97-AF65-F5344CB8AC3E}">
        <p14:creationId xmlns:p14="http://schemas.microsoft.com/office/powerpoint/2010/main" val="2639316811"/>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2599173"/>
          </a:xfrm>
          <a:prstGeom prst="rect">
            <a:avLst/>
          </a:prstGeom>
        </p:spPr>
        <p:txBody>
          <a:bodyPr wrap="square">
            <a:spAutoFit/>
          </a:bodyPr>
          <a:lstStyle/>
          <a:p>
            <a:pPr algn="just">
              <a:lnSpc>
                <a:spcPct val="130000"/>
              </a:lnSpc>
            </a:pPr>
            <a:r>
              <a:rPr lang="es-ES" dirty="0">
                <a:solidFill>
                  <a:srgbClr val="FFFFFF"/>
                </a:solidFill>
                <a:latin typeface="Helvetica"/>
                <a:cs typeface="Helvetica"/>
              </a:rPr>
              <a:t>La funcionalidad de un elemento personalizado se define mediante un ES2015 </a:t>
            </a:r>
            <a:r>
              <a:rPr lang="es-ES" dirty="0" err="1">
                <a:solidFill>
                  <a:srgbClr val="FFFFFF"/>
                </a:solidFill>
                <a:latin typeface="Helvetica"/>
                <a:cs typeface="Helvetica"/>
              </a:rPr>
              <a:t>class</a:t>
            </a:r>
            <a:r>
              <a:rPr lang="es-ES" dirty="0">
                <a:solidFill>
                  <a:srgbClr val="FFFFFF"/>
                </a:solidFill>
                <a:latin typeface="Helvetica"/>
                <a:cs typeface="Helvetica"/>
              </a:rPr>
              <a:t> que extiende </a:t>
            </a:r>
            <a:r>
              <a:rPr lang="es-ES" dirty="0" err="1">
                <a:solidFill>
                  <a:srgbClr val="FFFFFF"/>
                </a:solidFill>
                <a:latin typeface="Helvetica"/>
                <a:cs typeface="Helvetica"/>
              </a:rPr>
              <a:t>HTMLElement</a:t>
            </a:r>
            <a:r>
              <a:rPr lang="es-ES" dirty="0">
                <a:solidFill>
                  <a:srgbClr val="FFFFFF"/>
                </a:solidFill>
                <a:latin typeface="Helvetica"/>
                <a:cs typeface="Helvetica"/>
              </a:rPr>
              <a:t>. La extensión de </a:t>
            </a:r>
            <a:r>
              <a:rPr lang="es-ES" dirty="0" err="1">
                <a:solidFill>
                  <a:srgbClr val="FFFFFF"/>
                </a:solidFill>
                <a:latin typeface="Helvetica"/>
                <a:cs typeface="Helvetica"/>
              </a:rPr>
              <a:t>HTMLElement</a:t>
            </a:r>
            <a:r>
              <a:rPr lang="es-ES" dirty="0">
                <a:solidFill>
                  <a:srgbClr val="FFFFFF"/>
                </a:solidFill>
                <a:latin typeface="Helvetica"/>
                <a:cs typeface="Helvetica"/>
              </a:rPr>
              <a:t> garantiza que el elemento personalizado herede toda la API de DOM, lo cual significa que las propiedades o los métodos que agregues a la clase formarán parte de la interfaz del DOM del elemento. Básicamente, usa la clase a fin de crear una JavaScript API pública para tu etiqueta.</a:t>
            </a: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a:latin typeface="Arial Black"/>
                <a:cs typeface="Arial Black"/>
              </a:rPr>
              <a:t>Custom</a:t>
            </a:r>
            <a:r>
              <a:rPr lang="es-ES" sz="2200" u="sng" dirty="0">
                <a:latin typeface="Arial Black"/>
                <a:cs typeface="Arial Black"/>
              </a:rPr>
              <a:t> </a:t>
            </a:r>
            <a:r>
              <a:rPr lang="es-ES" sz="2200" u="sng" dirty="0" err="1" smtClean="0">
                <a:latin typeface="Arial Black"/>
                <a:cs typeface="Arial Black"/>
              </a:rPr>
              <a:t>Elements</a:t>
            </a:r>
            <a:endParaRPr lang="es-ES" sz="2000" u="sng" dirty="0">
              <a:solidFill>
                <a:srgbClr val="FFFFFF"/>
              </a:solidFill>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1487716" y="4001561"/>
            <a:ext cx="6168570" cy="2031325"/>
          </a:xfrm>
          <a:prstGeom prst="rect">
            <a:avLst/>
          </a:prstGeom>
          <a:solidFill>
            <a:schemeClr val="bg2">
              <a:lumMod val="75000"/>
              <a:lumOff val="25000"/>
            </a:schemeClr>
          </a:solidFill>
          <a:ln w="12700" cmpd="sng">
            <a:solidFill>
              <a:srgbClr val="3366FF"/>
            </a:solidFill>
          </a:ln>
        </p:spPr>
        <p:txBody>
          <a:bodyPr wrap="square">
            <a:spAutoFit/>
          </a:bodyPr>
          <a:lstStyle/>
          <a:p>
            <a:r>
              <a:rPr lang="es-ES" dirty="0" err="1"/>
              <a:t>class</a:t>
            </a:r>
            <a:r>
              <a:rPr lang="es-ES" dirty="0"/>
              <a:t> </a:t>
            </a:r>
            <a:r>
              <a:rPr lang="es-ES" dirty="0" err="1"/>
              <a:t>AppSample</a:t>
            </a:r>
            <a:r>
              <a:rPr lang="es-ES" dirty="0"/>
              <a:t> </a:t>
            </a:r>
            <a:r>
              <a:rPr lang="es-ES" dirty="0" err="1"/>
              <a:t>extends</a:t>
            </a:r>
            <a:r>
              <a:rPr lang="es-ES" dirty="0"/>
              <a:t> </a:t>
            </a:r>
            <a:r>
              <a:rPr lang="es-ES" dirty="0" err="1"/>
              <a:t>HTMLElement</a:t>
            </a:r>
            <a:r>
              <a:rPr lang="es-ES" dirty="0"/>
              <a:t> </a:t>
            </a:r>
            <a:r>
              <a:rPr lang="es-ES" dirty="0" smtClean="0"/>
              <a:t>{</a:t>
            </a:r>
          </a:p>
          <a:p>
            <a:r>
              <a:rPr lang="es-ES" dirty="0" smtClean="0"/>
              <a:t>constructor </a:t>
            </a:r>
            <a:r>
              <a:rPr lang="es-ES" dirty="0"/>
              <a:t>(</a:t>
            </a:r>
            <a:r>
              <a:rPr lang="es-ES" dirty="0" smtClean="0"/>
              <a:t>) {</a:t>
            </a:r>
          </a:p>
          <a:p>
            <a:r>
              <a:rPr lang="es-ES" dirty="0" err="1" smtClean="0"/>
              <a:t>super</a:t>
            </a:r>
            <a:r>
              <a:rPr lang="es-ES" dirty="0"/>
              <a:t>(</a:t>
            </a:r>
            <a:r>
              <a:rPr lang="es-ES" dirty="0" smtClean="0"/>
              <a:t>)</a:t>
            </a:r>
          </a:p>
          <a:p>
            <a:r>
              <a:rPr lang="es-ES" dirty="0" err="1" smtClean="0"/>
              <a:t>console.log</a:t>
            </a:r>
            <a:r>
              <a:rPr lang="es-ES" dirty="0"/>
              <a:t>("Creado el componente"</a:t>
            </a:r>
            <a:r>
              <a:rPr lang="es-ES" dirty="0" smtClean="0"/>
              <a:t>)</a:t>
            </a:r>
          </a:p>
          <a:p>
            <a:r>
              <a:rPr lang="es-ES" dirty="0" smtClean="0"/>
              <a:t>}</a:t>
            </a:r>
          </a:p>
          <a:p>
            <a:endParaRPr lang="es-ES" dirty="0"/>
          </a:p>
          <a:p>
            <a:r>
              <a:rPr lang="es-ES" dirty="0" err="1" smtClean="0"/>
              <a:t>customElements.define</a:t>
            </a:r>
            <a:r>
              <a:rPr lang="es-ES" dirty="0"/>
              <a:t>('</a:t>
            </a:r>
            <a:r>
              <a:rPr lang="es-ES" dirty="0" err="1"/>
              <a:t>app-sample</a:t>
            </a:r>
            <a:r>
              <a:rPr lang="es-ES" dirty="0"/>
              <a:t>', </a:t>
            </a:r>
            <a:r>
              <a:rPr lang="es-ES" dirty="0" err="1"/>
              <a:t>AppSample</a:t>
            </a:r>
            <a:r>
              <a:rPr lang="es-ES" dirty="0" smtClean="0"/>
              <a:t>)</a:t>
            </a:r>
            <a:endParaRPr lang="es-ES" dirty="0"/>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23</a:t>
            </a:fld>
            <a:endParaRPr lang="en-US"/>
          </a:p>
        </p:txBody>
      </p:sp>
    </p:spTree>
    <p:extLst>
      <p:ext uri="{BB962C8B-B14F-4D97-AF65-F5344CB8AC3E}">
        <p14:creationId xmlns:p14="http://schemas.microsoft.com/office/powerpoint/2010/main" val="4261282364"/>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798680"/>
          </a:xfrm>
          <a:prstGeom prst="rect">
            <a:avLst/>
          </a:prstGeom>
        </p:spPr>
        <p:txBody>
          <a:bodyPr wrap="square">
            <a:spAutoFit/>
          </a:bodyPr>
          <a:lstStyle/>
          <a:p>
            <a:pPr algn="just">
              <a:lnSpc>
                <a:spcPct val="130000"/>
              </a:lnSpc>
            </a:pPr>
            <a:r>
              <a:rPr lang="es-ES" dirty="0">
                <a:solidFill>
                  <a:srgbClr val="FFFFFF"/>
                </a:solidFill>
                <a:latin typeface="Helvetica"/>
                <a:cs typeface="Helvetica"/>
              </a:rPr>
              <a:t>En este ejemplo, se crea un panel lateral con una propiedad open, una propiedad </a:t>
            </a:r>
            <a:r>
              <a:rPr lang="es-ES" dirty="0" err="1">
                <a:solidFill>
                  <a:srgbClr val="FFFFFF"/>
                </a:solidFill>
                <a:latin typeface="Helvetica"/>
                <a:cs typeface="Helvetica"/>
              </a:rPr>
              <a:t>disabled</a:t>
            </a:r>
            <a:r>
              <a:rPr lang="es-ES" dirty="0">
                <a:solidFill>
                  <a:srgbClr val="FFFFFF"/>
                </a:solidFill>
                <a:latin typeface="Helvetica"/>
                <a:cs typeface="Helvetica"/>
              </a:rPr>
              <a:t> y un método </a:t>
            </a:r>
            <a:r>
              <a:rPr lang="es-ES" dirty="0" err="1">
                <a:solidFill>
                  <a:srgbClr val="FFFFFF"/>
                </a:solidFill>
                <a:latin typeface="Helvetica"/>
                <a:cs typeface="Helvetica"/>
              </a:rPr>
              <a:t>toggleDrawer</a:t>
            </a:r>
            <a:r>
              <a:rPr lang="es-ES" dirty="0">
                <a:solidFill>
                  <a:srgbClr val="FFFFFF"/>
                </a:solidFill>
                <a:latin typeface="Helvetica"/>
                <a:cs typeface="Helvetica"/>
              </a:rPr>
              <a:t>().</a:t>
            </a: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a:latin typeface="Arial Black"/>
                <a:cs typeface="Arial Black"/>
              </a:rPr>
              <a:t>Custom</a:t>
            </a:r>
            <a:r>
              <a:rPr lang="es-ES" sz="2200" u="sng" dirty="0">
                <a:latin typeface="Arial Black"/>
                <a:cs typeface="Arial Black"/>
              </a:rPr>
              <a:t> </a:t>
            </a:r>
            <a:r>
              <a:rPr lang="es-ES" sz="2200" u="sng" dirty="0" err="1" smtClean="0">
                <a:latin typeface="Arial Black"/>
                <a:cs typeface="Arial Black"/>
              </a:rPr>
              <a:t>Elements</a:t>
            </a:r>
            <a:r>
              <a:rPr lang="es-ES" sz="2200" u="sng" dirty="0" smtClean="0">
                <a:latin typeface="Arial Black"/>
                <a:cs typeface="Arial Black"/>
              </a:rPr>
              <a:t> </a:t>
            </a:r>
            <a:endParaRPr lang="es-ES" sz="2000" u="sng" dirty="0">
              <a:solidFill>
                <a:srgbClr val="FFFFFF"/>
              </a:solidFill>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1343051" y="2523980"/>
            <a:ext cx="6168570" cy="3539431"/>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err="1"/>
              <a:t>class</a:t>
            </a:r>
            <a:r>
              <a:rPr lang="es-ES" sz="1400" dirty="0"/>
              <a:t> </a:t>
            </a:r>
            <a:r>
              <a:rPr lang="es-ES" sz="1400" dirty="0" err="1"/>
              <a:t>AppDrawer</a:t>
            </a:r>
            <a:r>
              <a:rPr lang="es-ES" sz="1400" dirty="0"/>
              <a:t> </a:t>
            </a:r>
            <a:r>
              <a:rPr lang="es-ES" sz="1400" dirty="0" err="1"/>
              <a:t>extends</a:t>
            </a:r>
            <a:r>
              <a:rPr lang="es-ES" sz="1400" dirty="0"/>
              <a:t> </a:t>
            </a:r>
            <a:r>
              <a:rPr lang="es-ES" sz="1400" dirty="0" err="1"/>
              <a:t>HTMLElement</a:t>
            </a:r>
            <a:r>
              <a:rPr lang="es-ES" sz="1400" dirty="0"/>
              <a:t> {</a:t>
            </a:r>
          </a:p>
          <a:p>
            <a:endParaRPr lang="es-ES" sz="1400" dirty="0"/>
          </a:p>
          <a:p>
            <a:r>
              <a:rPr lang="es-ES" sz="1400" dirty="0"/>
              <a:t>  // A </a:t>
            </a:r>
            <a:r>
              <a:rPr lang="es-ES" sz="1400" dirty="0" err="1"/>
              <a:t>getter</a:t>
            </a:r>
            <a:r>
              <a:rPr lang="es-ES" sz="1400" dirty="0"/>
              <a:t>/setter </a:t>
            </a:r>
            <a:r>
              <a:rPr lang="es-ES" sz="1400" dirty="0" err="1"/>
              <a:t>for</a:t>
            </a:r>
            <a:r>
              <a:rPr lang="es-ES" sz="1400" dirty="0"/>
              <a:t> </a:t>
            </a:r>
            <a:r>
              <a:rPr lang="es-ES" sz="1400" dirty="0" err="1"/>
              <a:t>an</a:t>
            </a:r>
            <a:r>
              <a:rPr lang="es-ES" sz="1400" dirty="0"/>
              <a:t> open </a:t>
            </a:r>
            <a:r>
              <a:rPr lang="es-ES" sz="1400" dirty="0" err="1"/>
              <a:t>property</a:t>
            </a:r>
            <a:r>
              <a:rPr lang="es-ES" sz="1400" dirty="0"/>
              <a:t>.</a:t>
            </a:r>
          </a:p>
          <a:p>
            <a:r>
              <a:rPr lang="es-ES" sz="1400" dirty="0"/>
              <a:t>  </a:t>
            </a:r>
            <a:r>
              <a:rPr lang="es-ES" sz="1400" dirty="0" err="1"/>
              <a:t>get</a:t>
            </a:r>
            <a:r>
              <a:rPr lang="es-ES" sz="1400" dirty="0"/>
              <a:t> open() {</a:t>
            </a:r>
          </a:p>
          <a:p>
            <a:r>
              <a:rPr lang="es-ES" sz="1400" dirty="0"/>
              <a:t>    </a:t>
            </a:r>
            <a:r>
              <a:rPr lang="es-ES" sz="1400" dirty="0" err="1"/>
              <a:t>return</a:t>
            </a:r>
            <a:r>
              <a:rPr lang="es-ES" sz="1400" dirty="0"/>
              <a:t> </a:t>
            </a:r>
            <a:r>
              <a:rPr lang="es-ES" sz="1400" dirty="0" err="1"/>
              <a:t>this.hasAttribute</a:t>
            </a:r>
            <a:r>
              <a:rPr lang="es-ES" sz="1400" dirty="0"/>
              <a:t>('open');</a:t>
            </a:r>
          </a:p>
          <a:p>
            <a:r>
              <a:rPr lang="es-ES" sz="1400" dirty="0"/>
              <a:t>  }</a:t>
            </a:r>
          </a:p>
          <a:p>
            <a:endParaRPr lang="es-ES" sz="1400" dirty="0"/>
          </a:p>
          <a:p>
            <a:r>
              <a:rPr lang="es-ES" sz="1400" dirty="0"/>
              <a:t>  set open(val) {</a:t>
            </a:r>
          </a:p>
          <a:p>
            <a:r>
              <a:rPr lang="es-ES" sz="1400" dirty="0"/>
              <a:t>    // </a:t>
            </a:r>
            <a:r>
              <a:rPr lang="es-ES" sz="1400" dirty="0" err="1"/>
              <a:t>Reflect</a:t>
            </a:r>
            <a:r>
              <a:rPr lang="es-ES" sz="1400" dirty="0"/>
              <a:t> </a:t>
            </a:r>
            <a:r>
              <a:rPr lang="es-ES" sz="1400" dirty="0" err="1"/>
              <a:t>the</a:t>
            </a:r>
            <a:r>
              <a:rPr lang="es-ES" sz="1400" dirty="0"/>
              <a:t> </a:t>
            </a:r>
            <a:r>
              <a:rPr lang="es-ES" sz="1400" dirty="0" err="1"/>
              <a:t>value</a:t>
            </a:r>
            <a:r>
              <a:rPr lang="es-ES" sz="1400" dirty="0"/>
              <a:t> of </a:t>
            </a:r>
            <a:r>
              <a:rPr lang="es-ES" sz="1400" dirty="0" err="1"/>
              <a:t>the</a:t>
            </a:r>
            <a:r>
              <a:rPr lang="es-ES" sz="1400" dirty="0"/>
              <a:t> open </a:t>
            </a:r>
            <a:r>
              <a:rPr lang="es-ES" sz="1400" dirty="0" err="1"/>
              <a:t>property</a:t>
            </a:r>
            <a:r>
              <a:rPr lang="es-ES" sz="1400" dirty="0"/>
              <a:t> as </a:t>
            </a:r>
            <a:r>
              <a:rPr lang="es-ES" sz="1400" dirty="0" err="1"/>
              <a:t>an</a:t>
            </a:r>
            <a:r>
              <a:rPr lang="es-ES" sz="1400" dirty="0"/>
              <a:t> HTML </a:t>
            </a:r>
            <a:r>
              <a:rPr lang="es-ES" sz="1400" dirty="0" err="1"/>
              <a:t>attribute</a:t>
            </a:r>
            <a:r>
              <a:rPr lang="es-ES" sz="1400" dirty="0"/>
              <a:t>.</a:t>
            </a:r>
          </a:p>
          <a:p>
            <a:r>
              <a:rPr lang="es-ES" sz="1400" dirty="0"/>
              <a:t>    </a:t>
            </a:r>
            <a:r>
              <a:rPr lang="es-ES" sz="1400" dirty="0" err="1"/>
              <a:t>if</a:t>
            </a:r>
            <a:r>
              <a:rPr lang="es-ES" sz="1400" dirty="0"/>
              <a:t> (val) {</a:t>
            </a:r>
          </a:p>
          <a:p>
            <a:r>
              <a:rPr lang="es-ES" sz="1400" dirty="0"/>
              <a:t>      </a:t>
            </a:r>
            <a:r>
              <a:rPr lang="es-ES" sz="1400" dirty="0" err="1"/>
              <a:t>this.setAttribute</a:t>
            </a:r>
            <a:r>
              <a:rPr lang="es-ES" sz="1400" dirty="0"/>
              <a:t>('open', '');</a:t>
            </a:r>
          </a:p>
          <a:p>
            <a:r>
              <a:rPr lang="es-ES" sz="1400" dirty="0"/>
              <a:t>    } </a:t>
            </a:r>
            <a:r>
              <a:rPr lang="es-ES" sz="1400" dirty="0" err="1"/>
              <a:t>else</a:t>
            </a:r>
            <a:r>
              <a:rPr lang="es-ES" sz="1400" dirty="0"/>
              <a:t> {</a:t>
            </a:r>
          </a:p>
          <a:p>
            <a:r>
              <a:rPr lang="es-ES" sz="1400" dirty="0"/>
              <a:t>      </a:t>
            </a:r>
            <a:r>
              <a:rPr lang="es-ES" sz="1400" dirty="0" err="1"/>
              <a:t>this.removeAttribute</a:t>
            </a:r>
            <a:r>
              <a:rPr lang="es-ES" sz="1400" dirty="0"/>
              <a:t>('open');</a:t>
            </a:r>
          </a:p>
          <a:p>
            <a:r>
              <a:rPr lang="es-ES" sz="1400" dirty="0"/>
              <a:t>    }</a:t>
            </a:r>
          </a:p>
          <a:p>
            <a:r>
              <a:rPr lang="es-ES" sz="1400" dirty="0"/>
              <a:t>    </a:t>
            </a:r>
            <a:r>
              <a:rPr lang="es-ES" sz="1400" dirty="0" err="1"/>
              <a:t>this.toggleDrawer</a:t>
            </a:r>
            <a:r>
              <a:rPr lang="es-ES" sz="1400" dirty="0"/>
              <a:t>();</a:t>
            </a:r>
          </a:p>
          <a:p>
            <a:r>
              <a:rPr lang="es-ES" sz="1400" dirty="0"/>
              <a:t>  </a:t>
            </a:r>
            <a:r>
              <a:rPr lang="es-ES" sz="1400" dirty="0" smtClean="0"/>
              <a:t>}</a:t>
            </a:r>
            <a:endParaRPr lang="es-ES" sz="1400" dirty="0"/>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24</a:t>
            </a:fld>
            <a:endParaRPr lang="en-US"/>
          </a:p>
        </p:txBody>
      </p:sp>
    </p:spTree>
    <p:extLst>
      <p:ext uri="{BB962C8B-B14F-4D97-AF65-F5344CB8AC3E}">
        <p14:creationId xmlns:p14="http://schemas.microsoft.com/office/powerpoint/2010/main" val="3404876841"/>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729240" y="1120693"/>
            <a:ext cx="3834190" cy="3539431"/>
          </a:xfrm>
          <a:prstGeom prst="rect">
            <a:avLst/>
          </a:prstGeom>
          <a:solidFill>
            <a:schemeClr val="bg2">
              <a:lumMod val="75000"/>
              <a:lumOff val="25000"/>
            </a:schemeClr>
          </a:solidFill>
          <a:ln w="12700" cmpd="sng">
            <a:solidFill>
              <a:srgbClr val="3366FF"/>
            </a:solidFill>
          </a:ln>
        </p:spPr>
        <p:txBody>
          <a:bodyPr wrap="square">
            <a:spAutoFit/>
          </a:bodyPr>
          <a:lstStyle/>
          <a:p>
            <a:endParaRPr lang="es-ES" sz="1400" dirty="0"/>
          </a:p>
          <a:p>
            <a:r>
              <a:rPr lang="es-ES" sz="1400" dirty="0"/>
              <a:t>    // </a:t>
            </a:r>
            <a:r>
              <a:rPr lang="es-ES" sz="1400" dirty="0" err="1"/>
              <a:t>Setup</a:t>
            </a:r>
            <a:r>
              <a:rPr lang="es-ES" sz="1400" dirty="0"/>
              <a:t> a </a:t>
            </a:r>
            <a:r>
              <a:rPr lang="es-ES" sz="1400" dirty="0" err="1"/>
              <a:t>click</a:t>
            </a:r>
            <a:r>
              <a:rPr lang="es-ES" sz="1400" dirty="0"/>
              <a:t> </a:t>
            </a:r>
            <a:r>
              <a:rPr lang="es-ES" sz="1400" dirty="0" err="1"/>
              <a:t>listener</a:t>
            </a:r>
            <a:r>
              <a:rPr lang="es-ES" sz="1400" dirty="0"/>
              <a:t> </a:t>
            </a:r>
            <a:r>
              <a:rPr lang="es-ES" sz="1400" dirty="0" err="1"/>
              <a:t>on</a:t>
            </a:r>
            <a:r>
              <a:rPr lang="es-ES" sz="1400" dirty="0"/>
              <a:t> &lt;</a:t>
            </a:r>
            <a:r>
              <a:rPr lang="es-ES" sz="1400" dirty="0" err="1"/>
              <a:t>app-drawer</a:t>
            </a:r>
            <a:r>
              <a:rPr lang="es-ES" sz="1400" dirty="0"/>
              <a:t>&gt; </a:t>
            </a:r>
            <a:r>
              <a:rPr lang="es-ES" sz="1400" dirty="0" err="1"/>
              <a:t>itself</a:t>
            </a:r>
            <a:r>
              <a:rPr lang="es-ES" sz="1400" dirty="0"/>
              <a:t>.</a:t>
            </a:r>
          </a:p>
          <a:p>
            <a:r>
              <a:rPr lang="es-ES" sz="1400" dirty="0"/>
              <a:t>    </a:t>
            </a:r>
            <a:r>
              <a:rPr lang="es-ES" sz="1400" dirty="0" err="1"/>
              <a:t>this.addEventListener</a:t>
            </a:r>
            <a:r>
              <a:rPr lang="es-ES" sz="1400" dirty="0"/>
              <a:t>('</a:t>
            </a:r>
            <a:r>
              <a:rPr lang="es-ES" sz="1400" dirty="0" err="1"/>
              <a:t>click</a:t>
            </a:r>
            <a:r>
              <a:rPr lang="es-ES" sz="1400" dirty="0"/>
              <a:t>', e =&gt; {</a:t>
            </a:r>
          </a:p>
          <a:p>
            <a:r>
              <a:rPr lang="es-ES" sz="1400" dirty="0"/>
              <a:t>      // </a:t>
            </a:r>
            <a:r>
              <a:rPr lang="es-ES" sz="1400" dirty="0" err="1"/>
              <a:t>Don't</a:t>
            </a:r>
            <a:r>
              <a:rPr lang="es-ES" sz="1400" dirty="0"/>
              <a:t> </a:t>
            </a:r>
            <a:r>
              <a:rPr lang="es-ES" sz="1400" dirty="0" err="1"/>
              <a:t>toggle</a:t>
            </a:r>
            <a:r>
              <a:rPr lang="es-ES" sz="1400" dirty="0"/>
              <a:t> </a:t>
            </a:r>
            <a:r>
              <a:rPr lang="es-ES" sz="1400" dirty="0" err="1"/>
              <a:t>the</a:t>
            </a:r>
            <a:r>
              <a:rPr lang="es-ES" sz="1400" dirty="0"/>
              <a:t> </a:t>
            </a:r>
            <a:r>
              <a:rPr lang="es-ES" sz="1400" dirty="0" err="1"/>
              <a:t>drawer</a:t>
            </a:r>
            <a:r>
              <a:rPr lang="es-ES" sz="1400" dirty="0"/>
              <a:t> </a:t>
            </a:r>
            <a:r>
              <a:rPr lang="es-ES" sz="1400" dirty="0" err="1"/>
              <a:t>if</a:t>
            </a:r>
            <a:r>
              <a:rPr lang="es-ES" sz="1400" dirty="0"/>
              <a:t> </a:t>
            </a:r>
            <a:r>
              <a:rPr lang="es-ES" sz="1400" dirty="0" err="1"/>
              <a:t>it's</a:t>
            </a:r>
            <a:r>
              <a:rPr lang="es-ES" sz="1400" dirty="0"/>
              <a:t> </a:t>
            </a:r>
            <a:r>
              <a:rPr lang="es-ES" sz="1400" dirty="0" err="1"/>
              <a:t>disabled</a:t>
            </a:r>
            <a:r>
              <a:rPr lang="es-ES" sz="1400" dirty="0"/>
              <a:t>.</a:t>
            </a:r>
          </a:p>
          <a:p>
            <a:r>
              <a:rPr lang="es-ES" sz="1400" dirty="0"/>
              <a:t>      </a:t>
            </a:r>
            <a:r>
              <a:rPr lang="es-ES" sz="1400" dirty="0" err="1"/>
              <a:t>if</a:t>
            </a:r>
            <a:r>
              <a:rPr lang="es-ES" sz="1400" dirty="0"/>
              <a:t> (</a:t>
            </a:r>
            <a:r>
              <a:rPr lang="es-ES" sz="1400" dirty="0" err="1"/>
              <a:t>this.disabled</a:t>
            </a:r>
            <a:r>
              <a:rPr lang="es-ES" sz="1400" dirty="0"/>
              <a:t>) {</a:t>
            </a:r>
          </a:p>
          <a:p>
            <a:r>
              <a:rPr lang="es-ES" sz="1400" dirty="0"/>
              <a:t>        </a:t>
            </a:r>
            <a:r>
              <a:rPr lang="es-ES" sz="1400" dirty="0" err="1"/>
              <a:t>return</a:t>
            </a:r>
            <a:r>
              <a:rPr lang="es-ES" sz="1400" dirty="0"/>
              <a:t>;</a:t>
            </a:r>
          </a:p>
          <a:p>
            <a:r>
              <a:rPr lang="es-ES" sz="1400" dirty="0"/>
              <a:t>      }</a:t>
            </a:r>
          </a:p>
          <a:p>
            <a:r>
              <a:rPr lang="es-ES" sz="1400" dirty="0"/>
              <a:t>      </a:t>
            </a:r>
            <a:r>
              <a:rPr lang="es-ES" sz="1400" dirty="0" err="1"/>
              <a:t>this.toggleDrawer</a:t>
            </a:r>
            <a:r>
              <a:rPr lang="es-ES" sz="1400" dirty="0"/>
              <a:t>();</a:t>
            </a:r>
          </a:p>
          <a:p>
            <a:r>
              <a:rPr lang="es-ES" sz="1400" dirty="0"/>
              <a:t>    });</a:t>
            </a:r>
          </a:p>
          <a:p>
            <a:r>
              <a:rPr lang="es-ES" sz="1400" dirty="0"/>
              <a:t>  }</a:t>
            </a:r>
          </a:p>
          <a:p>
            <a:endParaRPr lang="es-ES" sz="1400" dirty="0"/>
          </a:p>
          <a:p>
            <a:r>
              <a:rPr lang="es-ES" sz="1400" dirty="0"/>
              <a:t>  </a:t>
            </a:r>
            <a:r>
              <a:rPr lang="es-ES" sz="1400" dirty="0" err="1"/>
              <a:t>toggleDrawer</a:t>
            </a:r>
            <a:r>
              <a:rPr lang="es-ES" sz="1400" dirty="0"/>
              <a:t>() {</a:t>
            </a:r>
          </a:p>
          <a:p>
            <a:r>
              <a:rPr lang="es-ES" sz="1400" dirty="0"/>
              <a:t>    ...</a:t>
            </a:r>
          </a:p>
          <a:p>
            <a:r>
              <a:rPr lang="es-ES" sz="1400" dirty="0"/>
              <a:t>  }</a:t>
            </a:r>
          </a:p>
          <a:p>
            <a:r>
              <a:rPr lang="es-ES" sz="1400" dirty="0"/>
              <a:t>}</a:t>
            </a:r>
          </a:p>
        </p:txBody>
      </p:sp>
      <p:sp>
        <p:nvSpPr>
          <p:cNvPr id="15" name="Rectángulo 14"/>
          <p:cNvSpPr/>
          <p:nvPr/>
        </p:nvSpPr>
        <p:spPr>
          <a:xfrm>
            <a:off x="494623" y="1120693"/>
            <a:ext cx="3980615" cy="4616648"/>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smtClean="0"/>
              <a:t>  /</a:t>
            </a:r>
            <a:r>
              <a:rPr lang="es-ES" sz="1400" dirty="0"/>
              <a:t>/ A </a:t>
            </a:r>
            <a:r>
              <a:rPr lang="es-ES" sz="1400" dirty="0" err="1"/>
              <a:t>getter</a:t>
            </a:r>
            <a:r>
              <a:rPr lang="es-ES" sz="1400" dirty="0"/>
              <a:t>/setter </a:t>
            </a:r>
            <a:r>
              <a:rPr lang="es-ES" sz="1400" dirty="0" err="1"/>
              <a:t>for</a:t>
            </a:r>
            <a:r>
              <a:rPr lang="es-ES" sz="1400" dirty="0"/>
              <a:t> a </a:t>
            </a:r>
            <a:r>
              <a:rPr lang="es-ES" sz="1400" dirty="0" err="1"/>
              <a:t>disabled</a:t>
            </a:r>
            <a:r>
              <a:rPr lang="es-ES" sz="1400" dirty="0"/>
              <a:t> </a:t>
            </a:r>
            <a:r>
              <a:rPr lang="es-ES" sz="1400" dirty="0" err="1"/>
              <a:t>property</a:t>
            </a:r>
            <a:r>
              <a:rPr lang="es-ES" sz="1400" dirty="0"/>
              <a:t>.</a:t>
            </a:r>
          </a:p>
          <a:p>
            <a:r>
              <a:rPr lang="es-ES" sz="1400" dirty="0"/>
              <a:t>  </a:t>
            </a:r>
            <a:r>
              <a:rPr lang="es-ES" sz="1400" dirty="0" err="1"/>
              <a:t>get</a:t>
            </a:r>
            <a:r>
              <a:rPr lang="es-ES" sz="1400" dirty="0"/>
              <a:t> </a:t>
            </a:r>
            <a:r>
              <a:rPr lang="es-ES" sz="1400" dirty="0" err="1"/>
              <a:t>disabled</a:t>
            </a:r>
            <a:r>
              <a:rPr lang="es-ES" sz="1400" dirty="0"/>
              <a:t>() {</a:t>
            </a:r>
          </a:p>
          <a:p>
            <a:r>
              <a:rPr lang="es-ES" sz="1400" dirty="0"/>
              <a:t>    </a:t>
            </a:r>
            <a:r>
              <a:rPr lang="es-ES" sz="1400" dirty="0" err="1"/>
              <a:t>return</a:t>
            </a:r>
            <a:r>
              <a:rPr lang="es-ES" sz="1400" dirty="0"/>
              <a:t> </a:t>
            </a:r>
            <a:r>
              <a:rPr lang="es-ES" sz="1400" dirty="0" err="1"/>
              <a:t>this.hasAttribute</a:t>
            </a:r>
            <a:r>
              <a:rPr lang="es-ES" sz="1400" dirty="0"/>
              <a:t>('</a:t>
            </a:r>
            <a:r>
              <a:rPr lang="es-ES" sz="1400" dirty="0" err="1"/>
              <a:t>disabled</a:t>
            </a:r>
            <a:r>
              <a:rPr lang="es-ES" sz="1400" dirty="0"/>
              <a:t>');</a:t>
            </a:r>
          </a:p>
          <a:p>
            <a:r>
              <a:rPr lang="es-ES" sz="1400" dirty="0"/>
              <a:t>  </a:t>
            </a:r>
            <a:r>
              <a:rPr lang="es-ES" sz="1400" dirty="0" smtClean="0"/>
              <a:t>}</a:t>
            </a:r>
            <a:endParaRPr lang="es-ES" sz="1400" dirty="0"/>
          </a:p>
          <a:p>
            <a:r>
              <a:rPr lang="es-ES" sz="1400" dirty="0"/>
              <a:t>  set </a:t>
            </a:r>
            <a:r>
              <a:rPr lang="es-ES" sz="1400" dirty="0" err="1"/>
              <a:t>disabled</a:t>
            </a:r>
            <a:r>
              <a:rPr lang="es-ES" sz="1400" dirty="0"/>
              <a:t>(val) {</a:t>
            </a:r>
          </a:p>
          <a:p>
            <a:r>
              <a:rPr lang="es-ES" sz="1400" dirty="0"/>
              <a:t>    // </a:t>
            </a:r>
            <a:r>
              <a:rPr lang="es-ES" sz="1400" dirty="0" err="1"/>
              <a:t>Reflect</a:t>
            </a:r>
            <a:r>
              <a:rPr lang="es-ES" sz="1400" dirty="0"/>
              <a:t> </a:t>
            </a:r>
            <a:r>
              <a:rPr lang="es-ES" sz="1400" dirty="0" err="1"/>
              <a:t>the</a:t>
            </a:r>
            <a:r>
              <a:rPr lang="es-ES" sz="1400" dirty="0"/>
              <a:t> </a:t>
            </a:r>
            <a:r>
              <a:rPr lang="es-ES" sz="1400" dirty="0" err="1"/>
              <a:t>value</a:t>
            </a:r>
            <a:r>
              <a:rPr lang="es-ES" sz="1400" dirty="0"/>
              <a:t> of </a:t>
            </a:r>
            <a:r>
              <a:rPr lang="es-ES" sz="1400" dirty="0" err="1"/>
              <a:t>the</a:t>
            </a:r>
            <a:r>
              <a:rPr lang="es-ES" sz="1400" dirty="0"/>
              <a:t> </a:t>
            </a:r>
            <a:r>
              <a:rPr lang="es-ES" sz="1400" dirty="0" err="1"/>
              <a:t>disabled</a:t>
            </a:r>
            <a:r>
              <a:rPr lang="es-ES" sz="1400" dirty="0"/>
              <a:t> </a:t>
            </a:r>
            <a:r>
              <a:rPr lang="es-ES" sz="1400" dirty="0" err="1"/>
              <a:t>property</a:t>
            </a:r>
            <a:r>
              <a:rPr lang="es-ES" sz="1400" dirty="0"/>
              <a:t> as </a:t>
            </a:r>
            <a:r>
              <a:rPr lang="es-ES" sz="1400" dirty="0" err="1"/>
              <a:t>an</a:t>
            </a:r>
            <a:r>
              <a:rPr lang="es-ES" sz="1400" dirty="0"/>
              <a:t> HTML </a:t>
            </a:r>
            <a:r>
              <a:rPr lang="es-ES" sz="1400" dirty="0" err="1"/>
              <a:t>attribute</a:t>
            </a:r>
            <a:r>
              <a:rPr lang="es-ES" sz="1400" dirty="0"/>
              <a:t>.</a:t>
            </a:r>
          </a:p>
          <a:p>
            <a:r>
              <a:rPr lang="es-ES" sz="1400" dirty="0"/>
              <a:t>    </a:t>
            </a:r>
            <a:r>
              <a:rPr lang="es-ES" sz="1400" dirty="0" err="1"/>
              <a:t>if</a:t>
            </a:r>
            <a:r>
              <a:rPr lang="es-ES" sz="1400" dirty="0"/>
              <a:t> (val) {</a:t>
            </a:r>
          </a:p>
          <a:p>
            <a:r>
              <a:rPr lang="es-ES" sz="1400" dirty="0"/>
              <a:t>      </a:t>
            </a:r>
            <a:r>
              <a:rPr lang="es-ES" sz="1400" dirty="0" err="1"/>
              <a:t>this.setAttribute</a:t>
            </a:r>
            <a:r>
              <a:rPr lang="es-ES" sz="1400" dirty="0"/>
              <a:t>('</a:t>
            </a:r>
            <a:r>
              <a:rPr lang="es-ES" sz="1400" dirty="0" err="1"/>
              <a:t>disabled</a:t>
            </a:r>
            <a:r>
              <a:rPr lang="es-ES" sz="1400" dirty="0"/>
              <a:t>', '');</a:t>
            </a:r>
          </a:p>
          <a:p>
            <a:r>
              <a:rPr lang="es-ES" sz="1400" dirty="0"/>
              <a:t>    } </a:t>
            </a:r>
            <a:r>
              <a:rPr lang="es-ES" sz="1400" dirty="0" err="1"/>
              <a:t>else</a:t>
            </a:r>
            <a:r>
              <a:rPr lang="es-ES" sz="1400" dirty="0"/>
              <a:t> {</a:t>
            </a:r>
          </a:p>
          <a:p>
            <a:r>
              <a:rPr lang="es-ES" sz="1400" dirty="0"/>
              <a:t>      </a:t>
            </a:r>
            <a:r>
              <a:rPr lang="es-ES" sz="1400" dirty="0" err="1"/>
              <a:t>this.removeAttribute</a:t>
            </a:r>
            <a:r>
              <a:rPr lang="es-ES" sz="1400" dirty="0"/>
              <a:t>('</a:t>
            </a:r>
            <a:r>
              <a:rPr lang="es-ES" sz="1400" dirty="0" err="1"/>
              <a:t>disabled</a:t>
            </a:r>
            <a:r>
              <a:rPr lang="es-ES" sz="1400" dirty="0"/>
              <a:t>');</a:t>
            </a:r>
          </a:p>
          <a:p>
            <a:r>
              <a:rPr lang="es-ES" sz="1400" dirty="0"/>
              <a:t>    }</a:t>
            </a:r>
          </a:p>
          <a:p>
            <a:r>
              <a:rPr lang="es-ES" sz="1400" dirty="0"/>
              <a:t>  </a:t>
            </a:r>
            <a:r>
              <a:rPr lang="es-ES" sz="1400" dirty="0" smtClean="0"/>
              <a:t>}</a:t>
            </a:r>
            <a:endParaRPr lang="es-ES" sz="1400" dirty="0"/>
          </a:p>
          <a:p>
            <a:r>
              <a:rPr lang="es-ES" sz="1400" dirty="0"/>
              <a:t>  // Can define constructor </a:t>
            </a:r>
            <a:r>
              <a:rPr lang="es-ES" sz="1400" dirty="0" err="1"/>
              <a:t>arguments</a:t>
            </a:r>
            <a:r>
              <a:rPr lang="es-ES" sz="1400" dirty="0"/>
              <a:t> </a:t>
            </a:r>
            <a:r>
              <a:rPr lang="es-ES" sz="1400" dirty="0" err="1"/>
              <a:t>if</a:t>
            </a:r>
            <a:r>
              <a:rPr lang="es-ES" sz="1400" dirty="0"/>
              <a:t> </a:t>
            </a:r>
            <a:r>
              <a:rPr lang="es-ES" sz="1400" dirty="0" err="1"/>
              <a:t>you</a:t>
            </a:r>
            <a:r>
              <a:rPr lang="es-ES" sz="1400" dirty="0"/>
              <a:t> </a:t>
            </a:r>
            <a:r>
              <a:rPr lang="es-ES" sz="1400" dirty="0" err="1"/>
              <a:t>wish</a:t>
            </a:r>
            <a:r>
              <a:rPr lang="es-ES" sz="1400" dirty="0"/>
              <a:t>.</a:t>
            </a:r>
          </a:p>
          <a:p>
            <a:r>
              <a:rPr lang="es-ES" sz="1400" dirty="0"/>
              <a:t>  constructor() {</a:t>
            </a:r>
          </a:p>
          <a:p>
            <a:r>
              <a:rPr lang="es-ES" sz="1400" dirty="0"/>
              <a:t>    // </a:t>
            </a:r>
            <a:r>
              <a:rPr lang="es-ES" sz="1400" dirty="0" err="1"/>
              <a:t>If</a:t>
            </a:r>
            <a:r>
              <a:rPr lang="es-ES" sz="1400" dirty="0"/>
              <a:t> </a:t>
            </a:r>
            <a:r>
              <a:rPr lang="es-ES" sz="1400" dirty="0" err="1"/>
              <a:t>you</a:t>
            </a:r>
            <a:r>
              <a:rPr lang="es-ES" sz="1400" dirty="0"/>
              <a:t> define a constructor, </a:t>
            </a:r>
            <a:r>
              <a:rPr lang="es-ES" sz="1400" dirty="0" err="1"/>
              <a:t>always</a:t>
            </a:r>
            <a:r>
              <a:rPr lang="es-ES" sz="1400" dirty="0"/>
              <a:t> </a:t>
            </a:r>
            <a:r>
              <a:rPr lang="es-ES" sz="1400" dirty="0" err="1"/>
              <a:t>call</a:t>
            </a:r>
            <a:r>
              <a:rPr lang="es-ES" sz="1400" dirty="0"/>
              <a:t> </a:t>
            </a:r>
            <a:r>
              <a:rPr lang="es-ES" sz="1400" dirty="0" err="1"/>
              <a:t>super</a:t>
            </a:r>
            <a:r>
              <a:rPr lang="es-ES" sz="1400" dirty="0"/>
              <a:t>() </a:t>
            </a:r>
            <a:r>
              <a:rPr lang="es-ES" sz="1400" dirty="0" err="1"/>
              <a:t>first</a:t>
            </a:r>
            <a:r>
              <a:rPr lang="es-ES" sz="1400" dirty="0"/>
              <a:t>!</a:t>
            </a:r>
          </a:p>
          <a:p>
            <a:r>
              <a:rPr lang="es-ES" sz="1400" dirty="0"/>
              <a:t>    // </a:t>
            </a:r>
            <a:r>
              <a:rPr lang="es-ES" sz="1400" dirty="0" err="1"/>
              <a:t>This</a:t>
            </a:r>
            <a:r>
              <a:rPr lang="es-ES" sz="1400" dirty="0"/>
              <a:t> </a:t>
            </a:r>
            <a:r>
              <a:rPr lang="es-ES" sz="1400" dirty="0" err="1"/>
              <a:t>is</a:t>
            </a:r>
            <a:r>
              <a:rPr lang="es-ES" sz="1400" dirty="0"/>
              <a:t> </a:t>
            </a:r>
            <a:r>
              <a:rPr lang="es-ES" sz="1400" dirty="0" err="1"/>
              <a:t>specific</a:t>
            </a:r>
            <a:r>
              <a:rPr lang="es-ES" sz="1400" dirty="0"/>
              <a:t> </a:t>
            </a:r>
            <a:r>
              <a:rPr lang="es-ES" sz="1400" dirty="0" err="1"/>
              <a:t>to</a:t>
            </a:r>
            <a:r>
              <a:rPr lang="es-ES" sz="1400" dirty="0"/>
              <a:t> CE and </a:t>
            </a:r>
            <a:r>
              <a:rPr lang="es-ES" sz="1400" dirty="0" err="1"/>
              <a:t>required</a:t>
            </a:r>
            <a:r>
              <a:rPr lang="es-ES" sz="1400" dirty="0"/>
              <a:t> </a:t>
            </a:r>
            <a:r>
              <a:rPr lang="es-ES" sz="1400" dirty="0" err="1"/>
              <a:t>by</a:t>
            </a:r>
            <a:r>
              <a:rPr lang="es-ES" sz="1400" dirty="0"/>
              <a:t> </a:t>
            </a:r>
            <a:r>
              <a:rPr lang="es-ES" sz="1400" dirty="0" err="1"/>
              <a:t>the</a:t>
            </a:r>
            <a:r>
              <a:rPr lang="es-ES" sz="1400" dirty="0"/>
              <a:t> </a:t>
            </a:r>
            <a:r>
              <a:rPr lang="es-ES" sz="1400" dirty="0" err="1"/>
              <a:t>spec</a:t>
            </a:r>
            <a:r>
              <a:rPr lang="es-ES" sz="1400" dirty="0"/>
              <a:t>.</a:t>
            </a:r>
          </a:p>
          <a:p>
            <a:r>
              <a:rPr lang="es-ES" sz="1400" dirty="0"/>
              <a:t>    </a:t>
            </a:r>
            <a:r>
              <a:rPr lang="es-ES" sz="1400" dirty="0" err="1"/>
              <a:t>super</a:t>
            </a:r>
            <a:r>
              <a:rPr lang="es-ES" sz="1400" dirty="0"/>
              <a:t>()</a:t>
            </a:r>
            <a:r>
              <a:rPr lang="es-ES" sz="1400" dirty="0" smtClean="0"/>
              <a:t>;</a:t>
            </a:r>
            <a:endParaRPr lang="es-ES" sz="1400" dirty="0"/>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25</a:t>
            </a:fld>
            <a:endParaRPr lang="en-US"/>
          </a:p>
        </p:txBody>
      </p:sp>
    </p:spTree>
    <p:extLst>
      <p:ext uri="{BB962C8B-B14F-4D97-AF65-F5344CB8AC3E}">
        <p14:creationId xmlns:p14="http://schemas.microsoft.com/office/powerpoint/2010/main" val="623212293"/>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4399667"/>
          </a:xfrm>
          <a:prstGeom prst="rect">
            <a:avLst/>
          </a:prstGeom>
        </p:spPr>
        <p:txBody>
          <a:bodyPr wrap="square">
            <a:spAutoFit/>
          </a:bodyPr>
          <a:lstStyle/>
          <a:p>
            <a:pPr marL="342900" indent="-342900" algn="just">
              <a:lnSpc>
                <a:spcPct val="130000"/>
              </a:lnSpc>
              <a:buFont typeface="+mj-lt"/>
              <a:buAutoNum type="arabicPeriod"/>
            </a:pPr>
            <a:r>
              <a:rPr lang="es-ES" dirty="0">
                <a:solidFill>
                  <a:srgbClr val="FFFFFF"/>
                </a:solidFill>
                <a:latin typeface="Helvetica"/>
                <a:cs typeface="Helvetica"/>
              </a:rPr>
              <a:t>El nombre de un elemento personalizado debe contener un guión (-). </a:t>
            </a:r>
            <a:endParaRPr lang="es-ES" dirty="0" smtClean="0">
              <a:solidFill>
                <a:srgbClr val="FFFFFF"/>
              </a:solidFill>
              <a:latin typeface="Helvetica"/>
              <a:cs typeface="Helvetica"/>
            </a:endParaRPr>
          </a:p>
          <a:p>
            <a:pPr lvl="1" algn="just">
              <a:lnSpc>
                <a:spcPct val="130000"/>
              </a:lnSpc>
            </a:pPr>
            <a:r>
              <a:rPr lang="es-ES" dirty="0" err="1">
                <a:solidFill>
                  <a:srgbClr val="FFFFFF"/>
                </a:solidFill>
                <a:latin typeface="Helvetica"/>
                <a:cs typeface="Helvetica"/>
              </a:rPr>
              <a:t>Ej</a:t>
            </a:r>
            <a:r>
              <a:rPr lang="es-ES" dirty="0">
                <a:solidFill>
                  <a:srgbClr val="FFFFFF"/>
                </a:solidFill>
                <a:latin typeface="Helvetica"/>
                <a:cs typeface="Helvetica"/>
              </a:rPr>
              <a:t> : &lt;x-</a:t>
            </a:r>
            <a:r>
              <a:rPr lang="es-ES" dirty="0" err="1">
                <a:solidFill>
                  <a:srgbClr val="FFFFFF"/>
                </a:solidFill>
                <a:latin typeface="Helvetica"/>
                <a:cs typeface="Helvetica"/>
              </a:rPr>
              <a:t>tags</a:t>
            </a:r>
            <a:r>
              <a:rPr lang="es-ES" dirty="0">
                <a:solidFill>
                  <a:srgbClr val="FFFFFF"/>
                </a:solidFill>
                <a:latin typeface="Helvetica"/>
                <a:cs typeface="Helvetica"/>
              </a:rPr>
              <a:t>&gt;, &lt;</a:t>
            </a:r>
            <a:r>
              <a:rPr lang="es-ES" dirty="0" err="1">
                <a:solidFill>
                  <a:srgbClr val="FFFFFF"/>
                </a:solidFill>
                <a:latin typeface="Helvetica"/>
                <a:cs typeface="Helvetica"/>
              </a:rPr>
              <a:t>my-element</a:t>
            </a:r>
            <a:r>
              <a:rPr lang="es-ES" dirty="0" smtClean="0">
                <a:solidFill>
                  <a:srgbClr val="FFFFFF"/>
                </a:solidFill>
                <a:latin typeface="Helvetica"/>
                <a:cs typeface="Helvetica"/>
              </a:rPr>
              <a:t>&gt;</a:t>
            </a:r>
          </a:p>
          <a:p>
            <a:pPr marL="342900" indent="-342900" algn="just">
              <a:lnSpc>
                <a:spcPct val="130000"/>
              </a:lnSpc>
              <a:buFont typeface="+mj-lt"/>
              <a:buAutoNum type="arabicPeriod"/>
            </a:pPr>
            <a:r>
              <a:rPr lang="es-ES" dirty="0">
                <a:solidFill>
                  <a:srgbClr val="FFFFFF"/>
                </a:solidFill>
                <a:latin typeface="Helvetica"/>
                <a:cs typeface="Helvetica"/>
              </a:rPr>
              <a:t>Puedes registrar la misma etiqueta más de una vez. Si intentas hacerlo, se generará una </a:t>
            </a:r>
            <a:r>
              <a:rPr lang="es-ES" dirty="0" err="1">
                <a:solidFill>
                  <a:srgbClr val="FFFFFF"/>
                </a:solidFill>
                <a:latin typeface="Helvetica"/>
                <a:cs typeface="Helvetica"/>
              </a:rPr>
              <a:t>DOMException</a:t>
            </a:r>
            <a:r>
              <a:rPr lang="es-ES" dirty="0" smtClean="0">
                <a:solidFill>
                  <a:srgbClr val="FFFFFF"/>
                </a:solidFill>
                <a:latin typeface="Helvetica"/>
                <a:cs typeface="Helvetica"/>
              </a:rPr>
              <a:t>.</a:t>
            </a:r>
          </a:p>
          <a:p>
            <a:pPr marL="342900" indent="-342900" algn="just">
              <a:lnSpc>
                <a:spcPct val="130000"/>
              </a:lnSpc>
              <a:buFont typeface="+mj-lt"/>
              <a:buAutoNum type="arabicPeriod"/>
            </a:pPr>
            <a:r>
              <a:rPr lang="es-ES" dirty="0">
                <a:solidFill>
                  <a:srgbClr val="FFFFFF"/>
                </a:solidFill>
                <a:latin typeface="Helvetica"/>
                <a:cs typeface="Helvetica"/>
              </a:rPr>
              <a:t>Los elementos personalizados no se pueden cerrar </a:t>
            </a:r>
            <a:r>
              <a:rPr lang="es-ES" dirty="0" smtClean="0">
                <a:solidFill>
                  <a:srgbClr val="FFFFFF"/>
                </a:solidFill>
                <a:latin typeface="Helvetica"/>
                <a:cs typeface="Helvetica"/>
              </a:rPr>
              <a:t>automáticamente</a:t>
            </a:r>
          </a:p>
          <a:p>
            <a:pPr algn="just">
              <a:lnSpc>
                <a:spcPct val="130000"/>
              </a:lnSpc>
            </a:pPr>
            <a:r>
              <a:rPr lang="es-ES" dirty="0">
                <a:solidFill>
                  <a:srgbClr val="FFFFFF"/>
                </a:solidFill>
                <a:latin typeface="Helvetica"/>
                <a:cs typeface="Helvetica"/>
              </a:rPr>
              <a:t> </a:t>
            </a:r>
            <a:r>
              <a:rPr lang="es-ES" dirty="0" smtClean="0">
                <a:solidFill>
                  <a:srgbClr val="FFFFFF"/>
                </a:solidFill>
                <a:latin typeface="Helvetica"/>
                <a:cs typeface="Helvetica"/>
              </a:rPr>
              <a:t>    Escribe </a:t>
            </a:r>
            <a:r>
              <a:rPr lang="es-ES" dirty="0">
                <a:solidFill>
                  <a:srgbClr val="FFFFFF"/>
                </a:solidFill>
                <a:latin typeface="Helvetica"/>
                <a:cs typeface="Helvetica"/>
              </a:rPr>
              <a:t>siempre una etiqueta de cierre (&lt;</a:t>
            </a:r>
            <a:r>
              <a:rPr lang="es-ES" dirty="0" err="1">
                <a:solidFill>
                  <a:srgbClr val="FFFFFF"/>
                </a:solidFill>
                <a:latin typeface="Helvetica"/>
                <a:cs typeface="Helvetica"/>
              </a:rPr>
              <a:t>app-drawer</a:t>
            </a:r>
            <a:r>
              <a:rPr lang="es-ES" dirty="0">
                <a:solidFill>
                  <a:srgbClr val="FFFFFF"/>
                </a:solidFill>
                <a:latin typeface="Helvetica"/>
                <a:cs typeface="Helvetica"/>
              </a:rPr>
              <a:t>&gt;&lt;/</a:t>
            </a:r>
            <a:r>
              <a:rPr lang="es-ES" dirty="0" err="1">
                <a:solidFill>
                  <a:srgbClr val="FFFFFF"/>
                </a:solidFill>
                <a:latin typeface="Helvetica"/>
                <a:cs typeface="Helvetica"/>
              </a:rPr>
              <a:t>app-drawer</a:t>
            </a:r>
            <a:r>
              <a:rPr lang="es-ES" dirty="0">
                <a:solidFill>
                  <a:srgbClr val="FFFFFF"/>
                </a:solidFill>
                <a:latin typeface="Helvetica"/>
                <a:cs typeface="Helvetica"/>
              </a:rPr>
              <a:t>&gt;).</a:t>
            </a:r>
          </a:p>
          <a:p>
            <a:pPr algn="just">
              <a:lnSpc>
                <a:spcPct val="130000"/>
              </a:lnSpc>
            </a:pPr>
            <a:r>
              <a:rPr lang="es-ES" dirty="0">
                <a:solidFill>
                  <a:srgbClr val="FFFFFF"/>
                </a:solidFill>
                <a:latin typeface="Helvetica"/>
                <a:cs typeface="Helvetica"/>
              </a:rPr>
              <a:t>	</a:t>
            </a:r>
          </a:p>
          <a:p>
            <a:pPr marL="342900" indent="-342900" algn="just">
              <a:lnSpc>
                <a:spcPct val="130000"/>
              </a:lnSpc>
              <a:buFont typeface="+mj-lt"/>
              <a:buAutoNum type="arabicPeriod"/>
            </a:pPr>
            <a:endParaRPr lang="es-ES" dirty="0" smtClean="0">
              <a:solidFill>
                <a:srgbClr val="FFFFFF"/>
              </a:solidFill>
              <a:latin typeface="Helvetica"/>
              <a:cs typeface="Helvetica"/>
            </a:endParaRPr>
          </a:p>
          <a:p>
            <a:pPr algn="just">
              <a:lnSpc>
                <a:spcPct val="130000"/>
              </a:lnSpc>
            </a:pPr>
            <a:r>
              <a:rPr lang="es-ES" dirty="0" smtClean="0">
                <a:solidFill>
                  <a:srgbClr val="FFFFFF"/>
                </a:solidFill>
                <a:latin typeface="Helvetica"/>
                <a:cs typeface="Helvetica"/>
              </a:rPr>
              <a:t>	</a:t>
            </a: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marL="342900" indent="-342900" algn="just">
              <a:lnSpc>
                <a:spcPct val="130000"/>
              </a:lnSpc>
              <a:buFont typeface="+mj-lt"/>
              <a:buAutoNum type="arabicPeriod"/>
            </a:pPr>
            <a:endParaRPr lang="es-ES" dirty="0">
              <a:solidFill>
                <a:srgbClr val="FFFFFF"/>
              </a:solidFill>
              <a:latin typeface="Helvetica"/>
              <a:cs typeface="Helvetica"/>
            </a:endParaRPr>
          </a:p>
          <a:p>
            <a:pPr marL="342900" indent="-342900" algn="just">
              <a:lnSpc>
                <a:spcPct val="130000"/>
              </a:lnSpc>
              <a:buFont typeface="+mj-lt"/>
              <a:buAutoNum type="arabicPeriod"/>
            </a:pPr>
            <a:endParaRPr lang="es-ES"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a:latin typeface="Arial Black"/>
                <a:cs typeface="Arial Black"/>
              </a:rPr>
              <a:t>Custom</a:t>
            </a:r>
            <a:r>
              <a:rPr lang="es-ES" sz="2200" u="sng" dirty="0">
                <a:latin typeface="Arial Black"/>
                <a:cs typeface="Arial Black"/>
              </a:rPr>
              <a:t> </a:t>
            </a:r>
            <a:r>
              <a:rPr lang="es-ES" sz="2200" u="sng" dirty="0" err="1" smtClean="0">
                <a:latin typeface="Arial Black"/>
                <a:cs typeface="Arial Black"/>
              </a:rPr>
              <a:t>Elements</a:t>
            </a:r>
            <a:r>
              <a:rPr lang="es-ES" sz="2200" u="sng" dirty="0" smtClean="0">
                <a:latin typeface="Arial Black"/>
                <a:cs typeface="Arial Black"/>
              </a:rPr>
              <a:t> &gt;</a:t>
            </a:r>
            <a:r>
              <a:rPr lang="es-ES" sz="2000" u="sng" dirty="0" smtClean="0">
                <a:solidFill>
                  <a:srgbClr val="FFFFFF"/>
                </a:solidFill>
              </a:rPr>
              <a:t> </a:t>
            </a:r>
            <a:r>
              <a:rPr lang="es-ES" sz="2200" u="sng" dirty="0" smtClean="0">
                <a:latin typeface="Arial Black"/>
                <a:cs typeface="Arial Black"/>
              </a:rPr>
              <a:t>Reglas</a:t>
            </a:r>
            <a:endParaRPr lang="es-ES" sz="2000" u="sng" dirty="0">
              <a:solidFill>
                <a:srgbClr val="FFFFFF"/>
              </a:solidFill>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26</a:t>
            </a:fld>
            <a:endParaRPr lang="en-US"/>
          </a:p>
        </p:txBody>
      </p:sp>
    </p:spTree>
    <p:extLst>
      <p:ext uri="{BB962C8B-B14F-4D97-AF65-F5344CB8AC3E}">
        <p14:creationId xmlns:p14="http://schemas.microsoft.com/office/powerpoint/2010/main" val="2841558376"/>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2959272"/>
          </a:xfrm>
          <a:prstGeom prst="rect">
            <a:avLst/>
          </a:prstGeom>
        </p:spPr>
        <p:txBody>
          <a:bodyPr wrap="square">
            <a:spAutoFit/>
          </a:bodyPr>
          <a:lstStyle/>
          <a:p>
            <a:pPr algn="just">
              <a:lnSpc>
                <a:spcPct val="130000"/>
              </a:lnSpc>
            </a:pPr>
            <a:r>
              <a:rPr lang="es-ES" dirty="0">
                <a:solidFill>
                  <a:srgbClr val="FFFFFF"/>
                </a:solidFill>
                <a:latin typeface="Helvetica"/>
                <a:cs typeface="Helvetica"/>
              </a:rPr>
              <a:t>La </a:t>
            </a:r>
            <a:r>
              <a:rPr lang="es-ES" dirty="0" err="1">
                <a:solidFill>
                  <a:srgbClr val="FFFFFF"/>
                </a:solidFill>
                <a:latin typeface="Helvetica"/>
                <a:cs typeface="Helvetica"/>
              </a:rPr>
              <a:t>Custom</a:t>
            </a:r>
            <a:r>
              <a:rPr lang="es-ES" dirty="0">
                <a:solidFill>
                  <a:srgbClr val="FFFFFF"/>
                </a:solidFill>
                <a:latin typeface="Helvetica"/>
                <a:cs typeface="Helvetica"/>
              </a:rPr>
              <a:t> </a:t>
            </a:r>
            <a:r>
              <a:rPr lang="es-ES" dirty="0" err="1">
                <a:solidFill>
                  <a:srgbClr val="FFFFFF"/>
                </a:solidFill>
                <a:latin typeface="Helvetica"/>
                <a:cs typeface="Helvetica"/>
              </a:rPr>
              <a:t>Elements</a:t>
            </a:r>
            <a:r>
              <a:rPr lang="es-ES" dirty="0">
                <a:solidFill>
                  <a:srgbClr val="FFFFFF"/>
                </a:solidFill>
                <a:latin typeface="Helvetica"/>
                <a:cs typeface="Helvetica"/>
              </a:rPr>
              <a:t> API es útil para crear nuevos elementos HTML, pero también lo es para extender otros elementos personalizados o incluso el HTML integrado del navegador.	</a:t>
            </a:r>
          </a:p>
          <a:p>
            <a:pPr marL="342900" indent="-342900" algn="just">
              <a:lnSpc>
                <a:spcPct val="130000"/>
              </a:lnSpc>
              <a:buFont typeface="+mj-lt"/>
              <a:buAutoNum type="arabicPeriod"/>
            </a:pPr>
            <a:endParaRPr lang="es-ES" dirty="0" smtClean="0">
              <a:solidFill>
                <a:srgbClr val="FFFFFF"/>
              </a:solidFill>
              <a:latin typeface="Helvetica"/>
              <a:cs typeface="Helvetica"/>
            </a:endParaRPr>
          </a:p>
          <a:p>
            <a:pPr algn="just">
              <a:lnSpc>
                <a:spcPct val="130000"/>
              </a:lnSpc>
            </a:pPr>
            <a:r>
              <a:rPr lang="es-ES" dirty="0" smtClean="0">
                <a:solidFill>
                  <a:srgbClr val="FFFFFF"/>
                </a:solidFill>
                <a:latin typeface="Helvetica"/>
                <a:cs typeface="Helvetica"/>
              </a:rPr>
              <a:t>	</a:t>
            </a: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marL="342900" indent="-342900" algn="just">
              <a:lnSpc>
                <a:spcPct val="130000"/>
              </a:lnSpc>
              <a:buFont typeface="+mj-lt"/>
              <a:buAutoNum type="arabicPeriod"/>
            </a:pPr>
            <a:endParaRPr lang="es-ES" dirty="0">
              <a:solidFill>
                <a:srgbClr val="FFFFFF"/>
              </a:solidFill>
              <a:latin typeface="Helvetica"/>
              <a:cs typeface="Helvetica"/>
            </a:endParaRPr>
          </a:p>
          <a:p>
            <a:pPr marL="342900" indent="-342900" algn="just">
              <a:lnSpc>
                <a:spcPct val="130000"/>
              </a:lnSpc>
              <a:buFont typeface="+mj-lt"/>
              <a:buAutoNum type="arabicPeriod"/>
            </a:pPr>
            <a:endParaRPr lang="es-ES" dirty="0">
              <a:solidFill>
                <a:srgbClr val="FFFFFF"/>
              </a:solidFill>
              <a:latin typeface="Helvetica"/>
              <a:cs typeface="Helvetica"/>
            </a:endParaRPr>
          </a:p>
        </p:txBody>
      </p:sp>
      <p:sp>
        <p:nvSpPr>
          <p:cNvPr id="25" name="Rectángulo 24"/>
          <p:cNvSpPr/>
          <p:nvPr/>
        </p:nvSpPr>
        <p:spPr>
          <a:xfrm>
            <a:off x="505396" y="1036937"/>
            <a:ext cx="8189908" cy="738664"/>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a:latin typeface="Arial Black"/>
                <a:cs typeface="Arial Black"/>
              </a:rPr>
              <a:t>Extensión de un elemento personalizado</a:t>
            </a:r>
          </a:p>
          <a:p>
            <a:endParaRPr lang="es-ES" sz="2000" u="sng" dirty="0">
              <a:solidFill>
                <a:srgbClr val="FFFFFF"/>
              </a:solidFill>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505396" y="3016526"/>
            <a:ext cx="7887266" cy="3108544"/>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err="1"/>
              <a:t>class</a:t>
            </a:r>
            <a:r>
              <a:rPr lang="es-ES" sz="1400" dirty="0"/>
              <a:t> </a:t>
            </a:r>
            <a:r>
              <a:rPr lang="es-ES" sz="1400" dirty="0" err="1"/>
              <a:t>FancyDrawer</a:t>
            </a:r>
            <a:r>
              <a:rPr lang="es-ES" sz="1400" dirty="0"/>
              <a:t> </a:t>
            </a:r>
            <a:r>
              <a:rPr lang="es-ES" sz="1400" dirty="0" err="1"/>
              <a:t>extends</a:t>
            </a:r>
            <a:r>
              <a:rPr lang="es-ES" sz="1400" dirty="0"/>
              <a:t> </a:t>
            </a:r>
            <a:r>
              <a:rPr lang="es-ES" sz="1400" dirty="0" err="1"/>
              <a:t>AppDrawer</a:t>
            </a:r>
            <a:r>
              <a:rPr lang="es-ES" sz="1400" dirty="0"/>
              <a:t> {</a:t>
            </a:r>
          </a:p>
          <a:p>
            <a:r>
              <a:rPr lang="es-ES" sz="1400" dirty="0"/>
              <a:t>  constructor() {</a:t>
            </a:r>
          </a:p>
          <a:p>
            <a:r>
              <a:rPr lang="es-ES" sz="1400" dirty="0"/>
              <a:t>    </a:t>
            </a:r>
            <a:r>
              <a:rPr lang="es-ES" sz="1400" dirty="0" err="1"/>
              <a:t>super</a:t>
            </a:r>
            <a:r>
              <a:rPr lang="es-ES" sz="1400" dirty="0"/>
              <a:t>(); // </a:t>
            </a:r>
            <a:r>
              <a:rPr lang="es-ES" sz="1400" dirty="0" err="1"/>
              <a:t>always</a:t>
            </a:r>
            <a:r>
              <a:rPr lang="es-ES" sz="1400" dirty="0"/>
              <a:t> </a:t>
            </a:r>
            <a:r>
              <a:rPr lang="es-ES" sz="1400" dirty="0" err="1"/>
              <a:t>call</a:t>
            </a:r>
            <a:r>
              <a:rPr lang="es-ES" sz="1400" dirty="0"/>
              <a:t> </a:t>
            </a:r>
            <a:r>
              <a:rPr lang="es-ES" sz="1400" dirty="0" err="1"/>
              <a:t>super</a:t>
            </a:r>
            <a:r>
              <a:rPr lang="es-ES" sz="1400" dirty="0"/>
              <a:t>() </a:t>
            </a:r>
            <a:r>
              <a:rPr lang="es-ES" sz="1400" dirty="0" err="1"/>
              <a:t>first</a:t>
            </a:r>
            <a:r>
              <a:rPr lang="es-ES" sz="1400" dirty="0"/>
              <a:t> in </a:t>
            </a:r>
            <a:r>
              <a:rPr lang="es-ES" sz="1400" dirty="0" err="1"/>
              <a:t>the</a:t>
            </a:r>
            <a:r>
              <a:rPr lang="es-ES" sz="1400" dirty="0"/>
              <a:t> constructor. </a:t>
            </a:r>
            <a:r>
              <a:rPr lang="es-ES" sz="1400" dirty="0" err="1"/>
              <a:t>This</a:t>
            </a:r>
            <a:r>
              <a:rPr lang="es-ES" sz="1400" dirty="0"/>
              <a:t> </a:t>
            </a:r>
            <a:r>
              <a:rPr lang="es-ES" sz="1400" dirty="0" err="1"/>
              <a:t>also</a:t>
            </a:r>
            <a:r>
              <a:rPr lang="es-ES" sz="1400" dirty="0"/>
              <a:t> </a:t>
            </a:r>
            <a:r>
              <a:rPr lang="es-ES" sz="1400" dirty="0" err="1"/>
              <a:t>calls</a:t>
            </a:r>
            <a:r>
              <a:rPr lang="es-ES" sz="1400" dirty="0"/>
              <a:t> </a:t>
            </a:r>
            <a:r>
              <a:rPr lang="es-ES" sz="1400" dirty="0" err="1"/>
              <a:t>the</a:t>
            </a:r>
            <a:r>
              <a:rPr lang="es-ES" sz="1400" dirty="0"/>
              <a:t> extended </a:t>
            </a:r>
            <a:r>
              <a:rPr lang="es-ES" sz="1400" dirty="0" err="1"/>
              <a:t>class</a:t>
            </a:r>
            <a:r>
              <a:rPr lang="es-ES" sz="1400" dirty="0"/>
              <a:t>' constructor.</a:t>
            </a:r>
          </a:p>
          <a:p>
            <a:r>
              <a:rPr lang="es-ES" sz="1400" dirty="0"/>
              <a:t>    ...</a:t>
            </a:r>
          </a:p>
          <a:p>
            <a:r>
              <a:rPr lang="es-ES" sz="1400" dirty="0"/>
              <a:t>  </a:t>
            </a:r>
            <a:r>
              <a:rPr lang="es-ES" sz="1400" dirty="0" smtClean="0"/>
              <a:t>}</a:t>
            </a:r>
            <a:endParaRPr lang="es-ES" sz="1400" dirty="0"/>
          </a:p>
          <a:p>
            <a:r>
              <a:rPr lang="es-ES" sz="1400" dirty="0"/>
              <a:t>  </a:t>
            </a:r>
            <a:r>
              <a:rPr lang="es-ES" sz="1400" dirty="0" err="1"/>
              <a:t>toggleDrawer</a:t>
            </a:r>
            <a:r>
              <a:rPr lang="es-ES" sz="1400" dirty="0"/>
              <a:t>() {</a:t>
            </a:r>
          </a:p>
          <a:p>
            <a:r>
              <a:rPr lang="es-ES" sz="1400" dirty="0"/>
              <a:t>    // </a:t>
            </a:r>
            <a:r>
              <a:rPr lang="es-ES" sz="1400" dirty="0" err="1"/>
              <a:t>Possibly</a:t>
            </a:r>
            <a:r>
              <a:rPr lang="es-ES" sz="1400" dirty="0"/>
              <a:t> </a:t>
            </a:r>
            <a:r>
              <a:rPr lang="es-ES" sz="1400" dirty="0" err="1"/>
              <a:t>different</a:t>
            </a:r>
            <a:r>
              <a:rPr lang="es-ES" sz="1400" dirty="0"/>
              <a:t> </a:t>
            </a:r>
            <a:r>
              <a:rPr lang="es-ES" sz="1400" dirty="0" err="1"/>
              <a:t>toggle</a:t>
            </a:r>
            <a:r>
              <a:rPr lang="es-ES" sz="1400" dirty="0"/>
              <a:t> </a:t>
            </a:r>
            <a:r>
              <a:rPr lang="es-ES" sz="1400" dirty="0" err="1"/>
              <a:t>implementation</a:t>
            </a:r>
            <a:r>
              <a:rPr lang="es-ES" sz="1400" dirty="0"/>
              <a:t>?</a:t>
            </a:r>
          </a:p>
          <a:p>
            <a:r>
              <a:rPr lang="es-ES" sz="1400" dirty="0"/>
              <a:t>    // Use ES2015 </a:t>
            </a:r>
            <a:r>
              <a:rPr lang="es-ES" sz="1400" dirty="0" err="1"/>
              <a:t>if</a:t>
            </a:r>
            <a:r>
              <a:rPr lang="es-ES" sz="1400" dirty="0"/>
              <a:t> </a:t>
            </a:r>
            <a:r>
              <a:rPr lang="es-ES" sz="1400" dirty="0" err="1"/>
              <a:t>you</a:t>
            </a:r>
            <a:r>
              <a:rPr lang="es-ES" sz="1400" dirty="0"/>
              <a:t> </a:t>
            </a:r>
            <a:r>
              <a:rPr lang="es-ES" sz="1400" dirty="0" err="1"/>
              <a:t>need</a:t>
            </a:r>
            <a:r>
              <a:rPr lang="es-ES" sz="1400" dirty="0"/>
              <a:t> </a:t>
            </a:r>
            <a:r>
              <a:rPr lang="es-ES" sz="1400" dirty="0" err="1"/>
              <a:t>to</a:t>
            </a:r>
            <a:r>
              <a:rPr lang="es-ES" sz="1400" dirty="0"/>
              <a:t> </a:t>
            </a:r>
            <a:r>
              <a:rPr lang="es-ES" sz="1400" dirty="0" err="1"/>
              <a:t>call</a:t>
            </a:r>
            <a:r>
              <a:rPr lang="es-ES" sz="1400" dirty="0"/>
              <a:t> </a:t>
            </a:r>
            <a:r>
              <a:rPr lang="es-ES" sz="1400" dirty="0" err="1"/>
              <a:t>the</a:t>
            </a:r>
            <a:r>
              <a:rPr lang="es-ES" sz="1400" dirty="0"/>
              <a:t> </a:t>
            </a:r>
            <a:r>
              <a:rPr lang="es-ES" sz="1400" dirty="0" err="1"/>
              <a:t>parent</a:t>
            </a:r>
            <a:r>
              <a:rPr lang="es-ES" sz="1400" dirty="0"/>
              <a:t> </a:t>
            </a:r>
            <a:r>
              <a:rPr lang="es-ES" sz="1400" dirty="0" err="1" smtClean="0"/>
              <a:t>method</a:t>
            </a:r>
            <a:r>
              <a:rPr lang="es-ES" sz="1400" dirty="0" smtClean="0"/>
              <a:t>. </a:t>
            </a:r>
            <a:r>
              <a:rPr lang="es-ES" sz="1400" dirty="0" err="1" smtClean="0"/>
              <a:t>super.toggleDrawer</a:t>
            </a:r>
            <a:r>
              <a:rPr lang="es-ES" sz="1400" dirty="0"/>
              <a:t>()</a:t>
            </a:r>
          </a:p>
          <a:p>
            <a:r>
              <a:rPr lang="es-ES" sz="1400" dirty="0"/>
              <a:t>  </a:t>
            </a:r>
            <a:r>
              <a:rPr lang="es-ES" sz="1400" dirty="0" smtClean="0"/>
              <a:t>}</a:t>
            </a:r>
            <a:endParaRPr lang="es-ES" sz="1400" dirty="0"/>
          </a:p>
          <a:p>
            <a:r>
              <a:rPr lang="es-ES" sz="1400" dirty="0"/>
              <a:t>  </a:t>
            </a:r>
            <a:r>
              <a:rPr lang="es-ES" sz="1400" dirty="0" err="1"/>
              <a:t>anotherMethod</a:t>
            </a:r>
            <a:r>
              <a:rPr lang="es-ES" sz="1400" dirty="0"/>
              <a:t>() {</a:t>
            </a:r>
          </a:p>
          <a:p>
            <a:r>
              <a:rPr lang="es-ES" sz="1400" dirty="0"/>
              <a:t>    ...</a:t>
            </a:r>
          </a:p>
          <a:p>
            <a:r>
              <a:rPr lang="es-ES" sz="1400" dirty="0"/>
              <a:t>  }</a:t>
            </a:r>
          </a:p>
          <a:p>
            <a:r>
              <a:rPr lang="es-ES" sz="1400" dirty="0" smtClean="0"/>
              <a:t>}</a:t>
            </a:r>
            <a:endParaRPr lang="es-ES" sz="1400" dirty="0"/>
          </a:p>
          <a:p>
            <a:r>
              <a:rPr lang="es-ES" sz="1400" dirty="0" err="1"/>
              <a:t>customElements.define</a:t>
            </a:r>
            <a:r>
              <a:rPr lang="es-ES" sz="1400" dirty="0"/>
              <a:t>('</a:t>
            </a:r>
            <a:r>
              <a:rPr lang="es-ES" sz="1400" dirty="0" err="1"/>
              <a:t>fancy-app-drawer</a:t>
            </a:r>
            <a:r>
              <a:rPr lang="es-ES" sz="1400" dirty="0"/>
              <a:t>', </a:t>
            </a:r>
            <a:r>
              <a:rPr lang="es-ES" sz="1400" dirty="0" err="1"/>
              <a:t>FancyDrawer</a:t>
            </a:r>
            <a:r>
              <a:rPr lang="es-ES" sz="1400" dirty="0"/>
              <a:t>);</a:t>
            </a: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27</a:t>
            </a:fld>
            <a:endParaRPr lang="en-US"/>
          </a:p>
        </p:txBody>
      </p:sp>
    </p:spTree>
    <p:extLst>
      <p:ext uri="{BB962C8B-B14F-4D97-AF65-F5344CB8AC3E}">
        <p14:creationId xmlns:p14="http://schemas.microsoft.com/office/powerpoint/2010/main" val="1287538190"/>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2959272"/>
          </a:xfrm>
          <a:prstGeom prst="rect">
            <a:avLst/>
          </a:prstGeom>
        </p:spPr>
        <p:txBody>
          <a:bodyPr wrap="square">
            <a:spAutoFit/>
          </a:bodyPr>
          <a:lstStyle/>
          <a:p>
            <a:pPr algn="just">
              <a:lnSpc>
                <a:spcPct val="130000"/>
              </a:lnSpc>
            </a:pPr>
            <a:r>
              <a:rPr lang="es-ES" dirty="0">
                <a:solidFill>
                  <a:srgbClr val="FFFFFF"/>
                </a:solidFill>
                <a:latin typeface="Helvetica"/>
                <a:cs typeface="Helvetica"/>
              </a:rPr>
              <a:t>Un elemento personalizado integrado es un elemento que extiende una de las etiquetas HTML integradas del navegador. El principal beneficio de extender un elemento existente es contar con todas sus características (propiedades del DOM, métodos y accesibilidad). </a:t>
            </a:r>
            <a:endParaRPr lang="es-ES" dirty="0" smtClean="0">
              <a:solidFill>
                <a:srgbClr val="FFFFFF"/>
              </a:solidFill>
              <a:latin typeface="Helvetica"/>
              <a:cs typeface="Helvetica"/>
            </a:endParaRPr>
          </a:p>
          <a:p>
            <a:pPr algn="just">
              <a:lnSpc>
                <a:spcPct val="130000"/>
              </a:lnSpc>
            </a:pPr>
            <a:r>
              <a:rPr lang="es-ES" dirty="0" smtClean="0">
                <a:solidFill>
                  <a:srgbClr val="FFFFFF"/>
                </a:solidFill>
                <a:latin typeface="Helvetica"/>
                <a:cs typeface="Helvetica"/>
              </a:rPr>
              <a:t>	</a:t>
            </a: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marL="342900" indent="-342900" algn="just">
              <a:lnSpc>
                <a:spcPct val="130000"/>
              </a:lnSpc>
              <a:buFont typeface="+mj-lt"/>
              <a:buAutoNum type="arabicPeriod"/>
            </a:pPr>
            <a:endParaRPr lang="es-ES" dirty="0">
              <a:solidFill>
                <a:srgbClr val="FFFFFF"/>
              </a:solidFill>
              <a:latin typeface="Helvetica"/>
              <a:cs typeface="Helvetica"/>
            </a:endParaRPr>
          </a:p>
          <a:p>
            <a:pPr marL="342900" indent="-342900" algn="just">
              <a:lnSpc>
                <a:spcPct val="130000"/>
              </a:lnSpc>
              <a:buFont typeface="+mj-lt"/>
              <a:buAutoNum type="arabicPeriod"/>
            </a:pPr>
            <a:endParaRPr lang="es-ES" dirty="0">
              <a:solidFill>
                <a:srgbClr val="FFFFFF"/>
              </a:solidFill>
              <a:latin typeface="Helvetica"/>
              <a:cs typeface="Helvetica"/>
            </a:endParaRPr>
          </a:p>
        </p:txBody>
      </p:sp>
      <p:sp>
        <p:nvSpPr>
          <p:cNvPr id="25" name="Rectángulo 24"/>
          <p:cNvSpPr/>
          <p:nvPr/>
        </p:nvSpPr>
        <p:spPr>
          <a:xfrm>
            <a:off x="505396" y="1036937"/>
            <a:ext cx="8189908" cy="738664"/>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a:latin typeface="Arial Black"/>
                <a:cs typeface="Arial Black"/>
              </a:rPr>
              <a:t>Extensión de elementos HTML nativos</a:t>
            </a:r>
          </a:p>
          <a:p>
            <a:endParaRPr lang="es-ES" sz="2000" u="sng" dirty="0">
              <a:solidFill>
                <a:srgbClr val="FFFFFF"/>
              </a:solidFill>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505396" y="3452880"/>
            <a:ext cx="7887266" cy="2246769"/>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a:t>// </a:t>
            </a:r>
            <a:r>
              <a:rPr lang="es-ES" sz="1400" dirty="0" err="1"/>
              <a:t>See</a:t>
            </a:r>
            <a:r>
              <a:rPr lang="es-ES" sz="1400" dirty="0"/>
              <a:t> </a:t>
            </a:r>
            <a:r>
              <a:rPr lang="es-ES" sz="1400" dirty="0" err="1"/>
              <a:t>https</a:t>
            </a:r>
            <a:r>
              <a:rPr lang="es-ES" sz="1400" dirty="0"/>
              <a:t>://</a:t>
            </a:r>
            <a:r>
              <a:rPr lang="es-ES" sz="1400" dirty="0" err="1"/>
              <a:t>html.spec.whatwg.org</a:t>
            </a:r>
            <a:r>
              <a:rPr lang="es-ES" sz="1400" dirty="0"/>
              <a:t>/</a:t>
            </a:r>
            <a:r>
              <a:rPr lang="es-ES" sz="1400" dirty="0" err="1"/>
              <a:t>multipage</a:t>
            </a:r>
            <a:r>
              <a:rPr lang="es-ES" sz="1400" dirty="0"/>
              <a:t>/</a:t>
            </a:r>
            <a:r>
              <a:rPr lang="es-ES" sz="1400" dirty="0" err="1"/>
              <a:t>indices.html#element-interfaces</a:t>
            </a:r>
            <a:endParaRPr lang="es-ES" sz="1400" dirty="0"/>
          </a:p>
          <a:p>
            <a:r>
              <a:rPr lang="es-ES" sz="1400" dirty="0"/>
              <a:t>// </a:t>
            </a:r>
            <a:r>
              <a:rPr lang="es-ES" sz="1400" dirty="0" err="1"/>
              <a:t>for</a:t>
            </a:r>
            <a:r>
              <a:rPr lang="es-ES" sz="1400" dirty="0"/>
              <a:t> </a:t>
            </a:r>
            <a:r>
              <a:rPr lang="es-ES" sz="1400" dirty="0" err="1"/>
              <a:t>the</a:t>
            </a:r>
            <a:r>
              <a:rPr lang="es-ES" sz="1400" dirty="0"/>
              <a:t> </a:t>
            </a:r>
            <a:r>
              <a:rPr lang="es-ES" sz="1400" dirty="0" err="1"/>
              <a:t>list</a:t>
            </a:r>
            <a:r>
              <a:rPr lang="es-ES" sz="1400" dirty="0"/>
              <a:t> of </a:t>
            </a:r>
            <a:r>
              <a:rPr lang="es-ES" sz="1400" dirty="0" err="1"/>
              <a:t>other</a:t>
            </a:r>
            <a:r>
              <a:rPr lang="es-ES" sz="1400" dirty="0"/>
              <a:t> DOM interfaces</a:t>
            </a:r>
            <a:r>
              <a:rPr lang="es-ES" sz="1400" dirty="0" smtClean="0"/>
              <a:t>.</a:t>
            </a:r>
          </a:p>
          <a:p>
            <a:endParaRPr lang="es-ES" sz="1400" dirty="0"/>
          </a:p>
          <a:p>
            <a:r>
              <a:rPr lang="es-ES" sz="1400" dirty="0" err="1"/>
              <a:t>class</a:t>
            </a:r>
            <a:r>
              <a:rPr lang="es-ES" sz="1400" dirty="0"/>
              <a:t> </a:t>
            </a:r>
            <a:r>
              <a:rPr lang="es-ES" sz="1400" dirty="0" err="1"/>
              <a:t>FancyButton</a:t>
            </a:r>
            <a:r>
              <a:rPr lang="es-ES" sz="1400" dirty="0"/>
              <a:t> </a:t>
            </a:r>
            <a:r>
              <a:rPr lang="es-ES" sz="1400" dirty="0" err="1"/>
              <a:t>extends</a:t>
            </a:r>
            <a:r>
              <a:rPr lang="es-ES" sz="1400" dirty="0"/>
              <a:t> </a:t>
            </a:r>
            <a:r>
              <a:rPr lang="es-ES" sz="1400" dirty="0" err="1"/>
              <a:t>HTMLButtonElement</a:t>
            </a:r>
            <a:r>
              <a:rPr lang="es-ES" sz="1400" dirty="0"/>
              <a:t> {</a:t>
            </a:r>
          </a:p>
          <a:p>
            <a:r>
              <a:rPr lang="es-ES" sz="1400" dirty="0"/>
              <a:t>  constructor() {</a:t>
            </a:r>
          </a:p>
          <a:p>
            <a:r>
              <a:rPr lang="es-ES" sz="1400" dirty="0"/>
              <a:t>    </a:t>
            </a:r>
            <a:r>
              <a:rPr lang="es-ES" sz="1400" dirty="0" err="1"/>
              <a:t>super</a:t>
            </a:r>
            <a:r>
              <a:rPr lang="es-ES" sz="1400" dirty="0"/>
              <a:t>(); // </a:t>
            </a:r>
            <a:r>
              <a:rPr lang="es-ES" sz="1400" dirty="0" err="1"/>
              <a:t>always</a:t>
            </a:r>
            <a:r>
              <a:rPr lang="es-ES" sz="1400" dirty="0"/>
              <a:t> </a:t>
            </a:r>
            <a:r>
              <a:rPr lang="es-ES" sz="1400" dirty="0" err="1"/>
              <a:t>call</a:t>
            </a:r>
            <a:r>
              <a:rPr lang="es-ES" sz="1400" dirty="0"/>
              <a:t> </a:t>
            </a:r>
            <a:r>
              <a:rPr lang="es-ES" sz="1400" dirty="0" err="1"/>
              <a:t>super</a:t>
            </a:r>
            <a:r>
              <a:rPr lang="es-ES" sz="1400" dirty="0"/>
              <a:t>() </a:t>
            </a:r>
            <a:r>
              <a:rPr lang="es-ES" sz="1400" dirty="0" err="1"/>
              <a:t>first</a:t>
            </a:r>
            <a:r>
              <a:rPr lang="es-ES" sz="1400" dirty="0"/>
              <a:t> in </a:t>
            </a:r>
            <a:r>
              <a:rPr lang="es-ES" sz="1400" dirty="0" err="1"/>
              <a:t>the</a:t>
            </a:r>
            <a:r>
              <a:rPr lang="es-ES" sz="1400" dirty="0"/>
              <a:t> constructor.</a:t>
            </a:r>
          </a:p>
          <a:p>
            <a:r>
              <a:rPr lang="es-ES" sz="1400" dirty="0"/>
              <a:t>    </a:t>
            </a:r>
            <a:r>
              <a:rPr lang="es-ES" sz="1400" dirty="0" err="1"/>
              <a:t>this.addEventListener</a:t>
            </a:r>
            <a:r>
              <a:rPr lang="es-ES" sz="1400" dirty="0"/>
              <a:t>('</a:t>
            </a:r>
            <a:r>
              <a:rPr lang="es-ES" sz="1400" dirty="0" err="1"/>
              <a:t>click</a:t>
            </a:r>
            <a:r>
              <a:rPr lang="es-ES" sz="1400" dirty="0"/>
              <a:t>', e =&gt; </a:t>
            </a:r>
            <a:r>
              <a:rPr lang="es-ES" sz="1400" dirty="0" err="1"/>
              <a:t>this.drawRipple</a:t>
            </a:r>
            <a:r>
              <a:rPr lang="es-ES" sz="1400" dirty="0"/>
              <a:t>(</a:t>
            </a:r>
            <a:r>
              <a:rPr lang="es-ES" sz="1400" dirty="0" err="1"/>
              <a:t>e.offsetX</a:t>
            </a:r>
            <a:r>
              <a:rPr lang="es-ES" sz="1400" dirty="0"/>
              <a:t>, </a:t>
            </a:r>
            <a:r>
              <a:rPr lang="es-ES" sz="1400" dirty="0" err="1"/>
              <a:t>e.offsetY</a:t>
            </a:r>
            <a:r>
              <a:rPr lang="es-ES" sz="1400" dirty="0"/>
              <a:t>));</a:t>
            </a:r>
          </a:p>
          <a:p>
            <a:r>
              <a:rPr lang="es-ES" sz="1400" dirty="0"/>
              <a:t>  }</a:t>
            </a:r>
          </a:p>
          <a:p>
            <a:endParaRPr lang="es-ES" sz="1400" dirty="0"/>
          </a:p>
          <a:p>
            <a:r>
              <a:rPr lang="es-ES" sz="1400" dirty="0"/>
              <a:t> </a:t>
            </a: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28</a:t>
            </a:fld>
            <a:endParaRPr lang="en-US"/>
          </a:p>
        </p:txBody>
      </p:sp>
    </p:spTree>
    <p:extLst>
      <p:ext uri="{BB962C8B-B14F-4D97-AF65-F5344CB8AC3E}">
        <p14:creationId xmlns:p14="http://schemas.microsoft.com/office/powerpoint/2010/main" val="3306514336"/>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5" name="Rectángulo 24"/>
          <p:cNvSpPr/>
          <p:nvPr/>
        </p:nvSpPr>
        <p:spPr>
          <a:xfrm>
            <a:off x="505396" y="1036937"/>
            <a:ext cx="8189908" cy="738664"/>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a:latin typeface="Arial Black"/>
                <a:cs typeface="Arial Black"/>
              </a:rPr>
              <a:t>Extensión de elementos HTML nativos</a:t>
            </a:r>
          </a:p>
          <a:p>
            <a:endParaRPr lang="es-ES" sz="2000" u="sng" dirty="0">
              <a:solidFill>
                <a:srgbClr val="FFFFFF"/>
              </a:solidFill>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505396" y="1612022"/>
            <a:ext cx="7887266" cy="3323987"/>
          </a:xfrm>
          <a:prstGeom prst="rect">
            <a:avLst/>
          </a:prstGeom>
          <a:solidFill>
            <a:schemeClr val="bg2">
              <a:lumMod val="75000"/>
              <a:lumOff val="25000"/>
            </a:schemeClr>
          </a:solidFill>
          <a:ln w="12700" cmpd="sng">
            <a:solidFill>
              <a:srgbClr val="3366FF"/>
            </a:solidFill>
          </a:ln>
        </p:spPr>
        <p:txBody>
          <a:bodyPr wrap="square">
            <a:spAutoFit/>
          </a:bodyPr>
          <a:lstStyle/>
          <a:p>
            <a:endParaRPr lang="es-ES" sz="1400" dirty="0" smtClean="0"/>
          </a:p>
          <a:p>
            <a:r>
              <a:rPr lang="es-ES" sz="1400" dirty="0" smtClean="0"/>
              <a:t>  </a:t>
            </a:r>
            <a:r>
              <a:rPr lang="es-ES" sz="1400" dirty="0"/>
              <a:t>// Material </a:t>
            </a:r>
            <a:r>
              <a:rPr lang="es-ES" sz="1400" dirty="0" err="1"/>
              <a:t>design</a:t>
            </a:r>
            <a:r>
              <a:rPr lang="es-ES" sz="1400" dirty="0"/>
              <a:t> </a:t>
            </a:r>
            <a:r>
              <a:rPr lang="es-ES" sz="1400" dirty="0" err="1"/>
              <a:t>ripple</a:t>
            </a:r>
            <a:r>
              <a:rPr lang="es-ES" sz="1400" dirty="0"/>
              <a:t> </a:t>
            </a:r>
            <a:r>
              <a:rPr lang="es-ES" sz="1400" dirty="0" err="1"/>
              <a:t>animation</a:t>
            </a:r>
            <a:r>
              <a:rPr lang="es-ES" sz="1400" dirty="0"/>
              <a:t>.</a:t>
            </a:r>
          </a:p>
          <a:p>
            <a:r>
              <a:rPr lang="es-ES" sz="1400" dirty="0"/>
              <a:t>  </a:t>
            </a:r>
            <a:r>
              <a:rPr lang="es-ES" sz="1400" dirty="0" err="1"/>
              <a:t>drawRipple</a:t>
            </a:r>
            <a:r>
              <a:rPr lang="es-ES" sz="1400" dirty="0"/>
              <a:t>(x, y) {</a:t>
            </a:r>
          </a:p>
          <a:p>
            <a:r>
              <a:rPr lang="es-ES" sz="1400" dirty="0"/>
              <a:t>    </a:t>
            </a:r>
            <a:r>
              <a:rPr lang="es-ES" sz="1400" dirty="0" err="1"/>
              <a:t>let</a:t>
            </a:r>
            <a:r>
              <a:rPr lang="es-ES" sz="1400" dirty="0"/>
              <a:t> div = </a:t>
            </a:r>
            <a:r>
              <a:rPr lang="es-ES" sz="1400" dirty="0" err="1"/>
              <a:t>document.createElement</a:t>
            </a:r>
            <a:r>
              <a:rPr lang="es-ES" sz="1400" dirty="0"/>
              <a:t>('div');</a:t>
            </a:r>
          </a:p>
          <a:p>
            <a:r>
              <a:rPr lang="es-ES" sz="1400" dirty="0"/>
              <a:t>    </a:t>
            </a:r>
            <a:r>
              <a:rPr lang="es-ES" sz="1400" dirty="0" err="1"/>
              <a:t>div.classList.add</a:t>
            </a:r>
            <a:r>
              <a:rPr lang="es-ES" sz="1400" dirty="0"/>
              <a:t>('</a:t>
            </a:r>
            <a:r>
              <a:rPr lang="es-ES" sz="1400" dirty="0" err="1"/>
              <a:t>ripple</a:t>
            </a:r>
            <a:r>
              <a:rPr lang="es-ES" sz="1400" dirty="0"/>
              <a:t>');</a:t>
            </a:r>
          </a:p>
          <a:p>
            <a:r>
              <a:rPr lang="es-ES" sz="1400" dirty="0"/>
              <a:t>    </a:t>
            </a:r>
            <a:r>
              <a:rPr lang="es-ES" sz="1400" dirty="0" err="1"/>
              <a:t>this.appendChild</a:t>
            </a:r>
            <a:r>
              <a:rPr lang="es-ES" sz="1400" dirty="0"/>
              <a:t>(div);</a:t>
            </a:r>
          </a:p>
          <a:p>
            <a:r>
              <a:rPr lang="es-ES" sz="1400" dirty="0"/>
              <a:t>    </a:t>
            </a:r>
            <a:r>
              <a:rPr lang="es-ES" sz="1400" dirty="0" err="1"/>
              <a:t>div.style.top</a:t>
            </a:r>
            <a:r>
              <a:rPr lang="es-ES" sz="1400" dirty="0"/>
              <a:t> = `${y - </a:t>
            </a:r>
            <a:r>
              <a:rPr lang="es-ES" sz="1400" dirty="0" err="1"/>
              <a:t>div.clientHeight</a:t>
            </a:r>
            <a:r>
              <a:rPr lang="es-ES" sz="1400" dirty="0"/>
              <a:t>/2}</a:t>
            </a:r>
            <a:r>
              <a:rPr lang="es-ES" sz="1400" dirty="0" err="1"/>
              <a:t>px</a:t>
            </a:r>
            <a:r>
              <a:rPr lang="es-ES" sz="1400" dirty="0"/>
              <a:t>`;</a:t>
            </a:r>
          </a:p>
          <a:p>
            <a:r>
              <a:rPr lang="es-ES" sz="1400" dirty="0"/>
              <a:t>    </a:t>
            </a:r>
            <a:r>
              <a:rPr lang="es-ES" sz="1400" dirty="0" err="1"/>
              <a:t>div.style.left</a:t>
            </a:r>
            <a:r>
              <a:rPr lang="es-ES" sz="1400" dirty="0"/>
              <a:t> = `${x - </a:t>
            </a:r>
            <a:r>
              <a:rPr lang="es-ES" sz="1400" dirty="0" err="1"/>
              <a:t>div.clientWidth</a:t>
            </a:r>
            <a:r>
              <a:rPr lang="es-ES" sz="1400" dirty="0"/>
              <a:t>/2}</a:t>
            </a:r>
            <a:r>
              <a:rPr lang="es-ES" sz="1400" dirty="0" err="1"/>
              <a:t>px</a:t>
            </a:r>
            <a:r>
              <a:rPr lang="es-ES" sz="1400" dirty="0"/>
              <a:t>`;</a:t>
            </a:r>
          </a:p>
          <a:p>
            <a:r>
              <a:rPr lang="es-ES" sz="1400" dirty="0"/>
              <a:t>    </a:t>
            </a:r>
            <a:r>
              <a:rPr lang="es-ES" sz="1400" dirty="0" err="1"/>
              <a:t>div.style.backgroundColor</a:t>
            </a:r>
            <a:r>
              <a:rPr lang="es-ES" sz="1400" dirty="0"/>
              <a:t> = '</a:t>
            </a:r>
            <a:r>
              <a:rPr lang="es-ES" sz="1400" dirty="0" err="1"/>
              <a:t>currentColor</a:t>
            </a:r>
            <a:r>
              <a:rPr lang="es-ES" sz="1400" dirty="0"/>
              <a:t>';</a:t>
            </a:r>
          </a:p>
          <a:p>
            <a:r>
              <a:rPr lang="es-ES" sz="1400" dirty="0"/>
              <a:t>    </a:t>
            </a:r>
            <a:r>
              <a:rPr lang="es-ES" sz="1400" dirty="0" err="1"/>
              <a:t>div.classList.add</a:t>
            </a:r>
            <a:r>
              <a:rPr lang="es-ES" sz="1400" dirty="0"/>
              <a:t>('</a:t>
            </a:r>
            <a:r>
              <a:rPr lang="es-ES" sz="1400" dirty="0" err="1"/>
              <a:t>run</a:t>
            </a:r>
            <a:r>
              <a:rPr lang="es-ES" sz="1400" dirty="0"/>
              <a:t>');</a:t>
            </a:r>
          </a:p>
          <a:p>
            <a:r>
              <a:rPr lang="es-ES" sz="1400" dirty="0"/>
              <a:t>    </a:t>
            </a:r>
            <a:r>
              <a:rPr lang="es-ES" sz="1400" dirty="0" err="1"/>
              <a:t>div.addEventListener</a:t>
            </a:r>
            <a:r>
              <a:rPr lang="es-ES" sz="1400" dirty="0"/>
              <a:t>('</a:t>
            </a:r>
            <a:r>
              <a:rPr lang="es-ES" sz="1400" dirty="0" err="1"/>
              <a:t>transitionend</a:t>
            </a:r>
            <a:r>
              <a:rPr lang="es-ES" sz="1400" dirty="0"/>
              <a:t>', e =&gt; </a:t>
            </a:r>
            <a:r>
              <a:rPr lang="es-ES" sz="1400" dirty="0" err="1"/>
              <a:t>div.remove</a:t>
            </a:r>
            <a:r>
              <a:rPr lang="es-ES" sz="1400" dirty="0"/>
              <a:t>());</a:t>
            </a:r>
          </a:p>
          <a:p>
            <a:r>
              <a:rPr lang="es-ES" sz="1400" dirty="0"/>
              <a:t>  }</a:t>
            </a:r>
          </a:p>
          <a:p>
            <a:r>
              <a:rPr lang="es-ES" sz="1400" dirty="0"/>
              <a:t>}</a:t>
            </a:r>
          </a:p>
          <a:p>
            <a:endParaRPr lang="es-ES" sz="1400" dirty="0"/>
          </a:p>
          <a:p>
            <a:r>
              <a:rPr lang="es-ES" sz="1400" dirty="0" err="1"/>
              <a:t>customElements.define</a:t>
            </a:r>
            <a:r>
              <a:rPr lang="es-ES" sz="1400" dirty="0"/>
              <a:t>('</a:t>
            </a:r>
            <a:r>
              <a:rPr lang="es-ES" sz="1400" dirty="0" err="1"/>
              <a:t>fancy-button</a:t>
            </a:r>
            <a:r>
              <a:rPr lang="es-ES" sz="1400" dirty="0"/>
              <a:t>', </a:t>
            </a:r>
            <a:r>
              <a:rPr lang="es-ES" sz="1400" dirty="0" err="1"/>
              <a:t>FancyButton</a:t>
            </a:r>
            <a:r>
              <a:rPr lang="es-ES" sz="1400" dirty="0"/>
              <a:t>, {</a:t>
            </a:r>
            <a:r>
              <a:rPr lang="es-ES" sz="1400" dirty="0" err="1"/>
              <a:t>extends</a:t>
            </a:r>
            <a:r>
              <a:rPr lang="es-ES" sz="1400" dirty="0"/>
              <a:t>: '</a:t>
            </a:r>
            <a:r>
              <a:rPr lang="es-ES" sz="1400" dirty="0" err="1"/>
              <a:t>button</a:t>
            </a:r>
            <a:r>
              <a:rPr lang="es-ES" sz="1400" dirty="0"/>
              <a:t>'});</a:t>
            </a:r>
          </a:p>
        </p:txBody>
      </p:sp>
      <p:sp>
        <p:nvSpPr>
          <p:cNvPr id="15" name="Rectángulo 14"/>
          <p:cNvSpPr/>
          <p:nvPr/>
        </p:nvSpPr>
        <p:spPr>
          <a:xfrm>
            <a:off x="492433" y="4939883"/>
            <a:ext cx="8202871" cy="2239074"/>
          </a:xfrm>
          <a:prstGeom prst="rect">
            <a:avLst/>
          </a:prstGeom>
        </p:spPr>
        <p:txBody>
          <a:bodyPr wrap="square">
            <a:spAutoFit/>
          </a:bodyPr>
          <a:lstStyle/>
          <a:p>
            <a:pPr algn="just">
              <a:lnSpc>
                <a:spcPct val="130000"/>
              </a:lnSpc>
            </a:pPr>
            <a:r>
              <a:rPr lang="es-ES" dirty="0">
                <a:solidFill>
                  <a:srgbClr val="FFFFFF"/>
                </a:solidFill>
                <a:latin typeface="Helvetica"/>
                <a:cs typeface="Helvetica"/>
              </a:rPr>
              <a:t>Observa que la llamada a define() cambia ligeramente al extender un elemento nativo. El tercer parámetro obligatorio indica al navegador la etiqueta que </a:t>
            </a:r>
            <a:r>
              <a:rPr lang="es-ES" dirty="0" smtClean="0">
                <a:solidFill>
                  <a:srgbClr val="FFFFFF"/>
                </a:solidFill>
                <a:latin typeface="Helvetica"/>
                <a:cs typeface="Helvetica"/>
              </a:rPr>
              <a:t>extenderás</a:t>
            </a:r>
            <a:r>
              <a:rPr lang="es-ES" dirty="0">
                <a:solidFill>
                  <a:srgbClr val="FFFFFF"/>
                </a:solidFill>
                <a:latin typeface="Helvetica"/>
                <a:cs typeface="Helvetica"/>
              </a:rPr>
              <a:t>.</a:t>
            </a:r>
          </a:p>
          <a:p>
            <a:pPr algn="just">
              <a:lnSpc>
                <a:spcPct val="130000"/>
              </a:lnSpc>
            </a:pPr>
            <a:endParaRPr lang="es-ES" dirty="0" smtClean="0">
              <a:solidFill>
                <a:srgbClr val="FFFFFF"/>
              </a:solidFill>
              <a:latin typeface="Helvetica"/>
              <a:cs typeface="Helvetica"/>
            </a:endParaRPr>
          </a:p>
          <a:p>
            <a:pPr marL="342900" indent="-342900" algn="just">
              <a:lnSpc>
                <a:spcPct val="130000"/>
              </a:lnSpc>
              <a:buFont typeface="+mj-lt"/>
              <a:buAutoNum type="arabicPeriod"/>
            </a:pPr>
            <a:endParaRPr lang="es-ES" dirty="0">
              <a:solidFill>
                <a:srgbClr val="FFFFFF"/>
              </a:solidFill>
              <a:latin typeface="Helvetica"/>
              <a:cs typeface="Helvetica"/>
            </a:endParaRPr>
          </a:p>
          <a:p>
            <a:pPr marL="342900" indent="-342900" algn="just">
              <a:lnSpc>
                <a:spcPct val="130000"/>
              </a:lnSpc>
              <a:buFont typeface="+mj-lt"/>
              <a:buAutoNum type="arabicPeriod"/>
            </a:pPr>
            <a:endParaRPr lang="es-ES"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29</a:t>
            </a:fld>
            <a:endParaRPr lang="en-US"/>
          </a:p>
        </p:txBody>
      </p:sp>
    </p:spTree>
    <p:extLst>
      <p:ext uri="{BB962C8B-B14F-4D97-AF65-F5344CB8AC3E}">
        <p14:creationId xmlns:p14="http://schemas.microsoft.com/office/powerpoint/2010/main" val="4198447596"/>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5" name="Rectángulo 24"/>
          <p:cNvSpPr/>
          <p:nvPr/>
        </p:nvSpPr>
        <p:spPr>
          <a:xfrm>
            <a:off x="505396" y="1036937"/>
            <a:ext cx="8189908" cy="738664"/>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a:latin typeface="Arial Black"/>
                <a:cs typeface="Arial Black"/>
              </a:rPr>
              <a:t>Reacciones de los elementos personalizados</a:t>
            </a:r>
          </a:p>
          <a:p>
            <a:endParaRPr lang="es-ES" sz="2000" u="sng" dirty="0">
              <a:solidFill>
                <a:srgbClr val="FFFFFF"/>
              </a:solidFill>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492433" y="1565312"/>
            <a:ext cx="8202871" cy="1878976"/>
          </a:xfrm>
          <a:prstGeom prst="rect">
            <a:avLst/>
          </a:prstGeom>
        </p:spPr>
        <p:txBody>
          <a:bodyPr wrap="square">
            <a:spAutoFit/>
          </a:bodyPr>
          <a:lstStyle/>
          <a:p>
            <a:pPr algn="just">
              <a:lnSpc>
                <a:spcPct val="130000"/>
              </a:lnSpc>
            </a:pPr>
            <a:r>
              <a:rPr lang="es-ES" dirty="0">
                <a:solidFill>
                  <a:srgbClr val="FFFFFF"/>
                </a:solidFill>
                <a:latin typeface="Helvetica"/>
                <a:cs typeface="Helvetica"/>
              </a:rPr>
              <a:t>Un elemento personalizado puede definir enlaces de ciclo de vida especiales para ejecutar código durante momentos interesantes de su existencia. Estos enlaces se llaman reacciones de elementos personalizados.</a:t>
            </a:r>
            <a:endParaRPr lang="es-ES" dirty="0" smtClean="0">
              <a:solidFill>
                <a:srgbClr val="FFFFFF"/>
              </a:solidFill>
              <a:latin typeface="Helvetica"/>
              <a:cs typeface="Helvetica"/>
            </a:endParaRPr>
          </a:p>
          <a:p>
            <a:pPr marL="342900" indent="-342900" algn="just">
              <a:lnSpc>
                <a:spcPct val="130000"/>
              </a:lnSpc>
              <a:buFont typeface="+mj-lt"/>
              <a:buAutoNum type="arabicPeriod"/>
            </a:pPr>
            <a:endParaRPr lang="es-ES" dirty="0">
              <a:solidFill>
                <a:srgbClr val="FFFFFF"/>
              </a:solidFill>
              <a:latin typeface="Helvetica"/>
              <a:cs typeface="Helvetica"/>
            </a:endParaRPr>
          </a:p>
          <a:p>
            <a:pPr marL="342900" indent="-342900" algn="just">
              <a:lnSpc>
                <a:spcPct val="130000"/>
              </a:lnSpc>
              <a:buFont typeface="+mj-lt"/>
              <a:buAutoNum type="arabicPeriod"/>
            </a:pPr>
            <a:endParaRPr lang="es-ES" dirty="0">
              <a:solidFill>
                <a:srgbClr val="FFFFFF"/>
              </a:solidFill>
              <a:latin typeface="Helvetica"/>
              <a:cs typeface="Helvetica"/>
            </a:endParaRPr>
          </a:p>
        </p:txBody>
      </p:sp>
      <p:pic>
        <p:nvPicPr>
          <p:cNvPr id="11" name="Imagen 10"/>
          <p:cNvPicPr>
            <a:picLocks noChangeAspect="1"/>
          </p:cNvPicPr>
          <p:nvPr/>
        </p:nvPicPr>
        <p:blipFill>
          <a:blip r:embed="rId5"/>
          <a:stretch>
            <a:fillRect/>
          </a:stretch>
        </p:blipFill>
        <p:spPr>
          <a:xfrm>
            <a:off x="553776" y="2848644"/>
            <a:ext cx="8105241" cy="3378956"/>
          </a:xfrm>
          <a:prstGeom prst="rect">
            <a:avLst/>
          </a:prstGeom>
        </p:spPr>
      </p:pic>
      <p:sp>
        <p:nvSpPr>
          <p:cNvPr id="12" name="Marcador de número de diapositiva 11"/>
          <p:cNvSpPr>
            <a:spLocks noGrp="1"/>
          </p:cNvSpPr>
          <p:nvPr>
            <p:ph type="sldNum" sz="quarter" idx="12"/>
          </p:nvPr>
        </p:nvSpPr>
        <p:spPr/>
        <p:txBody>
          <a:bodyPr/>
          <a:lstStyle/>
          <a:p>
            <a:fld id="{9C1F5A0A-F6FC-4FFD-9B49-0DA8697211D9}" type="slidenum">
              <a:rPr lang="en-US" smtClean="0"/>
              <a:t>30</a:t>
            </a:fld>
            <a:endParaRPr lang="en-US"/>
          </a:p>
        </p:txBody>
      </p:sp>
    </p:spTree>
    <p:extLst>
      <p:ext uri="{BB962C8B-B14F-4D97-AF65-F5344CB8AC3E}">
        <p14:creationId xmlns:p14="http://schemas.microsoft.com/office/powerpoint/2010/main" val="3328726496"/>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2239074"/>
          </a:xfrm>
          <a:prstGeom prst="rect">
            <a:avLst/>
          </a:prstGeom>
        </p:spPr>
        <p:txBody>
          <a:bodyPr wrap="square">
            <a:spAutoFit/>
          </a:bodyPr>
          <a:lstStyle/>
          <a:p>
            <a:pPr algn="just">
              <a:lnSpc>
                <a:spcPct val="130000"/>
              </a:lnSpc>
            </a:pPr>
            <a:r>
              <a:rPr lang="es-ES" dirty="0">
                <a:solidFill>
                  <a:srgbClr val="FFFFFF"/>
                </a:solidFill>
                <a:latin typeface="Helvetica"/>
                <a:cs typeface="Helvetica"/>
              </a:rPr>
              <a:t>Definiremos una nueva variante de nodo DOM llamado Shadow Host. Un Shadow Host es </a:t>
            </a:r>
            <a:r>
              <a:rPr lang="es-ES" dirty="0" smtClean="0">
                <a:solidFill>
                  <a:srgbClr val="FFFFFF"/>
                </a:solidFill>
                <a:latin typeface="Helvetica"/>
                <a:cs typeface="Helvetica"/>
              </a:rPr>
              <a:t>un nodo </a:t>
            </a:r>
            <a:r>
              <a:rPr lang="es-ES" dirty="0">
                <a:solidFill>
                  <a:srgbClr val="FFFFFF"/>
                </a:solidFill>
                <a:latin typeface="Helvetica"/>
                <a:cs typeface="Helvetica"/>
              </a:rPr>
              <a:t>DOM que </a:t>
            </a:r>
            <a:r>
              <a:rPr lang="es-ES" dirty="0" smtClean="0">
                <a:solidFill>
                  <a:srgbClr val="FFFFFF"/>
                </a:solidFill>
                <a:latin typeface="Helvetica"/>
                <a:cs typeface="Helvetica"/>
              </a:rPr>
              <a:t>contiene </a:t>
            </a:r>
            <a:r>
              <a:rPr lang="es-ES" dirty="0">
                <a:solidFill>
                  <a:srgbClr val="FFFFFF"/>
                </a:solidFill>
                <a:latin typeface="Helvetica"/>
                <a:cs typeface="Helvetica"/>
              </a:rPr>
              <a:t>un atributo hacia un nuevo nodo DOM llamado </a:t>
            </a:r>
            <a:r>
              <a:rPr lang="es-ES" b="1" u="sng" dirty="0">
                <a:solidFill>
                  <a:srgbClr val="FFFFFF"/>
                </a:solidFill>
                <a:latin typeface="Helvetica"/>
                <a:cs typeface="Helvetica"/>
              </a:rPr>
              <a:t>Shadow </a:t>
            </a:r>
            <a:r>
              <a:rPr lang="es-ES" b="1" u="sng" dirty="0" err="1">
                <a:solidFill>
                  <a:srgbClr val="FFFFFF"/>
                </a:solidFill>
                <a:latin typeface="Helvetica"/>
                <a:cs typeface="Helvetica"/>
              </a:rPr>
              <a:t>Root</a:t>
            </a:r>
            <a:r>
              <a:rPr lang="es-ES" u="sng" dirty="0">
                <a:solidFill>
                  <a:srgbClr val="FFFFFF"/>
                </a:solidFill>
                <a:latin typeface="Helvetica"/>
                <a:cs typeface="Helvetica"/>
              </a:rPr>
              <a:t>. </a:t>
            </a:r>
            <a:r>
              <a:rPr lang="es-ES" dirty="0">
                <a:solidFill>
                  <a:srgbClr val="FFFFFF"/>
                </a:solidFill>
                <a:latin typeface="Helvetica"/>
                <a:cs typeface="Helvetica"/>
              </a:rPr>
              <a:t>De </a:t>
            </a:r>
            <a:r>
              <a:rPr lang="es-ES" dirty="0" smtClean="0">
                <a:solidFill>
                  <a:srgbClr val="FFFFFF"/>
                </a:solidFill>
                <a:latin typeface="Helvetica"/>
                <a:cs typeface="Helvetica"/>
              </a:rPr>
              <a:t>él se </a:t>
            </a:r>
            <a:r>
              <a:rPr lang="es-ES" dirty="0">
                <a:solidFill>
                  <a:srgbClr val="FFFFFF"/>
                </a:solidFill>
                <a:latin typeface="Helvetica"/>
                <a:cs typeface="Helvetica"/>
              </a:rPr>
              <a:t>puede hacer depender un subárbol DOM que transcurre en paralelo al documento </a:t>
            </a:r>
            <a:r>
              <a:rPr lang="es-ES" dirty="0" smtClean="0">
                <a:solidFill>
                  <a:srgbClr val="FFFFFF"/>
                </a:solidFill>
                <a:latin typeface="Helvetica"/>
                <a:cs typeface="Helvetica"/>
              </a:rPr>
              <a:t>llamado Shadow </a:t>
            </a:r>
            <a:r>
              <a:rPr lang="es-ES" dirty="0">
                <a:solidFill>
                  <a:srgbClr val="FFFFFF"/>
                </a:solidFill>
                <a:latin typeface="Helvetica"/>
                <a:cs typeface="Helvetica"/>
              </a:rPr>
              <a:t>DOM.</a:t>
            </a:r>
          </a:p>
          <a:p>
            <a:pPr algn="just">
              <a:lnSpc>
                <a:spcPct val="130000"/>
              </a:lnSpc>
            </a:pP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a:latin typeface="Arial Black"/>
                <a:cs typeface="Arial Black"/>
              </a:rPr>
              <a:t>Shadow Host, Shadow </a:t>
            </a:r>
            <a:r>
              <a:rPr lang="es-ES" sz="2200" u="sng" dirty="0" err="1">
                <a:latin typeface="Arial Black"/>
                <a:cs typeface="Arial Black"/>
              </a:rPr>
              <a:t>Root</a:t>
            </a:r>
            <a:r>
              <a:rPr lang="es-ES" sz="2200" u="sng" dirty="0">
                <a:latin typeface="Arial Black"/>
                <a:cs typeface="Arial Black"/>
              </a:rPr>
              <a:t> &amp; Shadow DOM</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pic>
        <p:nvPicPr>
          <p:cNvPr id="16" name="Imagen 15"/>
          <p:cNvPicPr>
            <a:picLocks noChangeAspect="1"/>
          </p:cNvPicPr>
          <p:nvPr/>
        </p:nvPicPr>
        <p:blipFill>
          <a:blip r:embed="rId5"/>
          <a:stretch>
            <a:fillRect/>
          </a:stretch>
        </p:blipFill>
        <p:spPr>
          <a:xfrm>
            <a:off x="2739571" y="3338456"/>
            <a:ext cx="3525762" cy="2912134"/>
          </a:xfrm>
          <a:prstGeom prst="rect">
            <a:avLst/>
          </a:prstGeom>
        </p:spPr>
      </p:pic>
      <p:pic>
        <p:nvPicPr>
          <p:cNvPr id="19" name="Imagen 18"/>
          <p:cNvPicPr>
            <a:picLocks noChangeAspect="1"/>
          </p:cNvPicPr>
          <p:nvPr/>
        </p:nvPicPr>
        <p:blipFill>
          <a:blip r:embed="rId6"/>
          <a:stretch>
            <a:fillRect/>
          </a:stretch>
        </p:blipFill>
        <p:spPr>
          <a:xfrm>
            <a:off x="6451171" y="3338456"/>
            <a:ext cx="2120900" cy="368300"/>
          </a:xfrm>
          <a:prstGeom prst="rect">
            <a:avLst/>
          </a:prstGeom>
        </p:spPr>
      </p:pic>
      <p:pic>
        <p:nvPicPr>
          <p:cNvPr id="22" name="Imagen 21"/>
          <p:cNvPicPr>
            <a:picLocks noChangeAspect="1"/>
          </p:cNvPicPr>
          <p:nvPr/>
        </p:nvPicPr>
        <p:blipFill>
          <a:blip r:embed="rId7"/>
          <a:stretch>
            <a:fillRect/>
          </a:stretch>
        </p:blipFill>
        <p:spPr>
          <a:xfrm>
            <a:off x="6425771" y="3853816"/>
            <a:ext cx="2146300" cy="317500"/>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31</a:t>
            </a:fld>
            <a:endParaRPr lang="en-US"/>
          </a:p>
        </p:txBody>
      </p:sp>
    </p:spTree>
    <p:extLst>
      <p:ext uri="{BB962C8B-B14F-4D97-AF65-F5344CB8AC3E}">
        <p14:creationId xmlns:p14="http://schemas.microsoft.com/office/powerpoint/2010/main" val="2396892761"/>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5479963"/>
          </a:xfrm>
          <a:prstGeom prst="rect">
            <a:avLst/>
          </a:prstGeom>
        </p:spPr>
        <p:txBody>
          <a:bodyPr wrap="square">
            <a:spAutoFit/>
          </a:bodyPr>
          <a:lstStyle/>
          <a:p>
            <a:pPr algn="just">
              <a:lnSpc>
                <a:spcPct val="130000"/>
              </a:lnSpc>
            </a:pPr>
            <a:r>
              <a:rPr lang="es-ES" dirty="0">
                <a:solidFill>
                  <a:srgbClr val="FFFFFF"/>
                </a:solidFill>
                <a:latin typeface="Helvetica"/>
                <a:cs typeface="Helvetica"/>
              </a:rPr>
              <a:t>Light </a:t>
            </a:r>
            <a:r>
              <a:rPr lang="es-ES" dirty="0" smtClean="0">
                <a:solidFill>
                  <a:srgbClr val="FFFFFF"/>
                </a:solidFill>
                <a:latin typeface="Helvetica"/>
                <a:cs typeface="Helvetica"/>
              </a:rPr>
              <a:t>DOM:</a:t>
            </a:r>
          </a:p>
          <a:p>
            <a:pPr algn="just">
              <a:lnSpc>
                <a:spcPct val="130000"/>
              </a:lnSpc>
            </a:pPr>
            <a:r>
              <a:rPr lang="es-ES" dirty="0">
                <a:solidFill>
                  <a:srgbClr val="FFFFFF"/>
                </a:solidFill>
                <a:latin typeface="Helvetica"/>
                <a:cs typeface="Helvetica"/>
              </a:rPr>
              <a:t>Es el lenguaje de marcado que escribe un usuario de tu componente. El DOM vive afuera del </a:t>
            </a:r>
            <a:r>
              <a:rPr lang="es-ES" dirty="0" err="1">
                <a:solidFill>
                  <a:srgbClr val="FFFFFF"/>
                </a:solidFill>
                <a:latin typeface="Helvetica"/>
                <a:cs typeface="Helvetica"/>
              </a:rPr>
              <a:t>shadow</a:t>
            </a:r>
            <a:r>
              <a:rPr lang="es-ES" dirty="0">
                <a:solidFill>
                  <a:srgbClr val="FFFFFF"/>
                </a:solidFill>
                <a:latin typeface="Helvetica"/>
                <a:cs typeface="Helvetica"/>
              </a:rPr>
              <a:t> DOM del componente. Consta de los campos secundarios reales del elemento.</a:t>
            </a:r>
          </a:p>
          <a:p>
            <a:pPr algn="just">
              <a:lnSpc>
                <a:spcPct val="130000"/>
              </a:lnSpc>
            </a:pPr>
            <a:endParaRPr lang="es-ES" dirty="0" smtClean="0">
              <a:solidFill>
                <a:srgbClr val="FFFFFF"/>
              </a:solidFill>
              <a:latin typeface="Helvetica"/>
              <a:cs typeface="Helvetica"/>
            </a:endParaRPr>
          </a:p>
          <a:p>
            <a:pPr algn="just">
              <a:lnSpc>
                <a:spcPct val="130000"/>
              </a:lnSpc>
            </a:pPr>
            <a:r>
              <a:rPr lang="es-ES" dirty="0" smtClean="0">
                <a:solidFill>
                  <a:srgbClr val="FFFFFF"/>
                </a:solidFill>
                <a:latin typeface="Helvetica"/>
                <a:cs typeface="Helvetica"/>
              </a:rPr>
              <a:t>Shadow DOM:</a:t>
            </a:r>
          </a:p>
          <a:p>
            <a:pPr algn="just">
              <a:lnSpc>
                <a:spcPct val="130000"/>
              </a:lnSpc>
            </a:pPr>
            <a:r>
              <a:rPr lang="es-ES" dirty="0">
                <a:solidFill>
                  <a:srgbClr val="FFFFFF"/>
                </a:solidFill>
                <a:latin typeface="Helvetica"/>
                <a:cs typeface="Helvetica"/>
              </a:rPr>
              <a:t>Es el DOM que escribe el autor del componente. Shadow DOM es local del componente y define su estructura interna, CSS con ámbito, y encapsula tus detalles de implementación. También puede definir cómo representar el lenguaje de marcado que creó el consumidor de tu componente.</a:t>
            </a:r>
          </a:p>
          <a:p>
            <a:pPr algn="just">
              <a:lnSpc>
                <a:spcPct val="130000"/>
              </a:lnSpc>
            </a:pP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a:latin typeface="Arial Black"/>
                <a:cs typeface="Arial Black"/>
              </a:rPr>
              <a:t>Terminología: light DOM y </a:t>
            </a:r>
            <a:r>
              <a:rPr lang="es-ES" sz="2200" u="sng" dirty="0" err="1">
                <a:latin typeface="Arial Black"/>
                <a:cs typeface="Arial Black"/>
              </a:rPr>
              <a:t>shadow</a:t>
            </a:r>
            <a:r>
              <a:rPr lang="es-ES" sz="2200" u="sng" dirty="0">
                <a:latin typeface="Arial Black"/>
                <a:cs typeface="Arial Black"/>
              </a:rPr>
              <a:t> DOM</a:t>
            </a: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32</a:t>
            </a:fld>
            <a:endParaRPr lang="en-US"/>
          </a:p>
        </p:txBody>
      </p:sp>
    </p:spTree>
    <p:extLst>
      <p:ext uri="{BB962C8B-B14F-4D97-AF65-F5344CB8AC3E}">
        <p14:creationId xmlns:p14="http://schemas.microsoft.com/office/powerpoint/2010/main" val="396759326"/>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2239074"/>
          </a:xfrm>
          <a:prstGeom prst="rect">
            <a:avLst/>
          </a:prstGeom>
        </p:spPr>
        <p:txBody>
          <a:bodyPr wrap="square">
            <a:spAutoFit/>
          </a:bodyPr>
          <a:lstStyle/>
          <a:p>
            <a:pPr algn="just">
              <a:lnSpc>
                <a:spcPct val="130000"/>
              </a:lnSpc>
            </a:pPr>
            <a:r>
              <a:rPr lang="es-ES" dirty="0">
                <a:solidFill>
                  <a:srgbClr val="FFFFFF"/>
                </a:solidFill>
                <a:latin typeface="Helvetica"/>
                <a:cs typeface="Helvetica"/>
              </a:rPr>
              <a:t>El resultado de que el navegador distribuya el light DOM del usuario en tu </a:t>
            </a:r>
            <a:r>
              <a:rPr lang="es-ES" dirty="0" err="1">
                <a:solidFill>
                  <a:srgbClr val="FFFFFF"/>
                </a:solidFill>
                <a:latin typeface="Helvetica"/>
                <a:cs typeface="Helvetica"/>
              </a:rPr>
              <a:t>shadow</a:t>
            </a:r>
            <a:r>
              <a:rPr lang="es-ES" dirty="0">
                <a:solidFill>
                  <a:srgbClr val="FFFFFF"/>
                </a:solidFill>
                <a:latin typeface="Helvetica"/>
                <a:cs typeface="Helvetica"/>
              </a:rPr>
              <a:t> DOM, representando el producto final. El árbol plano es lo que en última instancia ves en las </a:t>
            </a:r>
            <a:r>
              <a:rPr lang="es-ES" dirty="0" err="1">
                <a:solidFill>
                  <a:srgbClr val="FFFFFF"/>
                </a:solidFill>
                <a:latin typeface="Helvetica"/>
                <a:cs typeface="Helvetica"/>
              </a:rPr>
              <a:t>DevTools</a:t>
            </a:r>
            <a:r>
              <a:rPr lang="es-ES" dirty="0">
                <a:solidFill>
                  <a:srgbClr val="FFFFFF"/>
                </a:solidFill>
                <a:latin typeface="Helvetica"/>
                <a:cs typeface="Helvetica"/>
              </a:rPr>
              <a:t> y lo que se representa en la página.</a:t>
            </a:r>
          </a:p>
          <a:p>
            <a:pPr algn="just">
              <a:lnSpc>
                <a:spcPct val="130000"/>
              </a:lnSpc>
            </a:pP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a:latin typeface="Arial Black"/>
                <a:cs typeface="Arial Black"/>
              </a:rPr>
              <a:t>Terminología: Árbol del DOM plano</a:t>
            </a: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4" name="Marcador de número de diapositiva 3"/>
          <p:cNvSpPr>
            <a:spLocks noGrp="1"/>
          </p:cNvSpPr>
          <p:nvPr>
            <p:ph type="sldNum" sz="quarter" idx="12"/>
          </p:nvPr>
        </p:nvSpPr>
        <p:spPr/>
        <p:txBody>
          <a:bodyPr/>
          <a:lstStyle/>
          <a:p>
            <a:fld id="{9C1F5A0A-F6FC-4FFD-9B49-0DA8697211D9}" type="slidenum">
              <a:rPr lang="en-US" smtClean="0"/>
              <a:t>33</a:t>
            </a:fld>
            <a:endParaRPr lang="en-US"/>
          </a:p>
        </p:txBody>
      </p:sp>
    </p:spTree>
    <p:extLst>
      <p:ext uri="{BB962C8B-B14F-4D97-AF65-F5344CB8AC3E}">
        <p14:creationId xmlns:p14="http://schemas.microsoft.com/office/powerpoint/2010/main" val="2956103557"/>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1158779"/>
          </a:xfrm>
          <a:prstGeom prst="rect">
            <a:avLst/>
          </a:prstGeom>
        </p:spPr>
        <p:txBody>
          <a:bodyPr wrap="square">
            <a:spAutoFit/>
          </a:bodyPr>
          <a:lstStyle/>
          <a:p>
            <a:pPr algn="just">
              <a:lnSpc>
                <a:spcPct val="130000"/>
              </a:lnSpc>
            </a:pPr>
            <a:r>
              <a:rPr lang="es-ES" dirty="0">
                <a:solidFill>
                  <a:srgbClr val="FFFFFF"/>
                </a:solidFill>
                <a:latin typeface="Helvetica"/>
                <a:cs typeface="Helvetica"/>
              </a:rPr>
              <a:t>Para </a:t>
            </a:r>
            <a:r>
              <a:rPr lang="es-ES" dirty="0" smtClean="0">
                <a:solidFill>
                  <a:srgbClr val="FFFFFF"/>
                </a:solidFill>
                <a:latin typeface="Helvetica"/>
                <a:cs typeface="Helvetica"/>
              </a:rPr>
              <a:t>convertir </a:t>
            </a:r>
            <a:r>
              <a:rPr lang="es-ES" dirty="0">
                <a:solidFill>
                  <a:srgbClr val="FFFFFF"/>
                </a:solidFill>
                <a:latin typeface="Helvetica"/>
                <a:cs typeface="Helvetica"/>
              </a:rPr>
              <a:t>un nodo normal en un </a:t>
            </a:r>
            <a:r>
              <a:rPr lang="es-ES" dirty="0" err="1">
                <a:solidFill>
                  <a:srgbClr val="FFFFFF"/>
                </a:solidFill>
                <a:latin typeface="Helvetica"/>
                <a:cs typeface="Helvetica"/>
              </a:rPr>
              <a:t>shadow</a:t>
            </a:r>
            <a:r>
              <a:rPr lang="es-ES" dirty="0">
                <a:solidFill>
                  <a:srgbClr val="FFFFFF"/>
                </a:solidFill>
                <a:latin typeface="Helvetica"/>
                <a:cs typeface="Helvetica"/>
              </a:rPr>
              <a:t> host es necesario incluir un atributo hacia </a:t>
            </a:r>
            <a:r>
              <a:rPr lang="es-ES" dirty="0" smtClean="0">
                <a:solidFill>
                  <a:srgbClr val="FFFFFF"/>
                </a:solidFill>
                <a:latin typeface="Helvetica"/>
                <a:cs typeface="Helvetica"/>
              </a:rPr>
              <a:t>un </a:t>
            </a:r>
            <a:r>
              <a:rPr lang="es-ES" dirty="0" err="1" smtClean="0">
                <a:solidFill>
                  <a:srgbClr val="FFFFFF"/>
                </a:solidFill>
                <a:latin typeface="Helvetica"/>
                <a:cs typeface="Helvetica"/>
              </a:rPr>
              <a:t>shadow</a:t>
            </a:r>
            <a:r>
              <a:rPr lang="es-ES" dirty="0" smtClean="0">
                <a:solidFill>
                  <a:srgbClr val="FFFFFF"/>
                </a:solidFill>
                <a:latin typeface="Helvetica"/>
                <a:cs typeface="Helvetica"/>
              </a:rPr>
              <a:t> </a:t>
            </a:r>
            <a:r>
              <a:rPr lang="es-ES" dirty="0" err="1">
                <a:solidFill>
                  <a:srgbClr val="FFFFFF"/>
                </a:solidFill>
                <a:latin typeface="Helvetica"/>
                <a:cs typeface="Helvetica"/>
              </a:rPr>
              <a:t>root</a:t>
            </a:r>
            <a:r>
              <a:rPr lang="es-ES" dirty="0">
                <a:solidFill>
                  <a:srgbClr val="FFFFFF"/>
                </a:solidFill>
                <a:latin typeface="Helvetica"/>
                <a:cs typeface="Helvetica"/>
              </a:rPr>
              <a:t>. Esto se hace </a:t>
            </a:r>
            <a:r>
              <a:rPr lang="es-ES" dirty="0" smtClean="0">
                <a:solidFill>
                  <a:srgbClr val="FFFFFF"/>
                </a:solidFill>
                <a:latin typeface="Helvetica"/>
                <a:cs typeface="Helvetica"/>
              </a:rPr>
              <a:t>mediante una llamada al método </a:t>
            </a:r>
            <a:r>
              <a:rPr lang="es-ES" dirty="0" err="1" smtClean="0">
                <a:solidFill>
                  <a:srgbClr val="FFFFFF"/>
                </a:solidFill>
                <a:latin typeface="Helvetica"/>
                <a:cs typeface="Helvetica"/>
              </a:rPr>
              <a:t>attachShadow</a:t>
            </a:r>
            <a:r>
              <a:rPr lang="es-ES" dirty="0">
                <a:solidFill>
                  <a:srgbClr val="FFFFFF"/>
                </a:solidFill>
                <a:latin typeface="Helvetica"/>
                <a:cs typeface="Helvetica"/>
              </a:rPr>
              <a:t>(</a:t>
            </a:r>
            <a:r>
              <a:rPr lang="es-ES" dirty="0" smtClean="0">
                <a:solidFill>
                  <a:srgbClr val="FFFFFF"/>
                </a:solidFill>
                <a:latin typeface="Helvetica"/>
                <a:cs typeface="Helvetica"/>
              </a:rPr>
              <a:t>) dentro del constructor.</a:t>
            </a:r>
            <a:endParaRPr lang="es-ES"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a:latin typeface="Arial Black"/>
                <a:cs typeface="Arial Black"/>
              </a:rPr>
              <a:t>Shadow Host, Shadow </a:t>
            </a:r>
            <a:r>
              <a:rPr lang="es-ES" sz="2200" u="sng" dirty="0" err="1">
                <a:latin typeface="Arial Black"/>
                <a:cs typeface="Arial Black"/>
              </a:rPr>
              <a:t>Root</a:t>
            </a:r>
            <a:r>
              <a:rPr lang="es-ES" sz="2200" u="sng" dirty="0">
                <a:latin typeface="Arial Black"/>
                <a:cs typeface="Arial Black"/>
              </a:rPr>
              <a:t> &amp; Shadow DOM</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7" name="Rectángulo 16"/>
          <p:cNvSpPr/>
          <p:nvPr/>
        </p:nvSpPr>
        <p:spPr>
          <a:xfrm>
            <a:off x="505396" y="2828482"/>
            <a:ext cx="8094318" cy="3539430"/>
          </a:xfrm>
          <a:prstGeom prst="rect">
            <a:avLst/>
          </a:prstGeom>
          <a:solidFill>
            <a:schemeClr val="bg2">
              <a:lumMod val="75000"/>
              <a:lumOff val="25000"/>
            </a:schemeClr>
          </a:solidFill>
          <a:ln w="12700" cmpd="sng">
            <a:solidFill>
              <a:srgbClr val="3366FF"/>
            </a:solidFill>
          </a:ln>
        </p:spPr>
        <p:txBody>
          <a:bodyPr wrap="square">
            <a:spAutoFit/>
          </a:bodyPr>
          <a:lstStyle/>
          <a:p>
            <a:r>
              <a:rPr lang="es-ES" sz="1600" dirty="0" err="1"/>
              <a:t>customElements.define</a:t>
            </a:r>
            <a:r>
              <a:rPr lang="es-ES" sz="1600" dirty="0"/>
              <a:t>('x-</a:t>
            </a:r>
            <a:r>
              <a:rPr lang="es-ES" sz="1600" dirty="0" err="1"/>
              <a:t>foo</a:t>
            </a:r>
            <a:r>
              <a:rPr lang="es-ES" sz="1600" dirty="0"/>
              <a:t>-</a:t>
            </a:r>
            <a:r>
              <a:rPr lang="es-ES" sz="1600" dirty="0" err="1"/>
              <a:t>shadowdom</a:t>
            </a:r>
            <a:r>
              <a:rPr lang="es-ES" sz="1600" dirty="0"/>
              <a:t>', </a:t>
            </a:r>
            <a:r>
              <a:rPr lang="es-ES" sz="1600" dirty="0" err="1"/>
              <a:t>class</a:t>
            </a:r>
            <a:r>
              <a:rPr lang="es-ES" sz="1600" dirty="0"/>
              <a:t> </a:t>
            </a:r>
            <a:r>
              <a:rPr lang="es-ES" sz="1600" dirty="0" err="1"/>
              <a:t>extends</a:t>
            </a:r>
            <a:r>
              <a:rPr lang="es-ES" sz="1600" dirty="0"/>
              <a:t> </a:t>
            </a:r>
            <a:r>
              <a:rPr lang="es-ES" sz="1600" dirty="0" err="1"/>
              <a:t>HTMLElement</a:t>
            </a:r>
            <a:r>
              <a:rPr lang="es-ES" sz="1600" dirty="0"/>
              <a:t> {</a:t>
            </a:r>
          </a:p>
          <a:p>
            <a:r>
              <a:rPr lang="es-ES" sz="1600" dirty="0"/>
              <a:t>  constructor() {</a:t>
            </a:r>
          </a:p>
          <a:p>
            <a:r>
              <a:rPr lang="es-ES" sz="1600" dirty="0"/>
              <a:t>    </a:t>
            </a:r>
            <a:r>
              <a:rPr lang="es-ES" sz="1600" dirty="0" err="1"/>
              <a:t>super</a:t>
            </a:r>
            <a:r>
              <a:rPr lang="es-ES" sz="1600" dirty="0"/>
              <a:t>(); // </a:t>
            </a:r>
            <a:r>
              <a:rPr lang="es-ES" sz="1600" dirty="0" err="1"/>
              <a:t>always</a:t>
            </a:r>
            <a:r>
              <a:rPr lang="es-ES" sz="1600" dirty="0"/>
              <a:t> </a:t>
            </a:r>
            <a:r>
              <a:rPr lang="es-ES" sz="1600" dirty="0" err="1"/>
              <a:t>call</a:t>
            </a:r>
            <a:r>
              <a:rPr lang="es-ES" sz="1600" dirty="0"/>
              <a:t> </a:t>
            </a:r>
            <a:r>
              <a:rPr lang="es-ES" sz="1600" dirty="0" err="1"/>
              <a:t>super</a:t>
            </a:r>
            <a:r>
              <a:rPr lang="es-ES" sz="1600" dirty="0"/>
              <a:t>() </a:t>
            </a:r>
            <a:r>
              <a:rPr lang="es-ES" sz="1600" dirty="0" err="1"/>
              <a:t>first</a:t>
            </a:r>
            <a:r>
              <a:rPr lang="es-ES" sz="1600" dirty="0"/>
              <a:t> in </a:t>
            </a:r>
            <a:r>
              <a:rPr lang="es-ES" sz="1600" dirty="0" err="1"/>
              <a:t>the</a:t>
            </a:r>
            <a:r>
              <a:rPr lang="es-ES" sz="1600" dirty="0"/>
              <a:t> constructor.</a:t>
            </a:r>
          </a:p>
          <a:p>
            <a:endParaRPr lang="es-ES" sz="1600" dirty="0"/>
          </a:p>
          <a:p>
            <a:r>
              <a:rPr lang="es-ES" sz="1600" dirty="0"/>
              <a:t>    // </a:t>
            </a:r>
            <a:r>
              <a:rPr lang="es-ES" sz="1600" dirty="0" err="1"/>
              <a:t>Attach</a:t>
            </a:r>
            <a:r>
              <a:rPr lang="es-ES" sz="1600" dirty="0"/>
              <a:t> a </a:t>
            </a:r>
            <a:r>
              <a:rPr lang="es-ES" sz="1600" dirty="0" err="1"/>
              <a:t>shadow</a:t>
            </a:r>
            <a:r>
              <a:rPr lang="es-ES" sz="1600" dirty="0"/>
              <a:t> </a:t>
            </a:r>
            <a:r>
              <a:rPr lang="es-ES" sz="1600" dirty="0" err="1"/>
              <a:t>root</a:t>
            </a:r>
            <a:r>
              <a:rPr lang="es-ES" sz="1600" dirty="0"/>
              <a:t> </a:t>
            </a:r>
            <a:r>
              <a:rPr lang="es-ES" sz="1600" dirty="0" err="1"/>
              <a:t>to</a:t>
            </a:r>
            <a:r>
              <a:rPr lang="es-ES" sz="1600" dirty="0"/>
              <a:t> </a:t>
            </a:r>
            <a:r>
              <a:rPr lang="es-ES" sz="1600" dirty="0" err="1"/>
              <a:t>the</a:t>
            </a:r>
            <a:r>
              <a:rPr lang="es-ES" sz="1600" dirty="0"/>
              <a:t> </a:t>
            </a:r>
            <a:r>
              <a:rPr lang="es-ES" sz="1600" dirty="0" err="1"/>
              <a:t>element</a:t>
            </a:r>
            <a:r>
              <a:rPr lang="es-ES" sz="1600" dirty="0"/>
              <a:t>.</a:t>
            </a:r>
          </a:p>
          <a:p>
            <a:r>
              <a:rPr lang="es-ES" sz="1600" dirty="0"/>
              <a:t>    </a:t>
            </a:r>
            <a:r>
              <a:rPr lang="es-ES" sz="1600" dirty="0" err="1"/>
              <a:t>let</a:t>
            </a:r>
            <a:r>
              <a:rPr lang="es-ES" sz="1600" dirty="0"/>
              <a:t> </a:t>
            </a:r>
            <a:r>
              <a:rPr lang="es-ES" sz="1600" dirty="0" err="1"/>
              <a:t>shadowRoot</a:t>
            </a:r>
            <a:r>
              <a:rPr lang="es-ES" sz="1600" dirty="0"/>
              <a:t> = </a:t>
            </a:r>
            <a:r>
              <a:rPr lang="es-ES" sz="1600" dirty="0" err="1"/>
              <a:t>this.attachShadow</a:t>
            </a:r>
            <a:r>
              <a:rPr lang="es-ES" sz="1600" dirty="0"/>
              <a:t>({</a:t>
            </a:r>
            <a:r>
              <a:rPr lang="es-ES" sz="1600" dirty="0" err="1"/>
              <a:t>mode</a:t>
            </a:r>
            <a:r>
              <a:rPr lang="es-ES" sz="1600" dirty="0"/>
              <a:t>: 'open'});</a:t>
            </a:r>
          </a:p>
          <a:p>
            <a:r>
              <a:rPr lang="es-ES" sz="1600" dirty="0"/>
              <a:t>    </a:t>
            </a:r>
            <a:r>
              <a:rPr lang="es-ES" sz="1600" dirty="0" err="1"/>
              <a:t>shadowRoot.innerHTML</a:t>
            </a:r>
            <a:r>
              <a:rPr lang="es-ES" sz="1600" dirty="0"/>
              <a:t> = `</a:t>
            </a:r>
          </a:p>
          <a:p>
            <a:r>
              <a:rPr lang="es-ES" sz="1600" dirty="0"/>
              <a:t>      &lt;</a:t>
            </a:r>
            <a:r>
              <a:rPr lang="es-ES" sz="1600" dirty="0" err="1"/>
              <a:t>style</a:t>
            </a:r>
            <a:r>
              <a:rPr lang="es-ES" sz="1600" dirty="0"/>
              <a:t>&gt;:host { ... }&lt;/</a:t>
            </a:r>
            <a:r>
              <a:rPr lang="es-ES" sz="1600" dirty="0" err="1"/>
              <a:t>style</a:t>
            </a:r>
            <a:r>
              <a:rPr lang="es-ES" sz="1600" dirty="0"/>
              <a:t>&gt; &lt;!-- look </a:t>
            </a:r>
            <a:r>
              <a:rPr lang="es-ES" sz="1600" dirty="0" err="1"/>
              <a:t>ma</a:t>
            </a:r>
            <a:r>
              <a:rPr lang="es-ES" sz="1600" dirty="0"/>
              <a:t>, </a:t>
            </a:r>
            <a:r>
              <a:rPr lang="es-ES" sz="1600" dirty="0" err="1"/>
              <a:t>scoped</a:t>
            </a:r>
            <a:r>
              <a:rPr lang="es-ES" sz="1600" dirty="0"/>
              <a:t> </a:t>
            </a:r>
            <a:r>
              <a:rPr lang="es-ES" sz="1600" dirty="0" err="1"/>
              <a:t>styles</a:t>
            </a:r>
            <a:r>
              <a:rPr lang="es-ES" sz="1600" dirty="0"/>
              <a:t> --&gt;</a:t>
            </a:r>
          </a:p>
          <a:p>
            <a:r>
              <a:rPr lang="es-ES" sz="1600" dirty="0"/>
              <a:t>      &lt;b&gt;</a:t>
            </a:r>
            <a:r>
              <a:rPr lang="es-ES" sz="1600" dirty="0" err="1"/>
              <a:t>I'm</a:t>
            </a:r>
            <a:r>
              <a:rPr lang="es-ES" sz="1600" dirty="0"/>
              <a:t> in </a:t>
            </a:r>
            <a:r>
              <a:rPr lang="es-ES" sz="1600" dirty="0" err="1"/>
              <a:t>shadow</a:t>
            </a:r>
            <a:r>
              <a:rPr lang="es-ES" sz="1600" dirty="0"/>
              <a:t> </a:t>
            </a:r>
            <a:r>
              <a:rPr lang="es-ES" sz="1600" dirty="0" err="1"/>
              <a:t>dom</a:t>
            </a:r>
            <a:r>
              <a:rPr lang="es-ES" sz="1600" dirty="0"/>
              <a:t>!&lt;/b&gt;</a:t>
            </a:r>
          </a:p>
          <a:p>
            <a:r>
              <a:rPr lang="es-ES" sz="1600" dirty="0"/>
              <a:t>      &lt;slot&gt;&lt;/slot&gt;</a:t>
            </a:r>
          </a:p>
          <a:p>
            <a:r>
              <a:rPr lang="es-ES" sz="1600" dirty="0"/>
              <a:t>    `;</a:t>
            </a:r>
          </a:p>
          <a:p>
            <a:r>
              <a:rPr lang="es-ES" sz="1600" dirty="0"/>
              <a:t>  }</a:t>
            </a:r>
          </a:p>
          <a:p>
            <a:r>
              <a:rPr lang="es-ES" sz="1600" dirty="0"/>
              <a:t>  ...</a:t>
            </a:r>
          </a:p>
          <a:p>
            <a:r>
              <a:rPr lang="es-ES" sz="1600" dirty="0"/>
              <a:t>});</a:t>
            </a:r>
            <a:endParaRPr lang="es-ES" sz="1600"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34</a:t>
            </a:fld>
            <a:endParaRPr lang="en-US"/>
          </a:p>
        </p:txBody>
      </p:sp>
    </p:spTree>
    <p:extLst>
      <p:ext uri="{BB962C8B-B14F-4D97-AF65-F5344CB8AC3E}">
        <p14:creationId xmlns:p14="http://schemas.microsoft.com/office/powerpoint/2010/main" val="2115604924"/>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6200161"/>
          </a:xfrm>
          <a:prstGeom prst="rect">
            <a:avLst/>
          </a:prstGeom>
        </p:spPr>
        <p:txBody>
          <a:bodyPr wrap="square">
            <a:spAutoFit/>
          </a:bodyPr>
          <a:lstStyle/>
          <a:p>
            <a:pPr algn="just">
              <a:lnSpc>
                <a:spcPct val="130000"/>
              </a:lnSpc>
            </a:pPr>
            <a:r>
              <a:rPr lang="es-ES" dirty="0">
                <a:solidFill>
                  <a:srgbClr val="FFFFFF"/>
                </a:solidFill>
                <a:latin typeface="Helvetica"/>
                <a:cs typeface="Helvetica"/>
              </a:rPr>
              <a:t>No es poco frecuente encontrar situaciones en las que es necesario instanciar dos </a:t>
            </a:r>
            <a:r>
              <a:rPr lang="es-ES" dirty="0" smtClean="0">
                <a:solidFill>
                  <a:srgbClr val="FFFFFF"/>
                </a:solidFill>
                <a:latin typeface="Helvetica"/>
                <a:cs typeface="Helvetica"/>
              </a:rPr>
              <a:t>ocurrencias diferentes </a:t>
            </a:r>
            <a:r>
              <a:rPr lang="es-ES" dirty="0">
                <a:solidFill>
                  <a:srgbClr val="FFFFFF"/>
                </a:solidFill>
                <a:latin typeface="Helvetica"/>
                <a:cs typeface="Helvetica"/>
              </a:rPr>
              <a:t>de un mismo componente sobre la misma página, aunque sea con light </a:t>
            </a:r>
            <a:r>
              <a:rPr lang="es-ES" dirty="0" smtClean="0">
                <a:solidFill>
                  <a:srgbClr val="FFFFFF"/>
                </a:solidFill>
                <a:latin typeface="Helvetica"/>
                <a:cs typeface="Helvetica"/>
              </a:rPr>
              <a:t>DOM diferentes</a:t>
            </a:r>
            <a:r>
              <a:rPr lang="es-ES" dirty="0">
                <a:solidFill>
                  <a:srgbClr val="FFFFFF"/>
                </a:solidFill>
                <a:latin typeface="Helvetica"/>
                <a:cs typeface="Helvetica"/>
              </a:rPr>
              <a:t>. ¿Pomo podemos evitar el trabajo de reescribir el </a:t>
            </a:r>
            <a:r>
              <a:rPr lang="es-ES" dirty="0" err="1">
                <a:solidFill>
                  <a:srgbClr val="FFFFFF"/>
                </a:solidFill>
                <a:latin typeface="Helvetica"/>
                <a:cs typeface="Helvetica"/>
              </a:rPr>
              <a:t>shadow</a:t>
            </a:r>
            <a:r>
              <a:rPr lang="es-ES" dirty="0">
                <a:solidFill>
                  <a:srgbClr val="FFFFFF"/>
                </a:solidFill>
                <a:latin typeface="Helvetica"/>
                <a:cs typeface="Helvetica"/>
              </a:rPr>
              <a:t> DOM entero para </a:t>
            </a:r>
            <a:r>
              <a:rPr lang="es-ES" dirty="0" smtClean="0">
                <a:solidFill>
                  <a:srgbClr val="FFFFFF"/>
                </a:solidFill>
                <a:latin typeface="Helvetica"/>
                <a:cs typeface="Helvetica"/>
              </a:rPr>
              <a:t>cada instancia </a:t>
            </a:r>
            <a:r>
              <a:rPr lang="es-ES" dirty="0">
                <a:solidFill>
                  <a:srgbClr val="FFFFFF"/>
                </a:solidFill>
                <a:latin typeface="Helvetica"/>
                <a:cs typeface="Helvetica"/>
              </a:rPr>
              <a:t>de forma eficaz y segura</a:t>
            </a:r>
            <a:r>
              <a:rPr lang="es-ES" dirty="0" smtClean="0">
                <a:solidFill>
                  <a:srgbClr val="FFFFFF"/>
                </a:solidFill>
                <a:latin typeface="Helvetica"/>
                <a:cs typeface="Helvetica"/>
              </a:rPr>
              <a:t>?</a:t>
            </a:r>
          </a:p>
          <a:p>
            <a:pPr algn="just">
              <a:lnSpc>
                <a:spcPct val="130000"/>
              </a:lnSpc>
            </a:pP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algn="just">
              <a:lnSpc>
                <a:spcPct val="130000"/>
              </a:lnSpc>
            </a:pPr>
            <a:r>
              <a:rPr lang="es-ES" dirty="0">
                <a:solidFill>
                  <a:srgbClr val="FFFFFF"/>
                </a:solidFill>
                <a:latin typeface="Helvetica"/>
                <a:cs typeface="Helvetica"/>
              </a:rPr>
              <a:t>Una </a:t>
            </a:r>
            <a:r>
              <a:rPr lang="es-ES" dirty="0" smtClean="0">
                <a:solidFill>
                  <a:srgbClr val="FFFFFF"/>
                </a:solidFill>
                <a:latin typeface="Helvetica"/>
                <a:cs typeface="Helvetica"/>
              </a:rPr>
              <a:t>plantilla </a:t>
            </a:r>
            <a:r>
              <a:rPr lang="es-ES" dirty="0">
                <a:solidFill>
                  <a:srgbClr val="FFFFFF"/>
                </a:solidFill>
                <a:latin typeface="Helvetica"/>
                <a:cs typeface="Helvetica"/>
              </a:rPr>
              <a:t>&lt;</a:t>
            </a:r>
            <a:r>
              <a:rPr lang="es-ES" dirty="0" err="1">
                <a:solidFill>
                  <a:srgbClr val="FFFFFF"/>
                </a:solidFill>
                <a:latin typeface="Helvetica"/>
                <a:cs typeface="Helvetica"/>
              </a:rPr>
              <a:t>template</a:t>
            </a:r>
            <a:r>
              <a:rPr lang="es-ES" dirty="0">
                <a:solidFill>
                  <a:srgbClr val="FFFFFF"/>
                </a:solidFill>
                <a:latin typeface="Helvetica"/>
                <a:cs typeface="Helvetica"/>
              </a:rPr>
              <a:t>&gt; es un nuevo </a:t>
            </a:r>
            <a:r>
              <a:rPr lang="es-ES" dirty="0" smtClean="0">
                <a:solidFill>
                  <a:srgbClr val="FFFFFF"/>
                </a:solidFill>
                <a:latin typeface="Helvetica"/>
                <a:cs typeface="Helvetica"/>
              </a:rPr>
              <a:t>tipo </a:t>
            </a:r>
            <a:r>
              <a:rPr lang="es-ES" dirty="0">
                <a:solidFill>
                  <a:srgbClr val="FFFFFF"/>
                </a:solidFill>
                <a:latin typeface="Helvetica"/>
                <a:cs typeface="Helvetica"/>
              </a:rPr>
              <a:t>de </a:t>
            </a:r>
            <a:r>
              <a:rPr lang="es-ES" dirty="0" smtClean="0">
                <a:solidFill>
                  <a:srgbClr val="FFFFFF"/>
                </a:solidFill>
                <a:latin typeface="Helvetica"/>
                <a:cs typeface="Helvetica"/>
              </a:rPr>
              <a:t>etiqueta </a:t>
            </a:r>
            <a:r>
              <a:rPr lang="es-ES" dirty="0">
                <a:solidFill>
                  <a:srgbClr val="FFFFFF"/>
                </a:solidFill>
                <a:latin typeface="Helvetica"/>
                <a:cs typeface="Helvetica"/>
              </a:rPr>
              <a:t>que puede incluir cualquier </a:t>
            </a:r>
            <a:r>
              <a:rPr lang="es-ES" dirty="0" smtClean="0">
                <a:solidFill>
                  <a:srgbClr val="FFFFFF"/>
                </a:solidFill>
                <a:latin typeface="Helvetica"/>
                <a:cs typeface="Helvetica"/>
              </a:rPr>
              <a:t>contenido HTML </a:t>
            </a:r>
            <a:r>
              <a:rPr lang="es-ES" dirty="0">
                <a:solidFill>
                  <a:srgbClr val="FFFFFF"/>
                </a:solidFill>
                <a:latin typeface="Helvetica"/>
                <a:cs typeface="Helvetica"/>
              </a:rPr>
              <a:t>y puede ubicarse en cualquier parte del documento. </a:t>
            </a:r>
            <a:r>
              <a:rPr lang="es-ES" dirty="0" smtClean="0">
                <a:solidFill>
                  <a:srgbClr val="FFFFFF"/>
                </a:solidFill>
                <a:latin typeface="Helvetica"/>
                <a:cs typeface="Helvetica"/>
              </a:rPr>
              <a:t>No </a:t>
            </a:r>
            <a:r>
              <a:rPr lang="es-ES" dirty="0">
                <a:solidFill>
                  <a:srgbClr val="FFFFFF"/>
                </a:solidFill>
                <a:latin typeface="Helvetica"/>
                <a:cs typeface="Helvetica"/>
              </a:rPr>
              <a:t>son visibles en el DOM hasta que se </a:t>
            </a:r>
            <a:r>
              <a:rPr lang="es-ES" dirty="0" smtClean="0">
                <a:solidFill>
                  <a:srgbClr val="FFFFFF"/>
                </a:solidFill>
                <a:latin typeface="Helvetica"/>
                <a:cs typeface="Helvetica"/>
              </a:rPr>
              <a:t>invocan.</a:t>
            </a:r>
          </a:p>
          <a:p>
            <a:pPr algn="just">
              <a:lnSpc>
                <a:spcPct val="130000"/>
              </a:lnSpc>
            </a:pP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smtClean="0">
                <a:latin typeface="Arial Black"/>
                <a:cs typeface="Arial Black"/>
              </a:rPr>
              <a:t>Templates</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pic>
        <p:nvPicPr>
          <p:cNvPr id="14" name="Imagen 13"/>
          <p:cNvPicPr>
            <a:picLocks noChangeAspect="1"/>
          </p:cNvPicPr>
          <p:nvPr/>
        </p:nvPicPr>
        <p:blipFill>
          <a:blip r:embed="rId5"/>
          <a:stretch>
            <a:fillRect/>
          </a:stretch>
        </p:blipFill>
        <p:spPr>
          <a:xfrm>
            <a:off x="2683329" y="3456518"/>
            <a:ext cx="3618290" cy="1643866"/>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35</a:t>
            </a:fld>
            <a:endParaRPr lang="en-US"/>
          </a:p>
        </p:txBody>
      </p:sp>
    </p:spTree>
    <p:extLst>
      <p:ext uri="{BB962C8B-B14F-4D97-AF65-F5344CB8AC3E}">
        <p14:creationId xmlns:p14="http://schemas.microsoft.com/office/powerpoint/2010/main" val="2527292482"/>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smtClean="0">
                <a:latin typeface="Arial Black"/>
                <a:cs typeface="Arial Black"/>
              </a:rPr>
              <a:t>Templates</a:t>
            </a:r>
            <a:r>
              <a:rPr lang="es-ES" sz="2200" u="sng" dirty="0" smtClean="0">
                <a:latin typeface="Arial Black"/>
                <a:cs typeface="Arial Black"/>
              </a:rPr>
              <a:t> &gt; Creación </a:t>
            </a:r>
            <a:r>
              <a:rPr lang="es-ES" sz="2200" u="sng" dirty="0">
                <a:latin typeface="Arial Black"/>
                <a:cs typeface="Arial Black"/>
              </a:rPr>
              <a:t>de </a:t>
            </a:r>
            <a:r>
              <a:rPr lang="es-ES" sz="2200" u="sng" dirty="0" smtClean="0">
                <a:latin typeface="Arial Black"/>
                <a:cs typeface="Arial Black"/>
              </a:rPr>
              <a:t>elementos</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7" name="Rectángulo 16"/>
          <p:cNvSpPr/>
          <p:nvPr/>
        </p:nvSpPr>
        <p:spPr>
          <a:xfrm>
            <a:off x="600986" y="1546390"/>
            <a:ext cx="8094318" cy="4770537"/>
          </a:xfrm>
          <a:prstGeom prst="rect">
            <a:avLst/>
          </a:prstGeom>
          <a:solidFill>
            <a:schemeClr val="bg2">
              <a:lumMod val="75000"/>
              <a:lumOff val="25000"/>
            </a:schemeClr>
          </a:solidFill>
          <a:ln w="12700" cmpd="sng">
            <a:solidFill>
              <a:srgbClr val="3366FF"/>
            </a:solidFill>
          </a:ln>
        </p:spPr>
        <p:txBody>
          <a:bodyPr wrap="square">
            <a:spAutoFit/>
          </a:bodyPr>
          <a:lstStyle/>
          <a:p>
            <a:r>
              <a:rPr lang="es-ES" sz="1600" dirty="0" smtClean="0"/>
              <a:t>&lt;</a:t>
            </a:r>
            <a:r>
              <a:rPr lang="es-ES" sz="1600" dirty="0" err="1" smtClean="0"/>
              <a:t>template</a:t>
            </a:r>
            <a:r>
              <a:rPr lang="es-ES" sz="1600" dirty="0" smtClean="0"/>
              <a:t> </a:t>
            </a:r>
            <a:r>
              <a:rPr lang="es-ES" sz="1600" dirty="0"/>
              <a:t>id="x-</a:t>
            </a:r>
            <a:r>
              <a:rPr lang="es-ES" sz="1600" dirty="0" err="1"/>
              <a:t>foo</a:t>
            </a:r>
            <a:r>
              <a:rPr lang="es-ES" sz="1600" dirty="0"/>
              <a:t>-</a:t>
            </a:r>
            <a:r>
              <a:rPr lang="es-ES" sz="1600" dirty="0" err="1"/>
              <a:t>from-template</a:t>
            </a:r>
            <a:r>
              <a:rPr lang="es-ES" sz="1600" dirty="0"/>
              <a:t>"&gt;</a:t>
            </a:r>
          </a:p>
          <a:p>
            <a:r>
              <a:rPr lang="es-ES" sz="1600" dirty="0"/>
              <a:t>  &lt;</a:t>
            </a:r>
            <a:r>
              <a:rPr lang="es-ES" sz="1600" dirty="0" err="1"/>
              <a:t>style</a:t>
            </a:r>
            <a:r>
              <a:rPr lang="es-ES" sz="1600" dirty="0"/>
              <a:t>&gt;</a:t>
            </a:r>
          </a:p>
          <a:p>
            <a:r>
              <a:rPr lang="es-ES" sz="1600" dirty="0"/>
              <a:t>    p { color: </a:t>
            </a:r>
            <a:r>
              <a:rPr lang="es-ES" sz="1600" dirty="0" err="1"/>
              <a:t>orange</a:t>
            </a:r>
            <a:r>
              <a:rPr lang="es-ES" sz="1600" dirty="0"/>
              <a:t>; }</a:t>
            </a:r>
          </a:p>
          <a:p>
            <a:r>
              <a:rPr lang="es-ES" sz="1600" dirty="0"/>
              <a:t>  &lt;/</a:t>
            </a:r>
            <a:r>
              <a:rPr lang="es-ES" sz="1600" dirty="0" err="1"/>
              <a:t>style</a:t>
            </a:r>
            <a:r>
              <a:rPr lang="es-ES" sz="1600" dirty="0"/>
              <a:t>&gt;</a:t>
            </a:r>
          </a:p>
          <a:p>
            <a:r>
              <a:rPr lang="es-ES" sz="1600" dirty="0"/>
              <a:t>  &lt;p&gt;</a:t>
            </a:r>
            <a:r>
              <a:rPr lang="es-ES" sz="1600" dirty="0" err="1"/>
              <a:t>I'm</a:t>
            </a:r>
            <a:r>
              <a:rPr lang="es-ES" sz="1600" dirty="0"/>
              <a:t> in Shadow DOM. </a:t>
            </a:r>
            <a:r>
              <a:rPr lang="es-ES" sz="1600" dirty="0" err="1"/>
              <a:t>My</a:t>
            </a:r>
            <a:r>
              <a:rPr lang="es-ES" sz="1600" dirty="0"/>
              <a:t> </a:t>
            </a:r>
            <a:r>
              <a:rPr lang="es-ES" sz="1600" dirty="0" err="1"/>
              <a:t>markup</a:t>
            </a:r>
            <a:r>
              <a:rPr lang="es-ES" sz="1600" dirty="0"/>
              <a:t> </a:t>
            </a:r>
            <a:r>
              <a:rPr lang="es-ES" sz="1600" dirty="0" err="1"/>
              <a:t>was</a:t>
            </a:r>
            <a:r>
              <a:rPr lang="es-ES" sz="1600" dirty="0"/>
              <a:t> </a:t>
            </a:r>
            <a:r>
              <a:rPr lang="es-ES" sz="1600" dirty="0" err="1"/>
              <a:t>stamped</a:t>
            </a:r>
            <a:r>
              <a:rPr lang="es-ES" sz="1600" dirty="0"/>
              <a:t> </a:t>
            </a:r>
            <a:r>
              <a:rPr lang="es-ES" sz="1600" dirty="0" err="1"/>
              <a:t>from</a:t>
            </a:r>
            <a:r>
              <a:rPr lang="es-ES" sz="1600" dirty="0"/>
              <a:t> a &amp;</a:t>
            </a:r>
            <a:r>
              <a:rPr lang="es-ES" sz="1600" dirty="0" err="1"/>
              <a:t>lt;template&amp;gt</a:t>
            </a:r>
            <a:r>
              <a:rPr lang="es-ES" sz="1600" dirty="0"/>
              <a:t>;.&lt;/p&gt;</a:t>
            </a:r>
          </a:p>
          <a:p>
            <a:r>
              <a:rPr lang="es-ES" sz="1600" dirty="0"/>
              <a:t>&lt;/</a:t>
            </a:r>
            <a:r>
              <a:rPr lang="es-ES" sz="1600" dirty="0" err="1"/>
              <a:t>template</a:t>
            </a:r>
            <a:r>
              <a:rPr lang="es-ES" sz="1600" dirty="0"/>
              <a:t>&gt;</a:t>
            </a:r>
          </a:p>
          <a:p>
            <a:endParaRPr lang="es-ES" sz="1600" dirty="0"/>
          </a:p>
          <a:p>
            <a:r>
              <a:rPr lang="es-ES" sz="1600" dirty="0"/>
              <a:t>&lt;script&gt;</a:t>
            </a:r>
          </a:p>
          <a:p>
            <a:r>
              <a:rPr lang="es-ES" sz="1600" dirty="0"/>
              <a:t>  </a:t>
            </a:r>
            <a:r>
              <a:rPr lang="es-ES" sz="1600" dirty="0" err="1"/>
              <a:t>customElements.define</a:t>
            </a:r>
            <a:r>
              <a:rPr lang="es-ES" sz="1600" dirty="0"/>
              <a:t>('x-</a:t>
            </a:r>
            <a:r>
              <a:rPr lang="es-ES" sz="1600" dirty="0" err="1"/>
              <a:t>foo</a:t>
            </a:r>
            <a:r>
              <a:rPr lang="es-ES" sz="1600" dirty="0"/>
              <a:t>-</a:t>
            </a:r>
            <a:r>
              <a:rPr lang="es-ES" sz="1600" dirty="0" err="1"/>
              <a:t>from-template</a:t>
            </a:r>
            <a:r>
              <a:rPr lang="es-ES" sz="1600" dirty="0"/>
              <a:t>', </a:t>
            </a:r>
            <a:r>
              <a:rPr lang="es-ES" sz="1600" dirty="0" err="1"/>
              <a:t>class</a:t>
            </a:r>
            <a:r>
              <a:rPr lang="es-ES" sz="1600" dirty="0"/>
              <a:t> </a:t>
            </a:r>
            <a:r>
              <a:rPr lang="es-ES" sz="1600" dirty="0" err="1"/>
              <a:t>extends</a:t>
            </a:r>
            <a:r>
              <a:rPr lang="es-ES" sz="1600" dirty="0"/>
              <a:t> </a:t>
            </a:r>
            <a:r>
              <a:rPr lang="es-ES" sz="1600" dirty="0" err="1"/>
              <a:t>HTMLElement</a:t>
            </a:r>
            <a:r>
              <a:rPr lang="es-ES" sz="1600" dirty="0"/>
              <a:t> {</a:t>
            </a:r>
          </a:p>
          <a:p>
            <a:r>
              <a:rPr lang="es-ES" sz="1600" dirty="0"/>
              <a:t>    constructor() {</a:t>
            </a:r>
          </a:p>
          <a:p>
            <a:r>
              <a:rPr lang="es-ES" sz="1600" dirty="0"/>
              <a:t>      </a:t>
            </a:r>
            <a:r>
              <a:rPr lang="es-ES" sz="1600" dirty="0" err="1"/>
              <a:t>super</a:t>
            </a:r>
            <a:r>
              <a:rPr lang="es-ES" sz="1600" dirty="0"/>
              <a:t>(); // </a:t>
            </a:r>
            <a:r>
              <a:rPr lang="es-ES" sz="1600" dirty="0" err="1"/>
              <a:t>always</a:t>
            </a:r>
            <a:r>
              <a:rPr lang="es-ES" sz="1600" dirty="0"/>
              <a:t> </a:t>
            </a:r>
            <a:r>
              <a:rPr lang="es-ES" sz="1600" dirty="0" err="1"/>
              <a:t>call</a:t>
            </a:r>
            <a:r>
              <a:rPr lang="es-ES" sz="1600" dirty="0"/>
              <a:t> </a:t>
            </a:r>
            <a:r>
              <a:rPr lang="es-ES" sz="1600" dirty="0" err="1"/>
              <a:t>super</a:t>
            </a:r>
            <a:r>
              <a:rPr lang="es-ES" sz="1600" dirty="0"/>
              <a:t>() </a:t>
            </a:r>
            <a:r>
              <a:rPr lang="es-ES" sz="1600" dirty="0" err="1"/>
              <a:t>first</a:t>
            </a:r>
            <a:r>
              <a:rPr lang="es-ES" sz="1600" dirty="0"/>
              <a:t> in </a:t>
            </a:r>
            <a:r>
              <a:rPr lang="es-ES" sz="1600" dirty="0" err="1"/>
              <a:t>the</a:t>
            </a:r>
            <a:r>
              <a:rPr lang="es-ES" sz="1600" dirty="0"/>
              <a:t> constructor.</a:t>
            </a:r>
          </a:p>
          <a:p>
            <a:r>
              <a:rPr lang="es-ES" sz="1600" dirty="0"/>
              <a:t>      </a:t>
            </a:r>
            <a:r>
              <a:rPr lang="es-ES" sz="1600" dirty="0" err="1"/>
              <a:t>let</a:t>
            </a:r>
            <a:r>
              <a:rPr lang="es-ES" sz="1600" dirty="0"/>
              <a:t> </a:t>
            </a:r>
            <a:r>
              <a:rPr lang="es-ES" sz="1600" dirty="0" err="1"/>
              <a:t>shadowRoot</a:t>
            </a:r>
            <a:r>
              <a:rPr lang="es-ES" sz="1600" dirty="0"/>
              <a:t> = </a:t>
            </a:r>
            <a:r>
              <a:rPr lang="es-ES" sz="1600" dirty="0" err="1"/>
              <a:t>this.attachShadow</a:t>
            </a:r>
            <a:r>
              <a:rPr lang="es-ES" sz="1600" dirty="0"/>
              <a:t>({</a:t>
            </a:r>
            <a:r>
              <a:rPr lang="es-ES" sz="1600" dirty="0" err="1"/>
              <a:t>mode</a:t>
            </a:r>
            <a:r>
              <a:rPr lang="es-ES" sz="1600" dirty="0"/>
              <a:t>: 'open'});</a:t>
            </a:r>
          </a:p>
          <a:p>
            <a:r>
              <a:rPr lang="es-ES" sz="1600" dirty="0"/>
              <a:t>      </a:t>
            </a:r>
            <a:r>
              <a:rPr lang="es-ES" sz="1600" dirty="0" err="1"/>
              <a:t>const</a:t>
            </a:r>
            <a:r>
              <a:rPr lang="es-ES" sz="1600" dirty="0"/>
              <a:t> t = </a:t>
            </a:r>
            <a:r>
              <a:rPr lang="es-ES" sz="1600" dirty="0" err="1"/>
              <a:t>document.querySelector</a:t>
            </a:r>
            <a:r>
              <a:rPr lang="es-ES" sz="1600" dirty="0"/>
              <a:t>('#x-</a:t>
            </a:r>
            <a:r>
              <a:rPr lang="es-ES" sz="1600" dirty="0" err="1"/>
              <a:t>foo</a:t>
            </a:r>
            <a:r>
              <a:rPr lang="es-ES" sz="1600" dirty="0"/>
              <a:t>-</a:t>
            </a:r>
            <a:r>
              <a:rPr lang="es-ES" sz="1600" dirty="0" err="1"/>
              <a:t>from-template</a:t>
            </a:r>
            <a:r>
              <a:rPr lang="es-ES" sz="1600" dirty="0"/>
              <a:t>');</a:t>
            </a:r>
          </a:p>
          <a:p>
            <a:r>
              <a:rPr lang="es-ES" sz="1600" dirty="0"/>
              <a:t>      </a:t>
            </a:r>
            <a:r>
              <a:rPr lang="es-ES" sz="1600" dirty="0" err="1"/>
              <a:t>const</a:t>
            </a:r>
            <a:r>
              <a:rPr lang="es-ES" sz="1600" dirty="0"/>
              <a:t> </a:t>
            </a:r>
            <a:r>
              <a:rPr lang="es-ES" sz="1600" dirty="0" err="1"/>
              <a:t>instance</a:t>
            </a:r>
            <a:r>
              <a:rPr lang="es-ES" sz="1600" dirty="0"/>
              <a:t> = </a:t>
            </a:r>
            <a:r>
              <a:rPr lang="es-ES" sz="1600" dirty="0" err="1"/>
              <a:t>t.content.cloneNode</a:t>
            </a:r>
            <a:r>
              <a:rPr lang="es-ES" sz="1600" dirty="0"/>
              <a:t>(true);</a:t>
            </a:r>
          </a:p>
          <a:p>
            <a:r>
              <a:rPr lang="es-ES" sz="1600" dirty="0"/>
              <a:t>      </a:t>
            </a:r>
            <a:r>
              <a:rPr lang="es-ES" sz="1600" dirty="0" err="1"/>
              <a:t>shadowRoot.appendChild</a:t>
            </a:r>
            <a:r>
              <a:rPr lang="es-ES" sz="1600" dirty="0"/>
              <a:t>(</a:t>
            </a:r>
            <a:r>
              <a:rPr lang="es-ES" sz="1600" dirty="0" err="1"/>
              <a:t>instance</a:t>
            </a:r>
            <a:r>
              <a:rPr lang="es-ES" sz="1600" dirty="0"/>
              <a:t>);</a:t>
            </a:r>
          </a:p>
          <a:p>
            <a:r>
              <a:rPr lang="es-ES" sz="1600" dirty="0"/>
              <a:t>    }</a:t>
            </a:r>
          </a:p>
          <a:p>
            <a:r>
              <a:rPr lang="es-ES" sz="1600" dirty="0"/>
              <a:t>    ...</a:t>
            </a:r>
          </a:p>
          <a:p>
            <a:r>
              <a:rPr lang="es-ES" sz="1600" dirty="0"/>
              <a:t>  });</a:t>
            </a:r>
          </a:p>
          <a:p>
            <a:r>
              <a:rPr lang="es-ES" sz="1600" dirty="0"/>
              <a:t>&lt;/script&gt;</a:t>
            </a:r>
            <a:endParaRPr lang="es-ES" sz="1600"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36</a:t>
            </a:fld>
            <a:endParaRPr lang="en-US"/>
          </a:p>
        </p:txBody>
      </p:sp>
    </p:spTree>
    <p:extLst>
      <p:ext uri="{BB962C8B-B14F-4D97-AF65-F5344CB8AC3E}">
        <p14:creationId xmlns:p14="http://schemas.microsoft.com/office/powerpoint/2010/main" val="217786315"/>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a:latin typeface="Arial Black"/>
                <a:cs typeface="Arial Black"/>
              </a:rPr>
              <a:t>Cómo aplicar estilo a un elemento personalizado</a:t>
            </a:r>
            <a:endParaRPr lang="es-ES" sz="2200" u="sng" dirty="0" smtClean="0">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7" name="Rectángulo 16"/>
          <p:cNvSpPr/>
          <p:nvPr/>
        </p:nvSpPr>
        <p:spPr>
          <a:xfrm>
            <a:off x="492433" y="2413422"/>
            <a:ext cx="4139489" cy="3785652"/>
          </a:xfrm>
          <a:prstGeom prst="rect">
            <a:avLst/>
          </a:prstGeom>
          <a:solidFill>
            <a:schemeClr val="bg2">
              <a:lumMod val="75000"/>
              <a:lumOff val="25000"/>
            </a:schemeClr>
          </a:solidFill>
          <a:ln w="12700" cmpd="sng">
            <a:solidFill>
              <a:srgbClr val="3366FF"/>
            </a:solidFill>
          </a:ln>
        </p:spPr>
        <p:txBody>
          <a:bodyPr wrap="square">
            <a:spAutoFit/>
          </a:bodyPr>
          <a:lstStyle/>
          <a:p>
            <a:r>
              <a:rPr lang="en-US" sz="1600" dirty="0" smtClean="0"/>
              <a:t>&lt;</a:t>
            </a:r>
            <a:r>
              <a:rPr lang="en-US" sz="1600" dirty="0"/>
              <a:t>style&gt;</a:t>
            </a:r>
          </a:p>
          <a:p>
            <a:r>
              <a:rPr lang="en-US" sz="1600" dirty="0"/>
              <a:t>  app-drawer {</a:t>
            </a:r>
          </a:p>
          <a:p>
            <a:r>
              <a:rPr lang="en-US" sz="1600" dirty="0"/>
              <a:t>    display: flex;</a:t>
            </a:r>
          </a:p>
          <a:p>
            <a:r>
              <a:rPr lang="en-US" sz="1600" dirty="0"/>
              <a:t>  }</a:t>
            </a:r>
          </a:p>
          <a:p>
            <a:r>
              <a:rPr lang="en-US" sz="1600" dirty="0"/>
              <a:t>  panel-item {</a:t>
            </a:r>
          </a:p>
          <a:p>
            <a:r>
              <a:rPr lang="en-US" sz="1600" dirty="0"/>
              <a:t>    transition: opacity 400ms ease-in-out;</a:t>
            </a:r>
          </a:p>
          <a:p>
            <a:r>
              <a:rPr lang="en-US" sz="1600" dirty="0" smtClean="0"/>
              <a:t>}</a:t>
            </a:r>
            <a:endParaRPr lang="en-US" sz="1600" dirty="0"/>
          </a:p>
          <a:p>
            <a:r>
              <a:rPr lang="en-US" sz="1600" dirty="0"/>
              <a:t>  </a:t>
            </a:r>
            <a:r>
              <a:rPr lang="en-US" sz="1600" dirty="0" err="1"/>
              <a:t>panel-item:hover</a:t>
            </a:r>
            <a:r>
              <a:rPr lang="en-US" sz="1600" dirty="0"/>
              <a:t> {</a:t>
            </a:r>
          </a:p>
          <a:p>
            <a:r>
              <a:rPr lang="en-US" sz="1600" dirty="0" smtClean="0"/>
              <a:t>   background</a:t>
            </a:r>
            <a:r>
              <a:rPr lang="en-US" sz="1600" dirty="0"/>
              <a:t>: </a:t>
            </a:r>
            <a:r>
              <a:rPr lang="en-US" sz="1600" dirty="0" err="1"/>
              <a:t>rgb</a:t>
            </a:r>
            <a:r>
              <a:rPr lang="en-US" sz="1600" dirty="0"/>
              <a:t>(255, 0, 255);</a:t>
            </a:r>
          </a:p>
          <a:p>
            <a:r>
              <a:rPr lang="en-US" sz="1600" dirty="0"/>
              <a:t>    color: white;</a:t>
            </a:r>
          </a:p>
          <a:p>
            <a:r>
              <a:rPr lang="en-US" sz="1600" dirty="0"/>
              <a:t>  }</a:t>
            </a:r>
          </a:p>
          <a:p>
            <a:r>
              <a:rPr lang="en-US" sz="1600" dirty="0"/>
              <a:t>  app-panel &gt; panel-item {</a:t>
            </a:r>
          </a:p>
          <a:p>
            <a:r>
              <a:rPr lang="en-US" sz="1600" dirty="0"/>
              <a:t>    padding: 5px;</a:t>
            </a:r>
          </a:p>
          <a:p>
            <a:r>
              <a:rPr lang="en-US" sz="1600" dirty="0" smtClean="0"/>
              <a:t>}</a:t>
            </a:r>
            <a:endParaRPr lang="en-US" sz="1600" dirty="0"/>
          </a:p>
          <a:p>
            <a:r>
              <a:rPr lang="en-US" sz="1600" dirty="0"/>
              <a:t>&lt;/style</a:t>
            </a:r>
            <a:r>
              <a:rPr lang="en-US" sz="1600" dirty="0" smtClean="0"/>
              <a:t>&gt;</a:t>
            </a:r>
            <a:endParaRPr lang="en-US" sz="1600" dirty="0"/>
          </a:p>
        </p:txBody>
      </p:sp>
      <p:sp>
        <p:nvSpPr>
          <p:cNvPr id="14" name="Rectángulo 13"/>
          <p:cNvSpPr/>
          <p:nvPr/>
        </p:nvSpPr>
        <p:spPr>
          <a:xfrm>
            <a:off x="492433" y="1614742"/>
            <a:ext cx="8202871" cy="798680"/>
          </a:xfrm>
          <a:prstGeom prst="rect">
            <a:avLst/>
          </a:prstGeom>
        </p:spPr>
        <p:txBody>
          <a:bodyPr wrap="square">
            <a:spAutoFit/>
          </a:bodyPr>
          <a:lstStyle/>
          <a:p>
            <a:pPr algn="just">
              <a:lnSpc>
                <a:spcPct val="130000"/>
              </a:lnSpc>
            </a:pPr>
            <a:r>
              <a:rPr lang="es-ES" dirty="0" smtClean="0">
                <a:solidFill>
                  <a:srgbClr val="FFFFFF"/>
                </a:solidFill>
                <a:latin typeface="Helvetica"/>
                <a:cs typeface="Helvetica"/>
              </a:rPr>
              <a:t>El usuario puede aplicar estilo personalizado a cualquier elemento prevaleciendo estos sobre los propios estilos definidos en el elemento</a:t>
            </a:r>
            <a:endParaRPr lang="es-ES" dirty="0">
              <a:solidFill>
                <a:srgbClr val="FFFFFF"/>
              </a:solidFill>
              <a:latin typeface="Helvetica"/>
              <a:cs typeface="Helvetica"/>
            </a:endParaRPr>
          </a:p>
        </p:txBody>
      </p:sp>
      <p:sp>
        <p:nvSpPr>
          <p:cNvPr id="16" name="Rectángulo 15"/>
          <p:cNvSpPr/>
          <p:nvPr/>
        </p:nvSpPr>
        <p:spPr>
          <a:xfrm>
            <a:off x="4867161" y="2428744"/>
            <a:ext cx="2809300" cy="2308324"/>
          </a:xfrm>
          <a:prstGeom prst="rect">
            <a:avLst/>
          </a:prstGeom>
          <a:solidFill>
            <a:schemeClr val="bg2">
              <a:lumMod val="75000"/>
              <a:lumOff val="25000"/>
            </a:schemeClr>
          </a:solidFill>
          <a:ln w="12700" cmpd="sng">
            <a:solidFill>
              <a:srgbClr val="3366FF"/>
            </a:solidFill>
          </a:ln>
        </p:spPr>
        <p:txBody>
          <a:bodyPr wrap="square">
            <a:spAutoFit/>
          </a:bodyPr>
          <a:lstStyle/>
          <a:p>
            <a:endParaRPr lang="en-US" sz="1600" dirty="0"/>
          </a:p>
          <a:p>
            <a:r>
              <a:rPr lang="en-US" sz="1600" dirty="0"/>
              <a:t>&lt;app-drawer&gt;</a:t>
            </a:r>
          </a:p>
          <a:p>
            <a:r>
              <a:rPr lang="en-US" sz="1600" dirty="0"/>
              <a:t>  &lt;panel-item&gt;Do&lt;/panel-item&gt;</a:t>
            </a:r>
          </a:p>
          <a:p>
            <a:r>
              <a:rPr lang="en-US" sz="1600" dirty="0"/>
              <a:t>  &lt;panel-item&gt;Re&lt;/panel-item&gt;</a:t>
            </a:r>
          </a:p>
          <a:p>
            <a:r>
              <a:rPr lang="en-US" sz="1600" dirty="0"/>
              <a:t>  &lt;panel-item&gt;</a:t>
            </a:r>
            <a:r>
              <a:rPr lang="en-US" sz="1600" dirty="0" err="1"/>
              <a:t>Mi</a:t>
            </a:r>
            <a:r>
              <a:rPr lang="en-US" sz="1600" dirty="0"/>
              <a:t>&lt;/panel-item&gt;</a:t>
            </a:r>
          </a:p>
          <a:p>
            <a:r>
              <a:rPr lang="en-US" sz="1600" dirty="0"/>
              <a:t>&lt;/app-drawer&gt;</a:t>
            </a:r>
            <a:endParaRPr lang="es-ES" sz="1600"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37</a:t>
            </a:fld>
            <a:endParaRPr lang="en-US"/>
          </a:p>
        </p:txBody>
      </p:sp>
    </p:spTree>
    <p:extLst>
      <p:ext uri="{BB962C8B-B14F-4D97-AF65-F5344CB8AC3E}">
        <p14:creationId xmlns:p14="http://schemas.microsoft.com/office/powerpoint/2010/main" val="1095054426"/>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a:latin typeface="Arial Black"/>
                <a:cs typeface="Arial Black"/>
              </a:rPr>
              <a:t>Compatibilidad con navegadores</a:t>
            </a: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5119865"/>
          </a:xfrm>
          <a:prstGeom prst="rect">
            <a:avLst/>
          </a:prstGeom>
        </p:spPr>
        <p:txBody>
          <a:bodyPr wrap="square">
            <a:spAutoFit/>
          </a:bodyPr>
          <a:lstStyle/>
          <a:p>
            <a:pPr algn="just">
              <a:lnSpc>
                <a:spcPct val="130000"/>
              </a:lnSpc>
            </a:pPr>
            <a:r>
              <a:rPr lang="es-ES" dirty="0" smtClean="0">
                <a:solidFill>
                  <a:srgbClr val="FFFFFF"/>
                </a:solidFill>
                <a:latin typeface="Helvetica"/>
                <a:cs typeface="Helvetica"/>
              </a:rPr>
              <a:t>La definición del </a:t>
            </a:r>
            <a:r>
              <a:rPr lang="es-ES" dirty="0" err="1" smtClean="0">
                <a:solidFill>
                  <a:srgbClr val="FFFFFF"/>
                </a:solidFill>
                <a:latin typeface="Helvetica"/>
                <a:cs typeface="Helvetica"/>
              </a:rPr>
              <a:t>estandar</a:t>
            </a:r>
            <a:r>
              <a:rPr lang="es-ES" dirty="0" smtClean="0">
                <a:solidFill>
                  <a:srgbClr val="FFFFFF"/>
                </a:solidFill>
                <a:latin typeface="Helvetica"/>
                <a:cs typeface="Helvetica"/>
              </a:rPr>
              <a:t> de creación de componentes web ha variado en los últimos años, en </a:t>
            </a:r>
            <a:r>
              <a:rPr lang="es-ES" dirty="0" err="1">
                <a:solidFill>
                  <a:srgbClr val="FFFFFF"/>
                </a:solidFill>
                <a:latin typeface="Helvetica"/>
                <a:cs typeface="Helvetica"/>
              </a:rPr>
              <a:t>Chrome</a:t>
            </a:r>
            <a:r>
              <a:rPr lang="es-ES" dirty="0">
                <a:solidFill>
                  <a:srgbClr val="FFFFFF"/>
                </a:solidFill>
                <a:latin typeface="Helvetica"/>
                <a:cs typeface="Helvetica"/>
              </a:rPr>
              <a:t> 36 (y versiones posteriores) se implementó una </a:t>
            </a:r>
            <a:r>
              <a:rPr lang="es-ES" dirty="0" smtClean="0">
                <a:solidFill>
                  <a:srgbClr val="FFFFFF"/>
                </a:solidFill>
                <a:latin typeface="Helvetica"/>
                <a:cs typeface="Helvetica"/>
              </a:rPr>
              <a:t>versión (v0) </a:t>
            </a:r>
            <a:r>
              <a:rPr lang="es-ES" dirty="0">
                <a:solidFill>
                  <a:srgbClr val="FFFFFF"/>
                </a:solidFill>
                <a:latin typeface="Helvetica"/>
                <a:cs typeface="Helvetica"/>
              </a:rPr>
              <a:t>de la </a:t>
            </a:r>
            <a:r>
              <a:rPr lang="es-ES" dirty="0" err="1">
                <a:solidFill>
                  <a:srgbClr val="FFFFFF"/>
                </a:solidFill>
                <a:latin typeface="Helvetica"/>
                <a:cs typeface="Helvetica"/>
              </a:rPr>
              <a:t>Custom</a:t>
            </a:r>
            <a:r>
              <a:rPr lang="es-ES" dirty="0">
                <a:solidFill>
                  <a:srgbClr val="FFFFFF"/>
                </a:solidFill>
                <a:latin typeface="Helvetica"/>
                <a:cs typeface="Helvetica"/>
              </a:rPr>
              <a:t> </a:t>
            </a:r>
            <a:r>
              <a:rPr lang="es-ES" dirty="0" err="1">
                <a:solidFill>
                  <a:srgbClr val="FFFFFF"/>
                </a:solidFill>
                <a:latin typeface="Helvetica"/>
                <a:cs typeface="Helvetica"/>
              </a:rPr>
              <a:t>Elements</a:t>
            </a:r>
            <a:r>
              <a:rPr lang="es-ES" dirty="0">
                <a:solidFill>
                  <a:srgbClr val="FFFFFF"/>
                </a:solidFill>
                <a:latin typeface="Helvetica"/>
                <a:cs typeface="Helvetica"/>
              </a:rPr>
              <a:t> API en la cual se usa </a:t>
            </a:r>
            <a:r>
              <a:rPr lang="es-ES" dirty="0" err="1">
                <a:solidFill>
                  <a:srgbClr val="FFFFFF"/>
                </a:solidFill>
                <a:latin typeface="Helvetica"/>
                <a:cs typeface="Helvetica"/>
              </a:rPr>
              <a:t>document.registerElement</a:t>
            </a:r>
            <a:r>
              <a:rPr lang="es-ES" dirty="0">
                <a:solidFill>
                  <a:srgbClr val="FFFFFF"/>
                </a:solidFill>
                <a:latin typeface="Helvetica"/>
                <a:cs typeface="Helvetica"/>
              </a:rPr>
              <a:t>() en lugar de </a:t>
            </a:r>
            <a:r>
              <a:rPr lang="es-ES" dirty="0" err="1">
                <a:solidFill>
                  <a:srgbClr val="FFFFFF"/>
                </a:solidFill>
                <a:latin typeface="Helvetica"/>
                <a:cs typeface="Helvetica"/>
              </a:rPr>
              <a:t>customElements.define</a:t>
            </a:r>
            <a:r>
              <a:rPr lang="es-ES" dirty="0">
                <a:solidFill>
                  <a:srgbClr val="FFFFFF"/>
                </a:solidFill>
                <a:latin typeface="Helvetica"/>
                <a:cs typeface="Helvetica"/>
              </a:rPr>
              <a:t>(). Hoy se considera una versión en desuso de la estándar, llamada v0. </a:t>
            </a:r>
            <a:r>
              <a:rPr lang="es-ES" dirty="0" err="1">
                <a:solidFill>
                  <a:srgbClr val="FFFFFF"/>
                </a:solidFill>
                <a:latin typeface="Helvetica"/>
                <a:cs typeface="Helvetica"/>
              </a:rPr>
              <a:t>customElements.define</a:t>
            </a:r>
            <a:r>
              <a:rPr lang="es-ES" dirty="0">
                <a:solidFill>
                  <a:srgbClr val="FFFFFF"/>
                </a:solidFill>
                <a:latin typeface="Helvetica"/>
                <a:cs typeface="Helvetica"/>
              </a:rPr>
              <a:t>() es el nuevo atractivo y lo que los proveedores de navegadores están comenzando a implementar. Se llama </a:t>
            </a:r>
            <a:r>
              <a:rPr lang="es-ES" dirty="0" err="1">
                <a:solidFill>
                  <a:srgbClr val="FFFFFF"/>
                </a:solidFill>
                <a:latin typeface="Helvetica"/>
                <a:cs typeface="Helvetica"/>
              </a:rPr>
              <a:t>Custom</a:t>
            </a:r>
            <a:r>
              <a:rPr lang="es-ES" dirty="0">
                <a:solidFill>
                  <a:srgbClr val="FFFFFF"/>
                </a:solidFill>
                <a:latin typeface="Helvetica"/>
                <a:cs typeface="Helvetica"/>
              </a:rPr>
              <a:t> </a:t>
            </a:r>
            <a:r>
              <a:rPr lang="es-ES" dirty="0" err="1">
                <a:solidFill>
                  <a:srgbClr val="FFFFFF"/>
                </a:solidFill>
                <a:latin typeface="Helvetica"/>
                <a:cs typeface="Helvetica"/>
              </a:rPr>
              <a:t>Elements</a:t>
            </a:r>
            <a:r>
              <a:rPr lang="es-ES" dirty="0">
                <a:solidFill>
                  <a:srgbClr val="FFFFFF"/>
                </a:solidFill>
                <a:latin typeface="Helvetica"/>
                <a:cs typeface="Helvetica"/>
              </a:rPr>
              <a:t> v1</a:t>
            </a:r>
            <a:r>
              <a:rPr lang="es-ES" dirty="0" smtClean="0">
                <a:solidFill>
                  <a:srgbClr val="FFFFFF"/>
                </a:solidFill>
                <a:latin typeface="Helvetica"/>
                <a:cs typeface="Helvetica"/>
              </a:rPr>
              <a:t>.</a:t>
            </a:r>
          </a:p>
          <a:p>
            <a:pPr algn="just">
              <a:lnSpc>
                <a:spcPct val="130000"/>
              </a:lnSpc>
            </a:pPr>
            <a:endParaRPr lang="es-ES" dirty="0">
              <a:solidFill>
                <a:srgbClr val="FFFFFF"/>
              </a:solidFill>
              <a:latin typeface="Helvetica"/>
              <a:cs typeface="Helvetica"/>
            </a:endParaRPr>
          </a:p>
          <a:p>
            <a:pPr algn="just">
              <a:lnSpc>
                <a:spcPct val="130000"/>
              </a:lnSpc>
            </a:pPr>
            <a:r>
              <a:rPr lang="es-ES" dirty="0">
                <a:solidFill>
                  <a:srgbClr val="FFFFFF"/>
                </a:solidFill>
                <a:latin typeface="Helvetica"/>
                <a:cs typeface="Helvetica"/>
              </a:rPr>
              <a:t>Hasta que haya compatibilidad general con navegadores, </a:t>
            </a:r>
            <a:r>
              <a:rPr lang="es-ES" dirty="0" smtClean="0">
                <a:solidFill>
                  <a:srgbClr val="FFFFFF"/>
                </a:solidFill>
                <a:latin typeface="Helvetica"/>
                <a:cs typeface="Helvetica"/>
              </a:rPr>
              <a:t>se puede hacer uso de </a:t>
            </a:r>
            <a:r>
              <a:rPr lang="es-ES" dirty="0" err="1" smtClean="0">
                <a:solidFill>
                  <a:srgbClr val="FFFFFF"/>
                </a:solidFill>
                <a:latin typeface="Helvetica"/>
                <a:cs typeface="Helvetica"/>
              </a:rPr>
              <a:t>polyfills</a:t>
            </a:r>
            <a:r>
              <a:rPr lang="es-ES" dirty="0" smtClean="0">
                <a:solidFill>
                  <a:srgbClr val="FFFFFF"/>
                </a:solidFill>
                <a:latin typeface="Helvetica"/>
                <a:cs typeface="Helvetica"/>
              </a:rPr>
              <a:t> para soportar componentes web en aquellos navegadores que no lo soportan por defecto.</a:t>
            </a:r>
            <a:endParaRPr lang="es-ES" dirty="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38</a:t>
            </a:fld>
            <a:endParaRPr lang="en-US"/>
          </a:p>
        </p:txBody>
      </p:sp>
    </p:spTree>
    <p:extLst>
      <p:ext uri="{BB962C8B-B14F-4D97-AF65-F5344CB8AC3E}">
        <p14:creationId xmlns:p14="http://schemas.microsoft.com/office/powerpoint/2010/main" val="3253477804"/>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smtClean="0">
                <a:latin typeface="Arial Black"/>
                <a:cs typeface="Arial Black"/>
              </a:rPr>
              <a:t>Polyfills</a:t>
            </a:r>
            <a:endParaRPr lang="es-ES" sz="2200" u="sng" dirty="0">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759766"/>
          </a:xfrm>
          <a:prstGeom prst="rect">
            <a:avLst/>
          </a:prstGeom>
        </p:spPr>
        <p:txBody>
          <a:bodyPr wrap="square">
            <a:spAutoFit/>
          </a:bodyPr>
          <a:lstStyle/>
          <a:p>
            <a:pPr algn="just">
              <a:lnSpc>
                <a:spcPct val="130000"/>
              </a:lnSpc>
            </a:pPr>
            <a:r>
              <a:rPr lang="es-ES" dirty="0" smtClean="0">
                <a:solidFill>
                  <a:srgbClr val="FFFFFF"/>
                </a:solidFill>
                <a:latin typeface="Helvetica"/>
                <a:cs typeface="Helvetica"/>
              </a:rPr>
              <a:t>Librerías </a:t>
            </a:r>
            <a:r>
              <a:rPr lang="es-ES" dirty="0">
                <a:solidFill>
                  <a:srgbClr val="FFFFFF"/>
                </a:solidFill>
                <a:latin typeface="Helvetica"/>
                <a:cs typeface="Helvetica"/>
              </a:rPr>
              <a:t>de </a:t>
            </a:r>
            <a:r>
              <a:rPr lang="es-ES" dirty="0" err="1">
                <a:solidFill>
                  <a:srgbClr val="FFFFFF"/>
                </a:solidFill>
                <a:latin typeface="Helvetica"/>
                <a:cs typeface="Helvetica"/>
              </a:rPr>
              <a:t>Javascript</a:t>
            </a:r>
            <a:r>
              <a:rPr lang="es-ES" dirty="0">
                <a:solidFill>
                  <a:srgbClr val="FFFFFF"/>
                </a:solidFill>
                <a:latin typeface="Helvetica"/>
                <a:cs typeface="Helvetica"/>
              </a:rPr>
              <a:t> para implementar soporte a navegadores todavía no compatibles con una </a:t>
            </a:r>
            <a:r>
              <a:rPr lang="es-ES" dirty="0" smtClean="0">
                <a:solidFill>
                  <a:srgbClr val="FFFFFF"/>
                </a:solidFill>
                <a:latin typeface="Helvetica"/>
                <a:cs typeface="Helvetica"/>
              </a:rPr>
              <a:t>tecnología permitiendo ampliar </a:t>
            </a:r>
            <a:r>
              <a:rPr lang="es-ES" dirty="0">
                <a:solidFill>
                  <a:srgbClr val="FFFFFF"/>
                </a:solidFill>
                <a:latin typeface="Helvetica"/>
                <a:cs typeface="Helvetica"/>
              </a:rPr>
              <a:t>la compatibilidad a todos navegadores del </a:t>
            </a:r>
            <a:r>
              <a:rPr lang="es-ES" dirty="0" smtClean="0">
                <a:solidFill>
                  <a:srgbClr val="FFFFFF"/>
                </a:solidFill>
                <a:latin typeface="Helvetica"/>
                <a:cs typeface="Helvetica"/>
              </a:rPr>
              <a:t>mercado.</a:t>
            </a:r>
            <a:endParaRPr lang="es-ES" dirty="0">
              <a:solidFill>
                <a:srgbClr val="FFFFFF"/>
              </a:solidFill>
              <a:latin typeface="Helvetica"/>
              <a:cs typeface="Helvetica"/>
            </a:endParaRPr>
          </a:p>
          <a:p>
            <a:pPr algn="just">
              <a:lnSpc>
                <a:spcPct val="130000"/>
              </a:lnSpc>
            </a:pPr>
            <a:r>
              <a:rPr lang="es-ES" dirty="0" smtClean="0">
                <a:solidFill>
                  <a:srgbClr val="FFFFFF"/>
                </a:solidFill>
                <a:latin typeface="Helvetica"/>
                <a:cs typeface="Helvetica"/>
              </a:rPr>
              <a:t>Podemos encontrar el detalle de los diferentes </a:t>
            </a:r>
            <a:r>
              <a:rPr lang="es-ES" dirty="0" err="1" smtClean="0">
                <a:solidFill>
                  <a:srgbClr val="FFFFFF"/>
                </a:solidFill>
                <a:latin typeface="Helvetica"/>
                <a:cs typeface="Helvetica"/>
              </a:rPr>
              <a:t>polyfills</a:t>
            </a:r>
            <a:r>
              <a:rPr lang="es-ES" dirty="0" smtClean="0">
                <a:solidFill>
                  <a:srgbClr val="FFFFFF"/>
                </a:solidFill>
                <a:latin typeface="Helvetica"/>
                <a:cs typeface="Helvetica"/>
              </a:rPr>
              <a:t> en la web oficial del proyecto de </a:t>
            </a:r>
            <a:r>
              <a:rPr lang="es-ES" dirty="0" err="1" smtClean="0">
                <a:solidFill>
                  <a:srgbClr val="FFFFFF"/>
                </a:solidFill>
                <a:latin typeface="Helvetica"/>
                <a:cs typeface="Helvetica"/>
              </a:rPr>
              <a:t>WebComponents</a:t>
            </a:r>
            <a:r>
              <a:rPr lang="es-ES" dirty="0" smtClean="0">
                <a:solidFill>
                  <a:srgbClr val="FFFFFF"/>
                </a:solidFill>
                <a:latin typeface="Helvetica"/>
                <a:cs typeface="Helvetica"/>
              </a:rPr>
              <a:t>:</a:t>
            </a:r>
            <a:endParaRPr lang="es-ES" dirty="0">
              <a:solidFill>
                <a:srgbClr val="FFFFFF"/>
              </a:solidFill>
              <a:latin typeface="Helvetica"/>
              <a:cs typeface="Helvetica"/>
            </a:endParaRPr>
          </a:p>
          <a:p>
            <a:pPr algn="just">
              <a:lnSpc>
                <a:spcPct val="130000"/>
              </a:lnSpc>
            </a:pPr>
            <a:r>
              <a:rPr lang="es-ES" dirty="0">
                <a:solidFill>
                  <a:srgbClr val="FFFFFF"/>
                </a:solidFill>
                <a:latin typeface="Helvetica"/>
                <a:cs typeface="Helvetica"/>
                <a:hlinkClick r:id="rId5"/>
              </a:rPr>
              <a:t>https://github.com/WebComponents/</a:t>
            </a:r>
            <a:r>
              <a:rPr lang="es-ES" dirty="0" smtClean="0">
                <a:solidFill>
                  <a:srgbClr val="FFFFFF"/>
                </a:solidFill>
                <a:latin typeface="Helvetica"/>
                <a:cs typeface="Helvetica"/>
                <a:hlinkClick r:id="rId5"/>
              </a:rPr>
              <a:t>webcomponentsjs</a:t>
            </a: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a:p>
            <a:pPr algn="just">
              <a:lnSpc>
                <a:spcPct val="130000"/>
              </a:lnSpc>
            </a:pPr>
            <a:r>
              <a:rPr lang="es-ES" dirty="0" err="1" smtClean="0">
                <a:solidFill>
                  <a:srgbClr val="FFFFFF"/>
                </a:solidFill>
                <a:latin typeface="Helvetica"/>
                <a:cs typeface="Helvetica"/>
              </a:rPr>
              <a:t>Polyfills</a:t>
            </a:r>
            <a:r>
              <a:rPr lang="es-ES" dirty="0" smtClean="0">
                <a:solidFill>
                  <a:srgbClr val="FFFFFF"/>
                </a:solidFill>
                <a:latin typeface="Helvetica"/>
                <a:cs typeface="Helvetica"/>
              </a:rPr>
              <a:t> disponibles:</a:t>
            </a:r>
          </a:p>
          <a:p>
            <a:pPr marL="285750" indent="-285750" algn="just">
              <a:lnSpc>
                <a:spcPct val="130000"/>
              </a:lnSpc>
              <a:buFont typeface="Arial"/>
              <a:buChar char="•"/>
            </a:pPr>
            <a:r>
              <a:rPr lang="es-ES" dirty="0" err="1">
                <a:solidFill>
                  <a:srgbClr val="FFFFFF"/>
                </a:solidFill>
                <a:latin typeface="Helvetica"/>
                <a:cs typeface="Helvetica"/>
              </a:rPr>
              <a:t>webcomponents-</a:t>
            </a:r>
            <a:r>
              <a:rPr lang="es-ES" dirty="0" err="1" smtClean="0">
                <a:solidFill>
                  <a:srgbClr val="FFFFFF"/>
                </a:solidFill>
                <a:latin typeface="Helvetica"/>
                <a:cs typeface="Helvetica"/>
              </a:rPr>
              <a:t>bundle.js</a:t>
            </a:r>
            <a:r>
              <a:rPr lang="es-ES" dirty="0" smtClean="0">
                <a:solidFill>
                  <a:srgbClr val="FFFFFF"/>
                </a:solidFill>
                <a:latin typeface="Helvetica"/>
                <a:cs typeface="Helvetica"/>
              </a:rPr>
              <a:t> (</a:t>
            </a:r>
            <a:r>
              <a:rPr lang="es-ES" dirty="0" err="1" smtClean="0">
                <a:solidFill>
                  <a:srgbClr val="FFFFFF"/>
                </a:solidFill>
                <a:latin typeface="Helvetica"/>
                <a:cs typeface="Helvetica"/>
              </a:rPr>
              <a:t>Sincrono</a:t>
            </a:r>
            <a:r>
              <a:rPr lang="es-ES" dirty="0" smtClean="0">
                <a:solidFill>
                  <a:srgbClr val="FFFFFF"/>
                </a:solidFill>
                <a:latin typeface="Helvetica"/>
                <a:cs typeface="Helvetica"/>
              </a:rPr>
              <a:t>)</a:t>
            </a:r>
          </a:p>
          <a:p>
            <a:pPr marL="285750" indent="-285750" algn="just">
              <a:lnSpc>
                <a:spcPct val="130000"/>
              </a:lnSpc>
              <a:buFont typeface="Arial"/>
              <a:buChar char="•"/>
            </a:pPr>
            <a:r>
              <a:rPr lang="es-ES" dirty="0" err="1">
                <a:solidFill>
                  <a:srgbClr val="FFFFFF"/>
                </a:solidFill>
                <a:latin typeface="Helvetica"/>
                <a:cs typeface="Helvetica"/>
              </a:rPr>
              <a:t>webcomponents-</a:t>
            </a:r>
            <a:r>
              <a:rPr lang="es-ES" dirty="0" err="1" smtClean="0">
                <a:solidFill>
                  <a:srgbClr val="FFFFFF"/>
                </a:solidFill>
                <a:latin typeface="Helvetica"/>
                <a:cs typeface="Helvetica"/>
              </a:rPr>
              <a:t>loader.js</a:t>
            </a:r>
            <a:r>
              <a:rPr lang="es-ES" dirty="0" smtClean="0">
                <a:solidFill>
                  <a:srgbClr val="FFFFFF"/>
                </a:solidFill>
                <a:latin typeface="Helvetica"/>
                <a:cs typeface="Helvetica"/>
              </a:rPr>
              <a:t> (</a:t>
            </a:r>
            <a:r>
              <a:rPr lang="es-ES" dirty="0" err="1" smtClean="0">
                <a:solidFill>
                  <a:srgbClr val="FFFFFF"/>
                </a:solidFill>
                <a:latin typeface="Helvetica"/>
                <a:cs typeface="Helvetica"/>
              </a:rPr>
              <a:t>Sincrono</a:t>
            </a:r>
            <a:r>
              <a:rPr lang="es-ES" dirty="0" smtClean="0">
                <a:solidFill>
                  <a:srgbClr val="FFFFFF"/>
                </a:solidFill>
                <a:latin typeface="Helvetica"/>
                <a:cs typeface="Helvetica"/>
              </a:rPr>
              <a:t>/</a:t>
            </a:r>
            <a:r>
              <a:rPr lang="es-ES" dirty="0" err="1" smtClean="0">
                <a:solidFill>
                  <a:srgbClr val="FFFFFF"/>
                </a:solidFill>
                <a:latin typeface="Helvetica"/>
                <a:cs typeface="Helvetica"/>
              </a:rPr>
              <a:t>Asincrono</a:t>
            </a:r>
            <a:r>
              <a:rPr lang="es-ES" dirty="0" smtClean="0">
                <a:solidFill>
                  <a:srgbClr val="FFFFFF"/>
                </a:solidFill>
                <a:latin typeface="Helvetica"/>
                <a:cs typeface="Helvetica"/>
              </a:rPr>
              <a:t>)</a:t>
            </a:r>
            <a:endParaRPr lang="es-ES" dirty="0">
              <a:solidFill>
                <a:srgbClr val="FFFFFF"/>
              </a:solidFill>
              <a:latin typeface="Helvetica"/>
              <a:cs typeface="Helvetica"/>
            </a:endParaRPr>
          </a:p>
          <a:p>
            <a:pPr marL="285750" indent="-285750" algn="just">
              <a:lnSpc>
                <a:spcPct val="130000"/>
              </a:lnSpc>
              <a:buFont typeface="Arial"/>
              <a:buChar char="•"/>
            </a:pPr>
            <a:endParaRPr lang="es-ES" dirty="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39</a:t>
            </a:fld>
            <a:endParaRPr lang="en-US"/>
          </a:p>
        </p:txBody>
      </p:sp>
    </p:spTree>
    <p:extLst>
      <p:ext uri="{BB962C8B-B14F-4D97-AF65-F5344CB8AC3E}">
        <p14:creationId xmlns:p14="http://schemas.microsoft.com/office/powerpoint/2010/main" val="3995242406"/>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0" name="Rectángulo 19"/>
          <p:cNvSpPr/>
          <p:nvPr/>
        </p:nvSpPr>
        <p:spPr>
          <a:xfrm>
            <a:off x="492433" y="1614742"/>
            <a:ext cx="8202871" cy="5479963"/>
          </a:xfrm>
          <a:prstGeom prst="rect">
            <a:avLst/>
          </a:prstGeom>
        </p:spPr>
        <p:txBody>
          <a:bodyPr wrap="square">
            <a:spAutoFit/>
          </a:bodyPr>
          <a:lstStyle/>
          <a:p>
            <a:pPr algn="just">
              <a:lnSpc>
                <a:spcPct val="130000"/>
              </a:lnSpc>
            </a:pPr>
            <a:r>
              <a:rPr lang="es-ES" dirty="0" smtClean="0">
                <a:solidFill>
                  <a:srgbClr val="FFFFFF"/>
                </a:solidFill>
                <a:latin typeface="Helvetica"/>
                <a:cs typeface="Helvetica"/>
              </a:rPr>
              <a:t>Este </a:t>
            </a:r>
            <a:r>
              <a:rPr lang="es-ES" dirty="0" err="1" smtClean="0">
                <a:solidFill>
                  <a:srgbClr val="FFFFFF"/>
                </a:solidFill>
                <a:latin typeface="Helvetica"/>
                <a:cs typeface="Helvetica"/>
              </a:rPr>
              <a:t>estandar</a:t>
            </a:r>
            <a:r>
              <a:rPr lang="es-ES" dirty="0" smtClean="0">
                <a:solidFill>
                  <a:srgbClr val="FFFFFF"/>
                </a:solidFill>
                <a:latin typeface="Helvetica"/>
                <a:cs typeface="Helvetica"/>
              </a:rPr>
              <a:t> nos permite incluir y </a:t>
            </a:r>
            <a:r>
              <a:rPr lang="es-ES" dirty="0" err="1" smtClean="0">
                <a:solidFill>
                  <a:srgbClr val="FFFFFF"/>
                </a:solidFill>
                <a:latin typeface="Helvetica"/>
                <a:cs typeface="Helvetica"/>
              </a:rPr>
              <a:t>reutizar</a:t>
            </a:r>
            <a:r>
              <a:rPr lang="es-ES" dirty="0" smtClean="0">
                <a:solidFill>
                  <a:srgbClr val="FFFFFF"/>
                </a:solidFill>
                <a:latin typeface="Helvetica"/>
                <a:cs typeface="Helvetica"/>
              </a:rPr>
              <a:t> HTML en otros documentos  ofreciendo oportunidades </a:t>
            </a:r>
            <a:r>
              <a:rPr lang="es-ES" dirty="0">
                <a:solidFill>
                  <a:srgbClr val="FFFFFF"/>
                </a:solidFill>
                <a:latin typeface="Helvetica"/>
                <a:cs typeface="Helvetica"/>
              </a:rPr>
              <a:t>para el empaquetamiento de colecciones de recursos y manera que </a:t>
            </a:r>
            <a:r>
              <a:rPr lang="es-ES" dirty="0" smtClean="0">
                <a:solidFill>
                  <a:srgbClr val="FFFFFF"/>
                </a:solidFill>
                <a:latin typeface="Helvetica"/>
                <a:cs typeface="Helvetica"/>
              </a:rPr>
              <a:t>éstos puedan </a:t>
            </a:r>
            <a:r>
              <a:rPr lang="es-ES" dirty="0">
                <a:solidFill>
                  <a:srgbClr val="FFFFFF"/>
                </a:solidFill>
                <a:latin typeface="Helvetica"/>
                <a:cs typeface="Helvetica"/>
              </a:rPr>
              <a:t>ser entregados al cliente final a través de una única </a:t>
            </a:r>
            <a:r>
              <a:rPr lang="es-ES" dirty="0" err="1">
                <a:solidFill>
                  <a:srgbClr val="FFFFFF"/>
                </a:solidFill>
                <a:latin typeface="Helvetica"/>
                <a:cs typeface="Helvetica"/>
              </a:rPr>
              <a:t>import</a:t>
            </a:r>
            <a:r>
              <a:rPr lang="es-ES" dirty="0">
                <a:solidFill>
                  <a:srgbClr val="FFFFFF"/>
                </a:solidFill>
                <a:latin typeface="Helvetica"/>
                <a:cs typeface="Helvetica"/>
              </a:rPr>
              <a:t> </a:t>
            </a:r>
            <a:r>
              <a:rPr lang="es-ES" dirty="0" err="1" smtClean="0">
                <a:solidFill>
                  <a:srgbClr val="FFFFFF"/>
                </a:solidFill>
                <a:latin typeface="Helvetica"/>
                <a:cs typeface="Helvetica"/>
              </a:rPr>
              <a:t>location</a:t>
            </a:r>
            <a:r>
              <a:rPr lang="es-ES" dirty="0" smtClean="0">
                <a:solidFill>
                  <a:srgbClr val="FFFFFF"/>
                </a:solidFill>
                <a:latin typeface="Helvetica"/>
                <a:cs typeface="Helvetica"/>
              </a:rPr>
              <a:t>.	</a:t>
            </a:r>
          </a:p>
          <a:p>
            <a:pPr algn="just">
              <a:lnSpc>
                <a:spcPct val="130000"/>
              </a:lnSpc>
            </a:pPr>
            <a:endParaRPr lang="es-ES" dirty="0">
              <a:solidFill>
                <a:srgbClr val="FFFFFF"/>
              </a:solidFill>
              <a:latin typeface="Helvetica"/>
              <a:cs typeface="Helvetica"/>
            </a:endParaRPr>
          </a:p>
          <a:p>
            <a:pPr algn="just">
              <a:lnSpc>
                <a:spcPct val="130000"/>
              </a:lnSpc>
            </a:pPr>
            <a:r>
              <a:rPr lang="es-ES" dirty="0" smtClean="0">
                <a:solidFill>
                  <a:srgbClr val="FFFFFF"/>
                </a:solidFill>
                <a:latin typeface="Helvetica"/>
                <a:cs typeface="Helvetica"/>
              </a:rPr>
              <a:t>Mas </a:t>
            </a:r>
            <a:r>
              <a:rPr lang="es-ES" dirty="0" err="1" smtClean="0">
                <a:solidFill>
                  <a:srgbClr val="FFFFFF"/>
                </a:solidFill>
                <a:latin typeface="Helvetica"/>
                <a:cs typeface="Helvetica"/>
              </a:rPr>
              <a:t>informacion</a:t>
            </a:r>
            <a:r>
              <a:rPr lang="es-ES" dirty="0" smtClean="0">
                <a:solidFill>
                  <a:srgbClr val="FFFFFF"/>
                </a:solidFill>
                <a:latin typeface="Helvetica"/>
                <a:cs typeface="Helvetica"/>
              </a:rPr>
              <a:t> sobre eventos asociados y uso con </a:t>
            </a:r>
            <a:r>
              <a:rPr lang="es-ES" dirty="0" err="1" smtClean="0">
                <a:solidFill>
                  <a:srgbClr val="FFFFFF"/>
                </a:solidFill>
                <a:latin typeface="Helvetica"/>
                <a:cs typeface="Helvetica"/>
              </a:rPr>
              <a:t>templates</a:t>
            </a:r>
            <a:r>
              <a:rPr lang="es-ES" dirty="0" smtClean="0">
                <a:solidFill>
                  <a:srgbClr val="FFFFFF"/>
                </a:solidFill>
                <a:latin typeface="Helvetica"/>
                <a:cs typeface="Helvetica"/>
              </a:rPr>
              <a:t>:</a:t>
            </a:r>
          </a:p>
          <a:p>
            <a:pPr algn="just">
              <a:lnSpc>
                <a:spcPct val="130000"/>
              </a:lnSpc>
            </a:pPr>
            <a:r>
              <a:rPr lang="es-ES" dirty="0">
                <a:solidFill>
                  <a:srgbClr val="FFFFFF"/>
                </a:solidFill>
                <a:latin typeface="Helvetica"/>
                <a:cs typeface="Helvetica"/>
                <a:hlinkClick r:id="rId4"/>
              </a:rPr>
              <a:t>https://www.html5rocks.com/en/tutorials/webcomponents/imports</a:t>
            </a:r>
            <a:r>
              <a:rPr lang="es-ES" dirty="0" smtClean="0">
                <a:solidFill>
                  <a:srgbClr val="FFFFFF"/>
                </a:solidFill>
                <a:latin typeface="Helvetica"/>
                <a:cs typeface="Helvetica"/>
                <a:hlinkClick r:id="rId4"/>
              </a:rPr>
              <a:t>/</a:t>
            </a: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a:p>
            <a:pPr algn="just">
              <a:lnSpc>
                <a:spcPct val="130000"/>
              </a:lnSpc>
            </a:pPr>
            <a:endParaRPr lang="es-ES" dirty="0" smtClean="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HTML </a:t>
            </a:r>
            <a:r>
              <a:rPr lang="es-ES" sz="2200" u="sng" dirty="0" err="1" smtClean="0">
                <a:latin typeface="Arial Black"/>
                <a:cs typeface="Arial Black"/>
              </a:rPr>
              <a:t>Imports</a:t>
            </a:r>
            <a:endParaRPr lang="es-ES" sz="2000" u="sng" dirty="0">
              <a:solidFill>
                <a:srgbClr val="FFFFFF"/>
              </a:solidFill>
              <a:effectLst/>
            </a:endParaRPr>
          </a:p>
        </p:txBody>
      </p:sp>
      <p:pic>
        <p:nvPicPr>
          <p:cNvPr id="13" name="Imagen 12"/>
          <p:cNvPicPr>
            <a:picLocks noChangeAspect="1"/>
          </p:cNvPicPr>
          <p:nvPr/>
        </p:nvPicPr>
        <p:blipFill>
          <a:blip r:embed="rId5"/>
          <a:stretch>
            <a:fillRect/>
          </a:stretch>
        </p:blipFill>
        <p:spPr>
          <a:xfrm>
            <a:off x="1742516" y="6339496"/>
            <a:ext cx="578961" cy="402755"/>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40</a:t>
            </a:fld>
            <a:endParaRPr lang="en-US"/>
          </a:p>
        </p:txBody>
      </p:sp>
    </p:spTree>
    <p:extLst>
      <p:ext uri="{BB962C8B-B14F-4D97-AF65-F5344CB8AC3E}">
        <p14:creationId xmlns:p14="http://schemas.microsoft.com/office/powerpoint/2010/main" val="2721172080"/>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Especificaciones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HTML </a:t>
            </a:r>
            <a:r>
              <a:rPr lang="es-ES" sz="2200" u="sng" dirty="0" err="1" smtClean="0">
                <a:latin typeface="Arial Black"/>
                <a:cs typeface="Arial Black"/>
              </a:rPr>
              <a:t>Imports</a:t>
            </a:r>
            <a:endParaRPr lang="es-ES" sz="2000" u="sng" dirty="0">
              <a:solidFill>
                <a:srgbClr val="FFFFFF"/>
              </a:solidFill>
              <a:effectLst/>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pic>
        <p:nvPicPr>
          <p:cNvPr id="3" name="Imagen 2"/>
          <p:cNvPicPr>
            <a:picLocks noChangeAspect="1"/>
          </p:cNvPicPr>
          <p:nvPr/>
        </p:nvPicPr>
        <p:blipFill>
          <a:blip r:embed="rId5"/>
          <a:stretch>
            <a:fillRect/>
          </a:stretch>
        </p:blipFill>
        <p:spPr>
          <a:xfrm>
            <a:off x="505396" y="1657048"/>
            <a:ext cx="8309208" cy="3971305"/>
          </a:xfrm>
          <a:prstGeom prst="rect">
            <a:avLst/>
          </a:prstGeom>
        </p:spPr>
      </p:pic>
      <p:sp>
        <p:nvSpPr>
          <p:cNvPr id="12" name="Marcador de número de diapositiva 11"/>
          <p:cNvSpPr>
            <a:spLocks noGrp="1"/>
          </p:cNvSpPr>
          <p:nvPr>
            <p:ph type="sldNum" sz="quarter" idx="12"/>
          </p:nvPr>
        </p:nvSpPr>
        <p:spPr/>
        <p:txBody>
          <a:bodyPr/>
          <a:lstStyle/>
          <a:p>
            <a:fld id="{9C1F5A0A-F6FC-4FFD-9B49-0DA8697211D9}" type="slidenum">
              <a:rPr lang="en-US" smtClean="0"/>
              <a:t>41</a:t>
            </a:fld>
            <a:endParaRPr lang="en-US"/>
          </a:p>
        </p:txBody>
      </p:sp>
    </p:spTree>
    <p:extLst>
      <p:ext uri="{BB962C8B-B14F-4D97-AF65-F5344CB8AC3E}">
        <p14:creationId xmlns:p14="http://schemas.microsoft.com/office/powerpoint/2010/main" val="2063557507"/>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Demo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Demo &gt; </a:t>
            </a:r>
            <a:r>
              <a:rPr lang="es-ES" sz="2200" u="sng" dirty="0" err="1" smtClean="0">
                <a:latin typeface="Arial Black"/>
                <a:cs typeface="Arial Black"/>
              </a:rPr>
              <a:t>Tooltip</a:t>
            </a:r>
            <a:endParaRPr lang="es-ES" sz="2200" u="sng" dirty="0" smtClean="0">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38582"/>
          </a:xfrm>
          <a:prstGeom prst="rect">
            <a:avLst/>
          </a:prstGeom>
        </p:spPr>
        <p:txBody>
          <a:bodyPr wrap="square">
            <a:spAutoFit/>
          </a:bodyPr>
          <a:lstStyle/>
          <a:p>
            <a:pPr algn="just">
              <a:lnSpc>
                <a:spcPct val="130000"/>
              </a:lnSpc>
            </a:pPr>
            <a:r>
              <a:rPr lang="es-ES" dirty="0" smtClean="0">
                <a:solidFill>
                  <a:srgbClr val="FFFFFF"/>
                </a:solidFill>
                <a:latin typeface="Helvetica"/>
                <a:cs typeface="Helvetica"/>
              </a:rPr>
              <a:t>Creación de un </a:t>
            </a:r>
            <a:r>
              <a:rPr lang="es-ES" dirty="0" err="1" smtClean="0">
                <a:solidFill>
                  <a:srgbClr val="FFFFFF"/>
                </a:solidFill>
                <a:latin typeface="Helvetica"/>
                <a:cs typeface="Helvetica"/>
              </a:rPr>
              <a:t>tooltip</a:t>
            </a:r>
            <a:r>
              <a:rPr lang="es-ES" dirty="0" smtClean="0">
                <a:solidFill>
                  <a:srgbClr val="FFFFFF"/>
                </a:solidFill>
                <a:latin typeface="Helvetica"/>
                <a:cs typeface="Helvetica"/>
              </a:rPr>
              <a:t> mediante </a:t>
            </a:r>
            <a:r>
              <a:rPr lang="es-ES" dirty="0" err="1" smtClean="0">
                <a:solidFill>
                  <a:srgbClr val="FFFFFF"/>
                </a:solidFill>
                <a:latin typeface="Helvetica"/>
                <a:cs typeface="Helvetica"/>
              </a:rPr>
              <a:t>webcomponents</a:t>
            </a:r>
            <a:r>
              <a:rPr lang="es-ES" dirty="0" smtClean="0">
                <a:solidFill>
                  <a:srgbClr val="FFFFFF"/>
                </a:solidFill>
                <a:latin typeface="Helvetica"/>
                <a:cs typeface="Helvetica"/>
              </a:rPr>
              <a:t>.</a:t>
            </a:r>
            <a:endParaRPr lang="es-ES"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42</a:t>
            </a:fld>
            <a:endParaRPr lang="en-US"/>
          </a:p>
        </p:txBody>
      </p:sp>
    </p:spTree>
    <p:extLst>
      <p:ext uri="{BB962C8B-B14F-4D97-AF65-F5344CB8AC3E}">
        <p14:creationId xmlns:p14="http://schemas.microsoft.com/office/powerpoint/2010/main" val="2315844801"/>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a:solidFill>
                  <a:srgbClr val="FF6600"/>
                </a:solidFill>
                <a:latin typeface="Helvetica"/>
                <a:ea typeface="Lucida Grande"/>
                <a:cs typeface="Helvetica"/>
              </a:rPr>
              <a:t>Componentes </a:t>
            </a:r>
            <a:r>
              <a:rPr lang="es-ES" sz="2200" dirty="0" smtClean="0">
                <a:solidFill>
                  <a:srgbClr val="FF6600"/>
                </a:solidFill>
                <a:latin typeface="Helvetica"/>
                <a:ea typeface="Lucida Grande"/>
                <a:cs typeface="Helvetica"/>
              </a:rPr>
              <a:t>Web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Frameworks</a:t>
            </a:r>
            <a:r>
              <a:rPr lang="es-ES" sz="2000" dirty="0" smtClean="0">
                <a:solidFill>
                  <a:srgbClr val="FFFFFF"/>
                </a:solidFill>
                <a:latin typeface="Helvetica"/>
                <a:ea typeface="Lucida Grande"/>
                <a:cs typeface="Helvetica"/>
              </a:rPr>
              <a:t> &amp; </a:t>
            </a:r>
            <a:r>
              <a:rPr lang="es-ES" sz="2000" dirty="0" err="1" smtClean="0">
                <a:solidFill>
                  <a:srgbClr val="FFFFFF"/>
                </a:solidFill>
                <a:latin typeface="Helvetica"/>
                <a:ea typeface="Lucida Grande"/>
                <a:cs typeface="Helvetica"/>
              </a:rPr>
              <a:t>Librerias</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61665"/>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400" dirty="0" err="1">
                <a:solidFill>
                  <a:srgbClr val="FFFFFF"/>
                </a:solidFill>
                <a:latin typeface="Helvetica"/>
                <a:ea typeface="Lucida Grande"/>
                <a:cs typeface="Helvetica"/>
              </a:rPr>
              <a:t>Frameworks</a:t>
            </a:r>
            <a:r>
              <a:rPr lang="es-ES" sz="2400" dirty="0">
                <a:solidFill>
                  <a:srgbClr val="FFFFFF"/>
                </a:solidFill>
                <a:latin typeface="Helvetica"/>
                <a:ea typeface="Lucida Grande"/>
                <a:cs typeface="Helvetica"/>
              </a:rPr>
              <a:t> &amp; </a:t>
            </a:r>
            <a:r>
              <a:rPr lang="es-ES" sz="2400" dirty="0" err="1">
                <a:solidFill>
                  <a:srgbClr val="FFFFFF"/>
                </a:solidFill>
                <a:latin typeface="Helvetica"/>
                <a:ea typeface="Lucida Grande"/>
                <a:cs typeface="Helvetica"/>
              </a:rPr>
              <a:t>Librerias</a:t>
            </a:r>
            <a:endParaRPr lang="es-ES" sz="2200" u="sng" dirty="0" smtClean="0">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38582"/>
          </a:xfrm>
          <a:prstGeom prst="rect">
            <a:avLst/>
          </a:prstGeom>
        </p:spPr>
        <p:txBody>
          <a:bodyPr wrap="square">
            <a:spAutoFit/>
          </a:bodyPr>
          <a:lstStyle/>
          <a:p>
            <a:pPr algn="just">
              <a:lnSpc>
                <a:spcPct val="130000"/>
              </a:lnSpc>
            </a:pPr>
            <a:endParaRPr lang="es-ES" dirty="0">
              <a:solidFill>
                <a:srgbClr val="FFFFFF"/>
              </a:solidFill>
              <a:latin typeface="Helvetica"/>
              <a:cs typeface="Helvetica"/>
            </a:endParaRPr>
          </a:p>
        </p:txBody>
      </p:sp>
      <p:pic>
        <p:nvPicPr>
          <p:cNvPr id="3" name="Imagen 2"/>
          <p:cNvPicPr>
            <a:picLocks noChangeAspect="1"/>
          </p:cNvPicPr>
          <p:nvPr/>
        </p:nvPicPr>
        <p:blipFill>
          <a:blip r:embed="rId5"/>
          <a:stretch>
            <a:fillRect/>
          </a:stretch>
        </p:blipFill>
        <p:spPr>
          <a:xfrm>
            <a:off x="621899" y="1838476"/>
            <a:ext cx="2241234" cy="2241234"/>
          </a:xfrm>
          <a:prstGeom prst="rect">
            <a:avLst/>
          </a:prstGeom>
        </p:spPr>
      </p:pic>
      <p:pic>
        <p:nvPicPr>
          <p:cNvPr id="17" name="Imagen 16"/>
          <p:cNvPicPr>
            <a:picLocks noChangeAspect="1"/>
          </p:cNvPicPr>
          <p:nvPr/>
        </p:nvPicPr>
        <p:blipFill>
          <a:blip r:embed="rId6"/>
          <a:stretch>
            <a:fillRect/>
          </a:stretch>
        </p:blipFill>
        <p:spPr>
          <a:xfrm>
            <a:off x="1983620" y="4266004"/>
            <a:ext cx="4100284" cy="1376875"/>
          </a:xfrm>
          <a:prstGeom prst="rect">
            <a:avLst/>
          </a:prstGeom>
        </p:spPr>
      </p:pic>
      <p:pic>
        <p:nvPicPr>
          <p:cNvPr id="19" name="Imagen 18"/>
          <p:cNvPicPr>
            <a:picLocks noChangeAspect="1"/>
          </p:cNvPicPr>
          <p:nvPr/>
        </p:nvPicPr>
        <p:blipFill>
          <a:blip r:embed="rId4"/>
          <a:stretch>
            <a:fillRect/>
          </a:stretch>
        </p:blipFill>
        <p:spPr>
          <a:xfrm>
            <a:off x="3320007" y="2233859"/>
            <a:ext cx="2116939" cy="1472653"/>
          </a:xfrm>
          <a:prstGeom prst="rect">
            <a:avLst/>
          </a:prstGeom>
        </p:spPr>
      </p:pic>
      <p:pic>
        <p:nvPicPr>
          <p:cNvPr id="21" name="Imagen 20"/>
          <p:cNvPicPr>
            <a:picLocks noChangeAspect="1"/>
          </p:cNvPicPr>
          <p:nvPr/>
        </p:nvPicPr>
        <p:blipFill>
          <a:blip r:embed="rId7"/>
          <a:stretch>
            <a:fillRect/>
          </a:stretch>
        </p:blipFill>
        <p:spPr>
          <a:xfrm>
            <a:off x="6180666" y="2233859"/>
            <a:ext cx="1887393" cy="1635740"/>
          </a:xfrm>
          <a:prstGeom prst="rect">
            <a:avLst/>
          </a:prstGeom>
        </p:spPr>
      </p:pic>
      <p:sp>
        <p:nvSpPr>
          <p:cNvPr id="12" name="Marcador de número de diapositiva 11"/>
          <p:cNvSpPr>
            <a:spLocks noGrp="1"/>
          </p:cNvSpPr>
          <p:nvPr>
            <p:ph type="sldNum" sz="quarter" idx="12"/>
          </p:nvPr>
        </p:nvSpPr>
        <p:spPr/>
        <p:txBody>
          <a:bodyPr/>
          <a:lstStyle/>
          <a:p>
            <a:fld id="{9C1F5A0A-F6FC-4FFD-9B49-0DA8697211D9}" type="slidenum">
              <a:rPr lang="en-US" smtClean="0"/>
              <a:t>43</a:t>
            </a:fld>
            <a:endParaRPr lang="en-US"/>
          </a:p>
        </p:txBody>
      </p:sp>
    </p:spTree>
    <p:extLst>
      <p:ext uri="{BB962C8B-B14F-4D97-AF65-F5344CB8AC3E}">
        <p14:creationId xmlns:p14="http://schemas.microsoft.com/office/powerpoint/2010/main" val="1679242618"/>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Introducción</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a:latin typeface="Arial Black"/>
                <a:cs typeface="Arial Black"/>
              </a:rPr>
              <a:t>Introducción</a:t>
            </a:r>
            <a:endParaRPr lang="es-ES" sz="2200" u="sng" dirty="0" smtClean="0">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039568"/>
          </a:xfrm>
          <a:prstGeom prst="rect">
            <a:avLst/>
          </a:prstGeom>
        </p:spPr>
        <p:txBody>
          <a:bodyPr wrap="square">
            <a:spAutoFit/>
          </a:bodyPr>
          <a:lstStyle/>
          <a:p>
            <a:pPr algn="just">
              <a:lnSpc>
                <a:spcPct val="130000"/>
              </a:lnSpc>
            </a:pPr>
            <a:r>
              <a:rPr lang="es-ES" dirty="0" err="1">
                <a:solidFill>
                  <a:srgbClr val="FFFFFF"/>
                </a:solidFill>
                <a:latin typeface="Helvetica"/>
                <a:cs typeface="Helvetica"/>
              </a:rPr>
              <a:t>Polymer</a:t>
            </a:r>
            <a:r>
              <a:rPr lang="es-ES" dirty="0">
                <a:solidFill>
                  <a:srgbClr val="FFFFFF"/>
                </a:solidFill>
                <a:latin typeface="Helvetica"/>
                <a:cs typeface="Helvetica"/>
              </a:rPr>
              <a:t> es una potente librería para desarrollo de sitios web del lado del </a:t>
            </a:r>
            <a:r>
              <a:rPr lang="es-ES" dirty="0" smtClean="0">
                <a:solidFill>
                  <a:srgbClr val="FFFFFF"/>
                </a:solidFill>
                <a:latin typeface="Helvetica"/>
                <a:cs typeface="Helvetica"/>
              </a:rPr>
              <a:t>cliente , basada </a:t>
            </a:r>
            <a:r>
              <a:rPr lang="es-ES" dirty="0">
                <a:solidFill>
                  <a:srgbClr val="FFFFFF"/>
                </a:solidFill>
                <a:latin typeface="Helvetica"/>
                <a:cs typeface="Helvetica"/>
              </a:rPr>
              <a:t>en los estándares de los Web </a:t>
            </a:r>
            <a:r>
              <a:rPr lang="es-ES" dirty="0" err="1">
                <a:solidFill>
                  <a:srgbClr val="FFFFFF"/>
                </a:solidFill>
                <a:latin typeface="Helvetica"/>
                <a:cs typeface="Helvetica"/>
              </a:rPr>
              <a:t>Components</a:t>
            </a:r>
            <a:r>
              <a:rPr lang="es-ES" dirty="0" smtClean="0">
                <a:solidFill>
                  <a:srgbClr val="FFFFFF"/>
                </a:solidFill>
                <a:latin typeface="Helvetica"/>
                <a:cs typeface="Helvetica"/>
              </a:rPr>
              <a:t>.</a:t>
            </a:r>
          </a:p>
          <a:p>
            <a:pPr algn="just">
              <a:lnSpc>
                <a:spcPct val="130000"/>
              </a:lnSpc>
            </a:pPr>
            <a:endParaRPr lang="es-ES" dirty="0">
              <a:solidFill>
                <a:srgbClr val="FFFFFF"/>
              </a:solidFill>
              <a:latin typeface="Helvetica"/>
              <a:cs typeface="Helvetica"/>
            </a:endParaRPr>
          </a:p>
          <a:p>
            <a:pPr algn="just">
              <a:lnSpc>
                <a:spcPct val="130000"/>
              </a:lnSpc>
            </a:pPr>
            <a:r>
              <a:rPr lang="es-ES" dirty="0" err="1">
                <a:solidFill>
                  <a:srgbClr val="FFFFFF"/>
                </a:solidFill>
                <a:latin typeface="Helvetica"/>
                <a:cs typeface="Helvetica"/>
              </a:rPr>
              <a:t>Polymer</a:t>
            </a:r>
            <a:r>
              <a:rPr lang="es-ES" dirty="0">
                <a:solidFill>
                  <a:srgbClr val="FFFFFF"/>
                </a:solidFill>
                <a:latin typeface="Helvetica"/>
                <a:cs typeface="Helvetica"/>
              </a:rPr>
              <a:t> es una librería para realizar Web </a:t>
            </a:r>
            <a:r>
              <a:rPr lang="es-ES" dirty="0" err="1">
                <a:solidFill>
                  <a:srgbClr val="FFFFFF"/>
                </a:solidFill>
                <a:latin typeface="Helvetica"/>
                <a:cs typeface="Helvetica"/>
              </a:rPr>
              <a:t>Components</a:t>
            </a:r>
            <a:r>
              <a:rPr lang="es-ES" dirty="0">
                <a:solidFill>
                  <a:srgbClr val="FFFFFF"/>
                </a:solidFill>
                <a:latin typeface="Helvetica"/>
                <a:cs typeface="Helvetica"/>
              </a:rPr>
              <a:t> de una manera más rápida </a:t>
            </a:r>
            <a:r>
              <a:rPr lang="es-ES" dirty="0" smtClean="0">
                <a:solidFill>
                  <a:srgbClr val="FFFFFF"/>
                </a:solidFill>
                <a:latin typeface="Helvetica"/>
                <a:cs typeface="Helvetica"/>
              </a:rPr>
              <a:t>y productiva</a:t>
            </a:r>
            <a:r>
              <a:rPr lang="es-ES" dirty="0">
                <a:solidFill>
                  <a:srgbClr val="FFFFFF"/>
                </a:solidFill>
                <a:latin typeface="Helvetica"/>
                <a:cs typeface="Helvetica"/>
              </a:rPr>
              <a:t>, que además contiene un amplio catálogo de elementos disponibles para basar </a:t>
            </a:r>
            <a:r>
              <a:rPr lang="es-ES" dirty="0" smtClean="0">
                <a:solidFill>
                  <a:srgbClr val="FFFFFF"/>
                </a:solidFill>
                <a:latin typeface="Helvetica"/>
                <a:cs typeface="Helvetica"/>
              </a:rPr>
              <a:t>el desarrollo </a:t>
            </a:r>
            <a:r>
              <a:rPr lang="es-ES" dirty="0">
                <a:solidFill>
                  <a:srgbClr val="FFFFFF"/>
                </a:solidFill>
                <a:latin typeface="Helvetica"/>
                <a:cs typeface="Helvetica"/>
              </a:rPr>
              <a:t>de nuevos componentes</a:t>
            </a:r>
            <a:r>
              <a:rPr lang="es-ES" dirty="0" smtClean="0">
                <a:solidFill>
                  <a:srgbClr val="FFFFFF"/>
                </a:solidFill>
                <a:latin typeface="Helvetica"/>
                <a:cs typeface="Helvetica"/>
              </a:rPr>
              <a:t>.</a:t>
            </a:r>
          </a:p>
          <a:p>
            <a:pPr algn="just">
              <a:lnSpc>
                <a:spcPct val="130000"/>
              </a:lnSpc>
            </a:pPr>
            <a:endParaRPr lang="es-ES" dirty="0">
              <a:solidFill>
                <a:srgbClr val="FFFFFF"/>
              </a:solidFill>
              <a:latin typeface="Helvetica"/>
              <a:cs typeface="Helvetica"/>
            </a:endParaRPr>
          </a:p>
          <a:p>
            <a:pPr algn="just">
              <a:lnSpc>
                <a:spcPct val="130000"/>
              </a:lnSpc>
            </a:pPr>
            <a:r>
              <a:rPr lang="es-ES" dirty="0" err="1" smtClean="0">
                <a:solidFill>
                  <a:srgbClr val="FFFFFF"/>
                </a:solidFill>
                <a:latin typeface="Helvetica"/>
                <a:cs typeface="Helvetica"/>
              </a:rPr>
              <a:t>Polymer</a:t>
            </a:r>
            <a:r>
              <a:rPr lang="es-ES" dirty="0" smtClean="0">
                <a:solidFill>
                  <a:srgbClr val="FFFFFF"/>
                </a:solidFill>
                <a:latin typeface="Helvetica"/>
                <a:cs typeface="Helvetica"/>
              </a:rPr>
              <a:t> </a:t>
            </a:r>
            <a:r>
              <a:rPr lang="es-ES" dirty="0">
                <a:solidFill>
                  <a:srgbClr val="FFFFFF"/>
                </a:solidFill>
                <a:latin typeface="Helvetica"/>
                <a:cs typeface="Helvetica"/>
              </a:rPr>
              <a:t>se diferencia, con respecto a </a:t>
            </a:r>
            <a:r>
              <a:rPr lang="es-ES" dirty="0" err="1">
                <a:solidFill>
                  <a:srgbClr val="FFFFFF"/>
                </a:solidFill>
                <a:latin typeface="Helvetica"/>
                <a:cs typeface="Helvetica"/>
              </a:rPr>
              <a:t>AngularJS</a:t>
            </a:r>
            <a:r>
              <a:rPr lang="es-ES" dirty="0">
                <a:solidFill>
                  <a:srgbClr val="FFFFFF"/>
                </a:solidFill>
                <a:latin typeface="Helvetica"/>
                <a:cs typeface="Helvetica"/>
              </a:rPr>
              <a:t> o </a:t>
            </a:r>
            <a:r>
              <a:rPr lang="es-ES" dirty="0" err="1">
                <a:solidFill>
                  <a:srgbClr val="FFFFFF"/>
                </a:solidFill>
                <a:latin typeface="Helvetica"/>
                <a:cs typeface="Helvetica"/>
              </a:rPr>
              <a:t>ReactJS</a:t>
            </a:r>
            <a:r>
              <a:rPr lang="es-ES" dirty="0" smtClean="0">
                <a:solidFill>
                  <a:srgbClr val="FFFFFF"/>
                </a:solidFill>
                <a:latin typeface="Helvetica"/>
                <a:cs typeface="Helvetica"/>
              </a:rPr>
              <a:t>, por </a:t>
            </a:r>
            <a:r>
              <a:rPr lang="es-ES" dirty="0">
                <a:solidFill>
                  <a:srgbClr val="FFFFFF"/>
                </a:solidFill>
                <a:latin typeface="Helvetica"/>
                <a:cs typeface="Helvetica"/>
              </a:rPr>
              <a:t>estar construido encima de las especificaciones de los Web </a:t>
            </a:r>
            <a:r>
              <a:rPr lang="es-ES" dirty="0" err="1">
                <a:solidFill>
                  <a:srgbClr val="FFFFFF"/>
                </a:solidFill>
                <a:latin typeface="Helvetica"/>
                <a:cs typeface="Helvetica"/>
              </a:rPr>
              <a:t>Components</a:t>
            </a:r>
            <a:r>
              <a:rPr lang="es-ES" dirty="0" smtClean="0">
                <a:solidFill>
                  <a:srgbClr val="FFFFFF"/>
                </a:solidFill>
                <a:latin typeface="Helvetica"/>
                <a:cs typeface="Helvetica"/>
              </a:rPr>
              <a:t>.</a:t>
            </a:r>
          </a:p>
          <a:p>
            <a:pPr algn="just">
              <a:lnSpc>
                <a:spcPct val="130000"/>
              </a:lnSpc>
            </a:pPr>
            <a:endParaRPr lang="es-ES" dirty="0">
              <a:solidFill>
                <a:srgbClr val="FFFFFF"/>
              </a:solidFill>
              <a:latin typeface="Helvetica"/>
              <a:cs typeface="Helvetica"/>
            </a:endParaRPr>
          </a:p>
          <a:p>
            <a:pPr lvl="5" algn="just">
              <a:lnSpc>
                <a:spcPct val="130000"/>
              </a:lnSpc>
            </a:pPr>
            <a:r>
              <a:rPr lang="es-ES" dirty="0" err="1">
                <a:solidFill>
                  <a:srgbClr val="FFFFFF"/>
                </a:solidFill>
                <a:latin typeface="Helvetica"/>
                <a:cs typeface="Helvetica"/>
                <a:hlinkClick r:id="rId5"/>
              </a:rPr>
              <a:t>https</a:t>
            </a:r>
            <a:r>
              <a:rPr lang="es-ES" dirty="0">
                <a:solidFill>
                  <a:srgbClr val="FFFFFF"/>
                </a:solidFill>
                <a:latin typeface="Helvetica"/>
                <a:cs typeface="Helvetica"/>
                <a:hlinkClick r:id="rId5"/>
              </a:rPr>
              <a:t>://</a:t>
            </a:r>
            <a:r>
              <a:rPr lang="es-ES" dirty="0" err="1">
                <a:solidFill>
                  <a:srgbClr val="FFFFFF"/>
                </a:solidFill>
                <a:latin typeface="Helvetica"/>
                <a:cs typeface="Helvetica"/>
                <a:hlinkClick r:id="rId5"/>
              </a:rPr>
              <a:t>www.polymer-project.org</a:t>
            </a:r>
            <a:endParaRPr lang="es-ES"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44</a:t>
            </a:fld>
            <a:endParaRPr lang="en-US"/>
          </a:p>
        </p:txBody>
      </p:sp>
    </p:spTree>
    <p:extLst>
      <p:ext uri="{BB962C8B-B14F-4D97-AF65-F5344CB8AC3E}">
        <p14:creationId xmlns:p14="http://schemas.microsoft.com/office/powerpoint/2010/main" val="3605017056"/>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Introducción</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61665"/>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Historia &gt; </a:t>
            </a:r>
            <a:r>
              <a:rPr lang="nb-NO" sz="2400" dirty="0">
                <a:solidFill>
                  <a:srgbClr val="FFFFFF"/>
                </a:solidFill>
                <a:latin typeface="Helvetica"/>
                <a:cs typeface="Helvetica"/>
              </a:rPr>
              <a:t>Polymer 1.0 </a:t>
            </a:r>
            <a:r>
              <a:rPr lang="nb-NO" sz="2400" dirty="0" smtClean="0">
                <a:solidFill>
                  <a:srgbClr val="FFFFFF"/>
                </a:solidFill>
                <a:latin typeface="Helvetica"/>
                <a:cs typeface="Helvetica"/>
              </a:rPr>
              <a:t>&gt; 2015 </a:t>
            </a:r>
            <a:r>
              <a:rPr lang="nb-NO" sz="2400" dirty="0" smtClean="0">
                <a:solidFill>
                  <a:schemeClr val="accent3">
                    <a:lumMod val="60000"/>
                    <a:lumOff val="40000"/>
                  </a:schemeClr>
                </a:solidFill>
                <a:latin typeface="Helvetica"/>
                <a:cs typeface="Helvetica"/>
              </a:rPr>
              <a:t>(</a:t>
            </a:r>
            <a:r>
              <a:rPr lang="nb-NO" sz="2400" dirty="0" err="1" smtClean="0">
                <a:solidFill>
                  <a:schemeClr val="accent3">
                    <a:lumMod val="60000"/>
                    <a:lumOff val="40000"/>
                  </a:schemeClr>
                </a:solidFill>
                <a:latin typeface="Helvetica"/>
                <a:cs typeface="Helvetica"/>
              </a:rPr>
              <a:t>Obsoleto</a:t>
            </a:r>
            <a:r>
              <a:rPr lang="nb-NO" sz="2400" dirty="0" smtClean="0">
                <a:solidFill>
                  <a:schemeClr val="accent3">
                    <a:lumMod val="60000"/>
                    <a:lumOff val="40000"/>
                  </a:schemeClr>
                </a:solidFill>
                <a:latin typeface="Helvetica"/>
                <a:cs typeface="Helvetica"/>
              </a:rPr>
              <a:t>)</a:t>
            </a:r>
            <a:endParaRPr lang="es-ES" sz="2200" u="sng" dirty="0" smtClean="0">
              <a:solidFill>
                <a:schemeClr val="accent3">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039568"/>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r>
              <a:rPr lang="nb-NO" dirty="0" err="1" smtClean="0"/>
              <a:t>Polyfills</a:t>
            </a:r>
            <a:r>
              <a:rPr lang="nb-NO" dirty="0" smtClean="0"/>
              <a:t>.</a:t>
            </a:r>
          </a:p>
          <a:p>
            <a:pPr marL="285750" indent="-285750" algn="just">
              <a:lnSpc>
                <a:spcPct val="130000"/>
              </a:lnSpc>
              <a:buFont typeface="Arial"/>
              <a:buChar char="•"/>
            </a:pPr>
            <a:r>
              <a:rPr lang="nb-NO" dirty="0" err="1" smtClean="0"/>
              <a:t>Registro</a:t>
            </a:r>
            <a:r>
              <a:rPr lang="nb-NO" dirty="0" smtClean="0"/>
              <a:t> de </a:t>
            </a:r>
            <a:r>
              <a:rPr lang="nb-NO" dirty="0" err="1" smtClean="0"/>
              <a:t>elementos</a:t>
            </a:r>
            <a:r>
              <a:rPr lang="nb-NO" dirty="0" smtClean="0"/>
              <a:t> </a:t>
            </a:r>
            <a:r>
              <a:rPr lang="nb-NO" dirty="0" err="1" smtClean="0"/>
              <a:t>mediante</a:t>
            </a:r>
            <a:r>
              <a:rPr lang="nb-NO" dirty="0"/>
              <a:t> </a:t>
            </a:r>
            <a:r>
              <a:rPr lang="nb-NO" dirty="0" err="1" smtClean="0"/>
              <a:t>document.createElement</a:t>
            </a:r>
            <a:r>
              <a:rPr lang="nb-NO" dirty="0" smtClean="0"/>
              <a:t>.</a:t>
            </a:r>
          </a:p>
          <a:p>
            <a:pPr marL="285750" indent="-285750" algn="just">
              <a:lnSpc>
                <a:spcPct val="130000"/>
              </a:lnSpc>
              <a:buFont typeface="Arial"/>
              <a:buChar char="•"/>
            </a:pPr>
            <a:r>
              <a:rPr lang="nb-NO" dirty="0" err="1" smtClean="0"/>
              <a:t>Clase</a:t>
            </a:r>
            <a:r>
              <a:rPr lang="nb-NO" dirty="0" smtClean="0"/>
              <a:t> base sobre la </a:t>
            </a:r>
            <a:r>
              <a:rPr lang="nb-NO" dirty="0" err="1" smtClean="0"/>
              <a:t>que</a:t>
            </a:r>
            <a:r>
              <a:rPr lang="nb-NO" dirty="0" smtClean="0"/>
              <a:t> se </a:t>
            </a:r>
            <a:r>
              <a:rPr lang="nb-NO" dirty="0" err="1" smtClean="0"/>
              <a:t>extiende</a:t>
            </a:r>
            <a:r>
              <a:rPr lang="nb-NO" dirty="0"/>
              <a:t> (</a:t>
            </a:r>
            <a:r>
              <a:rPr lang="nb-NO" dirty="0" err="1" smtClean="0"/>
              <a:t>HTMLElement</a:t>
            </a:r>
            <a:r>
              <a:rPr lang="nb-NO" dirty="0" smtClean="0"/>
              <a:t>)</a:t>
            </a:r>
          </a:p>
          <a:p>
            <a:pPr marL="285750" indent="-285750" algn="just">
              <a:lnSpc>
                <a:spcPct val="130000"/>
              </a:lnSpc>
              <a:buFont typeface="Arial"/>
              <a:buChar char="•"/>
            </a:pPr>
            <a:r>
              <a:rPr lang="nb-NO" dirty="0" smtClean="0"/>
              <a:t>Uso de </a:t>
            </a:r>
            <a:r>
              <a:rPr lang="nb-NO" dirty="0" err="1" smtClean="0"/>
              <a:t>Bowel</a:t>
            </a:r>
            <a:r>
              <a:rPr lang="nb-NO" dirty="0" smtClean="0"/>
              <a:t> para </a:t>
            </a:r>
            <a:r>
              <a:rPr lang="nb-NO" dirty="0" err="1" smtClean="0"/>
              <a:t>gestión</a:t>
            </a:r>
            <a:r>
              <a:rPr lang="nb-NO" dirty="0" smtClean="0"/>
              <a:t> de </a:t>
            </a:r>
            <a:r>
              <a:rPr lang="nb-NO" dirty="0" err="1" smtClean="0"/>
              <a:t>dependencias</a:t>
            </a:r>
            <a:r>
              <a:rPr lang="nb-NO" dirty="0" smtClean="0"/>
              <a:t>.</a:t>
            </a:r>
          </a:p>
          <a:p>
            <a:pPr marL="285750" indent="-285750" algn="just">
              <a:lnSpc>
                <a:spcPct val="130000"/>
              </a:lnSpc>
              <a:buFont typeface="Arial"/>
              <a:buChar char="•"/>
            </a:pPr>
            <a:r>
              <a:rPr lang="nb-NO" dirty="0" err="1"/>
              <a:t>Librería</a:t>
            </a:r>
            <a:r>
              <a:rPr lang="nb-NO" dirty="0"/>
              <a:t> de </a:t>
            </a:r>
            <a:r>
              <a:rPr lang="nb-NO" dirty="0" err="1"/>
              <a:t>elementos</a:t>
            </a:r>
            <a:r>
              <a:rPr lang="nb-NO" dirty="0"/>
              <a:t> </a:t>
            </a:r>
            <a:r>
              <a:rPr lang="nb-NO" dirty="0" err="1"/>
              <a:t>clasificados</a:t>
            </a:r>
            <a:r>
              <a:rPr lang="nb-NO" dirty="0"/>
              <a:t> para Web/mobile (</a:t>
            </a:r>
            <a:r>
              <a:rPr lang="nb-NO" dirty="0" err="1"/>
              <a:t>PolymerElements</a:t>
            </a:r>
            <a:r>
              <a:rPr lang="nb-NO" dirty="0"/>
              <a:t>) .Una </a:t>
            </a:r>
            <a:r>
              <a:rPr lang="nb-NO" dirty="0" err="1"/>
              <a:t>parte</a:t>
            </a:r>
            <a:r>
              <a:rPr lang="nb-NO" dirty="0"/>
              <a:t> de </a:t>
            </a:r>
            <a:r>
              <a:rPr lang="nb-NO" dirty="0" err="1"/>
              <a:t>estos</a:t>
            </a:r>
            <a:r>
              <a:rPr lang="nb-NO" dirty="0"/>
              <a:t> </a:t>
            </a:r>
            <a:r>
              <a:rPr lang="nb-NO" dirty="0" err="1"/>
              <a:t>elementos</a:t>
            </a:r>
            <a:r>
              <a:rPr lang="nb-NO" dirty="0"/>
              <a:t> son </a:t>
            </a:r>
            <a:r>
              <a:rPr lang="nb-NO" dirty="0" err="1"/>
              <a:t>visuales</a:t>
            </a:r>
            <a:r>
              <a:rPr lang="nb-NO" dirty="0"/>
              <a:t> </a:t>
            </a:r>
            <a:r>
              <a:rPr lang="nb-NO" dirty="0" err="1"/>
              <a:t>PaperElemnent</a:t>
            </a:r>
            <a:r>
              <a:rPr lang="nb-NO" dirty="0"/>
              <a:t> (Material Design).</a:t>
            </a:r>
          </a:p>
          <a:p>
            <a:pPr marL="285750" indent="-285750" algn="just">
              <a:lnSpc>
                <a:spcPct val="130000"/>
              </a:lnSpc>
              <a:buFont typeface="Arial"/>
              <a:buChar char="•"/>
            </a:pPr>
            <a:r>
              <a:rPr lang="nb-NO" dirty="0" err="1" smtClean="0">
                <a:solidFill>
                  <a:srgbClr val="FFFFFF"/>
                </a:solidFill>
                <a:latin typeface="Helvetica"/>
                <a:cs typeface="Helvetica"/>
              </a:rPr>
              <a:t>Creacion</a:t>
            </a:r>
            <a:r>
              <a:rPr lang="nb-NO" dirty="0" smtClean="0">
                <a:solidFill>
                  <a:srgbClr val="FFFFFF"/>
                </a:solidFill>
                <a:latin typeface="Helvetica"/>
                <a:cs typeface="Helvetica"/>
              </a:rPr>
              <a:t> de </a:t>
            </a:r>
            <a:r>
              <a:rPr lang="nb-NO" dirty="0" err="1" smtClean="0">
                <a:solidFill>
                  <a:srgbClr val="FFFFFF"/>
                </a:solidFill>
                <a:latin typeface="Helvetica"/>
                <a:cs typeface="Helvetica"/>
              </a:rPr>
              <a:t>componentes</a:t>
            </a:r>
            <a:r>
              <a:rPr lang="nb-NO" dirty="0" smtClean="0">
                <a:solidFill>
                  <a:srgbClr val="FFFFFF"/>
                </a:solidFill>
                <a:latin typeface="Helvetica"/>
                <a:cs typeface="Helvetica"/>
              </a:rPr>
              <a:t> </a:t>
            </a:r>
            <a:r>
              <a:rPr lang="nb-NO" dirty="0" err="1" smtClean="0">
                <a:solidFill>
                  <a:srgbClr val="FFFFFF"/>
                </a:solidFill>
                <a:latin typeface="Helvetica"/>
                <a:cs typeface="Helvetica"/>
              </a:rPr>
              <a:t>basada</a:t>
            </a:r>
            <a:r>
              <a:rPr lang="nb-NO" dirty="0" smtClean="0">
                <a:solidFill>
                  <a:srgbClr val="FFFFFF"/>
                </a:solidFill>
                <a:latin typeface="Helvetica"/>
                <a:cs typeface="Helvetica"/>
              </a:rPr>
              <a:t> en </a:t>
            </a:r>
            <a:r>
              <a:rPr lang="nb-NO" dirty="0" err="1" smtClean="0">
                <a:solidFill>
                  <a:srgbClr val="FFFFFF"/>
                </a:solidFill>
                <a:latin typeface="Helvetica"/>
                <a:cs typeface="Helvetica"/>
              </a:rPr>
              <a:t>WebComponents</a:t>
            </a:r>
            <a:r>
              <a:rPr lang="nb-NO" dirty="0" smtClean="0">
                <a:solidFill>
                  <a:srgbClr val="FFFFFF"/>
                </a:solidFill>
                <a:latin typeface="Helvetica"/>
                <a:cs typeface="Helvetica"/>
              </a:rPr>
              <a:t> v0</a:t>
            </a:r>
          </a:p>
          <a:p>
            <a:pPr marL="285750" indent="-285750" algn="just">
              <a:lnSpc>
                <a:spcPct val="130000"/>
              </a:lnSpc>
              <a:buFont typeface="Arial"/>
              <a:buChar char="•"/>
            </a:pPr>
            <a:r>
              <a:rPr lang="nb-NO" dirty="0" err="1" smtClean="0">
                <a:solidFill>
                  <a:srgbClr val="FFFFFF"/>
                </a:solidFill>
                <a:latin typeface="Helvetica"/>
                <a:cs typeface="Helvetica"/>
              </a:rPr>
              <a:t>Polimer</a:t>
            </a:r>
            <a:r>
              <a:rPr lang="nb-NO" dirty="0" smtClean="0">
                <a:solidFill>
                  <a:srgbClr val="FFFFFF"/>
                </a:solidFill>
                <a:latin typeface="Helvetica"/>
                <a:cs typeface="Helvetica"/>
              </a:rPr>
              <a:t> CLI</a:t>
            </a:r>
            <a:endParaRPr lang="nb-NO" dirty="0">
              <a:solidFill>
                <a:srgbClr val="FFFFFF"/>
              </a:solidFill>
              <a:latin typeface="Helvetica"/>
              <a:cs typeface="Helvetica"/>
            </a:endParaRPr>
          </a:p>
          <a:p>
            <a:pPr algn="just">
              <a:lnSpc>
                <a:spcPct val="130000"/>
              </a:lnSpc>
            </a:pPr>
            <a:r>
              <a:rPr lang="nb-NO" dirty="0" smtClean="0">
                <a:solidFill>
                  <a:srgbClr val="FFFFFF"/>
                </a:solidFill>
                <a:latin typeface="Helvetica"/>
                <a:cs typeface="Helvetica"/>
              </a:rPr>
              <a:t>	</a:t>
            </a:r>
            <a:endParaRPr lang="es-ES" dirty="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45</a:t>
            </a:fld>
            <a:endParaRPr lang="en-US"/>
          </a:p>
        </p:txBody>
      </p:sp>
    </p:spTree>
    <p:extLst>
      <p:ext uri="{BB962C8B-B14F-4D97-AF65-F5344CB8AC3E}">
        <p14:creationId xmlns:p14="http://schemas.microsoft.com/office/powerpoint/2010/main" val="1405695136"/>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Introducción</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61665"/>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Historia &gt; </a:t>
            </a:r>
            <a:r>
              <a:rPr lang="nb-NO" sz="2400" dirty="0">
                <a:solidFill>
                  <a:srgbClr val="FFFFFF"/>
                </a:solidFill>
                <a:latin typeface="Helvetica"/>
                <a:cs typeface="Helvetica"/>
              </a:rPr>
              <a:t>Polymer </a:t>
            </a:r>
            <a:r>
              <a:rPr lang="nb-NO" sz="2400" dirty="0" smtClean="0">
                <a:solidFill>
                  <a:srgbClr val="FFFFFF"/>
                </a:solidFill>
                <a:latin typeface="Helvetica"/>
                <a:cs typeface="Helvetica"/>
              </a:rPr>
              <a:t>1.0 &gt; </a:t>
            </a:r>
            <a:r>
              <a:rPr lang="nb-NO" sz="2400" dirty="0" err="1" smtClean="0">
                <a:solidFill>
                  <a:srgbClr val="FFFFFF"/>
                </a:solidFill>
                <a:latin typeface="Helvetica"/>
                <a:cs typeface="Helvetica"/>
              </a:rPr>
              <a:t>Ejemplo</a:t>
            </a:r>
            <a:r>
              <a:rPr lang="nb-NO" sz="2400" dirty="0" smtClean="0">
                <a:solidFill>
                  <a:srgbClr val="FFFFFF"/>
                </a:solidFill>
                <a:latin typeface="Helvetica"/>
                <a:cs typeface="Helvetica"/>
              </a:rPr>
              <a:t> Hola </a:t>
            </a:r>
            <a:r>
              <a:rPr lang="nb-NO" sz="2400" dirty="0" err="1" smtClean="0">
                <a:solidFill>
                  <a:srgbClr val="FFFFFF"/>
                </a:solidFill>
                <a:latin typeface="Helvetica"/>
                <a:cs typeface="Helvetica"/>
              </a:rPr>
              <a:t>Mundo</a:t>
            </a:r>
            <a:endParaRPr lang="es-ES" sz="2200" u="sng" dirty="0" smtClean="0">
              <a:solidFill>
                <a:schemeClr val="accent3">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758214" y="1618914"/>
            <a:ext cx="7005407" cy="4401204"/>
          </a:xfrm>
          <a:prstGeom prst="rect">
            <a:avLst/>
          </a:prstGeom>
          <a:solidFill>
            <a:schemeClr val="bg2">
              <a:lumMod val="75000"/>
              <a:lumOff val="25000"/>
            </a:schemeClr>
          </a:solidFill>
          <a:ln w="12700" cmpd="sng">
            <a:solidFill>
              <a:srgbClr val="3366FF"/>
            </a:solidFill>
          </a:ln>
        </p:spPr>
        <p:txBody>
          <a:bodyPr wrap="square">
            <a:spAutoFit/>
          </a:bodyPr>
          <a:lstStyle/>
          <a:p>
            <a:r>
              <a:rPr lang="en-US" sz="1400" dirty="0" smtClean="0"/>
              <a:t>&lt;!</a:t>
            </a:r>
            <a:r>
              <a:rPr lang="mr-IN" sz="1400" dirty="0" smtClean="0"/>
              <a:t>–</a:t>
            </a:r>
            <a:r>
              <a:rPr lang="en-US" sz="1400" dirty="0" smtClean="0"/>
              <a:t> </a:t>
            </a:r>
            <a:r>
              <a:rPr lang="en-US" sz="1400" dirty="0" err="1" smtClean="0"/>
              <a:t>hola</a:t>
            </a:r>
            <a:r>
              <a:rPr lang="en-US" sz="1400" dirty="0" smtClean="0"/>
              <a:t>-</a:t>
            </a:r>
            <a:r>
              <a:rPr lang="en-US" sz="1400" dirty="0"/>
              <a:t>polymer-</a:t>
            </a:r>
            <a:r>
              <a:rPr lang="en-US" sz="1400" dirty="0" err="1" smtClean="0"/>
              <a:t>scratch.html</a:t>
            </a:r>
            <a:r>
              <a:rPr lang="en-US" sz="1400" dirty="0" smtClean="0"/>
              <a:t> --&gt;</a:t>
            </a:r>
          </a:p>
          <a:p>
            <a:r>
              <a:rPr lang="en-US" sz="1400" dirty="0" smtClean="0"/>
              <a:t>&lt;</a:t>
            </a:r>
            <a:r>
              <a:rPr lang="en-US" sz="1400" dirty="0"/>
              <a:t>link </a:t>
            </a:r>
            <a:r>
              <a:rPr lang="en-US" sz="1400" dirty="0" err="1"/>
              <a:t>rel</a:t>
            </a:r>
            <a:r>
              <a:rPr lang="en-US" sz="1400" dirty="0"/>
              <a:t>="import" </a:t>
            </a:r>
            <a:r>
              <a:rPr lang="en-US" sz="1400" dirty="0" err="1"/>
              <a:t>href</a:t>
            </a:r>
            <a:r>
              <a:rPr lang="en-US" sz="1400" dirty="0"/>
              <a:t>="../</a:t>
            </a:r>
            <a:r>
              <a:rPr lang="en-US" sz="1400" dirty="0" err="1"/>
              <a:t>bower_components</a:t>
            </a:r>
            <a:r>
              <a:rPr lang="en-US" sz="1400" dirty="0"/>
              <a:t>\polymer\</a:t>
            </a:r>
            <a:r>
              <a:rPr lang="en-US" sz="1400" dirty="0" err="1"/>
              <a:t>polymer.html</a:t>
            </a:r>
            <a:r>
              <a:rPr lang="en-US" sz="1400" dirty="0"/>
              <a:t>"&gt;</a:t>
            </a:r>
          </a:p>
          <a:p>
            <a:endParaRPr lang="en-US" sz="1400" dirty="0"/>
          </a:p>
          <a:p>
            <a:r>
              <a:rPr lang="en-US" sz="1400" dirty="0"/>
              <a:t>&lt;</a:t>
            </a:r>
            <a:r>
              <a:rPr lang="en-US" sz="1400" dirty="0" err="1"/>
              <a:t>dom</a:t>
            </a:r>
            <a:r>
              <a:rPr lang="en-US" sz="1400" dirty="0"/>
              <a:t>-module id="</a:t>
            </a:r>
            <a:r>
              <a:rPr lang="en-US" sz="1400" dirty="0" err="1" smtClean="0"/>
              <a:t>hola</a:t>
            </a:r>
            <a:r>
              <a:rPr lang="en-US" sz="1400" dirty="0" smtClean="0"/>
              <a:t>-</a:t>
            </a:r>
            <a:r>
              <a:rPr lang="en-US" sz="1400" dirty="0"/>
              <a:t>polymer-scratch"&gt;</a:t>
            </a:r>
          </a:p>
          <a:p>
            <a:r>
              <a:rPr lang="en-US" sz="1400" dirty="0"/>
              <a:t>  &lt;template&gt;</a:t>
            </a:r>
          </a:p>
          <a:p>
            <a:r>
              <a:rPr lang="en-US" sz="1400" dirty="0"/>
              <a:t>    &lt;p&gt;</a:t>
            </a:r>
            <a:r>
              <a:rPr lang="en-US" sz="1400" dirty="0" err="1"/>
              <a:t>Hola</a:t>
            </a:r>
            <a:r>
              <a:rPr lang="en-US" sz="1400" dirty="0"/>
              <a:t>, &lt;strong&gt;[[who]]&lt;/strong&gt;&lt;/p&gt;</a:t>
            </a:r>
          </a:p>
          <a:p>
            <a:r>
              <a:rPr lang="en-US" sz="1400" dirty="0"/>
              <a:t>  &lt;/template&gt;</a:t>
            </a:r>
          </a:p>
          <a:p>
            <a:r>
              <a:rPr lang="en-US" sz="1400" dirty="0"/>
              <a:t>&lt;/</a:t>
            </a:r>
            <a:r>
              <a:rPr lang="en-US" sz="1400" dirty="0" err="1"/>
              <a:t>dom</a:t>
            </a:r>
            <a:r>
              <a:rPr lang="en-US" sz="1400" dirty="0"/>
              <a:t>-module&gt;</a:t>
            </a:r>
          </a:p>
          <a:p>
            <a:r>
              <a:rPr lang="en-US" sz="1400" dirty="0"/>
              <a:t>&lt;script&gt;</a:t>
            </a:r>
          </a:p>
          <a:p>
            <a:r>
              <a:rPr lang="en-US" sz="1400" dirty="0"/>
              <a:t>Polymer({</a:t>
            </a:r>
          </a:p>
          <a:p>
            <a:r>
              <a:rPr lang="en-US" sz="1400" dirty="0"/>
              <a:t>  is: '</a:t>
            </a:r>
            <a:r>
              <a:rPr lang="en-US" sz="1400" dirty="0" err="1" smtClean="0"/>
              <a:t>hola</a:t>
            </a:r>
            <a:r>
              <a:rPr lang="en-US" sz="1400" dirty="0" smtClean="0"/>
              <a:t>-</a:t>
            </a:r>
            <a:r>
              <a:rPr lang="en-US" sz="1400" dirty="0"/>
              <a:t>polymer-scratch',</a:t>
            </a:r>
          </a:p>
          <a:p>
            <a:r>
              <a:rPr lang="en-US" sz="1400" dirty="0"/>
              <a:t>  properties: {</a:t>
            </a:r>
          </a:p>
          <a:p>
            <a:r>
              <a:rPr lang="en-US" sz="1400" dirty="0"/>
              <a:t>    who: {</a:t>
            </a:r>
          </a:p>
          <a:p>
            <a:r>
              <a:rPr lang="en-US" sz="1400" dirty="0"/>
              <a:t>      type: String,</a:t>
            </a:r>
          </a:p>
          <a:p>
            <a:r>
              <a:rPr lang="en-US" sz="1400" dirty="0"/>
              <a:t>      value: </a:t>
            </a:r>
            <a:r>
              <a:rPr lang="en-US" sz="1400" dirty="0" smtClean="0"/>
              <a:t>’¡</a:t>
            </a:r>
            <a:r>
              <a:rPr lang="en-US" sz="1400" dirty="0" err="1" smtClean="0"/>
              <a:t>Hola</a:t>
            </a:r>
            <a:r>
              <a:rPr lang="en-US" sz="1400" dirty="0" smtClean="0"/>
              <a:t> </a:t>
            </a:r>
            <a:r>
              <a:rPr lang="en-US" sz="1400" dirty="0" err="1"/>
              <a:t>Desde</a:t>
            </a:r>
            <a:r>
              <a:rPr lang="en-US" sz="1400" dirty="0"/>
              <a:t> Polymer!'</a:t>
            </a:r>
          </a:p>
          <a:p>
            <a:r>
              <a:rPr lang="en-US" sz="1400" dirty="0"/>
              <a:t>    }</a:t>
            </a:r>
          </a:p>
          <a:p>
            <a:r>
              <a:rPr lang="en-US" sz="1400" dirty="0"/>
              <a:t>  }</a:t>
            </a:r>
          </a:p>
          <a:p>
            <a:r>
              <a:rPr lang="en-US" sz="1400" dirty="0"/>
              <a:t>});</a:t>
            </a:r>
          </a:p>
          <a:p>
            <a:endParaRPr lang="en-US" sz="1400" dirty="0"/>
          </a:p>
          <a:p>
            <a:r>
              <a:rPr lang="en-US" sz="1400" dirty="0"/>
              <a:t>&lt;/script&gt;</a:t>
            </a:r>
          </a:p>
        </p:txBody>
      </p:sp>
      <p:sp>
        <p:nvSpPr>
          <p:cNvPr id="12" name="Marcador de número de diapositiva 11"/>
          <p:cNvSpPr>
            <a:spLocks noGrp="1"/>
          </p:cNvSpPr>
          <p:nvPr>
            <p:ph type="sldNum" sz="quarter" idx="12"/>
          </p:nvPr>
        </p:nvSpPr>
        <p:spPr/>
        <p:txBody>
          <a:bodyPr/>
          <a:lstStyle/>
          <a:p>
            <a:fld id="{9C1F5A0A-F6FC-4FFD-9B49-0DA8697211D9}" type="slidenum">
              <a:rPr lang="en-US" smtClean="0"/>
              <a:t>46</a:t>
            </a:fld>
            <a:endParaRPr lang="en-US"/>
          </a:p>
        </p:txBody>
      </p:sp>
    </p:spTree>
    <p:extLst>
      <p:ext uri="{BB962C8B-B14F-4D97-AF65-F5344CB8AC3E}">
        <p14:creationId xmlns:p14="http://schemas.microsoft.com/office/powerpoint/2010/main" val="778218273"/>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Introducción</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61665"/>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Historia &gt; </a:t>
            </a:r>
            <a:r>
              <a:rPr lang="nb-NO" sz="2400" dirty="0">
                <a:solidFill>
                  <a:srgbClr val="FFFFFF"/>
                </a:solidFill>
                <a:latin typeface="Helvetica"/>
                <a:cs typeface="Helvetica"/>
              </a:rPr>
              <a:t>Polymer </a:t>
            </a:r>
            <a:r>
              <a:rPr lang="nb-NO" sz="2400" dirty="0" smtClean="0">
                <a:solidFill>
                  <a:srgbClr val="FFFFFF"/>
                </a:solidFill>
                <a:latin typeface="Helvetica"/>
                <a:cs typeface="Helvetica"/>
              </a:rPr>
              <a:t>1.0 </a:t>
            </a:r>
            <a:r>
              <a:rPr lang="nb-NO" sz="2400" dirty="0">
                <a:solidFill>
                  <a:srgbClr val="FFFFFF"/>
                </a:solidFill>
                <a:latin typeface="Helvetica"/>
                <a:cs typeface="Helvetica"/>
              </a:rPr>
              <a:t>&gt; </a:t>
            </a:r>
            <a:r>
              <a:rPr lang="nb-NO" sz="2400" dirty="0" err="1">
                <a:solidFill>
                  <a:srgbClr val="FFFFFF"/>
                </a:solidFill>
                <a:latin typeface="Helvetica"/>
                <a:cs typeface="Helvetica"/>
              </a:rPr>
              <a:t>Ejemplo</a:t>
            </a:r>
            <a:r>
              <a:rPr lang="nb-NO" sz="2400" dirty="0">
                <a:solidFill>
                  <a:srgbClr val="FFFFFF"/>
                </a:solidFill>
                <a:latin typeface="Helvetica"/>
                <a:cs typeface="Helvetica"/>
              </a:rPr>
              <a:t> Hola </a:t>
            </a:r>
            <a:r>
              <a:rPr lang="nb-NO" sz="2400" dirty="0" err="1">
                <a:solidFill>
                  <a:srgbClr val="FFFFFF"/>
                </a:solidFill>
                <a:latin typeface="Helvetica"/>
                <a:cs typeface="Helvetica"/>
              </a:rPr>
              <a:t>Mundo</a:t>
            </a:r>
            <a:endParaRPr lang="es-ES" sz="2200" u="sng" dirty="0" smtClean="0">
              <a:solidFill>
                <a:schemeClr val="accent3">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758214" y="1618914"/>
            <a:ext cx="7005407" cy="3108544"/>
          </a:xfrm>
          <a:prstGeom prst="rect">
            <a:avLst/>
          </a:prstGeom>
          <a:solidFill>
            <a:schemeClr val="bg2">
              <a:lumMod val="75000"/>
              <a:lumOff val="25000"/>
            </a:schemeClr>
          </a:solidFill>
          <a:ln w="12700" cmpd="sng">
            <a:solidFill>
              <a:srgbClr val="3366FF"/>
            </a:solidFill>
          </a:ln>
        </p:spPr>
        <p:txBody>
          <a:bodyPr wrap="square">
            <a:spAutoFit/>
          </a:bodyPr>
          <a:lstStyle/>
          <a:p>
            <a:r>
              <a:rPr lang="es-ES" sz="1400" dirty="0"/>
              <a:t>&lt;!DOCTYPE </a:t>
            </a:r>
            <a:r>
              <a:rPr lang="es-ES" sz="1400" dirty="0" err="1"/>
              <a:t>html</a:t>
            </a:r>
            <a:r>
              <a:rPr lang="es-ES" sz="1400" dirty="0"/>
              <a:t>&gt;</a:t>
            </a:r>
            <a:br>
              <a:rPr lang="es-ES" sz="1400" dirty="0"/>
            </a:br>
            <a:r>
              <a:rPr lang="es-ES" sz="1400" dirty="0"/>
              <a:t>&lt;</a:t>
            </a:r>
            <a:r>
              <a:rPr lang="es-ES" sz="1400" dirty="0" err="1"/>
              <a:t>html</a:t>
            </a:r>
            <a:r>
              <a:rPr lang="es-ES" sz="1400" dirty="0"/>
              <a:t>&gt;</a:t>
            </a:r>
            <a:br>
              <a:rPr lang="es-ES" sz="1400" dirty="0"/>
            </a:br>
            <a:r>
              <a:rPr lang="es-ES" sz="1400" dirty="0"/>
              <a:t>  &lt;head&gt;</a:t>
            </a:r>
            <a:br>
              <a:rPr lang="es-ES" sz="1400" dirty="0"/>
            </a:br>
            <a:r>
              <a:rPr lang="es-ES" sz="1400" dirty="0"/>
              <a:t>    &lt;meta </a:t>
            </a:r>
            <a:r>
              <a:rPr lang="es-ES" sz="1400" dirty="0" err="1"/>
              <a:t>charset</a:t>
            </a:r>
            <a:r>
              <a:rPr lang="es-ES" sz="1400" dirty="0"/>
              <a:t>="utf-8"&gt;</a:t>
            </a:r>
            <a:br>
              <a:rPr lang="es-ES" sz="1400" dirty="0"/>
            </a:br>
            <a:r>
              <a:rPr lang="es-ES" sz="1400" dirty="0"/>
              <a:t>    &lt;</a:t>
            </a:r>
            <a:r>
              <a:rPr lang="es-ES" sz="1400" dirty="0" err="1"/>
              <a:t>title</a:t>
            </a:r>
            <a:r>
              <a:rPr lang="es-ES" sz="1400" dirty="0"/>
              <a:t>&gt;</a:t>
            </a:r>
            <a:r>
              <a:rPr lang="es-ES" sz="1400" dirty="0" smtClean="0"/>
              <a:t>Hola&lt;</a:t>
            </a:r>
            <a:r>
              <a:rPr lang="es-ES" sz="1400" dirty="0"/>
              <a:t>/</a:t>
            </a:r>
            <a:r>
              <a:rPr lang="es-ES" sz="1400" dirty="0" err="1"/>
              <a:t>title</a:t>
            </a:r>
            <a:r>
              <a:rPr lang="es-ES" sz="1400" dirty="0"/>
              <a:t>&gt;</a:t>
            </a:r>
            <a:br>
              <a:rPr lang="es-ES" sz="1400" dirty="0"/>
            </a:br>
            <a:r>
              <a:rPr lang="es-ES" sz="1400" dirty="0"/>
              <a:t>    &lt;script </a:t>
            </a:r>
            <a:r>
              <a:rPr lang="es-ES" sz="1400" dirty="0" err="1"/>
              <a:t>src</a:t>
            </a:r>
            <a:r>
              <a:rPr lang="es-ES" sz="1400" dirty="0"/>
              <a:t>="</a:t>
            </a:r>
            <a:r>
              <a:rPr lang="es-ES" sz="1400" dirty="0" err="1"/>
              <a:t>bower_components</a:t>
            </a:r>
            <a:r>
              <a:rPr lang="es-ES" sz="1400" dirty="0"/>
              <a:t>\</a:t>
            </a:r>
            <a:r>
              <a:rPr lang="es-ES" sz="1400" dirty="0" err="1"/>
              <a:t>webcomponentsjs</a:t>
            </a:r>
            <a:r>
              <a:rPr lang="es-ES" sz="1400" dirty="0"/>
              <a:t>\</a:t>
            </a:r>
            <a:r>
              <a:rPr lang="es-ES" sz="1400" dirty="0" err="1"/>
              <a:t>webcomponents.min.js</a:t>
            </a:r>
            <a:r>
              <a:rPr lang="es-ES" sz="1400" dirty="0"/>
              <a:t>"&gt;&lt;/script&gt;</a:t>
            </a:r>
            <a:br>
              <a:rPr lang="es-ES" sz="1400" dirty="0"/>
            </a:br>
            <a:r>
              <a:rPr lang="es-ES" sz="1400" dirty="0"/>
              <a:t>    &lt;link </a:t>
            </a:r>
            <a:r>
              <a:rPr lang="es-ES" sz="1400" dirty="0" err="1"/>
              <a:t>rel</a:t>
            </a:r>
            <a:r>
              <a:rPr lang="es-ES" sz="1400" dirty="0"/>
              <a:t>="</a:t>
            </a:r>
            <a:r>
              <a:rPr lang="es-ES" sz="1400" dirty="0" err="1"/>
              <a:t>import</a:t>
            </a:r>
            <a:r>
              <a:rPr lang="es-ES" sz="1400" dirty="0"/>
              <a:t>" </a:t>
            </a:r>
            <a:r>
              <a:rPr lang="es-ES" sz="1400" dirty="0" err="1"/>
              <a:t>href</a:t>
            </a:r>
            <a:r>
              <a:rPr lang="es-ES" sz="1400" dirty="0"/>
              <a:t>="</a:t>
            </a:r>
            <a:r>
              <a:rPr lang="es-ES" sz="1400" dirty="0" smtClean="0"/>
              <a:t>hola-</a:t>
            </a:r>
            <a:r>
              <a:rPr lang="es-ES" sz="1400" dirty="0" err="1"/>
              <a:t>polymer</a:t>
            </a:r>
            <a:r>
              <a:rPr lang="es-ES" sz="1400" dirty="0"/>
              <a:t>-</a:t>
            </a:r>
            <a:r>
              <a:rPr lang="es-ES" sz="1400" dirty="0" err="1"/>
              <a:t>scratch.html</a:t>
            </a:r>
            <a:r>
              <a:rPr lang="es-ES" sz="1400" dirty="0"/>
              <a:t>"&gt;</a:t>
            </a:r>
            <a:br>
              <a:rPr lang="es-ES" sz="1400" dirty="0"/>
            </a:br>
            <a:r>
              <a:rPr lang="es-ES" sz="1400" dirty="0"/>
              <a:t>  &lt;/head&gt;</a:t>
            </a:r>
            <a:br>
              <a:rPr lang="es-ES" sz="1400" dirty="0"/>
            </a:br>
            <a:r>
              <a:rPr lang="es-ES" sz="1400" dirty="0"/>
              <a:t>  &lt;</a:t>
            </a:r>
            <a:r>
              <a:rPr lang="es-ES" sz="1400" dirty="0" err="1"/>
              <a:t>body</a:t>
            </a:r>
            <a:r>
              <a:rPr lang="es-ES" sz="1400" dirty="0"/>
              <a:t>&gt;</a:t>
            </a:r>
            <a:br>
              <a:rPr lang="es-ES" sz="1400" dirty="0"/>
            </a:br>
            <a:r>
              <a:rPr lang="es-ES" sz="1400" dirty="0"/>
              <a:t>    &lt;p&gt;Hola&lt;/p&gt;</a:t>
            </a:r>
            <a:br>
              <a:rPr lang="es-ES" sz="1400" dirty="0"/>
            </a:br>
            <a:r>
              <a:rPr lang="es-ES" sz="1400" dirty="0"/>
              <a:t>    &lt;</a:t>
            </a:r>
            <a:r>
              <a:rPr lang="es-ES" sz="1400" dirty="0" smtClean="0"/>
              <a:t>hola-</a:t>
            </a:r>
            <a:r>
              <a:rPr lang="es-ES" sz="1400" dirty="0" err="1"/>
              <a:t>polymer</a:t>
            </a:r>
            <a:r>
              <a:rPr lang="es-ES" sz="1400" dirty="0"/>
              <a:t>-</a:t>
            </a:r>
            <a:r>
              <a:rPr lang="es-ES" sz="1400" dirty="0" err="1"/>
              <a:t>scratch</a:t>
            </a:r>
            <a:r>
              <a:rPr lang="es-ES" sz="1400" dirty="0"/>
              <a:t> </a:t>
            </a:r>
            <a:r>
              <a:rPr lang="es-ES" sz="1400" dirty="0" err="1"/>
              <a:t>who</a:t>
            </a:r>
            <a:r>
              <a:rPr lang="es-ES" sz="1400" dirty="0"/>
              <a:t>='Madrid'&gt;&lt;/</a:t>
            </a:r>
            <a:r>
              <a:rPr lang="es-ES" sz="1400" dirty="0" smtClean="0"/>
              <a:t>hola-</a:t>
            </a:r>
            <a:r>
              <a:rPr lang="es-ES" sz="1400" dirty="0" err="1"/>
              <a:t>polymer</a:t>
            </a:r>
            <a:r>
              <a:rPr lang="es-ES" sz="1400" dirty="0"/>
              <a:t>-</a:t>
            </a:r>
            <a:r>
              <a:rPr lang="es-ES" sz="1400" dirty="0" err="1"/>
              <a:t>scratch</a:t>
            </a:r>
            <a:r>
              <a:rPr lang="es-ES" sz="1400" dirty="0"/>
              <a:t>&gt;</a:t>
            </a:r>
            <a:br>
              <a:rPr lang="es-ES" sz="1400" dirty="0"/>
            </a:br>
            <a:r>
              <a:rPr lang="es-ES" sz="1400" dirty="0"/>
              <a:t>  &lt;/</a:t>
            </a:r>
            <a:r>
              <a:rPr lang="es-ES" sz="1400" dirty="0" err="1"/>
              <a:t>body</a:t>
            </a:r>
            <a:r>
              <a:rPr lang="es-ES" sz="1400" dirty="0"/>
              <a:t>&gt;</a:t>
            </a:r>
            <a:br>
              <a:rPr lang="es-ES" sz="1400" dirty="0"/>
            </a:br>
            <a:r>
              <a:rPr lang="es-ES" sz="1400" dirty="0"/>
              <a:t>&lt;/</a:t>
            </a:r>
            <a:r>
              <a:rPr lang="es-ES" sz="1400" dirty="0" err="1"/>
              <a:t>html</a:t>
            </a:r>
            <a:r>
              <a:rPr lang="es-ES" sz="1400" dirty="0"/>
              <a:t>&gt;</a:t>
            </a:r>
            <a:br>
              <a:rPr lang="es-ES" sz="1400" dirty="0"/>
            </a:br>
            <a:endParaRPr lang="es-ES" sz="1400" dirty="0"/>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47</a:t>
            </a:fld>
            <a:endParaRPr lang="en-US"/>
          </a:p>
        </p:txBody>
      </p:sp>
    </p:spTree>
    <p:extLst>
      <p:ext uri="{BB962C8B-B14F-4D97-AF65-F5344CB8AC3E}">
        <p14:creationId xmlns:p14="http://schemas.microsoft.com/office/powerpoint/2010/main" val="1354928606"/>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Introducción</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61665"/>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Historia &gt; </a:t>
            </a:r>
            <a:r>
              <a:rPr lang="nb-NO" sz="2400" dirty="0">
                <a:solidFill>
                  <a:srgbClr val="FFFFFF"/>
                </a:solidFill>
                <a:latin typeface="Helvetica"/>
                <a:cs typeface="Helvetica"/>
              </a:rPr>
              <a:t>Polymer </a:t>
            </a:r>
            <a:r>
              <a:rPr lang="nb-NO" sz="2400" dirty="0" smtClean="0">
                <a:solidFill>
                  <a:srgbClr val="FFFFFF"/>
                </a:solidFill>
                <a:latin typeface="Helvetica"/>
                <a:cs typeface="Helvetica"/>
              </a:rPr>
              <a:t>2.0 &gt; 2017 </a:t>
            </a:r>
            <a:r>
              <a:rPr lang="nb-NO" sz="2400" dirty="0" smtClean="0">
                <a:solidFill>
                  <a:schemeClr val="accent3">
                    <a:lumMod val="60000"/>
                    <a:lumOff val="40000"/>
                  </a:schemeClr>
                </a:solidFill>
                <a:latin typeface="Helvetica"/>
                <a:cs typeface="Helvetica"/>
              </a:rPr>
              <a:t>(</a:t>
            </a:r>
            <a:r>
              <a:rPr lang="nb-NO" sz="2400" dirty="0" err="1" smtClean="0">
                <a:solidFill>
                  <a:schemeClr val="accent3">
                    <a:lumMod val="60000"/>
                    <a:lumOff val="40000"/>
                  </a:schemeClr>
                </a:solidFill>
                <a:latin typeface="Helvetica"/>
                <a:cs typeface="Helvetica"/>
              </a:rPr>
              <a:t>Obsoleto</a:t>
            </a:r>
            <a:r>
              <a:rPr lang="nb-NO" sz="2400" dirty="0" smtClean="0">
                <a:solidFill>
                  <a:schemeClr val="accent3">
                    <a:lumMod val="60000"/>
                    <a:lumOff val="40000"/>
                  </a:schemeClr>
                </a:solidFill>
                <a:latin typeface="Helvetica"/>
                <a:cs typeface="Helvetica"/>
              </a:rPr>
              <a:t>)</a:t>
            </a:r>
            <a:endParaRPr lang="es-ES" sz="2200" u="sng" dirty="0" smtClean="0">
              <a:solidFill>
                <a:schemeClr val="accent3">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759766"/>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r>
              <a:rPr lang="nb-NO" dirty="0" smtClean="0"/>
              <a:t>Se </a:t>
            </a:r>
            <a:r>
              <a:rPr lang="nb-NO" dirty="0" err="1" smtClean="0"/>
              <a:t>reduce</a:t>
            </a:r>
            <a:r>
              <a:rPr lang="nb-NO" dirty="0" smtClean="0"/>
              <a:t> el peso de la </a:t>
            </a:r>
            <a:r>
              <a:rPr lang="nb-NO" dirty="0" err="1" smtClean="0"/>
              <a:t>libreria</a:t>
            </a:r>
            <a:r>
              <a:rPr lang="nb-NO" dirty="0" smtClean="0"/>
              <a:t>.</a:t>
            </a:r>
          </a:p>
          <a:p>
            <a:pPr marL="285750" indent="-285750" algn="just">
              <a:lnSpc>
                <a:spcPct val="130000"/>
              </a:lnSpc>
              <a:buFont typeface="Arial"/>
              <a:buChar char="•"/>
            </a:pPr>
            <a:r>
              <a:rPr lang="nb-NO" dirty="0" err="1" smtClean="0"/>
              <a:t>Polyfills</a:t>
            </a:r>
            <a:r>
              <a:rPr lang="nb-NO" dirty="0" smtClean="0"/>
              <a:t> mas </a:t>
            </a:r>
            <a:r>
              <a:rPr lang="nb-NO" dirty="0" err="1" smtClean="0"/>
              <a:t>específicos</a:t>
            </a:r>
            <a:r>
              <a:rPr lang="nb-NO" dirty="0" smtClean="0"/>
              <a:t>.</a:t>
            </a:r>
            <a:endParaRPr lang="nb-NO" dirty="0"/>
          </a:p>
          <a:p>
            <a:pPr marL="285750" indent="-285750" algn="just">
              <a:lnSpc>
                <a:spcPct val="130000"/>
              </a:lnSpc>
              <a:buFont typeface="Arial"/>
              <a:buChar char="•"/>
            </a:pPr>
            <a:r>
              <a:rPr lang="nb-NO" dirty="0" err="1"/>
              <a:t>Custom</a:t>
            </a:r>
            <a:r>
              <a:rPr lang="nb-NO" dirty="0"/>
              <a:t> Elements </a:t>
            </a:r>
            <a:r>
              <a:rPr lang="nb-NO" dirty="0" err="1"/>
              <a:t>ahora</a:t>
            </a:r>
            <a:r>
              <a:rPr lang="nb-NO" dirty="0"/>
              <a:t> se </a:t>
            </a:r>
            <a:r>
              <a:rPr lang="nb-NO" dirty="0" err="1"/>
              <a:t>definen</a:t>
            </a:r>
            <a:r>
              <a:rPr lang="nb-NO" dirty="0"/>
              <a:t> </a:t>
            </a:r>
            <a:r>
              <a:rPr lang="nb-NO" dirty="0" err="1"/>
              <a:t>mediante</a:t>
            </a:r>
            <a:r>
              <a:rPr lang="nb-NO" dirty="0"/>
              <a:t> </a:t>
            </a:r>
            <a:r>
              <a:rPr lang="nb-NO" dirty="0" err="1"/>
              <a:t>clases</a:t>
            </a:r>
            <a:r>
              <a:rPr lang="nb-NO" dirty="0"/>
              <a:t> </a:t>
            </a:r>
            <a:r>
              <a:rPr lang="nb-NO" dirty="0" smtClean="0"/>
              <a:t>ES6.</a:t>
            </a:r>
          </a:p>
          <a:p>
            <a:pPr marL="285750" indent="-285750" algn="just">
              <a:lnSpc>
                <a:spcPct val="130000"/>
              </a:lnSpc>
              <a:buFont typeface="Arial"/>
              <a:buChar char="•"/>
            </a:pPr>
            <a:r>
              <a:rPr lang="nb-NO" dirty="0" err="1"/>
              <a:t>Clase</a:t>
            </a:r>
            <a:r>
              <a:rPr lang="nb-NO" dirty="0"/>
              <a:t> base sobre la </a:t>
            </a:r>
            <a:r>
              <a:rPr lang="nb-NO" dirty="0" err="1"/>
              <a:t>que</a:t>
            </a:r>
            <a:r>
              <a:rPr lang="nb-NO" dirty="0"/>
              <a:t> se </a:t>
            </a:r>
            <a:r>
              <a:rPr lang="nb-NO" dirty="0" err="1"/>
              <a:t>extiende</a:t>
            </a:r>
            <a:r>
              <a:rPr lang="nb-NO" dirty="0"/>
              <a:t> </a:t>
            </a:r>
            <a:r>
              <a:rPr lang="nb-NO" dirty="0" smtClean="0"/>
              <a:t>(</a:t>
            </a:r>
            <a:r>
              <a:rPr lang="es-ES" dirty="0" err="1"/>
              <a:t>Polymer.Element</a:t>
            </a:r>
            <a:r>
              <a:rPr lang="nb-NO" dirty="0" smtClean="0"/>
              <a:t>).</a:t>
            </a:r>
          </a:p>
          <a:p>
            <a:pPr marL="285750" indent="-285750" algn="just">
              <a:lnSpc>
                <a:spcPct val="130000"/>
              </a:lnSpc>
              <a:buFont typeface="Arial"/>
              <a:buChar char="•"/>
            </a:pPr>
            <a:r>
              <a:rPr lang="es-ES" dirty="0"/>
              <a:t>Interoperabilidad entre componentes (</a:t>
            </a:r>
            <a:r>
              <a:rPr lang="nb-NO" dirty="0" err="1"/>
              <a:t>WebComponents</a:t>
            </a:r>
            <a:r>
              <a:rPr lang="nb-NO" dirty="0"/>
              <a:t> v1</a:t>
            </a:r>
            <a:r>
              <a:rPr lang="nb-NO" dirty="0" smtClean="0"/>
              <a:t>).</a:t>
            </a:r>
          </a:p>
          <a:p>
            <a:pPr marL="285750" indent="-285750" algn="just">
              <a:lnSpc>
                <a:spcPct val="130000"/>
              </a:lnSpc>
              <a:buFont typeface="Arial"/>
              <a:buChar char="•"/>
            </a:pPr>
            <a:r>
              <a:rPr lang="es-ES" dirty="0" err="1"/>
              <a:t>Custom</a:t>
            </a:r>
            <a:r>
              <a:rPr lang="es-ES" dirty="0"/>
              <a:t> </a:t>
            </a:r>
            <a:r>
              <a:rPr lang="es-ES" dirty="0" err="1"/>
              <a:t>Properties</a:t>
            </a:r>
            <a:r>
              <a:rPr lang="es-ES" dirty="0"/>
              <a:t> de </a:t>
            </a:r>
            <a:r>
              <a:rPr lang="es-ES" dirty="0" smtClean="0"/>
              <a:t>CSS.</a:t>
            </a:r>
            <a:endParaRPr lang="nb-NO" dirty="0"/>
          </a:p>
          <a:p>
            <a:pPr marL="285750" indent="-285750" algn="just">
              <a:lnSpc>
                <a:spcPct val="130000"/>
              </a:lnSpc>
              <a:buFont typeface="Arial"/>
              <a:buChar char="•"/>
            </a:pPr>
            <a:r>
              <a:rPr lang="nb-NO" dirty="0" err="1"/>
              <a:t>Librería</a:t>
            </a:r>
            <a:r>
              <a:rPr lang="nb-NO" dirty="0"/>
              <a:t> de </a:t>
            </a:r>
            <a:r>
              <a:rPr lang="nb-NO" dirty="0" err="1"/>
              <a:t>elementos</a:t>
            </a:r>
            <a:r>
              <a:rPr lang="nb-NO" dirty="0"/>
              <a:t> </a:t>
            </a:r>
            <a:r>
              <a:rPr lang="nb-NO" dirty="0" err="1"/>
              <a:t>clasificados</a:t>
            </a:r>
            <a:r>
              <a:rPr lang="nb-NO" dirty="0"/>
              <a:t> para Web/mobile (</a:t>
            </a:r>
            <a:r>
              <a:rPr lang="nb-NO" dirty="0" err="1"/>
              <a:t>PolymerElements</a:t>
            </a:r>
            <a:r>
              <a:rPr lang="nb-NO" dirty="0"/>
              <a:t>) .Una </a:t>
            </a:r>
            <a:r>
              <a:rPr lang="nb-NO" dirty="0" err="1"/>
              <a:t>parte</a:t>
            </a:r>
            <a:r>
              <a:rPr lang="nb-NO" dirty="0"/>
              <a:t> de </a:t>
            </a:r>
            <a:r>
              <a:rPr lang="nb-NO" dirty="0" err="1"/>
              <a:t>estos</a:t>
            </a:r>
            <a:r>
              <a:rPr lang="nb-NO" dirty="0"/>
              <a:t> </a:t>
            </a:r>
            <a:r>
              <a:rPr lang="nb-NO" dirty="0" err="1"/>
              <a:t>elementos</a:t>
            </a:r>
            <a:r>
              <a:rPr lang="nb-NO" dirty="0"/>
              <a:t> son </a:t>
            </a:r>
            <a:r>
              <a:rPr lang="nb-NO" dirty="0" err="1"/>
              <a:t>visuales</a:t>
            </a:r>
            <a:r>
              <a:rPr lang="nb-NO" dirty="0"/>
              <a:t> </a:t>
            </a:r>
            <a:r>
              <a:rPr lang="nb-NO" dirty="0" err="1"/>
              <a:t>PaperElemnent</a:t>
            </a:r>
            <a:r>
              <a:rPr lang="nb-NO" dirty="0"/>
              <a:t> (Material Design).</a:t>
            </a:r>
          </a:p>
          <a:p>
            <a:pPr marL="285750" indent="-285750" algn="just">
              <a:lnSpc>
                <a:spcPct val="130000"/>
              </a:lnSpc>
              <a:buFont typeface="Arial"/>
              <a:buChar char="•"/>
            </a:pPr>
            <a:r>
              <a:rPr lang="nb-NO" dirty="0" err="1" smtClean="0">
                <a:solidFill>
                  <a:srgbClr val="FFFFFF"/>
                </a:solidFill>
                <a:latin typeface="Helvetica"/>
                <a:cs typeface="Helvetica"/>
              </a:rPr>
              <a:t>Creacion</a:t>
            </a:r>
            <a:r>
              <a:rPr lang="nb-NO" dirty="0" smtClean="0">
                <a:solidFill>
                  <a:srgbClr val="FFFFFF"/>
                </a:solidFill>
                <a:latin typeface="Helvetica"/>
                <a:cs typeface="Helvetica"/>
              </a:rPr>
              <a:t> </a:t>
            </a:r>
            <a:r>
              <a:rPr lang="nb-NO" dirty="0">
                <a:solidFill>
                  <a:srgbClr val="FFFFFF"/>
                </a:solidFill>
                <a:latin typeface="Helvetica"/>
                <a:cs typeface="Helvetica"/>
              </a:rPr>
              <a:t>de </a:t>
            </a:r>
            <a:r>
              <a:rPr lang="nb-NO" dirty="0" err="1">
                <a:solidFill>
                  <a:srgbClr val="FFFFFF"/>
                </a:solidFill>
                <a:latin typeface="Helvetica"/>
                <a:cs typeface="Helvetica"/>
              </a:rPr>
              <a:t>componentes</a:t>
            </a:r>
            <a:r>
              <a:rPr lang="nb-NO" dirty="0">
                <a:solidFill>
                  <a:srgbClr val="FFFFFF"/>
                </a:solidFill>
                <a:latin typeface="Helvetica"/>
                <a:cs typeface="Helvetica"/>
              </a:rPr>
              <a:t> </a:t>
            </a:r>
            <a:r>
              <a:rPr lang="nb-NO" dirty="0" err="1">
                <a:solidFill>
                  <a:srgbClr val="FFFFFF"/>
                </a:solidFill>
                <a:latin typeface="Helvetica"/>
                <a:cs typeface="Helvetica"/>
              </a:rPr>
              <a:t>basada</a:t>
            </a:r>
            <a:r>
              <a:rPr lang="nb-NO" dirty="0">
                <a:solidFill>
                  <a:srgbClr val="FFFFFF"/>
                </a:solidFill>
                <a:latin typeface="Helvetica"/>
                <a:cs typeface="Helvetica"/>
              </a:rPr>
              <a:t> en </a:t>
            </a:r>
            <a:r>
              <a:rPr lang="nb-NO" dirty="0" err="1">
                <a:solidFill>
                  <a:srgbClr val="FFFFFF"/>
                </a:solidFill>
                <a:latin typeface="Helvetica"/>
                <a:cs typeface="Helvetica"/>
              </a:rPr>
              <a:t>WebComponents</a:t>
            </a:r>
            <a:r>
              <a:rPr lang="nb-NO" dirty="0">
                <a:solidFill>
                  <a:srgbClr val="FFFFFF"/>
                </a:solidFill>
                <a:latin typeface="Helvetica"/>
                <a:cs typeface="Helvetica"/>
              </a:rPr>
              <a:t> </a:t>
            </a:r>
            <a:r>
              <a:rPr lang="nb-NO" dirty="0" smtClean="0">
                <a:solidFill>
                  <a:srgbClr val="FFFFFF"/>
                </a:solidFill>
                <a:latin typeface="Helvetica"/>
                <a:cs typeface="Helvetica"/>
              </a:rPr>
              <a:t>v1</a:t>
            </a:r>
            <a:endParaRPr lang="nb-NO" dirty="0">
              <a:solidFill>
                <a:srgbClr val="FFFFFF"/>
              </a:solidFill>
              <a:latin typeface="Helvetica"/>
              <a:cs typeface="Helvetica"/>
            </a:endParaRPr>
          </a:p>
          <a:p>
            <a:pPr marL="285750" indent="-285750" algn="just">
              <a:lnSpc>
                <a:spcPct val="130000"/>
              </a:lnSpc>
              <a:buFont typeface="Arial"/>
              <a:buChar char="•"/>
            </a:pPr>
            <a:r>
              <a:rPr lang="nb-NO" dirty="0" err="1">
                <a:solidFill>
                  <a:srgbClr val="FFFFFF"/>
                </a:solidFill>
                <a:latin typeface="Helvetica"/>
                <a:cs typeface="Helvetica"/>
              </a:rPr>
              <a:t>Polimer</a:t>
            </a:r>
            <a:r>
              <a:rPr lang="nb-NO" dirty="0">
                <a:solidFill>
                  <a:srgbClr val="FFFFFF"/>
                </a:solidFill>
                <a:latin typeface="Helvetica"/>
                <a:cs typeface="Helvetica"/>
              </a:rPr>
              <a:t> CLI</a:t>
            </a:r>
          </a:p>
          <a:p>
            <a:pPr algn="just">
              <a:lnSpc>
                <a:spcPct val="130000"/>
              </a:lnSpc>
            </a:pPr>
            <a:r>
              <a:rPr lang="nb-NO" dirty="0" smtClean="0">
                <a:solidFill>
                  <a:srgbClr val="FFFFFF"/>
                </a:solidFill>
                <a:latin typeface="Helvetica"/>
                <a:cs typeface="Helvetica"/>
              </a:rPr>
              <a:t>	</a:t>
            </a:r>
            <a:endParaRPr lang="es-ES" dirty="0">
              <a:solidFill>
                <a:srgbClr val="FFFFFF"/>
              </a:solidFill>
              <a:latin typeface="Helvetica"/>
              <a:cs typeface="Helvetica"/>
            </a:endParaRPr>
          </a:p>
          <a:p>
            <a:pPr algn="just">
              <a:lnSpc>
                <a:spcPct val="130000"/>
              </a:lnSpc>
            </a:pPr>
            <a:endParaRPr lang="es-ES"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48</a:t>
            </a:fld>
            <a:endParaRPr lang="en-US"/>
          </a:p>
        </p:txBody>
      </p:sp>
    </p:spTree>
    <p:extLst>
      <p:ext uri="{BB962C8B-B14F-4D97-AF65-F5344CB8AC3E}">
        <p14:creationId xmlns:p14="http://schemas.microsoft.com/office/powerpoint/2010/main" val="777891453"/>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Introducción</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61665"/>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Historia &gt; </a:t>
            </a:r>
            <a:r>
              <a:rPr lang="nb-NO" sz="2400" dirty="0">
                <a:solidFill>
                  <a:srgbClr val="FFFFFF"/>
                </a:solidFill>
                <a:latin typeface="Helvetica"/>
                <a:cs typeface="Helvetica"/>
              </a:rPr>
              <a:t>Polymer </a:t>
            </a:r>
            <a:r>
              <a:rPr lang="nb-NO" sz="2400" dirty="0" smtClean="0">
                <a:solidFill>
                  <a:srgbClr val="FFFFFF"/>
                </a:solidFill>
                <a:latin typeface="Helvetica"/>
                <a:cs typeface="Helvetica"/>
              </a:rPr>
              <a:t>2.0 &gt; </a:t>
            </a:r>
            <a:r>
              <a:rPr lang="nb-NO" sz="2400" dirty="0" err="1">
                <a:solidFill>
                  <a:srgbClr val="FFFFFF"/>
                </a:solidFill>
                <a:latin typeface="Helvetica"/>
                <a:cs typeface="Helvetica"/>
              </a:rPr>
              <a:t>Ejemplo</a:t>
            </a:r>
            <a:r>
              <a:rPr lang="nb-NO" sz="2400" dirty="0">
                <a:solidFill>
                  <a:srgbClr val="FFFFFF"/>
                </a:solidFill>
                <a:latin typeface="Helvetica"/>
                <a:cs typeface="Helvetica"/>
              </a:rPr>
              <a:t> Hola </a:t>
            </a:r>
            <a:r>
              <a:rPr lang="nb-NO" sz="2400" dirty="0" err="1">
                <a:solidFill>
                  <a:srgbClr val="FFFFFF"/>
                </a:solidFill>
                <a:latin typeface="Helvetica"/>
                <a:cs typeface="Helvetica"/>
              </a:rPr>
              <a:t>Mundo</a:t>
            </a:r>
            <a:endParaRPr lang="es-ES" sz="2200" u="sng" dirty="0" smtClean="0">
              <a:solidFill>
                <a:schemeClr val="accent3">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758214" y="1618914"/>
            <a:ext cx="7005407" cy="4708980"/>
          </a:xfrm>
          <a:prstGeom prst="rect">
            <a:avLst/>
          </a:prstGeom>
          <a:solidFill>
            <a:schemeClr val="bg2">
              <a:lumMod val="75000"/>
              <a:lumOff val="25000"/>
            </a:schemeClr>
          </a:solidFill>
          <a:ln w="12700" cmpd="sng">
            <a:solidFill>
              <a:srgbClr val="3366FF"/>
            </a:solidFill>
          </a:ln>
        </p:spPr>
        <p:txBody>
          <a:bodyPr wrap="square">
            <a:spAutoFit/>
          </a:bodyPr>
          <a:lstStyle/>
          <a:p>
            <a:r>
              <a:rPr lang="en-US" sz="1200" dirty="0"/>
              <a:t>&lt;!DOCTYPE html&gt;</a:t>
            </a:r>
          </a:p>
          <a:p>
            <a:r>
              <a:rPr lang="en-US" sz="1200" dirty="0"/>
              <a:t>&lt;html </a:t>
            </a:r>
            <a:r>
              <a:rPr lang="en-US" sz="1200" dirty="0" err="1"/>
              <a:t>lang</a:t>
            </a:r>
            <a:r>
              <a:rPr lang="en-US" sz="1200" dirty="0"/>
              <a:t>="en"&gt;</a:t>
            </a:r>
          </a:p>
          <a:p>
            <a:r>
              <a:rPr lang="en-US" sz="1200" dirty="0"/>
              <a:t>&lt;head&gt;</a:t>
            </a:r>
          </a:p>
          <a:p>
            <a:r>
              <a:rPr lang="en-US" sz="1200" dirty="0"/>
              <a:t>  &lt;meta charset="UTF-</a:t>
            </a:r>
            <a:r>
              <a:rPr lang="en-US" sz="1200" dirty="0" smtClean="0"/>
              <a:t>8”&gt;</a:t>
            </a:r>
            <a:endParaRPr lang="en-US" sz="1200" dirty="0"/>
          </a:p>
          <a:p>
            <a:r>
              <a:rPr lang="en-US" sz="1200" dirty="0"/>
              <a:t>  &lt;link </a:t>
            </a:r>
            <a:r>
              <a:rPr lang="en-US" sz="1200" dirty="0" err="1"/>
              <a:t>rel</a:t>
            </a:r>
            <a:r>
              <a:rPr lang="en-US" sz="1200" dirty="0"/>
              <a:t>="import"  </a:t>
            </a:r>
            <a:r>
              <a:rPr lang="en-US" sz="1200" dirty="0" err="1"/>
              <a:t>href</a:t>
            </a:r>
            <a:r>
              <a:rPr lang="en-US" sz="1200" dirty="0" smtClean="0"/>
              <a:t>=</a:t>
            </a:r>
            <a:r>
              <a:rPr lang="en-US" sz="1200" dirty="0" smtClean="0">
                <a:hlinkClick r:id="rId5"/>
              </a:rPr>
              <a:t>https</a:t>
            </a:r>
            <a:r>
              <a:rPr lang="en-US" sz="1200" dirty="0">
                <a:hlinkClick r:id="rId5"/>
              </a:rPr>
              <a:t>://polygit.org/components/polymer/polymer-</a:t>
            </a:r>
            <a:r>
              <a:rPr lang="en-US" sz="1200" dirty="0" smtClean="0">
                <a:hlinkClick r:id="rId5"/>
              </a:rPr>
              <a:t>element.html</a:t>
            </a:r>
            <a:r>
              <a:rPr lang="en-US" sz="1200" dirty="0" smtClean="0"/>
              <a:t>&gt;</a:t>
            </a:r>
            <a:endParaRPr lang="en-US" sz="1200" dirty="0"/>
          </a:p>
          <a:p>
            <a:r>
              <a:rPr lang="en-US" sz="1200" dirty="0"/>
              <a:t>  &lt;title&gt;Test de </a:t>
            </a:r>
            <a:r>
              <a:rPr lang="en-US" sz="1200" dirty="0" err="1"/>
              <a:t>componente</a:t>
            </a:r>
            <a:r>
              <a:rPr lang="en-US" sz="1200" dirty="0"/>
              <a:t> </a:t>
            </a:r>
            <a:r>
              <a:rPr lang="en-US" sz="1200" dirty="0" err="1"/>
              <a:t>usando</a:t>
            </a:r>
            <a:r>
              <a:rPr lang="en-US" sz="1200" dirty="0"/>
              <a:t> Polymer 2&lt;/title&gt;</a:t>
            </a:r>
          </a:p>
          <a:p>
            <a:r>
              <a:rPr lang="en-US" sz="1200" dirty="0"/>
              <a:t>&lt;/head&gt;</a:t>
            </a:r>
          </a:p>
          <a:p>
            <a:r>
              <a:rPr lang="en-US" sz="1200" dirty="0"/>
              <a:t>&lt;body&gt;</a:t>
            </a:r>
          </a:p>
          <a:p>
            <a:r>
              <a:rPr lang="en-US" sz="1200" dirty="0"/>
              <a:t>  </a:t>
            </a:r>
          </a:p>
          <a:p>
            <a:r>
              <a:rPr lang="en-US" sz="1200" dirty="0"/>
              <a:t>  &lt;template id="mi-template"&gt;</a:t>
            </a:r>
          </a:p>
          <a:p>
            <a:r>
              <a:rPr lang="en-US" sz="1200" dirty="0"/>
              <a:t>    &lt;p&gt;</a:t>
            </a:r>
            <a:r>
              <a:rPr lang="en-US" sz="1200" dirty="0" err="1"/>
              <a:t>Hola</a:t>
            </a:r>
            <a:r>
              <a:rPr lang="en-US" sz="1200" dirty="0"/>
              <a:t>! soy un Polymer Element simple!&lt;/p&gt;</a:t>
            </a:r>
          </a:p>
          <a:p>
            <a:r>
              <a:rPr lang="en-US" sz="1200" dirty="0"/>
              <a:t>  &lt;/template&gt;</a:t>
            </a:r>
          </a:p>
          <a:p>
            <a:r>
              <a:rPr lang="en-US" sz="1200" dirty="0"/>
              <a:t>  </a:t>
            </a:r>
          </a:p>
          <a:p>
            <a:r>
              <a:rPr lang="en-US" sz="1200" dirty="0"/>
              <a:t>  &lt;script&gt;</a:t>
            </a:r>
          </a:p>
          <a:p>
            <a:r>
              <a:rPr lang="en-US" sz="1200" dirty="0"/>
              <a:t>    class </a:t>
            </a:r>
            <a:r>
              <a:rPr lang="en-US" sz="1200" dirty="0" err="1"/>
              <a:t>HolaComponentes</a:t>
            </a:r>
            <a:r>
              <a:rPr lang="en-US" sz="1200" dirty="0"/>
              <a:t> extends </a:t>
            </a:r>
            <a:r>
              <a:rPr lang="en-US" sz="1200" dirty="0" err="1"/>
              <a:t>Polymer.Element</a:t>
            </a:r>
            <a:r>
              <a:rPr lang="en-US" sz="1200" dirty="0"/>
              <a:t> {</a:t>
            </a:r>
          </a:p>
          <a:p>
            <a:r>
              <a:rPr lang="en-US" sz="1200" dirty="0"/>
              <a:t>      static get template() { return </a:t>
            </a:r>
            <a:r>
              <a:rPr lang="en-US" sz="1200" dirty="0" err="1"/>
              <a:t>document.getElementById</a:t>
            </a:r>
            <a:r>
              <a:rPr lang="en-US" sz="1200" dirty="0"/>
              <a:t>('mi-template') }</a:t>
            </a:r>
          </a:p>
          <a:p>
            <a:r>
              <a:rPr lang="en-US" sz="1200" dirty="0"/>
              <a:t>      static get is() { return '</a:t>
            </a:r>
            <a:r>
              <a:rPr lang="en-US" sz="1200" dirty="0" err="1"/>
              <a:t>hola-componentes</a:t>
            </a:r>
            <a:r>
              <a:rPr lang="en-US" sz="1200" dirty="0"/>
              <a:t>'; }</a:t>
            </a:r>
          </a:p>
          <a:p>
            <a:r>
              <a:rPr lang="en-US" sz="1200" dirty="0"/>
              <a:t>    }</a:t>
            </a:r>
          </a:p>
          <a:p>
            <a:endParaRPr lang="en-US" sz="1200" dirty="0"/>
          </a:p>
          <a:p>
            <a:r>
              <a:rPr lang="en-US" sz="1200" dirty="0"/>
              <a:t>    </a:t>
            </a:r>
            <a:r>
              <a:rPr lang="en-US" sz="1200" dirty="0" err="1"/>
              <a:t>customElements.define</a:t>
            </a:r>
            <a:r>
              <a:rPr lang="en-US" sz="1200" dirty="0"/>
              <a:t>(</a:t>
            </a:r>
            <a:r>
              <a:rPr lang="en-US" sz="1200" dirty="0" err="1"/>
              <a:t>HolaComponentes.is</a:t>
            </a:r>
            <a:r>
              <a:rPr lang="en-US" sz="1200" dirty="0"/>
              <a:t>, </a:t>
            </a:r>
            <a:r>
              <a:rPr lang="en-US" sz="1200" dirty="0" err="1"/>
              <a:t>HolaComponentes</a:t>
            </a:r>
            <a:r>
              <a:rPr lang="en-US" sz="1200" dirty="0"/>
              <a:t>);&gt;</a:t>
            </a:r>
          </a:p>
          <a:p>
            <a:r>
              <a:rPr lang="en-US" sz="1200" dirty="0"/>
              <a:t>  &lt;/script&gt;</a:t>
            </a:r>
          </a:p>
          <a:p>
            <a:r>
              <a:rPr lang="en-US" sz="1200" dirty="0"/>
              <a:t>  </a:t>
            </a:r>
          </a:p>
          <a:p>
            <a:r>
              <a:rPr lang="en-US" sz="1200" dirty="0"/>
              <a:t>  &lt;</a:t>
            </a:r>
            <a:r>
              <a:rPr lang="en-US" sz="1200" dirty="0" err="1"/>
              <a:t>hola-componentes</a:t>
            </a:r>
            <a:r>
              <a:rPr lang="en-US" sz="1200" dirty="0"/>
              <a:t>&gt;&lt;/</a:t>
            </a:r>
            <a:r>
              <a:rPr lang="en-US" sz="1200" dirty="0" err="1"/>
              <a:t>hola-componentes</a:t>
            </a:r>
            <a:r>
              <a:rPr lang="en-US" sz="1200" dirty="0"/>
              <a:t>&gt;</a:t>
            </a:r>
          </a:p>
          <a:p>
            <a:r>
              <a:rPr lang="en-US" sz="1200" dirty="0"/>
              <a:t>    </a:t>
            </a:r>
          </a:p>
          <a:p>
            <a:r>
              <a:rPr lang="en-US" sz="1200" dirty="0"/>
              <a:t>&lt;/body</a:t>
            </a:r>
            <a:r>
              <a:rPr lang="en-US" sz="1200" dirty="0" smtClean="0"/>
              <a:t>&gt;&lt;</a:t>
            </a:r>
            <a:r>
              <a:rPr lang="en-US" sz="1200" dirty="0"/>
              <a:t>/html</a:t>
            </a:r>
            <a:r>
              <a:rPr lang="en-US" sz="1200" dirty="0" smtClean="0"/>
              <a:t>&gt; </a:t>
            </a: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49</a:t>
            </a:fld>
            <a:endParaRPr lang="en-US"/>
          </a:p>
        </p:txBody>
      </p:sp>
    </p:spTree>
    <p:extLst>
      <p:ext uri="{BB962C8B-B14F-4D97-AF65-F5344CB8AC3E}">
        <p14:creationId xmlns:p14="http://schemas.microsoft.com/office/powerpoint/2010/main" val="3424299107"/>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Introducción</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61665"/>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smtClean="0">
                <a:latin typeface="Arial Black"/>
                <a:cs typeface="Arial Black"/>
              </a:rPr>
              <a:t>Historia &gt; </a:t>
            </a:r>
            <a:r>
              <a:rPr lang="nb-NO" sz="2400" dirty="0">
                <a:solidFill>
                  <a:srgbClr val="FFFFFF"/>
                </a:solidFill>
                <a:latin typeface="Helvetica"/>
                <a:cs typeface="Helvetica"/>
              </a:rPr>
              <a:t>Polymer </a:t>
            </a:r>
            <a:r>
              <a:rPr lang="nb-NO" sz="2400" dirty="0" smtClean="0">
                <a:solidFill>
                  <a:srgbClr val="FFFFFF"/>
                </a:solidFill>
                <a:latin typeface="Helvetica"/>
                <a:cs typeface="Helvetica"/>
              </a:rPr>
              <a:t>3.X &gt; 2018 </a:t>
            </a:r>
            <a:r>
              <a:rPr lang="nb-NO" sz="2400" dirty="0" smtClean="0">
                <a:solidFill>
                  <a:schemeClr val="accent4">
                    <a:lumMod val="60000"/>
                    <a:lumOff val="40000"/>
                  </a:schemeClr>
                </a:solidFill>
                <a:latin typeface="Helvetica"/>
                <a:cs typeface="Helvetica"/>
              </a:rPr>
              <a:t>(En </a:t>
            </a:r>
            <a:r>
              <a:rPr lang="nb-NO" sz="2400" dirty="0" err="1" smtClean="0">
                <a:solidFill>
                  <a:schemeClr val="accent4">
                    <a:lumMod val="60000"/>
                    <a:lumOff val="40000"/>
                  </a:schemeClr>
                </a:solidFill>
                <a:latin typeface="Helvetica"/>
                <a:cs typeface="Helvetica"/>
              </a:rPr>
              <a:t>Evolución</a:t>
            </a:r>
            <a:r>
              <a:rPr lang="nb-NO" sz="2400" dirty="0" smtClean="0">
                <a:solidFill>
                  <a:schemeClr val="accent4">
                    <a:lumMod val="60000"/>
                    <a:lumOff val="40000"/>
                  </a:schemeClr>
                </a:solidFill>
                <a:latin typeface="Helvetica"/>
                <a:cs typeface="Helvetica"/>
              </a:rPr>
              <a:t>)</a:t>
            </a:r>
            <a:endParaRPr lang="es-ES" sz="2200" u="sng" dirty="0" smtClean="0">
              <a:solidFill>
                <a:schemeClr val="accent4">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3679469"/>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r>
              <a:rPr lang="nb-NO" dirty="0"/>
              <a:t>Se </a:t>
            </a:r>
            <a:r>
              <a:rPr lang="nb-NO" dirty="0" err="1"/>
              <a:t>sustituye</a:t>
            </a:r>
            <a:r>
              <a:rPr lang="nb-NO" dirty="0"/>
              <a:t> los </a:t>
            </a:r>
            <a:r>
              <a:rPr lang="nb-NO" dirty="0" err="1"/>
              <a:t>HTMLImport</a:t>
            </a:r>
            <a:r>
              <a:rPr lang="nb-NO" dirty="0"/>
              <a:t> por </a:t>
            </a:r>
            <a:r>
              <a:rPr lang="es-ES" dirty="0"/>
              <a:t>ES6 Modules</a:t>
            </a:r>
            <a:r>
              <a:rPr lang="nb-NO" dirty="0"/>
              <a:t>.</a:t>
            </a:r>
          </a:p>
          <a:p>
            <a:pPr marL="285750" indent="-285750" algn="just">
              <a:lnSpc>
                <a:spcPct val="130000"/>
              </a:lnSpc>
              <a:buFont typeface="Arial"/>
              <a:buChar char="•"/>
            </a:pPr>
            <a:r>
              <a:rPr lang="nb-NO" dirty="0"/>
              <a:t>Polymer-</a:t>
            </a:r>
            <a:r>
              <a:rPr lang="nb-NO" dirty="0" err="1"/>
              <a:t>modulizer</a:t>
            </a:r>
            <a:r>
              <a:rPr lang="nb-NO" dirty="0"/>
              <a:t>.</a:t>
            </a:r>
          </a:p>
          <a:p>
            <a:pPr marL="285750" indent="-285750" algn="just">
              <a:lnSpc>
                <a:spcPct val="130000"/>
              </a:lnSpc>
              <a:buFont typeface="Arial"/>
              <a:buChar char="•"/>
            </a:pPr>
            <a:r>
              <a:rPr lang="nb-NO" dirty="0"/>
              <a:t>Uso de </a:t>
            </a:r>
            <a:r>
              <a:rPr lang="nb-NO" dirty="0" err="1"/>
              <a:t>npm</a:t>
            </a:r>
            <a:r>
              <a:rPr lang="nb-NO" dirty="0"/>
              <a:t> para </a:t>
            </a:r>
            <a:r>
              <a:rPr lang="nb-NO" dirty="0" err="1"/>
              <a:t>gestion</a:t>
            </a:r>
            <a:r>
              <a:rPr lang="nb-NO" dirty="0"/>
              <a:t> de </a:t>
            </a:r>
            <a:r>
              <a:rPr lang="nb-NO" dirty="0" err="1"/>
              <a:t>dependencias</a:t>
            </a:r>
            <a:r>
              <a:rPr lang="nb-NO" dirty="0"/>
              <a:t>.</a:t>
            </a:r>
          </a:p>
          <a:p>
            <a:pPr marL="285750" indent="-285750" algn="just">
              <a:lnSpc>
                <a:spcPct val="130000"/>
              </a:lnSpc>
              <a:buFont typeface="Arial"/>
              <a:buChar char="•"/>
            </a:pPr>
            <a:r>
              <a:rPr lang="nb-NO" dirty="0"/>
              <a:t>ES6 </a:t>
            </a:r>
            <a:r>
              <a:rPr lang="nb-NO" dirty="0" err="1"/>
              <a:t>template</a:t>
            </a:r>
            <a:r>
              <a:rPr lang="nb-NO" dirty="0"/>
              <a:t> </a:t>
            </a:r>
            <a:r>
              <a:rPr lang="nb-NO" dirty="0" err="1"/>
              <a:t>String</a:t>
            </a:r>
            <a:r>
              <a:rPr lang="nb-NO" dirty="0"/>
              <a:t>.</a:t>
            </a:r>
          </a:p>
          <a:p>
            <a:pPr marL="285750" indent="-285750" algn="just">
              <a:lnSpc>
                <a:spcPct val="130000"/>
              </a:lnSpc>
              <a:buFont typeface="Arial"/>
              <a:buChar char="•"/>
            </a:pPr>
            <a:r>
              <a:rPr lang="nb-NO" dirty="0" err="1"/>
              <a:t>Clase</a:t>
            </a:r>
            <a:r>
              <a:rPr lang="nb-NO" dirty="0"/>
              <a:t> base sobre la </a:t>
            </a:r>
            <a:r>
              <a:rPr lang="nb-NO" dirty="0" err="1"/>
              <a:t>que</a:t>
            </a:r>
            <a:r>
              <a:rPr lang="nb-NO" dirty="0"/>
              <a:t> se </a:t>
            </a:r>
            <a:r>
              <a:rPr lang="nb-NO" dirty="0" err="1"/>
              <a:t>extiende</a:t>
            </a:r>
            <a:r>
              <a:rPr lang="nb-NO" dirty="0"/>
              <a:t> </a:t>
            </a:r>
            <a:r>
              <a:rPr lang="nb-NO" dirty="0" err="1"/>
              <a:t>LitElement</a:t>
            </a:r>
            <a:r>
              <a:rPr lang="nb-NO" dirty="0"/>
              <a:t>. (</a:t>
            </a:r>
            <a:r>
              <a:rPr lang="nb-NO" dirty="0" err="1"/>
              <a:t>Mejora</a:t>
            </a:r>
            <a:r>
              <a:rPr lang="nb-NO" dirty="0"/>
              <a:t> </a:t>
            </a:r>
            <a:r>
              <a:rPr lang="nb-NO" dirty="0" err="1"/>
              <a:t>Rendimiento</a:t>
            </a:r>
            <a:r>
              <a:rPr lang="nb-NO" dirty="0"/>
              <a:t>).</a:t>
            </a:r>
          </a:p>
          <a:p>
            <a:pPr marL="285750" indent="-285750" algn="just">
              <a:lnSpc>
                <a:spcPct val="130000"/>
              </a:lnSpc>
              <a:buFont typeface="Arial"/>
              <a:buChar char="•"/>
            </a:pPr>
            <a:r>
              <a:rPr lang="es-ES" dirty="0"/>
              <a:t>Nuevo catálogo de componentes Material-</a:t>
            </a:r>
            <a:r>
              <a:rPr lang="es-ES" dirty="0" err="1"/>
              <a:t>Components</a:t>
            </a:r>
            <a:r>
              <a:rPr lang="es-ES" dirty="0"/>
              <a:t> basada en Material </a:t>
            </a:r>
            <a:r>
              <a:rPr lang="es-ES" dirty="0" err="1" smtClean="0"/>
              <a:t>Design.Escritos</a:t>
            </a:r>
            <a:r>
              <a:rPr lang="es-ES" dirty="0" smtClean="0"/>
              <a:t> en JavaScript (</a:t>
            </a:r>
            <a:r>
              <a:rPr lang="es-ES" dirty="0" err="1" smtClean="0"/>
              <a:t>Webcomponents</a:t>
            </a:r>
            <a:r>
              <a:rPr lang="es-ES" dirty="0" smtClean="0"/>
              <a:t> v1)	</a:t>
            </a:r>
          </a:p>
          <a:p>
            <a:pPr marL="285750" indent="-285750" algn="just">
              <a:lnSpc>
                <a:spcPct val="130000"/>
              </a:lnSpc>
              <a:buFont typeface="Arial"/>
              <a:buChar char="•"/>
            </a:pPr>
            <a:r>
              <a:rPr lang="es-ES" dirty="0"/>
              <a:t>PWA </a:t>
            </a:r>
            <a:r>
              <a:rPr lang="es-ES" dirty="0" err="1"/>
              <a:t>Starter</a:t>
            </a:r>
            <a:r>
              <a:rPr lang="es-ES" dirty="0"/>
              <a:t> Kit, que sustituye a </a:t>
            </a:r>
            <a:r>
              <a:rPr lang="es-ES" dirty="0" err="1"/>
              <a:t>Polymer</a:t>
            </a:r>
            <a:r>
              <a:rPr lang="es-ES" dirty="0"/>
              <a:t> </a:t>
            </a:r>
            <a:r>
              <a:rPr lang="es-ES" dirty="0" err="1"/>
              <a:t>Starter</a:t>
            </a:r>
            <a:r>
              <a:rPr lang="es-ES" dirty="0"/>
              <a:t> Kit.</a:t>
            </a:r>
          </a:p>
          <a:p>
            <a:pPr algn="just">
              <a:lnSpc>
                <a:spcPct val="130000"/>
              </a:lnSpc>
            </a:pPr>
            <a:r>
              <a:rPr lang="es-ES" dirty="0" smtClean="0"/>
              <a:t>	</a:t>
            </a:r>
            <a:endParaRPr lang="es-ES" dirty="0"/>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50</a:t>
            </a:fld>
            <a:endParaRPr lang="en-US"/>
          </a:p>
        </p:txBody>
      </p:sp>
    </p:spTree>
    <p:extLst>
      <p:ext uri="{BB962C8B-B14F-4D97-AF65-F5344CB8AC3E}">
        <p14:creationId xmlns:p14="http://schemas.microsoft.com/office/powerpoint/2010/main" val="1040711624"/>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Introducción</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mr-IN" sz="2200" u="sng" dirty="0" smtClean="0">
                <a:latin typeface="Arial Black"/>
                <a:cs typeface="Arial Black"/>
              </a:rPr>
              <a:t>Polymer 3.</a:t>
            </a:r>
            <a:r>
              <a:rPr lang="es-ES_tradnl" sz="2200" u="sng" dirty="0" smtClean="0">
                <a:latin typeface="Arial Black"/>
                <a:cs typeface="Arial Black"/>
              </a:rPr>
              <a:t>0</a:t>
            </a:r>
            <a:r>
              <a:rPr lang="mr-IN" sz="2200" u="sng" dirty="0" smtClean="0">
                <a:latin typeface="Arial Black"/>
                <a:cs typeface="Arial Black"/>
              </a:rPr>
              <a:t> </a:t>
            </a:r>
            <a:r>
              <a:rPr lang="mr-IN" sz="2200" u="sng" dirty="0">
                <a:latin typeface="Arial Black"/>
                <a:cs typeface="Arial Black"/>
              </a:rPr>
              <a:t>&gt; </a:t>
            </a:r>
            <a:r>
              <a:rPr lang="es-ES_tradnl" sz="2200" u="sng" dirty="0" smtClean="0">
                <a:latin typeface="Arial Black"/>
                <a:cs typeface="Arial Black"/>
              </a:rPr>
              <a:t>Hola Mundo</a:t>
            </a:r>
            <a:endParaRPr lang="es-ES" sz="2200" u="sng" dirty="0" smtClean="0">
              <a:solidFill>
                <a:schemeClr val="accent4">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6" name="Rectángulo 15"/>
          <p:cNvSpPr/>
          <p:nvPr/>
        </p:nvSpPr>
        <p:spPr>
          <a:xfrm>
            <a:off x="758214" y="1618914"/>
            <a:ext cx="7005407" cy="4708980"/>
          </a:xfrm>
          <a:prstGeom prst="rect">
            <a:avLst/>
          </a:prstGeom>
          <a:solidFill>
            <a:schemeClr val="bg2">
              <a:lumMod val="75000"/>
              <a:lumOff val="25000"/>
            </a:schemeClr>
          </a:solidFill>
          <a:ln w="12700" cmpd="sng">
            <a:solidFill>
              <a:srgbClr val="3366FF"/>
            </a:solidFill>
          </a:ln>
        </p:spPr>
        <p:txBody>
          <a:bodyPr wrap="square">
            <a:spAutoFit/>
          </a:bodyPr>
          <a:lstStyle/>
          <a:p>
            <a:r>
              <a:rPr lang="en-US" sz="1200" dirty="0"/>
              <a:t>import {</a:t>
            </a:r>
            <a:r>
              <a:rPr lang="en-US" sz="1200" dirty="0" err="1"/>
              <a:t>PolymerElement</a:t>
            </a:r>
            <a:r>
              <a:rPr lang="en-US" sz="1200" dirty="0"/>
              <a:t>, html} from '@polymer/polymer/polymer-</a:t>
            </a:r>
            <a:r>
              <a:rPr lang="en-US" sz="1200" dirty="0" err="1"/>
              <a:t>element.js</a:t>
            </a:r>
            <a:r>
              <a:rPr lang="en-US" sz="1200" dirty="0"/>
              <a:t>';</a:t>
            </a:r>
          </a:p>
          <a:p>
            <a:endParaRPr lang="en-US" sz="1200" dirty="0" smtClean="0"/>
          </a:p>
          <a:p>
            <a:r>
              <a:rPr lang="en-US" sz="1200" dirty="0" smtClean="0"/>
              <a:t>class </a:t>
            </a:r>
            <a:r>
              <a:rPr lang="en-US" sz="1200" dirty="0" err="1"/>
              <a:t>HolaMundo</a:t>
            </a:r>
            <a:r>
              <a:rPr lang="en-US" sz="1200" dirty="0"/>
              <a:t> extends </a:t>
            </a:r>
            <a:r>
              <a:rPr lang="en-US" sz="1200" dirty="0" err="1"/>
              <a:t>PolymerElement</a:t>
            </a:r>
            <a:r>
              <a:rPr lang="en-US" sz="1200" dirty="0"/>
              <a:t> {</a:t>
            </a:r>
          </a:p>
          <a:p>
            <a:r>
              <a:rPr lang="en-US" sz="1200" dirty="0"/>
              <a:t>static get template() {</a:t>
            </a:r>
          </a:p>
          <a:p>
            <a:r>
              <a:rPr lang="en-US" sz="1200" dirty="0"/>
              <a:t>return html`</a:t>
            </a:r>
          </a:p>
          <a:p>
            <a:r>
              <a:rPr lang="en-US" sz="1200" dirty="0"/>
              <a:t>&lt;style&gt;</a:t>
            </a:r>
          </a:p>
          <a:p>
            <a:r>
              <a:rPr lang="en-US" sz="1200" dirty="0"/>
              <a:t>:host {</a:t>
            </a:r>
          </a:p>
          <a:p>
            <a:r>
              <a:rPr lang="en-US" sz="1200" dirty="0"/>
              <a:t>display: block;</a:t>
            </a:r>
          </a:p>
          <a:p>
            <a:r>
              <a:rPr lang="en-US" sz="1200" dirty="0"/>
              <a:t>font-family: </a:t>
            </a:r>
            <a:r>
              <a:rPr lang="en-US" sz="1200" dirty="0" err="1"/>
              <a:t>arial</a:t>
            </a:r>
            <a:r>
              <a:rPr lang="en-US" sz="1200" dirty="0"/>
              <a:t>, </a:t>
            </a:r>
            <a:r>
              <a:rPr lang="en-US" sz="1200" dirty="0" err="1"/>
              <a:t>verdana</a:t>
            </a:r>
            <a:r>
              <a:rPr lang="en-US" sz="1200" dirty="0"/>
              <a:t>;</a:t>
            </a:r>
          </a:p>
          <a:p>
            <a:r>
              <a:rPr lang="en-US" sz="1200" dirty="0"/>
              <a:t>}</a:t>
            </a:r>
          </a:p>
          <a:p>
            <a:r>
              <a:rPr lang="en-US" sz="1200" dirty="0"/>
              <a:t>h1 {</a:t>
            </a:r>
          </a:p>
          <a:p>
            <a:r>
              <a:rPr lang="en-US" sz="1200" dirty="0"/>
              <a:t>color: orange;</a:t>
            </a:r>
          </a:p>
          <a:p>
            <a:r>
              <a:rPr lang="en-US" sz="1200" dirty="0"/>
              <a:t>}</a:t>
            </a:r>
          </a:p>
          <a:p>
            <a:r>
              <a:rPr lang="en-US" sz="1200" dirty="0"/>
              <a:t>p {</a:t>
            </a:r>
          </a:p>
          <a:p>
            <a:r>
              <a:rPr lang="en-US" sz="1200" dirty="0"/>
              <a:t>background-color: #</a:t>
            </a:r>
            <a:r>
              <a:rPr lang="en-US" sz="1200" dirty="0" err="1"/>
              <a:t>eee</a:t>
            </a:r>
            <a:r>
              <a:rPr lang="en-US" sz="1200" dirty="0"/>
              <a:t>;</a:t>
            </a:r>
          </a:p>
          <a:p>
            <a:r>
              <a:rPr lang="en-US" sz="1200" dirty="0"/>
              <a:t>color: #888;</a:t>
            </a:r>
          </a:p>
          <a:p>
            <a:r>
              <a:rPr lang="en-US" sz="1200" dirty="0"/>
              <a:t>padding: 10px;</a:t>
            </a:r>
          </a:p>
          <a:p>
            <a:r>
              <a:rPr lang="en-US" sz="1200" dirty="0"/>
              <a:t>border-radius: 5px;</a:t>
            </a:r>
          </a:p>
          <a:p>
            <a:r>
              <a:rPr lang="en-US" sz="1200" dirty="0"/>
              <a:t>}</a:t>
            </a:r>
          </a:p>
          <a:p>
            <a:r>
              <a:rPr lang="en-US" sz="1200" dirty="0"/>
              <a:t>&lt;/style&gt;</a:t>
            </a:r>
          </a:p>
          <a:p>
            <a:r>
              <a:rPr lang="en-US" sz="1200" dirty="0"/>
              <a:t>&lt;h1&gt;</a:t>
            </a:r>
            <a:r>
              <a:rPr lang="en-US" sz="1200" dirty="0" err="1"/>
              <a:t>Esto</a:t>
            </a:r>
            <a:r>
              <a:rPr lang="en-US" sz="1200" dirty="0"/>
              <a:t> </a:t>
            </a:r>
            <a:r>
              <a:rPr lang="en-US" sz="1200" dirty="0" err="1"/>
              <a:t>es</a:t>
            </a:r>
            <a:r>
              <a:rPr lang="en-US" sz="1200" dirty="0"/>
              <a:t> un Polymer Element </a:t>
            </a:r>
            <a:r>
              <a:rPr lang="en-US" sz="1200" dirty="0" err="1"/>
              <a:t>realizado</a:t>
            </a:r>
            <a:r>
              <a:rPr lang="en-US" sz="1200" dirty="0"/>
              <a:t> con Polymer 3.0!!&lt;/h1&gt;</a:t>
            </a:r>
          </a:p>
          <a:p>
            <a:r>
              <a:rPr lang="en-US" sz="1200" dirty="0"/>
              <a:t>&lt;p&gt;</a:t>
            </a:r>
            <a:r>
              <a:rPr lang="en-US" sz="1200" dirty="0" err="1"/>
              <a:t>Aquí</a:t>
            </a:r>
            <a:r>
              <a:rPr lang="en-US" sz="1200" dirty="0"/>
              <a:t> </a:t>
            </a:r>
            <a:r>
              <a:rPr lang="en-US" sz="1200" dirty="0" err="1"/>
              <a:t>tienes</a:t>
            </a:r>
            <a:r>
              <a:rPr lang="en-US" sz="1200" dirty="0"/>
              <a:t> un </a:t>
            </a:r>
            <a:endParaRPr lang="en-US" sz="1200" dirty="0" smtClean="0"/>
          </a:p>
          <a:p>
            <a:r>
              <a:rPr lang="en-US" sz="1200" dirty="0" smtClean="0"/>
              <a:t>: </a:t>
            </a:r>
            <a:r>
              <a:rPr lang="en-US" sz="1200" dirty="0"/>
              <a:t>[[</a:t>
            </a:r>
            <a:r>
              <a:rPr lang="en-US" sz="1200" dirty="0" err="1"/>
              <a:t>miPropiedad</a:t>
            </a:r>
            <a:r>
              <a:rPr lang="en-US" sz="1200" dirty="0"/>
              <a:t>]]!&lt;/p&gt;</a:t>
            </a:r>
          </a:p>
          <a:p>
            <a:r>
              <a:rPr lang="en-US" sz="1200" dirty="0"/>
              <a:t>`;</a:t>
            </a:r>
          </a:p>
          <a:p>
            <a:r>
              <a:rPr lang="en-US" sz="1200" dirty="0" smtClean="0"/>
              <a:t>}</a:t>
            </a: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51</a:t>
            </a:fld>
            <a:endParaRPr lang="en-US"/>
          </a:p>
        </p:txBody>
      </p:sp>
    </p:spTree>
    <p:extLst>
      <p:ext uri="{BB962C8B-B14F-4D97-AF65-F5344CB8AC3E}">
        <p14:creationId xmlns:p14="http://schemas.microsoft.com/office/powerpoint/2010/main" val="119979614"/>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Introducción</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mr-IN" sz="2200" u="sng" dirty="0" smtClean="0">
                <a:latin typeface="Arial Black"/>
                <a:cs typeface="Arial Black"/>
              </a:rPr>
              <a:t>Polymer 3.</a:t>
            </a:r>
            <a:r>
              <a:rPr lang="es-ES_tradnl" sz="2200" u="sng" dirty="0" smtClean="0">
                <a:latin typeface="Arial Black"/>
                <a:cs typeface="Arial Black"/>
              </a:rPr>
              <a:t>0</a:t>
            </a:r>
            <a:r>
              <a:rPr lang="mr-IN" sz="2200" u="sng" dirty="0" smtClean="0">
                <a:latin typeface="Arial Black"/>
                <a:cs typeface="Arial Black"/>
              </a:rPr>
              <a:t> </a:t>
            </a:r>
            <a:r>
              <a:rPr lang="mr-IN" sz="2200" u="sng" dirty="0">
                <a:latin typeface="Arial Black"/>
                <a:cs typeface="Arial Black"/>
              </a:rPr>
              <a:t>&gt; </a:t>
            </a:r>
            <a:r>
              <a:rPr lang="es-ES_tradnl" sz="2200" u="sng" dirty="0" smtClean="0">
                <a:latin typeface="Arial Black"/>
                <a:cs typeface="Arial Black"/>
              </a:rPr>
              <a:t>Hola Mundo</a:t>
            </a:r>
            <a:endParaRPr lang="es-ES" sz="2200" u="sng" dirty="0" smtClean="0">
              <a:solidFill>
                <a:schemeClr val="accent4">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6" name="Rectángulo 15"/>
          <p:cNvSpPr/>
          <p:nvPr/>
        </p:nvSpPr>
        <p:spPr>
          <a:xfrm>
            <a:off x="758214" y="1618914"/>
            <a:ext cx="7005407" cy="2123658"/>
          </a:xfrm>
          <a:prstGeom prst="rect">
            <a:avLst/>
          </a:prstGeom>
          <a:solidFill>
            <a:schemeClr val="bg2">
              <a:lumMod val="75000"/>
              <a:lumOff val="25000"/>
            </a:schemeClr>
          </a:solidFill>
          <a:ln w="12700" cmpd="sng">
            <a:solidFill>
              <a:srgbClr val="3366FF"/>
            </a:solidFill>
          </a:ln>
        </p:spPr>
        <p:txBody>
          <a:bodyPr wrap="square">
            <a:spAutoFit/>
          </a:bodyPr>
          <a:lstStyle/>
          <a:p>
            <a:endParaRPr lang="en-US" sz="1200" dirty="0"/>
          </a:p>
          <a:p>
            <a:r>
              <a:rPr lang="en-US" sz="1200" dirty="0"/>
              <a:t>static get properties() {</a:t>
            </a:r>
          </a:p>
          <a:p>
            <a:r>
              <a:rPr lang="en-US" sz="1200" dirty="0"/>
              <a:t>return {</a:t>
            </a:r>
          </a:p>
          <a:p>
            <a:r>
              <a:rPr lang="en-US" sz="1200" dirty="0" err="1"/>
              <a:t>miPropiedad</a:t>
            </a:r>
            <a:r>
              <a:rPr lang="en-US" sz="1200" dirty="0"/>
              <a:t>: {</a:t>
            </a:r>
          </a:p>
          <a:p>
            <a:r>
              <a:rPr lang="en-US" sz="1200" dirty="0"/>
              <a:t>type: String,</a:t>
            </a:r>
          </a:p>
          <a:p>
            <a:r>
              <a:rPr lang="en-US" sz="1200" dirty="0"/>
              <a:t>value: 'Valor </a:t>
            </a:r>
            <a:r>
              <a:rPr lang="en-US" sz="1200" dirty="0" err="1"/>
              <a:t>para</a:t>
            </a:r>
            <a:r>
              <a:rPr lang="en-US" sz="1200" dirty="0"/>
              <a:t> mi </a:t>
            </a:r>
            <a:r>
              <a:rPr lang="en-US" sz="1200" dirty="0" err="1"/>
              <a:t>propiedad</a:t>
            </a:r>
            <a:r>
              <a:rPr lang="en-US" sz="1200" dirty="0"/>
              <a:t>',</a:t>
            </a:r>
          </a:p>
          <a:p>
            <a:r>
              <a:rPr lang="en-US" sz="1200" dirty="0" smtClean="0"/>
              <a:t>}</a:t>
            </a:r>
            <a:endParaRPr lang="en-US" sz="1200" dirty="0"/>
          </a:p>
          <a:p>
            <a:r>
              <a:rPr lang="en-US" sz="1200" dirty="0"/>
              <a:t>};</a:t>
            </a:r>
          </a:p>
          <a:p>
            <a:r>
              <a:rPr lang="en-US" sz="1200" dirty="0"/>
              <a:t>}</a:t>
            </a:r>
          </a:p>
          <a:p>
            <a:endParaRPr lang="en-US" sz="1200" dirty="0"/>
          </a:p>
          <a:p>
            <a:r>
              <a:rPr lang="en-US" sz="1200" dirty="0" err="1"/>
              <a:t>window.customElements.define</a:t>
            </a:r>
            <a:r>
              <a:rPr lang="en-US" sz="1200" dirty="0"/>
              <a:t>('</a:t>
            </a:r>
            <a:r>
              <a:rPr lang="en-US" sz="1200" dirty="0" err="1"/>
              <a:t>hola-mundo</a:t>
            </a:r>
            <a:r>
              <a:rPr lang="en-US" sz="1200" dirty="0"/>
              <a:t>', </a:t>
            </a:r>
            <a:r>
              <a:rPr lang="en-US" sz="1200" dirty="0" err="1"/>
              <a:t>HolaMundo</a:t>
            </a:r>
            <a:r>
              <a:rPr lang="en-US" sz="1200" dirty="0"/>
              <a:t>)</a:t>
            </a:r>
            <a:r>
              <a:rPr lang="en-US" sz="1200" dirty="0" smtClean="0"/>
              <a:t>;</a:t>
            </a:r>
            <a:endParaRPr lang="en-US" sz="1200" dirty="0"/>
          </a:p>
        </p:txBody>
      </p:sp>
      <p:sp>
        <p:nvSpPr>
          <p:cNvPr id="14" name="Rectángulo 13"/>
          <p:cNvSpPr/>
          <p:nvPr/>
        </p:nvSpPr>
        <p:spPr>
          <a:xfrm>
            <a:off x="758214" y="3872578"/>
            <a:ext cx="7005407" cy="2308324"/>
          </a:xfrm>
          <a:prstGeom prst="rect">
            <a:avLst/>
          </a:prstGeom>
          <a:solidFill>
            <a:schemeClr val="bg2">
              <a:lumMod val="75000"/>
              <a:lumOff val="25000"/>
            </a:schemeClr>
          </a:solidFill>
          <a:ln w="12700" cmpd="sng">
            <a:solidFill>
              <a:srgbClr val="3366FF"/>
            </a:solidFill>
          </a:ln>
        </p:spPr>
        <p:txBody>
          <a:bodyPr wrap="square">
            <a:spAutoFit/>
          </a:bodyPr>
          <a:lstStyle/>
          <a:p>
            <a:r>
              <a:rPr lang="es-ES" sz="1200" dirty="0"/>
              <a:t>&lt;!</a:t>
            </a:r>
            <a:r>
              <a:rPr lang="es-ES" sz="1200" dirty="0" err="1"/>
              <a:t>doctype</a:t>
            </a:r>
            <a:r>
              <a:rPr lang="es-ES" sz="1200" dirty="0"/>
              <a:t> </a:t>
            </a:r>
            <a:r>
              <a:rPr lang="es-ES" sz="1200" dirty="0" err="1"/>
              <a:t>html</a:t>
            </a:r>
            <a:r>
              <a:rPr lang="es-ES" sz="1200" dirty="0"/>
              <a:t>&gt;</a:t>
            </a:r>
          </a:p>
          <a:p>
            <a:r>
              <a:rPr lang="es-ES" sz="1200" dirty="0"/>
              <a:t>&lt;</a:t>
            </a:r>
            <a:r>
              <a:rPr lang="es-ES" sz="1200" dirty="0" err="1"/>
              <a:t>html</a:t>
            </a:r>
            <a:r>
              <a:rPr lang="es-ES" sz="1200" dirty="0"/>
              <a:t>&gt;</a:t>
            </a:r>
          </a:p>
          <a:p>
            <a:r>
              <a:rPr lang="es-ES" sz="1200" dirty="0"/>
              <a:t>  &lt;head&gt;</a:t>
            </a:r>
          </a:p>
          <a:p>
            <a:r>
              <a:rPr lang="es-ES" sz="1200" dirty="0"/>
              <a:t>    &lt;script </a:t>
            </a:r>
            <a:r>
              <a:rPr lang="es-ES" sz="1200" dirty="0" err="1"/>
              <a:t>src</a:t>
            </a:r>
            <a:r>
              <a:rPr lang="es-ES" sz="1200" dirty="0"/>
              <a:t>="./</a:t>
            </a:r>
            <a:r>
              <a:rPr lang="es-ES" sz="1200" dirty="0" err="1"/>
              <a:t>node_modules</a:t>
            </a:r>
            <a:r>
              <a:rPr lang="es-ES" sz="1200" dirty="0"/>
              <a:t>/@</a:t>
            </a:r>
            <a:r>
              <a:rPr lang="es-ES" sz="1200" dirty="0" err="1"/>
              <a:t>webcomponents</a:t>
            </a:r>
            <a:r>
              <a:rPr lang="es-ES" sz="1200" dirty="0"/>
              <a:t>/</a:t>
            </a:r>
            <a:r>
              <a:rPr lang="es-ES" sz="1200" dirty="0" err="1"/>
              <a:t>webcomponentsjs</a:t>
            </a:r>
            <a:r>
              <a:rPr lang="es-ES" sz="1200" dirty="0"/>
              <a:t>/</a:t>
            </a:r>
            <a:r>
              <a:rPr lang="es-ES" sz="1200" dirty="0" err="1"/>
              <a:t>webcomponents-bundle.js</a:t>
            </a:r>
            <a:r>
              <a:rPr lang="es-ES" sz="1200" dirty="0"/>
              <a:t>" </a:t>
            </a:r>
            <a:r>
              <a:rPr lang="es-ES" sz="1200" dirty="0" err="1"/>
              <a:t>defer</a:t>
            </a:r>
            <a:r>
              <a:rPr lang="es-ES" sz="1200" dirty="0"/>
              <a:t>&gt;&lt;/script&gt;</a:t>
            </a:r>
          </a:p>
          <a:p>
            <a:r>
              <a:rPr lang="es-ES" sz="1200" dirty="0"/>
              <a:t>    &lt;script </a:t>
            </a:r>
            <a:r>
              <a:rPr lang="es-ES" sz="1200" dirty="0" err="1"/>
              <a:t>src</a:t>
            </a:r>
            <a:r>
              <a:rPr lang="es-ES" sz="1200" dirty="0"/>
              <a:t>="./</a:t>
            </a:r>
            <a:r>
              <a:rPr lang="es-ES" sz="1200" dirty="0" err="1"/>
              <a:t>node_modules</a:t>
            </a:r>
            <a:r>
              <a:rPr lang="es-ES" sz="1200" dirty="0"/>
              <a:t>/@</a:t>
            </a:r>
            <a:r>
              <a:rPr lang="es-ES" sz="1200" dirty="0" err="1"/>
              <a:t>webcomponents</a:t>
            </a:r>
            <a:r>
              <a:rPr lang="es-ES" sz="1200" dirty="0"/>
              <a:t>/</a:t>
            </a:r>
            <a:r>
              <a:rPr lang="es-ES" sz="1200" dirty="0" err="1"/>
              <a:t>webcomponentsjs</a:t>
            </a:r>
            <a:r>
              <a:rPr lang="es-ES" sz="1200" dirty="0"/>
              <a:t>/custom-elements-es5-adapter.js"&gt;&lt;/script&gt;</a:t>
            </a:r>
          </a:p>
          <a:p>
            <a:r>
              <a:rPr lang="es-ES" sz="1200" dirty="0"/>
              <a:t>  &lt;/head&gt;</a:t>
            </a:r>
          </a:p>
          <a:p>
            <a:r>
              <a:rPr lang="es-ES" sz="1200" dirty="0"/>
              <a:t>  &lt;</a:t>
            </a:r>
            <a:r>
              <a:rPr lang="es-ES" sz="1200" dirty="0" err="1"/>
              <a:t>body</a:t>
            </a:r>
            <a:r>
              <a:rPr lang="es-ES" sz="1200" dirty="0"/>
              <a:t>&gt;</a:t>
            </a:r>
          </a:p>
          <a:p>
            <a:r>
              <a:rPr lang="es-ES" sz="1200" dirty="0"/>
              <a:t>    &lt;hola-</a:t>
            </a:r>
            <a:r>
              <a:rPr lang="es-ES" sz="1200" dirty="0" smtClean="0"/>
              <a:t>mundo&gt;</a:t>
            </a:r>
            <a:r>
              <a:rPr lang="es-ES" sz="1200" dirty="0"/>
              <a:t>&lt;/hola-mundo&gt;</a:t>
            </a:r>
          </a:p>
          <a:p>
            <a:r>
              <a:rPr lang="es-ES" sz="1200" dirty="0"/>
              <a:t>  &lt;/</a:t>
            </a:r>
            <a:r>
              <a:rPr lang="es-ES" sz="1200" dirty="0" err="1"/>
              <a:t>body</a:t>
            </a:r>
            <a:r>
              <a:rPr lang="es-ES" sz="1200" dirty="0"/>
              <a:t>&gt;</a:t>
            </a:r>
          </a:p>
          <a:p>
            <a:r>
              <a:rPr lang="es-ES" sz="1200" dirty="0"/>
              <a:t>&lt;/</a:t>
            </a:r>
            <a:r>
              <a:rPr lang="es-ES" sz="1200" dirty="0" err="1"/>
              <a:t>html</a:t>
            </a:r>
            <a:r>
              <a:rPr lang="es-ES" sz="1200" dirty="0"/>
              <a:t>&gt;</a:t>
            </a:r>
            <a:endParaRPr lang="en-US" sz="1200" dirty="0"/>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52</a:t>
            </a:fld>
            <a:endParaRPr lang="en-US"/>
          </a:p>
        </p:txBody>
      </p:sp>
    </p:spTree>
    <p:extLst>
      <p:ext uri="{BB962C8B-B14F-4D97-AF65-F5344CB8AC3E}">
        <p14:creationId xmlns:p14="http://schemas.microsoft.com/office/powerpoint/2010/main" val="1735643503"/>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LitElement</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smtClean="0">
                <a:latin typeface="Arial Black"/>
                <a:cs typeface="Arial Black"/>
              </a:rPr>
              <a:t>LitElement</a:t>
            </a:r>
            <a:endParaRPr lang="es-ES" sz="2200" u="sng" dirty="0" smtClean="0">
              <a:solidFill>
                <a:schemeClr val="accent4">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492433" y="1614742"/>
            <a:ext cx="8202871" cy="5119865"/>
          </a:xfrm>
          <a:prstGeom prst="rect">
            <a:avLst/>
          </a:prstGeom>
        </p:spPr>
        <p:txBody>
          <a:bodyPr wrap="square">
            <a:spAutoFit/>
          </a:bodyPr>
          <a:lstStyle/>
          <a:p>
            <a:pPr algn="just">
              <a:lnSpc>
                <a:spcPct val="130000"/>
              </a:lnSpc>
            </a:pPr>
            <a:r>
              <a:rPr lang="nb-NO" dirty="0" err="1">
                <a:solidFill>
                  <a:srgbClr val="FFFFFF"/>
                </a:solidFill>
                <a:cs typeface="Helvetica"/>
              </a:rPr>
              <a:t>Esta</a:t>
            </a:r>
            <a:r>
              <a:rPr lang="nb-NO" dirty="0">
                <a:solidFill>
                  <a:srgbClr val="FFFFFF"/>
                </a:solidFill>
                <a:cs typeface="Helvetica"/>
              </a:rPr>
              <a:t> es </a:t>
            </a:r>
            <a:r>
              <a:rPr lang="nb-NO" dirty="0" err="1">
                <a:solidFill>
                  <a:srgbClr val="FFFFFF"/>
                </a:solidFill>
                <a:cs typeface="Helvetica"/>
              </a:rPr>
              <a:t>una</a:t>
            </a:r>
            <a:r>
              <a:rPr lang="nb-NO" dirty="0">
                <a:solidFill>
                  <a:srgbClr val="FFFFFF"/>
                </a:solidFill>
                <a:cs typeface="Helvetica"/>
              </a:rPr>
              <a:t> de las </a:t>
            </a:r>
            <a:r>
              <a:rPr lang="nb-NO" dirty="0" err="1">
                <a:solidFill>
                  <a:srgbClr val="FFFFFF"/>
                </a:solidFill>
                <a:cs typeface="Helvetica"/>
              </a:rPr>
              <a:t>novedades</a:t>
            </a:r>
            <a:r>
              <a:rPr lang="nb-NO" dirty="0">
                <a:solidFill>
                  <a:srgbClr val="FFFFFF"/>
                </a:solidFill>
                <a:cs typeface="Helvetica"/>
              </a:rPr>
              <a:t> de Polymer 3.0 </a:t>
            </a:r>
            <a:r>
              <a:rPr lang="nb-NO" dirty="0" err="1">
                <a:solidFill>
                  <a:srgbClr val="FFFFFF"/>
                </a:solidFill>
                <a:cs typeface="Helvetica"/>
              </a:rPr>
              <a:t>más</a:t>
            </a:r>
            <a:r>
              <a:rPr lang="nb-NO" dirty="0">
                <a:solidFill>
                  <a:srgbClr val="FFFFFF"/>
                </a:solidFill>
                <a:cs typeface="Helvetica"/>
              </a:rPr>
              <a:t> </a:t>
            </a:r>
            <a:r>
              <a:rPr lang="nb-NO" dirty="0" err="1">
                <a:solidFill>
                  <a:srgbClr val="FFFFFF"/>
                </a:solidFill>
                <a:cs typeface="Helvetica"/>
              </a:rPr>
              <a:t>importantes</a:t>
            </a:r>
            <a:r>
              <a:rPr lang="nb-NO" dirty="0">
                <a:solidFill>
                  <a:srgbClr val="FFFFFF"/>
                </a:solidFill>
                <a:cs typeface="Helvetica"/>
              </a:rPr>
              <a:t> en lo </a:t>
            </a:r>
            <a:r>
              <a:rPr lang="nb-NO" dirty="0" err="1">
                <a:solidFill>
                  <a:srgbClr val="FFFFFF"/>
                </a:solidFill>
                <a:cs typeface="Helvetica"/>
              </a:rPr>
              <a:t>que</a:t>
            </a:r>
            <a:r>
              <a:rPr lang="nb-NO" dirty="0">
                <a:solidFill>
                  <a:srgbClr val="FFFFFF"/>
                </a:solidFill>
                <a:cs typeface="Helvetica"/>
              </a:rPr>
              <a:t> </a:t>
            </a:r>
            <a:r>
              <a:rPr lang="nb-NO" dirty="0" err="1">
                <a:solidFill>
                  <a:srgbClr val="FFFFFF"/>
                </a:solidFill>
                <a:cs typeface="Helvetica"/>
              </a:rPr>
              <a:t>respecta</a:t>
            </a:r>
            <a:r>
              <a:rPr lang="nb-NO" dirty="0">
                <a:solidFill>
                  <a:srgbClr val="FFFFFF"/>
                </a:solidFill>
                <a:cs typeface="Helvetica"/>
              </a:rPr>
              <a:t> </a:t>
            </a:r>
            <a:r>
              <a:rPr lang="nb-NO" dirty="0" smtClean="0">
                <a:solidFill>
                  <a:srgbClr val="FFFFFF"/>
                </a:solidFill>
                <a:cs typeface="Helvetica"/>
              </a:rPr>
              <a:t>al </a:t>
            </a:r>
            <a:r>
              <a:rPr lang="nb-NO" dirty="0" err="1" smtClean="0">
                <a:solidFill>
                  <a:srgbClr val="FFFFFF"/>
                </a:solidFill>
                <a:cs typeface="Helvetica"/>
              </a:rPr>
              <a:t>rendimiento.La</a:t>
            </a:r>
            <a:r>
              <a:rPr lang="nb-NO" dirty="0" smtClean="0">
                <a:solidFill>
                  <a:srgbClr val="FFFFFF"/>
                </a:solidFill>
                <a:cs typeface="Helvetica"/>
              </a:rPr>
              <a:t> </a:t>
            </a:r>
            <a:r>
              <a:rPr lang="nb-NO" dirty="0" err="1">
                <a:solidFill>
                  <a:srgbClr val="FFFFFF"/>
                </a:solidFill>
                <a:cs typeface="Helvetica"/>
              </a:rPr>
              <a:t>librería</a:t>
            </a:r>
            <a:r>
              <a:rPr lang="nb-NO" dirty="0">
                <a:solidFill>
                  <a:srgbClr val="FFFFFF"/>
                </a:solidFill>
                <a:cs typeface="Helvetica"/>
              </a:rPr>
              <a:t> se ha </a:t>
            </a:r>
            <a:r>
              <a:rPr lang="nb-NO" dirty="0" err="1">
                <a:solidFill>
                  <a:srgbClr val="FFFFFF"/>
                </a:solidFill>
                <a:cs typeface="Helvetica"/>
              </a:rPr>
              <a:t>desarrollado</a:t>
            </a:r>
            <a:r>
              <a:rPr lang="nb-NO" dirty="0">
                <a:solidFill>
                  <a:srgbClr val="FFFFFF"/>
                </a:solidFill>
                <a:cs typeface="Helvetica"/>
              </a:rPr>
              <a:t> para </a:t>
            </a:r>
            <a:r>
              <a:rPr lang="nb-NO" dirty="0" err="1">
                <a:solidFill>
                  <a:srgbClr val="FFFFFF"/>
                </a:solidFill>
                <a:cs typeface="Helvetica"/>
              </a:rPr>
              <a:t>satisfacer</a:t>
            </a:r>
            <a:r>
              <a:rPr lang="nb-NO" dirty="0">
                <a:solidFill>
                  <a:srgbClr val="FFFFFF"/>
                </a:solidFill>
                <a:cs typeface="Helvetica"/>
              </a:rPr>
              <a:t> las </a:t>
            </a:r>
            <a:r>
              <a:rPr lang="nb-NO" dirty="0" err="1">
                <a:solidFill>
                  <a:srgbClr val="FFFFFF"/>
                </a:solidFill>
                <a:cs typeface="Helvetica"/>
              </a:rPr>
              <a:t>demandas</a:t>
            </a:r>
            <a:r>
              <a:rPr lang="nb-NO" dirty="0">
                <a:solidFill>
                  <a:srgbClr val="FFFFFF"/>
                </a:solidFill>
                <a:cs typeface="Helvetica"/>
              </a:rPr>
              <a:t> de </a:t>
            </a:r>
            <a:r>
              <a:rPr lang="nb-NO" dirty="0" err="1">
                <a:solidFill>
                  <a:srgbClr val="FFFFFF"/>
                </a:solidFill>
                <a:cs typeface="Helvetica"/>
              </a:rPr>
              <a:t>un</a:t>
            </a:r>
            <a:r>
              <a:rPr lang="nb-NO" dirty="0">
                <a:solidFill>
                  <a:srgbClr val="FFFFFF"/>
                </a:solidFill>
                <a:cs typeface="Helvetica"/>
              </a:rPr>
              <a:t> </a:t>
            </a:r>
            <a:r>
              <a:rPr lang="nb-NO" dirty="0" err="1">
                <a:solidFill>
                  <a:srgbClr val="FFFFFF"/>
                </a:solidFill>
                <a:cs typeface="Helvetica"/>
              </a:rPr>
              <a:t>sistema</a:t>
            </a:r>
            <a:r>
              <a:rPr lang="nb-NO" dirty="0">
                <a:solidFill>
                  <a:srgbClr val="FFFFFF"/>
                </a:solidFill>
                <a:cs typeface="Helvetica"/>
              </a:rPr>
              <a:t> de </a:t>
            </a:r>
            <a:r>
              <a:rPr lang="nb-NO" dirty="0" err="1">
                <a:solidFill>
                  <a:srgbClr val="FFFFFF"/>
                </a:solidFill>
                <a:cs typeface="Helvetica"/>
              </a:rPr>
              <a:t>templates</a:t>
            </a:r>
            <a:r>
              <a:rPr lang="nb-NO" dirty="0">
                <a:solidFill>
                  <a:srgbClr val="FFFFFF"/>
                </a:solidFill>
                <a:cs typeface="Helvetica"/>
              </a:rPr>
              <a:t> HTML, </a:t>
            </a:r>
            <a:r>
              <a:rPr lang="nb-NO" dirty="0" err="1">
                <a:solidFill>
                  <a:srgbClr val="FFFFFF"/>
                </a:solidFill>
                <a:cs typeface="Helvetica"/>
              </a:rPr>
              <a:t>capaz</a:t>
            </a:r>
            <a:r>
              <a:rPr lang="nb-NO" dirty="0">
                <a:solidFill>
                  <a:srgbClr val="FFFFFF"/>
                </a:solidFill>
                <a:cs typeface="Helvetica"/>
              </a:rPr>
              <a:t> de </a:t>
            </a:r>
            <a:r>
              <a:rPr lang="nb-NO" dirty="0" err="1">
                <a:solidFill>
                  <a:srgbClr val="FFFFFF"/>
                </a:solidFill>
                <a:cs typeface="Helvetica"/>
              </a:rPr>
              <a:t>aportar</a:t>
            </a:r>
            <a:r>
              <a:rPr lang="nb-NO" dirty="0">
                <a:solidFill>
                  <a:srgbClr val="FFFFFF"/>
                </a:solidFill>
                <a:cs typeface="Helvetica"/>
              </a:rPr>
              <a:t> </a:t>
            </a:r>
            <a:r>
              <a:rPr lang="nb-NO" dirty="0" err="1">
                <a:solidFill>
                  <a:srgbClr val="FFFFFF"/>
                </a:solidFill>
                <a:cs typeface="Helvetica"/>
              </a:rPr>
              <a:t>un</a:t>
            </a:r>
            <a:r>
              <a:rPr lang="nb-NO" dirty="0">
                <a:solidFill>
                  <a:srgbClr val="FFFFFF"/>
                </a:solidFill>
                <a:cs typeface="Helvetica"/>
              </a:rPr>
              <a:t> gran </a:t>
            </a:r>
            <a:r>
              <a:rPr lang="nb-NO" dirty="0" err="1">
                <a:solidFill>
                  <a:srgbClr val="FFFFFF"/>
                </a:solidFill>
                <a:cs typeface="Helvetica"/>
              </a:rPr>
              <a:t>rendimiento</a:t>
            </a:r>
            <a:r>
              <a:rPr lang="nb-NO" dirty="0">
                <a:solidFill>
                  <a:srgbClr val="FFFFFF"/>
                </a:solidFill>
                <a:cs typeface="Helvetica"/>
              </a:rPr>
              <a:t>, </a:t>
            </a:r>
            <a:r>
              <a:rPr lang="nb-NO" dirty="0" err="1">
                <a:solidFill>
                  <a:srgbClr val="FFFFFF"/>
                </a:solidFill>
                <a:cs typeface="Helvetica"/>
              </a:rPr>
              <a:t>funcionando</a:t>
            </a:r>
            <a:r>
              <a:rPr lang="nb-NO" dirty="0">
                <a:solidFill>
                  <a:srgbClr val="FFFFFF"/>
                </a:solidFill>
                <a:cs typeface="Helvetica"/>
              </a:rPr>
              <a:t> del </a:t>
            </a:r>
            <a:r>
              <a:rPr lang="nb-NO" dirty="0" err="1">
                <a:solidFill>
                  <a:srgbClr val="FFFFFF"/>
                </a:solidFill>
                <a:cs typeface="Helvetica"/>
              </a:rPr>
              <a:t>lado</a:t>
            </a:r>
            <a:r>
              <a:rPr lang="nb-NO" dirty="0">
                <a:solidFill>
                  <a:srgbClr val="FFFFFF"/>
                </a:solidFill>
                <a:cs typeface="Helvetica"/>
              </a:rPr>
              <a:t> de </a:t>
            </a:r>
            <a:r>
              <a:rPr lang="nb-NO" dirty="0" err="1">
                <a:solidFill>
                  <a:srgbClr val="FFFFFF"/>
                </a:solidFill>
                <a:cs typeface="Helvetica"/>
              </a:rPr>
              <a:t>Javascript</a:t>
            </a:r>
            <a:r>
              <a:rPr lang="nb-NO" dirty="0">
                <a:solidFill>
                  <a:srgbClr val="FFFFFF"/>
                </a:solidFill>
                <a:cs typeface="Helvetica"/>
              </a:rPr>
              <a:t> con ES6 </a:t>
            </a:r>
            <a:r>
              <a:rPr lang="nb-NO" dirty="0" err="1">
                <a:solidFill>
                  <a:srgbClr val="FFFFFF"/>
                </a:solidFill>
                <a:cs typeface="Helvetica"/>
              </a:rPr>
              <a:t>Modules</a:t>
            </a:r>
            <a:r>
              <a:rPr lang="nb-NO" dirty="0">
                <a:solidFill>
                  <a:srgbClr val="FFFFFF"/>
                </a:solidFill>
                <a:cs typeface="Helvetica"/>
              </a:rPr>
              <a:t>. </a:t>
            </a:r>
            <a:endParaRPr lang="nb-NO" dirty="0" smtClean="0">
              <a:solidFill>
                <a:srgbClr val="FFFFFF"/>
              </a:solidFill>
              <a:cs typeface="Helvetica"/>
            </a:endParaRPr>
          </a:p>
          <a:p>
            <a:pPr algn="just">
              <a:lnSpc>
                <a:spcPct val="130000"/>
              </a:lnSpc>
            </a:pPr>
            <a:endParaRPr lang="nb-NO" dirty="0">
              <a:solidFill>
                <a:srgbClr val="FFFFFF"/>
              </a:solidFill>
              <a:cs typeface="Helvetica"/>
            </a:endParaRPr>
          </a:p>
          <a:p>
            <a:pPr algn="just">
              <a:lnSpc>
                <a:spcPct val="130000"/>
              </a:lnSpc>
            </a:pPr>
            <a:r>
              <a:rPr lang="nb-NO" dirty="0">
                <a:solidFill>
                  <a:srgbClr val="FFFFFF"/>
                </a:solidFill>
                <a:cs typeface="Helvetica"/>
              </a:rPr>
              <a:t>La </a:t>
            </a:r>
            <a:r>
              <a:rPr lang="nb-NO" dirty="0" err="1">
                <a:solidFill>
                  <a:srgbClr val="FFFFFF"/>
                </a:solidFill>
                <a:cs typeface="Helvetica"/>
              </a:rPr>
              <a:t>diferencia</a:t>
            </a:r>
            <a:r>
              <a:rPr lang="nb-NO" dirty="0">
                <a:solidFill>
                  <a:srgbClr val="FFFFFF"/>
                </a:solidFill>
                <a:cs typeface="Helvetica"/>
              </a:rPr>
              <a:t> entre </a:t>
            </a:r>
            <a:r>
              <a:rPr lang="nb-NO" dirty="0" err="1">
                <a:solidFill>
                  <a:srgbClr val="FFFFFF"/>
                </a:solidFill>
                <a:cs typeface="Helvetica"/>
              </a:rPr>
              <a:t>LitElement</a:t>
            </a:r>
            <a:r>
              <a:rPr lang="nb-NO" dirty="0">
                <a:solidFill>
                  <a:srgbClr val="FFFFFF"/>
                </a:solidFill>
                <a:cs typeface="Helvetica"/>
              </a:rPr>
              <a:t> y </a:t>
            </a:r>
            <a:r>
              <a:rPr lang="nb-NO" dirty="0" err="1">
                <a:solidFill>
                  <a:srgbClr val="FFFFFF"/>
                </a:solidFill>
                <a:cs typeface="Helvetica"/>
              </a:rPr>
              <a:t>PolymerElement</a:t>
            </a:r>
            <a:r>
              <a:rPr lang="nb-NO" dirty="0">
                <a:solidFill>
                  <a:srgbClr val="FFFFFF"/>
                </a:solidFill>
                <a:cs typeface="Helvetica"/>
              </a:rPr>
              <a:t> es </a:t>
            </a:r>
            <a:r>
              <a:rPr lang="nb-NO" dirty="0" err="1">
                <a:solidFill>
                  <a:srgbClr val="FFFFFF"/>
                </a:solidFill>
                <a:cs typeface="Helvetica"/>
              </a:rPr>
              <a:t>que</a:t>
            </a:r>
            <a:r>
              <a:rPr lang="nb-NO" dirty="0">
                <a:solidFill>
                  <a:srgbClr val="FFFFFF"/>
                </a:solidFill>
                <a:cs typeface="Helvetica"/>
              </a:rPr>
              <a:t> </a:t>
            </a:r>
            <a:r>
              <a:rPr lang="nb-NO" dirty="0" err="1">
                <a:solidFill>
                  <a:srgbClr val="FFFFFF"/>
                </a:solidFill>
                <a:cs typeface="Helvetica"/>
              </a:rPr>
              <a:t>LitElement</a:t>
            </a:r>
            <a:r>
              <a:rPr lang="nb-NO" dirty="0">
                <a:solidFill>
                  <a:srgbClr val="FFFFFF"/>
                </a:solidFill>
                <a:cs typeface="Helvetica"/>
              </a:rPr>
              <a:t> </a:t>
            </a:r>
            <a:r>
              <a:rPr lang="nb-NO" dirty="0" err="1">
                <a:solidFill>
                  <a:srgbClr val="FFFFFF"/>
                </a:solidFill>
                <a:cs typeface="Helvetica"/>
              </a:rPr>
              <a:t>hace</a:t>
            </a:r>
            <a:r>
              <a:rPr lang="nb-NO" dirty="0">
                <a:solidFill>
                  <a:srgbClr val="FFFFFF"/>
                </a:solidFill>
                <a:cs typeface="Helvetica"/>
              </a:rPr>
              <a:t> uso de la </a:t>
            </a:r>
            <a:r>
              <a:rPr lang="nb-NO" dirty="0" err="1">
                <a:solidFill>
                  <a:srgbClr val="FFFFFF"/>
                </a:solidFill>
                <a:cs typeface="Helvetica"/>
              </a:rPr>
              <a:t>librería</a:t>
            </a:r>
            <a:r>
              <a:rPr lang="nb-NO" dirty="0">
                <a:solidFill>
                  <a:srgbClr val="FFFFFF"/>
                </a:solidFill>
                <a:cs typeface="Helvetica"/>
              </a:rPr>
              <a:t> Lit</a:t>
            </a:r>
            <a:r>
              <a:rPr lang="nb-NO" dirty="0" smtClean="0">
                <a:solidFill>
                  <a:srgbClr val="FFFFFF"/>
                </a:solidFill>
                <a:cs typeface="Helvetica"/>
              </a:rPr>
              <a:t>-HTML </a:t>
            </a:r>
            <a:r>
              <a:rPr lang="nb-NO" dirty="0">
                <a:solidFill>
                  <a:srgbClr val="FFFFFF"/>
                </a:solidFill>
                <a:cs typeface="Helvetica"/>
              </a:rPr>
              <a:t>y </a:t>
            </a:r>
            <a:r>
              <a:rPr lang="nb-NO" dirty="0" err="1">
                <a:solidFill>
                  <a:srgbClr val="FFFFFF"/>
                </a:solidFill>
                <a:cs typeface="Helvetica"/>
              </a:rPr>
              <a:t>PolymerElement</a:t>
            </a:r>
            <a:r>
              <a:rPr lang="nb-NO" dirty="0">
                <a:solidFill>
                  <a:srgbClr val="FFFFFF"/>
                </a:solidFill>
                <a:cs typeface="Helvetica"/>
              </a:rPr>
              <a:t> </a:t>
            </a:r>
            <a:r>
              <a:rPr lang="nb-NO" dirty="0" err="1">
                <a:solidFill>
                  <a:srgbClr val="FFFFFF"/>
                </a:solidFill>
                <a:cs typeface="Helvetica"/>
              </a:rPr>
              <a:t>hace</a:t>
            </a:r>
            <a:r>
              <a:rPr lang="nb-NO" dirty="0">
                <a:solidFill>
                  <a:srgbClr val="FFFFFF"/>
                </a:solidFill>
                <a:cs typeface="Helvetica"/>
              </a:rPr>
              <a:t> uso de </a:t>
            </a:r>
            <a:r>
              <a:rPr lang="nb-NO" dirty="0" err="1">
                <a:solidFill>
                  <a:srgbClr val="FFFFFF"/>
                </a:solidFill>
                <a:cs typeface="Helvetica"/>
              </a:rPr>
              <a:t>templates</a:t>
            </a:r>
            <a:r>
              <a:rPr lang="nb-NO" dirty="0">
                <a:solidFill>
                  <a:srgbClr val="FFFFFF"/>
                </a:solidFill>
                <a:cs typeface="Helvetica"/>
              </a:rPr>
              <a:t> HTML </a:t>
            </a:r>
            <a:r>
              <a:rPr lang="nb-NO" dirty="0" err="1">
                <a:solidFill>
                  <a:srgbClr val="FFFFFF"/>
                </a:solidFill>
                <a:cs typeface="Helvetica"/>
              </a:rPr>
              <a:t>declarativos</a:t>
            </a:r>
            <a:r>
              <a:rPr lang="nb-NO" dirty="0">
                <a:solidFill>
                  <a:srgbClr val="FFFFFF"/>
                </a:solidFill>
                <a:cs typeface="Helvetica"/>
              </a:rPr>
              <a:t> </a:t>
            </a:r>
            <a:r>
              <a:rPr lang="nb-NO" dirty="0" err="1">
                <a:solidFill>
                  <a:srgbClr val="FFFFFF"/>
                </a:solidFill>
                <a:cs typeface="Helvetica"/>
              </a:rPr>
              <a:t>dentro</a:t>
            </a:r>
            <a:r>
              <a:rPr lang="nb-NO" dirty="0">
                <a:solidFill>
                  <a:srgbClr val="FFFFFF"/>
                </a:solidFill>
                <a:cs typeface="Helvetica"/>
              </a:rPr>
              <a:t> de </a:t>
            </a:r>
            <a:r>
              <a:rPr lang="nb-NO" dirty="0" err="1">
                <a:solidFill>
                  <a:srgbClr val="FFFFFF"/>
                </a:solidFill>
                <a:cs typeface="Helvetica"/>
              </a:rPr>
              <a:t>Javascript</a:t>
            </a:r>
            <a:r>
              <a:rPr lang="nb-NO" dirty="0" smtClean="0">
                <a:solidFill>
                  <a:srgbClr val="FFFFFF"/>
                </a:solidFill>
                <a:cs typeface="Helvetica"/>
              </a:rPr>
              <a:t>.</a:t>
            </a:r>
          </a:p>
          <a:p>
            <a:pPr algn="just">
              <a:lnSpc>
                <a:spcPct val="130000"/>
              </a:lnSpc>
            </a:pPr>
            <a:endParaRPr lang="nb-NO" dirty="0">
              <a:solidFill>
                <a:srgbClr val="FFFFFF"/>
              </a:solidFill>
              <a:cs typeface="Helvetica"/>
            </a:endParaRPr>
          </a:p>
          <a:p>
            <a:pPr algn="just">
              <a:lnSpc>
                <a:spcPct val="130000"/>
              </a:lnSpc>
            </a:pPr>
            <a:r>
              <a:rPr lang="nb-NO" dirty="0" err="1">
                <a:solidFill>
                  <a:srgbClr val="FFFFFF"/>
                </a:solidFill>
                <a:cs typeface="Helvetica"/>
              </a:rPr>
              <a:t>LitElement</a:t>
            </a:r>
            <a:r>
              <a:rPr lang="nb-NO" dirty="0">
                <a:solidFill>
                  <a:srgbClr val="FFFFFF"/>
                </a:solidFill>
                <a:cs typeface="Helvetica"/>
              </a:rPr>
              <a:t> </a:t>
            </a:r>
            <a:r>
              <a:rPr lang="nb-NO" dirty="0" err="1" smtClean="0">
                <a:solidFill>
                  <a:srgbClr val="FFFFFF"/>
                </a:solidFill>
                <a:cs typeface="Helvetica"/>
              </a:rPr>
              <a:t>convive</a:t>
            </a:r>
            <a:r>
              <a:rPr lang="nb-NO" dirty="0" smtClean="0">
                <a:solidFill>
                  <a:srgbClr val="FFFFFF"/>
                </a:solidFill>
                <a:cs typeface="Helvetica"/>
              </a:rPr>
              <a:t> con  </a:t>
            </a:r>
            <a:r>
              <a:rPr lang="nb-NO" dirty="0" err="1">
                <a:solidFill>
                  <a:srgbClr val="FFFFFF"/>
                </a:solidFill>
                <a:cs typeface="Helvetica"/>
              </a:rPr>
              <a:t>PolymerElement</a:t>
            </a:r>
            <a:r>
              <a:rPr lang="nb-NO" dirty="0">
                <a:solidFill>
                  <a:srgbClr val="FFFFFF"/>
                </a:solidFill>
                <a:cs typeface="Helvetica"/>
              </a:rPr>
              <a:t> </a:t>
            </a:r>
            <a:r>
              <a:rPr lang="nb-NO" dirty="0" smtClean="0">
                <a:solidFill>
                  <a:srgbClr val="FFFFFF"/>
                </a:solidFill>
                <a:cs typeface="Helvetica"/>
              </a:rPr>
              <a:t>3.0 en Polymer 3.X por </a:t>
            </a:r>
            <a:r>
              <a:rPr lang="nb-NO" dirty="0" err="1" smtClean="0">
                <a:solidFill>
                  <a:srgbClr val="FFFFFF"/>
                </a:solidFill>
                <a:cs typeface="Helvetica"/>
              </a:rPr>
              <a:t>razones</a:t>
            </a:r>
            <a:r>
              <a:rPr lang="nb-NO" dirty="0" smtClean="0">
                <a:solidFill>
                  <a:srgbClr val="FFFFFF"/>
                </a:solidFill>
                <a:cs typeface="Helvetica"/>
              </a:rPr>
              <a:t> de </a:t>
            </a:r>
            <a:r>
              <a:rPr lang="nb-NO" dirty="0" err="1" smtClean="0">
                <a:solidFill>
                  <a:srgbClr val="FFFFFF"/>
                </a:solidFill>
                <a:cs typeface="Helvetica"/>
              </a:rPr>
              <a:t>compatibilidad</a:t>
            </a:r>
            <a:r>
              <a:rPr lang="nb-NO" dirty="0" smtClean="0">
                <a:solidFill>
                  <a:srgbClr val="FFFFFF"/>
                </a:solidFill>
                <a:cs typeface="Helvetica"/>
              </a:rPr>
              <a:t> </a:t>
            </a:r>
            <a:r>
              <a:rPr lang="nb-NO" dirty="0" err="1" smtClean="0">
                <a:solidFill>
                  <a:srgbClr val="FFFFFF"/>
                </a:solidFill>
                <a:cs typeface="Helvetica"/>
              </a:rPr>
              <a:t>hacia</a:t>
            </a:r>
            <a:r>
              <a:rPr lang="nb-NO" dirty="0" smtClean="0">
                <a:solidFill>
                  <a:srgbClr val="FFFFFF"/>
                </a:solidFill>
                <a:cs typeface="Helvetica"/>
              </a:rPr>
              <a:t> </a:t>
            </a:r>
            <a:r>
              <a:rPr lang="nb-NO" dirty="0" err="1" smtClean="0">
                <a:solidFill>
                  <a:srgbClr val="FFFFFF"/>
                </a:solidFill>
                <a:cs typeface="Helvetica"/>
              </a:rPr>
              <a:t>atrás</a:t>
            </a:r>
            <a:r>
              <a:rPr lang="nb-NO" dirty="0" smtClean="0">
                <a:solidFill>
                  <a:srgbClr val="FFFFFF"/>
                </a:solidFill>
                <a:cs typeface="Helvetica"/>
              </a:rPr>
              <a:t>.</a:t>
            </a:r>
          </a:p>
          <a:p>
            <a:pPr algn="just">
              <a:lnSpc>
                <a:spcPct val="130000"/>
              </a:lnSpc>
            </a:pPr>
            <a:endParaRPr lang="nb-NO" dirty="0">
              <a:solidFill>
                <a:srgbClr val="FFFFFF"/>
              </a:solidFill>
              <a:cs typeface="Helvetica"/>
            </a:endParaRPr>
          </a:p>
          <a:p>
            <a:pPr algn="ctr">
              <a:lnSpc>
                <a:spcPct val="130000"/>
              </a:lnSpc>
            </a:pPr>
            <a:r>
              <a:rPr lang="nb-NO" dirty="0" err="1">
                <a:hlinkClick r:id="rId5"/>
              </a:rPr>
              <a:t>https</a:t>
            </a:r>
            <a:r>
              <a:rPr lang="nb-NO" dirty="0">
                <a:hlinkClick r:id="rId5"/>
              </a:rPr>
              <a:t>://lit-</a:t>
            </a:r>
            <a:r>
              <a:rPr lang="nb-NO" dirty="0" err="1">
                <a:hlinkClick r:id="rId5"/>
              </a:rPr>
              <a:t>element.polymer</a:t>
            </a:r>
            <a:r>
              <a:rPr lang="nb-NO" dirty="0">
                <a:hlinkClick r:id="rId5"/>
              </a:rPr>
              <a:t>-</a:t>
            </a:r>
            <a:r>
              <a:rPr lang="nb-NO" dirty="0" err="1">
                <a:hlinkClick r:id="rId5"/>
              </a:rPr>
              <a:t>project.org</a:t>
            </a:r>
            <a:r>
              <a:rPr lang="nb-NO" dirty="0">
                <a:hlinkClick r:id="rId5"/>
              </a:rPr>
              <a:t>/</a:t>
            </a:r>
            <a:endParaRPr lang="es-ES" dirty="0" smtClean="0"/>
          </a:p>
          <a:p>
            <a:pPr marL="285750" indent="-285750" algn="just">
              <a:lnSpc>
                <a:spcPct val="130000"/>
              </a:lnSpc>
              <a:buFont typeface="Arial"/>
              <a:buChar char="•"/>
            </a:pPr>
            <a:endParaRPr lang="es-ES" dirty="0" smtClean="0"/>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53</a:t>
            </a:fld>
            <a:endParaRPr lang="en-US"/>
          </a:p>
        </p:txBody>
      </p:sp>
    </p:spTree>
    <p:extLst>
      <p:ext uri="{BB962C8B-B14F-4D97-AF65-F5344CB8AC3E}">
        <p14:creationId xmlns:p14="http://schemas.microsoft.com/office/powerpoint/2010/main" val="1081245158"/>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LitElement</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a:latin typeface="Arial Black"/>
                <a:cs typeface="Arial Black"/>
              </a:rPr>
              <a:t>LitElement</a:t>
            </a:r>
            <a:r>
              <a:rPr lang="mr-IN" sz="2200" u="sng" dirty="0" smtClean="0">
                <a:latin typeface="Arial Black"/>
                <a:cs typeface="Arial Black"/>
              </a:rPr>
              <a:t>&gt; </a:t>
            </a:r>
            <a:r>
              <a:rPr lang="es-ES_tradnl" sz="2200" u="sng" dirty="0" smtClean="0">
                <a:latin typeface="Arial Black"/>
                <a:cs typeface="Arial Black"/>
              </a:rPr>
              <a:t>Hola Mundo</a:t>
            </a:r>
            <a:endParaRPr lang="es-ES" sz="2200" u="sng" dirty="0" smtClean="0">
              <a:solidFill>
                <a:schemeClr val="accent4">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492433" y="1614742"/>
            <a:ext cx="8202871" cy="798680"/>
          </a:xfrm>
          <a:prstGeom prst="rect">
            <a:avLst/>
          </a:prstGeom>
        </p:spPr>
        <p:txBody>
          <a:bodyPr wrap="square">
            <a:spAutoFit/>
          </a:bodyPr>
          <a:lstStyle/>
          <a:p>
            <a:pPr algn="just">
              <a:lnSpc>
                <a:spcPct val="130000"/>
              </a:lnSpc>
            </a:pPr>
            <a:r>
              <a:rPr lang="nb-NO" dirty="0" err="1" smtClean="0">
                <a:solidFill>
                  <a:srgbClr val="FFFFFF"/>
                </a:solidFill>
                <a:cs typeface="Helvetica"/>
              </a:rPr>
              <a:t>Instalación</a:t>
            </a:r>
            <a:r>
              <a:rPr lang="nb-NO" dirty="0" smtClean="0">
                <a:solidFill>
                  <a:srgbClr val="FFFFFF"/>
                </a:solidFill>
                <a:cs typeface="Helvetica"/>
              </a:rPr>
              <a:t>:</a:t>
            </a:r>
            <a:endParaRPr lang="nb-NO" dirty="0">
              <a:solidFill>
                <a:srgbClr val="FFFFFF"/>
              </a:solidFill>
              <a:cs typeface="Helvetica"/>
            </a:endParaRPr>
          </a:p>
          <a:p>
            <a:pPr algn="just">
              <a:lnSpc>
                <a:spcPct val="130000"/>
              </a:lnSpc>
            </a:pPr>
            <a:r>
              <a:rPr lang="nb-NO" dirty="0" err="1" smtClean="0">
                <a:solidFill>
                  <a:schemeClr val="accent5">
                    <a:lumMod val="60000"/>
                    <a:lumOff val="40000"/>
                  </a:schemeClr>
                </a:solidFill>
                <a:cs typeface="Helvetica"/>
              </a:rPr>
              <a:t>npm</a:t>
            </a:r>
            <a:r>
              <a:rPr lang="nb-NO" dirty="0" smtClean="0">
                <a:solidFill>
                  <a:schemeClr val="accent5">
                    <a:lumMod val="60000"/>
                    <a:lumOff val="40000"/>
                  </a:schemeClr>
                </a:solidFill>
                <a:cs typeface="Helvetica"/>
              </a:rPr>
              <a:t> </a:t>
            </a:r>
            <a:r>
              <a:rPr lang="nb-NO" dirty="0" err="1">
                <a:solidFill>
                  <a:schemeClr val="accent5">
                    <a:lumMod val="60000"/>
                    <a:lumOff val="40000"/>
                  </a:schemeClr>
                </a:solidFill>
                <a:cs typeface="Helvetica"/>
              </a:rPr>
              <a:t>install</a:t>
            </a:r>
            <a:r>
              <a:rPr lang="nb-NO" dirty="0">
                <a:solidFill>
                  <a:schemeClr val="accent5">
                    <a:lumMod val="60000"/>
                    <a:lumOff val="40000"/>
                  </a:schemeClr>
                </a:solidFill>
                <a:cs typeface="Helvetica"/>
              </a:rPr>
              <a:t> @polymer/lit-element --save</a:t>
            </a:r>
            <a:endParaRPr lang="es-ES" dirty="0">
              <a:solidFill>
                <a:schemeClr val="accent5">
                  <a:lumMod val="60000"/>
                  <a:lumOff val="40000"/>
                </a:schemeClr>
              </a:solidFill>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54</a:t>
            </a:fld>
            <a:endParaRPr lang="en-US"/>
          </a:p>
        </p:txBody>
      </p:sp>
    </p:spTree>
    <p:extLst>
      <p:ext uri="{BB962C8B-B14F-4D97-AF65-F5344CB8AC3E}">
        <p14:creationId xmlns:p14="http://schemas.microsoft.com/office/powerpoint/2010/main" val="4012990304"/>
      </p:ext>
    </p:extLst>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LitElement</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 sz="2200" u="sng" dirty="0" err="1">
                <a:latin typeface="Arial Black"/>
                <a:cs typeface="Arial Black"/>
              </a:rPr>
              <a:t>LitElement</a:t>
            </a:r>
            <a:r>
              <a:rPr lang="mr-IN" sz="2200" u="sng" dirty="0" smtClean="0">
                <a:latin typeface="Arial Black"/>
                <a:cs typeface="Arial Black"/>
              </a:rPr>
              <a:t>&gt; </a:t>
            </a:r>
            <a:r>
              <a:rPr lang="es-ES_tradnl" sz="2200" u="sng" dirty="0" smtClean="0">
                <a:latin typeface="Arial Black"/>
                <a:cs typeface="Arial Black"/>
              </a:rPr>
              <a:t>Hola Mundo</a:t>
            </a:r>
            <a:endParaRPr lang="es-ES" sz="2200" u="sng" dirty="0" smtClean="0">
              <a:solidFill>
                <a:schemeClr val="accent4">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6" name="Rectángulo 15"/>
          <p:cNvSpPr/>
          <p:nvPr/>
        </p:nvSpPr>
        <p:spPr>
          <a:xfrm>
            <a:off x="758214" y="1618914"/>
            <a:ext cx="7320484" cy="4524314"/>
          </a:xfrm>
          <a:prstGeom prst="rect">
            <a:avLst/>
          </a:prstGeom>
          <a:solidFill>
            <a:schemeClr val="bg2">
              <a:lumMod val="75000"/>
              <a:lumOff val="25000"/>
            </a:schemeClr>
          </a:solidFill>
          <a:ln w="12700" cmpd="sng">
            <a:solidFill>
              <a:srgbClr val="3366FF"/>
            </a:solidFill>
          </a:ln>
        </p:spPr>
        <p:txBody>
          <a:bodyPr wrap="square">
            <a:spAutoFit/>
          </a:bodyPr>
          <a:lstStyle/>
          <a:p>
            <a:r>
              <a:rPr lang="en-US" sz="1200" dirty="0"/>
              <a:t> &lt;script </a:t>
            </a:r>
            <a:r>
              <a:rPr lang="en-US" sz="1200" dirty="0" err="1"/>
              <a:t>src</a:t>
            </a:r>
            <a:r>
              <a:rPr lang="en-US" sz="1200" dirty="0"/>
              <a:t>="</a:t>
            </a:r>
            <a:r>
              <a:rPr lang="en-US" sz="1200" dirty="0" err="1"/>
              <a:t>node_modules</a:t>
            </a:r>
            <a:r>
              <a:rPr lang="en-US" sz="1200" dirty="0"/>
              <a:t>/@</a:t>
            </a:r>
            <a:r>
              <a:rPr lang="en-US" sz="1200" dirty="0" err="1"/>
              <a:t>webcomponents</a:t>
            </a:r>
            <a:r>
              <a:rPr lang="en-US" sz="1200" dirty="0"/>
              <a:t>/</a:t>
            </a:r>
            <a:r>
              <a:rPr lang="en-US" sz="1200" dirty="0" err="1"/>
              <a:t>webcomponentsjs</a:t>
            </a:r>
            <a:r>
              <a:rPr lang="en-US" sz="1200" dirty="0"/>
              <a:t>/</a:t>
            </a:r>
            <a:r>
              <a:rPr lang="en-US" sz="1200" dirty="0" err="1"/>
              <a:t>webcomponents-bundle.js</a:t>
            </a:r>
            <a:r>
              <a:rPr lang="en-US" sz="1200" dirty="0"/>
              <a:t>"&gt;&lt;/script&gt;</a:t>
            </a:r>
          </a:p>
          <a:p>
            <a:r>
              <a:rPr lang="en-US" sz="1200" dirty="0"/>
              <a:t>  &lt;script type="module"&gt;</a:t>
            </a:r>
          </a:p>
          <a:p>
            <a:r>
              <a:rPr lang="en-US" sz="1200" dirty="0"/>
              <a:t>    import {</a:t>
            </a:r>
            <a:r>
              <a:rPr lang="en-US" sz="1200" dirty="0" err="1"/>
              <a:t>LitElement</a:t>
            </a:r>
            <a:r>
              <a:rPr lang="en-US" sz="1200" dirty="0"/>
              <a:t>, html} from '@polymer/lit-element';</a:t>
            </a:r>
          </a:p>
          <a:p>
            <a:endParaRPr lang="en-US" sz="1200" dirty="0"/>
          </a:p>
          <a:p>
            <a:r>
              <a:rPr lang="en-US" sz="1200" dirty="0"/>
              <a:t>    class </a:t>
            </a:r>
            <a:r>
              <a:rPr lang="en-US" sz="1200" dirty="0" err="1"/>
              <a:t>MyElement</a:t>
            </a:r>
            <a:r>
              <a:rPr lang="en-US" sz="1200" dirty="0"/>
              <a:t> extends </a:t>
            </a:r>
            <a:r>
              <a:rPr lang="en-US" sz="1200" dirty="0" err="1"/>
              <a:t>LitElement</a:t>
            </a:r>
            <a:r>
              <a:rPr lang="en-US" sz="1200" dirty="0"/>
              <a:t> {</a:t>
            </a:r>
          </a:p>
          <a:p>
            <a:endParaRPr lang="en-US" sz="1200" dirty="0"/>
          </a:p>
          <a:p>
            <a:r>
              <a:rPr lang="en-US" sz="1200" dirty="0"/>
              <a:t>      static get properties() {</a:t>
            </a:r>
          </a:p>
          <a:p>
            <a:r>
              <a:rPr lang="en-US" sz="1200" dirty="0"/>
              <a:t>        return {</a:t>
            </a:r>
          </a:p>
          <a:p>
            <a:r>
              <a:rPr lang="en-US" sz="1200" dirty="0"/>
              <a:t>          mood: {type: String}</a:t>
            </a:r>
          </a:p>
          <a:p>
            <a:r>
              <a:rPr lang="en-US" sz="1200" dirty="0"/>
              <a:t>        };</a:t>
            </a:r>
          </a:p>
          <a:p>
            <a:r>
              <a:rPr lang="en-US" sz="1200" dirty="0"/>
              <a:t>      }</a:t>
            </a:r>
          </a:p>
          <a:p>
            <a:r>
              <a:rPr lang="en-US" sz="1200" dirty="0" smtClean="0"/>
              <a:t>      </a:t>
            </a:r>
            <a:r>
              <a:rPr lang="en-US" sz="1200" dirty="0"/>
              <a:t>constructor() {</a:t>
            </a:r>
          </a:p>
          <a:p>
            <a:r>
              <a:rPr lang="en-US" sz="1200" dirty="0"/>
              <a:t>        super();</a:t>
            </a:r>
          </a:p>
          <a:p>
            <a:r>
              <a:rPr lang="en-US" sz="1200" dirty="0"/>
              <a:t>        </a:t>
            </a:r>
            <a:r>
              <a:rPr lang="en-US" sz="1200" dirty="0" err="1"/>
              <a:t>this.mood</a:t>
            </a:r>
            <a:r>
              <a:rPr lang="en-US" sz="1200" dirty="0"/>
              <a:t> = 'happy';</a:t>
            </a:r>
          </a:p>
          <a:p>
            <a:r>
              <a:rPr lang="en-US" sz="1200" dirty="0"/>
              <a:t>      }</a:t>
            </a:r>
          </a:p>
          <a:p>
            <a:r>
              <a:rPr lang="en-US" sz="1200" dirty="0" smtClean="0"/>
              <a:t>      </a:t>
            </a:r>
            <a:r>
              <a:rPr lang="en-US" sz="1200" dirty="0"/>
              <a:t>render() {</a:t>
            </a:r>
          </a:p>
          <a:p>
            <a:r>
              <a:rPr lang="en-US" sz="1200" dirty="0"/>
              <a:t>        return html`&lt;style&gt; .mood { color: green; } &lt;/style&gt;</a:t>
            </a:r>
          </a:p>
          <a:p>
            <a:r>
              <a:rPr lang="en-US" sz="1200" dirty="0"/>
              <a:t>          Web Components are &lt;span class="mood"&gt;${</a:t>
            </a:r>
            <a:r>
              <a:rPr lang="en-US" sz="1200" dirty="0" err="1"/>
              <a:t>this.mood</a:t>
            </a:r>
            <a:r>
              <a:rPr lang="en-US" sz="1200" dirty="0"/>
              <a:t>}&lt;/span&gt;!`;</a:t>
            </a:r>
          </a:p>
          <a:p>
            <a:r>
              <a:rPr lang="en-US" sz="1200" dirty="0"/>
              <a:t>      </a:t>
            </a:r>
            <a:r>
              <a:rPr lang="en-US" sz="1200" dirty="0" smtClean="0"/>
              <a:t>}</a:t>
            </a:r>
            <a:endParaRPr lang="en-US" sz="1200" dirty="0"/>
          </a:p>
          <a:p>
            <a:r>
              <a:rPr lang="en-US" sz="1200" dirty="0"/>
              <a:t>    </a:t>
            </a:r>
            <a:r>
              <a:rPr lang="en-US" sz="1200" dirty="0" smtClean="0"/>
              <a:t>}</a:t>
            </a:r>
            <a:endParaRPr lang="en-US" sz="1200" dirty="0"/>
          </a:p>
          <a:p>
            <a:r>
              <a:rPr lang="en-US" sz="1200" dirty="0"/>
              <a:t>    </a:t>
            </a:r>
            <a:r>
              <a:rPr lang="en-US" sz="1200" dirty="0" err="1"/>
              <a:t>customElements.define</a:t>
            </a:r>
            <a:r>
              <a:rPr lang="en-US" sz="1200" dirty="0"/>
              <a:t>('my-element', </a:t>
            </a:r>
            <a:r>
              <a:rPr lang="en-US" sz="1200" dirty="0" err="1"/>
              <a:t>MyElement</a:t>
            </a:r>
            <a:r>
              <a:rPr lang="en-US" sz="1200" dirty="0"/>
              <a:t>);</a:t>
            </a:r>
          </a:p>
          <a:p>
            <a:r>
              <a:rPr lang="en-US" sz="1200" dirty="0"/>
              <a:t>  &lt;/script</a:t>
            </a:r>
            <a:r>
              <a:rPr lang="en-US" sz="1200" dirty="0" smtClean="0"/>
              <a:t>&gt;</a:t>
            </a:r>
          </a:p>
          <a:p>
            <a:endParaRPr lang="en-US" sz="1200" dirty="0"/>
          </a:p>
          <a:p>
            <a:r>
              <a:rPr lang="en-US" sz="1200" dirty="0"/>
              <a:t>  &lt;my-element mood="happy"&gt;&lt;/my-element&gt;</a:t>
            </a: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55</a:t>
            </a:fld>
            <a:endParaRPr lang="en-US"/>
          </a:p>
        </p:txBody>
      </p:sp>
    </p:spTree>
    <p:extLst>
      <p:ext uri="{BB962C8B-B14F-4D97-AF65-F5344CB8AC3E}">
        <p14:creationId xmlns:p14="http://schemas.microsoft.com/office/powerpoint/2010/main" val="340287143"/>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Instalación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Instalación </a:t>
            </a:r>
            <a:r>
              <a:rPr lang="es-ES_tradnl" sz="2200" u="sng" dirty="0" err="1" smtClean="0">
                <a:latin typeface="Arial Black"/>
                <a:cs typeface="Arial Black"/>
              </a:rPr>
              <a:t>Polymer</a:t>
            </a:r>
            <a:r>
              <a:rPr lang="es-ES_tradnl" sz="2200" u="sng" dirty="0" smtClean="0">
                <a:latin typeface="Arial Black"/>
                <a:cs typeface="Arial Black"/>
              </a:rPr>
              <a:t> 3.0</a:t>
            </a:r>
            <a:endParaRPr lang="es-ES" sz="2200" u="sng" dirty="0" smtClean="0">
              <a:solidFill>
                <a:schemeClr val="accent4">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399667"/>
          </a:xfrm>
          <a:prstGeom prst="rect">
            <a:avLst/>
          </a:prstGeom>
        </p:spPr>
        <p:txBody>
          <a:bodyPr wrap="square">
            <a:spAutoFit/>
          </a:bodyPr>
          <a:lstStyle/>
          <a:p>
            <a:pPr algn="just">
              <a:lnSpc>
                <a:spcPct val="130000"/>
              </a:lnSpc>
            </a:pPr>
            <a:r>
              <a:rPr lang="nb-NO" dirty="0" err="1" smtClean="0">
                <a:solidFill>
                  <a:srgbClr val="FFFFFF"/>
                </a:solidFill>
                <a:latin typeface="Helvetica"/>
                <a:cs typeface="Helvetica"/>
              </a:rPr>
              <a:t>Requisitos</a:t>
            </a:r>
            <a:r>
              <a:rPr lang="nb-NO" dirty="0" smtClean="0">
                <a:solidFill>
                  <a:srgbClr val="FFFFFF"/>
                </a:solidFill>
                <a:latin typeface="Helvetica"/>
                <a:cs typeface="Helvetica"/>
              </a:rPr>
              <a:t> </a:t>
            </a:r>
            <a:r>
              <a:rPr lang="nb-NO" dirty="0" err="1" smtClean="0">
                <a:solidFill>
                  <a:srgbClr val="FFFFFF"/>
                </a:solidFill>
                <a:latin typeface="Helvetica"/>
                <a:cs typeface="Helvetica"/>
              </a:rPr>
              <a:t>Previos</a:t>
            </a:r>
            <a:r>
              <a:rPr lang="nb-NO" dirty="0" smtClean="0">
                <a:solidFill>
                  <a:srgbClr val="FFFFFF"/>
                </a:solidFill>
                <a:latin typeface="Helvetica"/>
                <a:cs typeface="Helvetica"/>
              </a:rPr>
              <a:t>:</a:t>
            </a:r>
          </a:p>
          <a:p>
            <a:pPr marL="285750" indent="-285750" algn="just">
              <a:lnSpc>
                <a:spcPct val="130000"/>
              </a:lnSpc>
              <a:buFont typeface="Arial"/>
              <a:buChar char="•"/>
            </a:pPr>
            <a:r>
              <a:rPr lang="nb-NO" dirty="0" err="1" smtClean="0">
                <a:solidFill>
                  <a:srgbClr val="FFFFFF"/>
                </a:solidFill>
                <a:latin typeface="Helvetica"/>
                <a:cs typeface="Helvetica"/>
              </a:rPr>
              <a:t>Install</a:t>
            </a:r>
            <a:r>
              <a:rPr lang="nb-NO" dirty="0" smtClean="0">
                <a:solidFill>
                  <a:srgbClr val="FFFFFF"/>
                </a:solidFill>
                <a:latin typeface="Helvetica"/>
                <a:cs typeface="Helvetica"/>
              </a:rPr>
              <a:t> </a:t>
            </a:r>
            <a:r>
              <a:rPr lang="nb-NO" dirty="0" err="1">
                <a:solidFill>
                  <a:srgbClr val="FFFFFF"/>
                </a:solidFill>
                <a:latin typeface="Helvetica"/>
                <a:cs typeface="Helvetica"/>
              </a:rPr>
              <a:t>Git</a:t>
            </a:r>
            <a:r>
              <a:rPr lang="nb-NO" dirty="0">
                <a:solidFill>
                  <a:srgbClr val="FFFFFF"/>
                </a:solidFill>
                <a:latin typeface="Helvetica"/>
                <a:cs typeface="Helvetica"/>
              </a:rPr>
              <a:t>.</a:t>
            </a:r>
          </a:p>
          <a:p>
            <a:pPr marL="285750" indent="-285750" algn="just">
              <a:lnSpc>
                <a:spcPct val="130000"/>
              </a:lnSpc>
              <a:buFont typeface="Arial"/>
              <a:buChar char="•"/>
            </a:pPr>
            <a:r>
              <a:rPr lang="nb-NO" dirty="0" err="1">
                <a:solidFill>
                  <a:srgbClr val="FFFFFF"/>
                </a:solidFill>
                <a:latin typeface="Helvetica"/>
                <a:cs typeface="Helvetica"/>
              </a:rPr>
              <a:t>Install</a:t>
            </a:r>
            <a:r>
              <a:rPr lang="nb-NO" dirty="0">
                <a:solidFill>
                  <a:srgbClr val="FFFFFF"/>
                </a:solidFill>
                <a:latin typeface="Helvetica"/>
                <a:cs typeface="Helvetica"/>
              </a:rPr>
              <a:t> </a:t>
            </a:r>
            <a:r>
              <a:rPr lang="nb-NO" dirty="0" err="1">
                <a:solidFill>
                  <a:srgbClr val="FFFFFF"/>
                </a:solidFill>
                <a:latin typeface="Helvetica"/>
                <a:cs typeface="Helvetica"/>
              </a:rPr>
              <a:t>npm</a:t>
            </a:r>
            <a:r>
              <a:rPr lang="nb-NO" dirty="0">
                <a:solidFill>
                  <a:srgbClr val="FFFFFF"/>
                </a:solidFill>
                <a:latin typeface="Helvetica"/>
                <a:cs typeface="Helvetica"/>
              </a:rPr>
              <a:t> and </a:t>
            </a:r>
            <a:r>
              <a:rPr lang="nb-NO" dirty="0" err="1">
                <a:solidFill>
                  <a:srgbClr val="FFFFFF"/>
                </a:solidFill>
                <a:latin typeface="Helvetica"/>
                <a:cs typeface="Helvetica"/>
              </a:rPr>
              <a:t>Node.js</a:t>
            </a:r>
            <a:r>
              <a:rPr lang="nb-NO" dirty="0">
                <a:solidFill>
                  <a:srgbClr val="FFFFFF"/>
                </a:solidFill>
                <a:latin typeface="Helvetica"/>
                <a:cs typeface="Helvetica"/>
              </a:rPr>
              <a:t>.</a:t>
            </a:r>
          </a:p>
          <a:p>
            <a:pPr marL="285750" indent="-285750" algn="just">
              <a:lnSpc>
                <a:spcPct val="130000"/>
              </a:lnSpc>
              <a:buFont typeface="Arial"/>
              <a:buChar char="•"/>
            </a:pPr>
            <a:r>
              <a:rPr lang="nb-NO" dirty="0" err="1">
                <a:solidFill>
                  <a:srgbClr val="FFFFFF"/>
                </a:solidFill>
                <a:latin typeface="Helvetica"/>
                <a:cs typeface="Helvetica"/>
              </a:rPr>
              <a:t>Install</a:t>
            </a:r>
            <a:r>
              <a:rPr lang="nb-NO" dirty="0">
                <a:solidFill>
                  <a:srgbClr val="FFFFFF"/>
                </a:solidFill>
                <a:latin typeface="Helvetica"/>
                <a:cs typeface="Helvetica"/>
              </a:rPr>
              <a:t> Polymer CLI.</a:t>
            </a:r>
            <a:r>
              <a:rPr lang="es-ES" dirty="0" smtClean="0"/>
              <a:t>	</a:t>
            </a:r>
            <a:endParaRPr lang="es-ES" dirty="0"/>
          </a:p>
          <a:p>
            <a:pPr marL="285750" indent="-285750" algn="just">
              <a:lnSpc>
                <a:spcPct val="130000"/>
              </a:lnSpc>
              <a:buFont typeface="Arial"/>
              <a:buChar char="•"/>
            </a:pPr>
            <a:endParaRPr lang="es-ES" dirty="0" smtClean="0"/>
          </a:p>
          <a:p>
            <a:pPr marL="285750" indent="-285750" algn="just">
              <a:lnSpc>
                <a:spcPct val="130000"/>
              </a:lnSpc>
              <a:buFont typeface="Arial"/>
              <a:buChar char="•"/>
            </a:pPr>
            <a:r>
              <a:rPr lang="es-ES" dirty="0" smtClean="0"/>
              <a:t>Mas </a:t>
            </a:r>
            <a:r>
              <a:rPr lang="es-ES" dirty="0" err="1" smtClean="0"/>
              <a:t>info</a:t>
            </a:r>
            <a:r>
              <a:rPr lang="es-ES" dirty="0"/>
              <a:t>: </a:t>
            </a:r>
            <a:r>
              <a:rPr lang="es-ES" dirty="0">
                <a:hlinkClick r:id="rId5"/>
              </a:rPr>
              <a:t>https://www.polymer-project.org/3.0/start/install-3-</a:t>
            </a:r>
            <a:r>
              <a:rPr lang="es-ES" dirty="0" smtClean="0">
                <a:hlinkClick r:id="rId5"/>
              </a:rPr>
              <a:t>0</a:t>
            </a:r>
            <a:endParaRPr lang="es-ES" dirty="0" smtClean="0"/>
          </a:p>
          <a:p>
            <a:pPr marL="285750" indent="-285750" algn="just">
              <a:lnSpc>
                <a:spcPct val="130000"/>
              </a:lnSpc>
              <a:buFont typeface="Arial"/>
              <a:buChar char="•"/>
            </a:pPr>
            <a:endParaRPr lang="es-ES" dirty="0"/>
          </a:p>
          <a:p>
            <a:pPr marL="285750" indent="-285750" algn="just">
              <a:lnSpc>
                <a:spcPct val="130000"/>
              </a:lnSpc>
              <a:buFont typeface="Arial"/>
              <a:buChar char="•"/>
            </a:pPr>
            <a:r>
              <a:rPr lang="es-ES" dirty="0" err="1"/>
              <a:t>Installing</a:t>
            </a:r>
            <a:r>
              <a:rPr lang="es-ES" dirty="0"/>
              <a:t> </a:t>
            </a:r>
            <a:r>
              <a:rPr lang="es-ES" dirty="0" err="1"/>
              <a:t>Polymer</a:t>
            </a:r>
            <a:r>
              <a:rPr lang="es-ES" dirty="0"/>
              <a:t> CLI pre-</a:t>
            </a:r>
            <a:r>
              <a:rPr lang="es-ES" dirty="0" err="1"/>
              <a:t>requisites</a:t>
            </a:r>
            <a:r>
              <a:rPr lang="es-ES" dirty="0"/>
              <a:t> </a:t>
            </a:r>
            <a:r>
              <a:rPr lang="es-ES" dirty="0" err="1"/>
              <a:t>on</a:t>
            </a:r>
            <a:r>
              <a:rPr lang="es-ES" dirty="0"/>
              <a:t> Windows </a:t>
            </a:r>
            <a:r>
              <a:rPr lang="es-ES" dirty="0" smtClean="0"/>
              <a:t>10:</a:t>
            </a:r>
          </a:p>
          <a:p>
            <a:pPr marL="285750" indent="-285750" algn="just">
              <a:lnSpc>
                <a:spcPct val="130000"/>
              </a:lnSpc>
              <a:buFont typeface="Arial"/>
              <a:buChar char="•"/>
            </a:pPr>
            <a:r>
              <a:rPr lang="es-ES" dirty="0">
                <a:hlinkClick r:id="rId6"/>
              </a:rPr>
              <a:t>https://www.polymer-project.org/2.0/docs/tools/polymer-cli#windows-</a:t>
            </a:r>
            <a:r>
              <a:rPr lang="es-ES" dirty="0" smtClean="0">
                <a:hlinkClick r:id="rId6"/>
              </a:rPr>
              <a:t>10</a:t>
            </a:r>
            <a:endParaRPr lang="es-ES" dirty="0" smtClean="0"/>
          </a:p>
          <a:p>
            <a:pPr marL="285750" indent="-285750" algn="just">
              <a:lnSpc>
                <a:spcPct val="130000"/>
              </a:lnSpc>
              <a:buFont typeface="Arial"/>
              <a:buChar char="•"/>
            </a:pPr>
            <a:endParaRPr lang="es-ES" dirty="0"/>
          </a:p>
          <a:p>
            <a:pPr marL="285750" indent="-285750" algn="just">
              <a:lnSpc>
                <a:spcPct val="130000"/>
              </a:lnSpc>
              <a:buFont typeface="Arial"/>
              <a:buChar char="•"/>
            </a:pPr>
            <a:endParaRPr lang="es-ES" dirty="0" smtClean="0"/>
          </a:p>
          <a:p>
            <a:pPr marL="285750" indent="-285750" algn="just">
              <a:lnSpc>
                <a:spcPct val="130000"/>
              </a:lnSpc>
              <a:buFont typeface="Arial"/>
              <a:buChar char="•"/>
            </a:pPr>
            <a:endParaRPr lang="es-ES" dirty="0"/>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56</a:t>
            </a:fld>
            <a:endParaRPr lang="en-US"/>
          </a:p>
        </p:txBody>
      </p:sp>
    </p:spTree>
    <p:extLst>
      <p:ext uri="{BB962C8B-B14F-4D97-AF65-F5344CB8AC3E}">
        <p14:creationId xmlns:p14="http://schemas.microsoft.com/office/powerpoint/2010/main" val="425111914"/>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Polymer</a:t>
            </a:r>
            <a:r>
              <a:rPr lang="es-ES" sz="2000" dirty="0">
                <a:solidFill>
                  <a:srgbClr val="FFFFFF"/>
                </a:solidFill>
                <a:latin typeface="Helvetica"/>
                <a:ea typeface="Lucida Grande"/>
                <a:cs typeface="Helvetica"/>
              </a:rPr>
              <a:t> CLI</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a:latin typeface="Arial Black"/>
                <a:cs typeface="Arial Black"/>
              </a:rPr>
              <a:t>Polymer</a:t>
            </a:r>
            <a:r>
              <a:rPr lang="es-ES_tradnl" sz="2200" u="sng" dirty="0">
                <a:latin typeface="Arial Black"/>
                <a:cs typeface="Arial Black"/>
              </a:rPr>
              <a:t> CLI</a:t>
            </a:r>
            <a:endParaRPr lang="es-ES" sz="2200" u="sng" dirty="0" smtClean="0">
              <a:solidFill>
                <a:schemeClr val="accent4">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399667"/>
          </a:xfrm>
          <a:prstGeom prst="rect">
            <a:avLst/>
          </a:prstGeom>
        </p:spPr>
        <p:txBody>
          <a:bodyPr wrap="square">
            <a:spAutoFit/>
          </a:bodyPr>
          <a:lstStyle/>
          <a:p>
            <a:pPr algn="just">
              <a:lnSpc>
                <a:spcPct val="130000"/>
              </a:lnSpc>
            </a:pPr>
            <a:r>
              <a:rPr lang="nb-NO" dirty="0">
                <a:solidFill>
                  <a:srgbClr val="FFFFFF"/>
                </a:solidFill>
                <a:latin typeface="Helvetica"/>
                <a:cs typeface="Helvetica"/>
              </a:rPr>
              <a:t>Polymer CLI es </a:t>
            </a:r>
            <a:r>
              <a:rPr lang="nb-NO" dirty="0" err="1">
                <a:solidFill>
                  <a:srgbClr val="FFFFFF"/>
                </a:solidFill>
                <a:latin typeface="Helvetica"/>
                <a:cs typeface="Helvetica"/>
              </a:rPr>
              <a:t>una</a:t>
            </a:r>
            <a:r>
              <a:rPr lang="nb-NO" dirty="0">
                <a:solidFill>
                  <a:srgbClr val="FFFFFF"/>
                </a:solidFill>
                <a:latin typeface="Helvetica"/>
                <a:cs typeface="Helvetica"/>
              </a:rPr>
              <a:t> serie de </a:t>
            </a:r>
            <a:r>
              <a:rPr lang="nb-NO" dirty="0" err="1" smtClean="0">
                <a:solidFill>
                  <a:srgbClr val="FFFFFF"/>
                </a:solidFill>
                <a:latin typeface="Helvetica"/>
                <a:cs typeface="Helvetica"/>
              </a:rPr>
              <a:t>herramientas</a:t>
            </a:r>
            <a:r>
              <a:rPr lang="nb-NO" dirty="0" smtClean="0">
                <a:solidFill>
                  <a:srgbClr val="FFFFFF"/>
                </a:solidFill>
                <a:latin typeface="Helvetica"/>
                <a:cs typeface="Helvetica"/>
              </a:rPr>
              <a:t> de </a:t>
            </a:r>
            <a:r>
              <a:rPr lang="nb-NO" dirty="0" err="1" smtClean="0">
                <a:solidFill>
                  <a:srgbClr val="FFFFFF"/>
                </a:solidFill>
                <a:latin typeface="Helvetica"/>
                <a:cs typeface="Helvetica"/>
              </a:rPr>
              <a:t>línea</a:t>
            </a:r>
            <a:r>
              <a:rPr lang="nb-NO" dirty="0" smtClean="0">
                <a:solidFill>
                  <a:srgbClr val="FFFFFF"/>
                </a:solidFill>
                <a:latin typeface="Helvetica"/>
                <a:cs typeface="Helvetica"/>
              </a:rPr>
              <a:t> de </a:t>
            </a:r>
            <a:r>
              <a:rPr lang="nb-NO" dirty="0" err="1" smtClean="0">
                <a:solidFill>
                  <a:srgbClr val="FFFFFF"/>
                </a:solidFill>
                <a:latin typeface="Helvetica"/>
                <a:cs typeface="Helvetica"/>
              </a:rPr>
              <a:t>comandos</a:t>
            </a:r>
            <a:r>
              <a:rPr lang="nb-NO" dirty="0" smtClean="0">
                <a:solidFill>
                  <a:srgbClr val="FFFFFF"/>
                </a:solidFill>
                <a:latin typeface="Helvetica"/>
                <a:cs typeface="Helvetica"/>
              </a:rPr>
              <a:t> </a:t>
            </a:r>
            <a:r>
              <a:rPr lang="nb-NO" dirty="0">
                <a:solidFill>
                  <a:srgbClr val="FFFFFF"/>
                </a:solidFill>
                <a:latin typeface="Helvetica"/>
                <a:cs typeface="Helvetica"/>
              </a:rPr>
              <a:t>ideal para </a:t>
            </a:r>
            <a:r>
              <a:rPr lang="nb-NO" dirty="0" err="1">
                <a:solidFill>
                  <a:srgbClr val="FFFFFF"/>
                </a:solidFill>
                <a:latin typeface="Helvetica"/>
                <a:cs typeface="Helvetica"/>
              </a:rPr>
              <a:t>comenzar</a:t>
            </a:r>
            <a:r>
              <a:rPr lang="nb-NO" dirty="0">
                <a:solidFill>
                  <a:srgbClr val="FFFFFF"/>
                </a:solidFill>
                <a:latin typeface="Helvetica"/>
                <a:cs typeface="Helvetica"/>
              </a:rPr>
              <a:t> y </a:t>
            </a:r>
            <a:r>
              <a:rPr lang="nb-NO" dirty="0" err="1">
                <a:solidFill>
                  <a:srgbClr val="FFFFFF"/>
                </a:solidFill>
                <a:latin typeface="Helvetica"/>
                <a:cs typeface="Helvetica"/>
              </a:rPr>
              <a:t>acelerar</a:t>
            </a:r>
            <a:r>
              <a:rPr lang="nb-NO" dirty="0">
                <a:solidFill>
                  <a:srgbClr val="FFFFFF"/>
                </a:solidFill>
                <a:latin typeface="Helvetica"/>
                <a:cs typeface="Helvetica"/>
              </a:rPr>
              <a:t> </a:t>
            </a:r>
            <a:r>
              <a:rPr lang="nb-NO" dirty="0" err="1">
                <a:solidFill>
                  <a:srgbClr val="FFFFFF"/>
                </a:solidFill>
                <a:latin typeface="Helvetica"/>
                <a:cs typeface="Helvetica"/>
              </a:rPr>
              <a:t>cualquier</a:t>
            </a:r>
            <a:r>
              <a:rPr lang="nb-NO" dirty="0">
                <a:solidFill>
                  <a:srgbClr val="FFFFFF"/>
                </a:solidFill>
                <a:latin typeface="Helvetica"/>
                <a:cs typeface="Helvetica"/>
              </a:rPr>
              <a:t> </a:t>
            </a:r>
            <a:r>
              <a:rPr lang="nb-NO" dirty="0" err="1">
                <a:solidFill>
                  <a:srgbClr val="FFFFFF"/>
                </a:solidFill>
                <a:latin typeface="Helvetica"/>
                <a:cs typeface="Helvetica"/>
              </a:rPr>
              <a:t>tipo</a:t>
            </a:r>
            <a:r>
              <a:rPr lang="nb-NO" dirty="0">
                <a:solidFill>
                  <a:srgbClr val="FFFFFF"/>
                </a:solidFill>
                <a:latin typeface="Helvetica"/>
                <a:cs typeface="Helvetica"/>
              </a:rPr>
              <a:t> de </a:t>
            </a:r>
            <a:r>
              <a:rPr lang="nb-NO" dirty="0" err="1">
                <a:solidFill>
                  <a:srgbClr val="FFFFFF"/>
                </a:solidFill>
                <a:latin typeface="Helvetica"/>
                <a:cs typeface="Helvetica"/>
              </a:rPr>
              <a:t>proyecto</a:t>
            </a:r>
            <a:r>
              <a:rPr lang="nb-NO" dirty="0">
                <a:solidFill>
                  <a:srgbClr val="FFFFFF"/>
                </a:solidFill>
                <a:latin typeface="Helvetica"/>
                <a:cs typeface="Helvetica"/>
              </a:rPr>
              <a:t> </a:t>
            </a:r>
            <a:r>
              <a:rPr lang="nb-NO" dirty="0" err="1">
                <a:solidFill>
                  <a:srgbClr val="FFFFFF"/>
                </a:solidFill>
                <a:latin typeface="Helvetica"/>
                <a:cs typeface="Helvetica"/>
              </a:rPr>
              <a:t>realizado</a:t>
            </a:r>
            <a:r>
              <a:rPr lang="nb-NO" dirty="0">
                <a:solidFill>
                  <a:srgbClr val="FFFFFF"/>
                </a:solidFill>
                <a:latin typeface="Helvetica"/>
                <a:cs typeface="Helvetica"/>
              </a:rPr>
              <a:t> con la </a:t>
            </a:r>
            <a:r>
              <a:rPr lang="nb-NO" dirty="0" err="1">
                <a:solidFill>
                  <a:srgbClr val="FFFFFF"/>
                </a:solidFill>
                <a:latin typeface="Helvetica"/>
                <a:cs typeface="Helvetica"/>
              </a:rPr>
              <a:t>librería</a:t>
            </a:r>
            <a:r>
              <a:rPr lang="nb-NO" dirty="0">
                <a:solidFill>
                  <a:srgbClr val="FFFFFF"/>
                </a:solidFill>
                <a:latin typeface="Helvetica"/>
                <a:cs typeface="Helvetica"/>
              </a:rPr>
              <a:t> Polymer.</a:t>
            </a:r>
            <a:r>
              <a:rPr lang="nb-NO" dirty="0" smtClean="0">
                <a:solidFill>
                  <a:srgbClr val="FFFFFF"/>
                </a:solidFill>
                <a:latin typeface="Helvetica"/>
                <a:cs typeface="Helvetica"/>
              </a:rPr>
              <a:t>	</a:t>
            </a:r>
          </a:p>
          <a:p>
            <a:pPr algn="just">
              <a:lnSpc>
                <a:spcPct val="130000"/>
              </a:lnSpc>
            </a:pPr>
            <a:endParaRPr lang="nb-NO" dirty="0">
              <a:solidFill>
                <a:srgbClr val="FFFFFF"/>
              </a:solidFill>
              <a:latin typeface="Helvetica"/>
              <a:cs typeface="Helvetica"/>
            </a:endParaRPr>
          </a:p>
          <a:p>
            <a:pPr algn="just">
              <a:lnSpc>
                <a:spcPct val="130000"/>
              </a:lnSpc>
            </a:pPr>
            <a:r>
              <a:rPr lang="nb-NO" dirty="0" err="1" smtClean="0">
                <a:solidFill>
                  <a:srgbClr val="FFFFFF"/>
                </a:solidFill>
                <a:latin typeface="Helvetica"/>
                <a:cs typeface="Helvetica"/>
              </a:rPr>
              <a:t>Instalación</a:t>
            </a:r>
            <a:r>
              <a:rPr lang="nb-NO" dirty="0">
                <a:solidFill>
                  <a:srgbClr val="FFFFFF"/>
                </a:solidFill>
                <a:latin typeface="Helvetica"/>
                <a:cs typeface="Helvetica"/>
              </a:rPr>
              <a:t>:</a:t>
            </a:r>
            <a:endParaRPr lang="nb-NO" dirty="0">
              <a:solidFill>
                <a:schemeClr val="accent1">
                  <a:lumMod val="75000"/>
                </a:schemeClr>
              </a:solidFill>
              <a:latin typeface="Helvetica"/>
              <a:cs typeface="Helvetica"/>
            </a:endParaRPr>
          </a:p>
          <a:p>
            <a:pPr algn="just">
              <a:lnSpc>
                <a:spcPct val="130000"/>
              </a:lnSpc>
            </a:pPr>
            <a:r>
              <a:rPr lang="nb-NO" dirty="0">
                <a:solidFill>
                  <a:schemeClr val="accent1">
                    <a:lumMod val="75000"/>
                  </a:schemeClr>
                </a:solidFill>
                <a:latin typeface="Helvetica"/>
                <a:cs typeface="Helvetica"/>
              </a:rPr>
              <a:t> </a:t>
            </a:r>
            <a:r>
              <a:rPr lang="nb-NO" dirty="0" smtClean="0">
                <a:solidFill>
                  <a:schemeClr val="accent1">
                    <a:lumMod val="75000"/>
                  </a:schemeClr>
                </a:solidFill>
                <a:latin typeface="Helvetica"/>
                <a:cs typeface="Helvetica"/>
              </a:rPr>
              <a:t>  </a:t>
            </a:r>
            <a:r>
              <a:rPr lang="nb-NO" dirty="0" err="1">
                <a:solidFill>
                  <a:schemeClr val="accent5">
                    <a:lumMod val="60000"/>
                    <a:lumOff val="40000"/>
                  </a:schemeClr>
                </a:solidFill>
                <a:latin typeface="Helvetica"/>
                <a:cs typeface="Helvetica"/>
              </a:rPr>
              <a:t>npm</a:t>
            </a:r>
            <a:r>
              <a:rPr lang="nb-NO" dirty="0">
                <a:solidFill>
                  <a:schemeClr val="accent5">
                    <a:lumMod val="60000"/>
                    <a:lumOff val="40000"/>
                  </a:schemeClr>
                </a:solidFill>
                <a:latin typeface="Helvetica"/>
                <a:cs typeface="Helvetica"/>
              </a:rPr>
              <a:t> </a:t>
            </a:r>
            <a:r>
              <a:rPr lang="nb-NO" dirty="0" err="1">
                <a:solidFill>
                  <a:schemeClr val="accent5">
                    <a:lumMod val="60000"/>
                    <a:lumOff val="40000"/>
                  </a:schemeClr>
                </a:solidFill>
                <a:latin typeface="Helvetica"/>
                <a:cs typeface="Helvetica"/>
              </a:rPr>
              <a:t>install</a:t>
            </a:r>
            <a:r>
              <a:rPr lang="nb-NO" dirty="0">
                <a:solidFill>
                  <a:schemeClr val="accent5">
                    <a:lumMod val="60000"/>
                    <a:lumOff val="40000"/>
                  </a:schemeClr>
                </a:solidFill>
                <a:latin typeface="Helvetica"/>
                <a:cs typeface="Helvetica"/>
              </a:rPr>
              <a:t> -g polymer-</a:t>
            </a:r>
            <a:r>
              <a:rPr lang="nb-NO" dirty="0" smtClean="0">
                <a:solidFill>
                  <a:schemeClr val="accent5">
                    <a:lumMod val="60000"/>
                    <a:lumOff val="40000"/>
                  </a:schemeClr>
                </a:solidFill>
                <a:latin typeface="Helvetica"/>
                <a:cs typeface="Helvetica"/>
              </a:rPr>
              <a:t>cli</a:t>
            </a:r>
          </a:p>
          <a:p>
            <a:pPr algn="just">
              <a:lnSpc>
                <a:spcPct val="130000"/>
              </a:lnSpc>
            </a:pPr>
            <a:endParaRPr lang="nb-NO" dirty="0" smtClean="0">
              <a:solidFill>
                <a:srgbClr val="FFFFFF"/>
              </a:solidFill>
              <a:latin typeface="Helvetica"/>
              <a:cs typeface="Helvetica"/>
            </a:endParaRPr>
          </a:p>
          <a:p>
            <a:pPr algn="just">
              <a:lnSpc>
                <a:spcPct val="130000"/>
              </a:lnSpc>
            </a:pPr>
            <a:r>
              <a:rPr lang="nb-NO" dirty="0" err="1" smtClean="0">
                <a:solidFill>
                  <a:srgbClr val="FFFFFF"/>
                </a:solidFill>
                <a:latin typeface="Helvetica"/>
                <a:cs typeface="Helvetica"/>
              </a:rPr>
              <a:t>Podemos</a:t>
            </a:r>
            <a:r>
              <a:rPr lang="nb-NO" dirty="0" smtClean="0">
                <a:solidFill>
                  <a:srgbClr val="FFFFFF"/>
                </a:solidFill>
                <a:latin typeface="Helvetica"/>
                <a:cs typeface="Helvetica"/>
              </a:rPr>
              <a:t> </a:t>
            </a:r>
            <a:r>
              <a:rPr lang="nb-NO" dirty="0" err="1" smtClean="0">
                <a:solidFill>
                  <a:srgbClr val="FFFFFF"/>
                </a:solidFill>
                <a:latin typeface="Helvetica"/>
                <a:cs typeface="Helvetica"/>
              </a:rPr>
              <a:t>ver</a:t>
            </a:r>
            <a:r>
              <a:rPr lang="nb-NO" dirty="0" smtClean="0">
                <a:solidFill>
                  <a:srgbClr val="FFFFFF"/>
                </a:solidFill>
                <a:latin typeface="Helvetica"/>
                <a:cs typeface="Helvetica"/>
              </a:rPr>
              <a:t> </a:t>
            </a:r>
            <a:r>
              <a:rPr lang="nb-NO" dirty="0" err="1" smtClean="0">
                <a:solidFill>
                  <a:srgbClr val="FFFFFF"/>
                </a:solidFill>
                <a:latin typeface="Helvetica"/>
                <a:cs typeface="Helvetica"/>
              </a:rPr>
              <a:t>una</a:t>
            </a:r>
            <a:r>
              <a:rPr lang="nb-NO" dirty="0" smtClean="0">
                <a:solidFill>
                  <a:srgbClr val="FFFFFF"/>
                </a:solidFill>
                <a:latin typeface="Helvetica"/>
                <a:cs typeface="Helvetica"/>
              </a:rPr>
              <a:t> lista de </a:t>
            </a:r>
            <a:r>
              <a:rPr lang="nb-NO" dirty="0" err="1" smtClean="0">
                <a:solidFill>
                  <a:srgbClr val="FFFFFF"/>
                </a:solidFill>
                <a:latin typeface="Helvetica"/>
                <a:cs typeface="Helvetica"/>
              </a:rPr>
              <a:t>opciones</a:t>
            </a:r>
            <a:r>
              <a:rPr lang="nb-NO" dirty="0" smtClean="0">
                <a:solidFill>
                  <a:srgbClr val="FFFFFF"/>
                </a:solidFill>
                <a:latin typeface="Helvetica"/>
                <a:cs typeface="Helvetica"/>
              </a:rPr>
              <a:t> del </a:t>
            </a:r>
            <a:r>
              <a:rPr lang="nb-NO" dirty="0" err="1" smtClean="0">
                <a:solidFill>
                  <a:srgbClr val="FFFFFF"/>
                </a:solidFill>
                <a:latin typeface="Helvetica"/>
                <a:cs typeface="Helvetica"/>
              </a:rPr>
              <a:t>comando</a:t>
            </a:r>
            <a:r>
              <a:rPr lang="nb-NO" dirty="0" smtClean="0">
                <a:solidFill>
                  <a:srgbClr val="FFFFFF"/>
                </a:solidFill>
                <a:latin typeface="Helvetica"/>
                <a:cs typeface="Helvetica"/>
              </a:rPr>
              <a:t>:</a:t>
            </a:r>
          </a:p>
          <a:p>
            <a:pPr algn="just">
              <a:lnSpc>
                <a:spcPct val="130000"/>
              </a:lnSpc>
            </a:pPr>
            <a:r>
              <a:rPr lang="nb-NO" dirty="0" smtClean="0">
                <a:solidFill>
                  <a:schemeClr val="accent5">
                    <a:lumMod val="60000"/>
                    <a:lumOff val="40000"/>
                  </a:schemeClr>
                </a:solidFill>
                <a:latin typeface="Helvetica"/>
                <a:cs typeface="Helvetica"/>
              </a:rPr>
              <a:t>   polymer </a:t>
            </a:r>
            <a:r>
              <a:rPr lang="nb-NO" dirty="0" err="1">
                <a:solidFill>
                  <a:schemeClr val="accent5">
                    <a:lumMod val="60000"/>
                    <a:lumOff val="40000"/>
                  </a:schemeClr>
                </a:solidFill>
                <a:latin typeface="Helvetica"/>
                <a:cs typeface="Helvetica"/>
              </a:rPr>
              <a:t>help</a:t>
            </a:r>
            <a:endParaRPr lang="nb-NO" dirty="0">
              <a:solidFill>
                <a:schemeClr val="accent5">
                  <a:lumMod val="60000"/>
                  <a:lumOff val="40000"/>
                </a:schemeClr>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57</a:t>
            </a:fld>
            <a:endParaRPr lang="en-US"/>
          </a:p>
        </p:txBody>
      </p:sp>
    </p:spTree>
    <p:extLst>
      <p:ext uri="{BB962C8B-B14F-4D97-AF65-F5344CB8AC3E}">
        <p14:creationId xmlns:p14="http://schemas.microsoft.com/office/powerpoint/2010/main" val="3531624608"/>
      </p:ext>
    </p:extLst>
  </p:cSld>
  <p:clrMapOvr>
    <a:masterClrMapping/>
  </p:clrMapOvr>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Polymer</a:t>
            </a:r>
            <a:r>
              <a:rPr lang="es-ES" sz="2000" dirty="0">
                <a:solidFill>
                  <a:srgbClr val="FFFFFF"/>
                </a:solidFill>
                <a:latin typeface="Helvetica"/>
                <a:ea typeface="Lucida Grande"/>
                <a:cs typeface="Helvetica"/>
              </a:rPr>
              <a:t> CLI</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a:latin typeface="Arial Black"/>
                <a:cs typeface="Arial Black"/>
              </a:rPr>
              <a:t>Polymer</a:t>
            </a:r>
            <a:r>
              <a:rPr lang="es-ES_tradnl" sz="2200" u="sng" dirty="0">
                <a:latin typeface="Arial Black"/>
                <a:cs typeface="Arial Black"/>
              </a:rPr>
              <a:t> </a:t>
            </a:r>
            <a:r>
              <a:rPr lang="es-ES_tradnl" sz="2200" u="sng" dirty="0" smtClean="0">
                <a:latin typeface="Arial Black"/>
                <a:cs typeface="Arial Black"/>
              </a:rPr>
              <a:t>CLI &gt; Lista de comandos</a:t>
            </a:r>
            <a:endParaRPr lang="es-ES" sz="2200" u="sng" dirty="0" smtClean="0">
              <a:solidFill>
                <a:schemeClr val="accent4">
                  <a:lumMod val="60000"/>
                  <a:lumOff val="40000"/>
                </a:schemeClr>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399667"/>
          </a:xfrm>
          <a:prstGeom prst="rect">
            <a:avLst/>
          </a:prstGeom>
        </p:spPr>
        <p:txBody>
          <a:bodyPr wrap="square">
            <a:spAutoFit/>
          </a:bodyPr>
          <a:lstStyle/>
          <a:p>
            <a:pPr marL="285750" indent="-285750" algn="just">
              <a:lnSpc>
                <a:spcPct val="130000"/>
              </a:lnSpc>
              <a:buFont typeface="Arial"/>
              <a:buChar char="•"/>
            </a:pPr>
            <a:r>
              <a:rPr lang="nb-NO" dirty="0">
                <a:solidFill>
                  <a:srgbClr val="94D66C"/>
                </a:solidFill>
                <a:latin typeface="Helvetica"/>
                <a:cs typeface="Helvetica"/>
              </a:rPr>
              <a:t>polymer </a:t>
            </a:r>
            <a:r>
              <a:rPr lang="nb-NO" dirty="0" err="1">
                <a:solidFill>
                  <a:srgbClr val="94D66C"/>
                </a:solidFill>
                <a:latin typeface="Helvetica"/>
                <a:cs typeface="Helvetica"/>
              </a:rPr>
              <a:t>build</a:t>
            </a:r>
            <a:r>
              <a:rPr lang="nb-NO" dirty="0">
                <a:solidFill>
                  <a:srgbClr val="94D66C"/>
                </a:solidFill>
                <a:latin typeface="Helvetica"/>
                <a:cs typeface="Helvetica"/>
              </a:rPr>
              <a:t> (for </a:t>
            </a:r>
            <a:r>
              <a:rPr lang="nb-NO" dirty="0" err="1">
                <a:solidFill>
                  <a:srgbClr val="94D66C"/>
                </a:solidFill>
                <a:latin typeface="Helvetica"/>
                <a:cs typeface="Helvetica"/>
              </a:rPr>
              <a:t>app</a:t>
            </a:r>
            <a:r>
              <a:rPr lang="nb-NO" dirty="0">
                <a:solidFill>
                  <a:srgbClr val="94D66C"/>
                </a:solidFill>
                <a:latin typeface="Helvetica"/>
                <a:cs typeface="Helvetica"/>
              </a:rPr>
              <a:t> </a:t>
            </a:r>
            <a:r>
              <a:rPr lang="nb-NO" dirty="0" err="1">
                <a:solidFill>
                  <a:srgbClr val="94D66C"/>
                </a:solidFill>
                <a:latin typeface="Helvetica"/>
                <a:cs typeface="Helvetica"/>
              </a:rPr>
              <a:t>projects</a:t>
            </a:r>
            <a:r>
              <a:rPr lang="nb-NO" dirty="0">
                <a:solidFill>
                  <a:srgbClr val="94D66C"/>
                </a:solidFill>
                <a:latin typeface="Helvetica"/>
                <a:cs typeface="Helvetica"/>
              </a:rPr>
              <a:t> </a:t>
            </a:r>
            <a:r>
              <a:rPr lang="nb-NO" dirty="0" err="1">
                <a:solidFill>
                  <a:srgbClr val="94D66C"/>
                </a:solidFill>
                <a:latin typeface="Helvetica"/>
                <a:cs typeface="Helvetica"/>
              </a:rPr>
              <a:t>only</a:t>
            </a:r>
            <a:r>
              <a:rPr lang="nb-NO" dirty="0">
                <a:solidFill>
                  <a:srgbClr val="94D66C"/>
                </a:solidFill>
                <a:latin typeface="Helvetica"/>
                <a:cs typeface="Helvetica"/>
              </a:rPr>
              <a:t>)</a:t>
            </a:r>
          </a:p>
          <a:p>
            <a:pPr marL="285750" indent="-285750" algn="just">
              <a:lnSpc>
                <a:spcPct val="130000"/>
              </a:lnSpc>
              <a:buFont typeface="Arial"/>
              <a:buChar char="•"/>
            </a:pPr>
            <a:r>
              <a:rPr lang="nb-NO" dirty="0">
                <a:solidFill>
                  <a:srgbClr val="94D66C"/>
                </a:solidFill>
                <a:latin typeface="Helvetica"/>
                <a:cs typeface="Helvetica"/>
              </a:rPr>
              <a:t>polymer </a:t>
            </a:r>
            <a:r>
              <a:rPr lang="nb-NO" dirty="0" err="1">
                <a:solidFill>
                  <a:srgbClr val="94D66C"/>
                </a:solidFill>
                <a:latin typeface="Helvetica"/>
                <a:cs typeface="Helvetica"/>
              </a:rPr>
              <a:t>init</a:t>
            </a:r>
            <a:endParaRPr lang="nb-NO" dirty="0">
              <a:solidFill>
                <a:srgbClr val="94D66C"/>
              </a:solidFill>
              <a:latin typeface="Helvetica"/>
              <a:cs typeface="Helvetica"/>
            </a:endParaRPr>
          </a:p>
          <a:p>
            <a:pPr marL="285750" indent="-285750" algn="just">
              <a:lnSpc>
                <a:spcPct val="130000"/>
              </a:lnSpc>
              <a:buFont typeface="Arial"/>
              <a:buChar char="•"/>
            </a:pPr>
            <a:r>
              <a:rPr lang="nb-NO" dirty="0">
                <a:solidFill>
                  <a:srgbClr val="94D66C"/>
                </a:solidFill>
                <a:latin typeface="Helvetica"/>
                <a:cs typeface="Helvetica"/>
              </a:rPr>
              <a:t>polymer </a:t>
            </a:r>
            <a:r>
              <a:rPr lang="nb-NO" dirty="0" err="1">
                <a:solidFill>
                  <a:srgbClr val="94D66C"/>
                </a:solidFill>
                <a:latin typeface="Helvetica"/>
                <a:cs typeface="Helvetica"/>
              </a:rPr>
              <a:t>install</a:t>
            </a:r>
            <a:endParaRPr lang="nb-NO" dirty="0">
              <a:solidFill>
                <a:srgbClr val="94D66C"/>
              </a:solidFill>
              <a:latin typeface="Helvetica"/>
              <a:cs typeface="Helvetica"/>
            </a:endParaRPr>
          </a:p>
          <a:p>
            <a:pPr marL="285750" indent="-285750" algn="just">
              <a:lnSpc>
                <a:spcPct val="130000"/>
              </a:lnSpc>
              <a:buFont typeface="Arial"/>
              <a:buChar char="•"/>
            </a:pPr>
            <a:r>
              <a:rPr lang="nb-NO" dirty="0">
                <a:solidFill>
                  <a:srgbClr val="94D66C"/>
                </a:solidFill>
                <a:latin typeface="Helvetica"/>
                <a:cs typeface="Helvetica"/>
              </a:rPr>
              <a:t>polymer lint</a:t>
            </a:r>
          </a:p>
          <a:p>
            <a:pPr marL="285750" indent="-285750" algn="just">
              <a:lnSpc>
                <a:spcPct val="130000"/>
              </a:lnSpc>
              <a:buFont typeface="Arial"/>
              <a:buChar char="•"/>
            </a:pPr>
            <a:r>
              <a:rPr lang="nb-NO" dirty="0">
                <a:solidFill>
                  <a:srgbClr val="94D66C"/>
                </a:solidFill>
                <a:latin typeface="Helvetica"/>
                <a:cs typeface="Helvetica"/>
              </a:rPr>
              <a:t>polymer serve</a:t>
            </a:r>
          </a:p>
          <a:p>
            <a:pPr marL="285750" indent="-285750" algn="just">
              <a:lnSpc>
                <a:spcPct val="130000"/>
              </a:lnSpc>
              <a:buFont typeface="Arial"/>
              <a:buChar char="•"/>
            </a:pPr>
            <a:r>
              <a:rPr lang="nb-NO" dirty="0">
                <a:solidFill>
                  <a:srgbClr val="94D66C"/>
                </a:solidFill>
                <a:latin typeface="Helvetica"/>
                <a:cs typeface="Helvetica"/>
              </a:rPr>
              <a:t>polymer test</a:t>
            </a:r>
            <a:endParaRPr lang="nb-NO" dirty="0" smtClean="0">
              <a:solidFill>
                <a:srgbClr val="94D66C"/>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r>
              <a:rPr lang="nb-NO" dirty="0" err="1" smtClean="0">
                <a:solidFill>
                  <a:srgbClr val="FFFFFF"/>
                </a:solidFill>
                <a:latin typeface="Helvetica"/>
                <a:cs typeface="Helvetica"/>
              </a:rPr>
              <a:t>Referencia</a:t>
            </a:r>
            <a:r>
              <a:rPr lang="nb-NO" dirty="0" smtClean="0">
                <a:solidFill>
                  <a:srgbClr val="FFFFFF"/>
                </a:solidFill>
                <a:latin typeface="Helvetica"/>
                <a:cs typeface="Helvetica"/>
              </a:rPr>
              <a:t> </a:t>
            </a:r>
            <a:r>
              <a:rPr lang="nb-NO" dirty="0" err="1" smtClean="0">
                <a:solidFill>
                  <a:srgbClr val="FFFFFF"/>
                </a:solidFill>
                <a:latin typeface="Helvetica"/>
                <a:cs typeface="Helvetica"/>
              </a:rPr>
              <a:t>Completa</a:t>
            </a:r>
            <a:r>
              <a:rPr lang="nb-NO" dirty="0" smtClean="0">
                <a:solidFill>
                  <a:srgbClr val="FFFFFF"/>
                </a:solidFill>
                <a:latin typeface="Helvetica"/>
                <a:cs typeface="Helvetica"/>
              </a:rPr>
              <a:t>:</a:t>
            </a:r>
          </a:p>
          <a:p>
            <a:pPr algn="just">
              <a:lnSpc>
                <a:spcPct val="130000"/>
              </a:lnSpc>
            </a:pPr>
            <a:r>
              <a:rPr lang="nb-NO" dirty="0">
                <a:solidFill>
                  <a:srgbClr val="FFFFFF"/>
                </a:solidFill>
                <a:latin typeface="Helvetica"/>
                <a:cs typeface="Helvetica"/>
                <a:hlinkClick r:id="rId5"/>
              </a:rPr>
              <a:t>https://polymer-library.polymer-project.org/3.0/docs/tools/polymer-cli-</a:t>
            </a:r>
            <a:r>
              <a:rPr lang="nb-NO" dirty="0" smtClean="0">
                <a:solidFill>
                  <a:srgbClr val="FFFFFF"/>
                </a:solidFill>
                <a:latin typeface="Helvetica"/>
                <a:cs typeface="Helvetica"/>
                <a:hlinkClick r:id="rId5"/>
              </a:rPr>
              <a:t>commands</a:t>
            </a: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58</a:t>
            </a:fld>
            <a:endParaRPr lang="en-US"/>
          </a:p>
        </p:txBody>
      </p:sp>
    </p:spTree>
    <p:extLst>
      <p:ext uri="{BB962C8B-B14F-4D97-AF65-F5344CB8AC3E}">
        <p14:creationId xmlns:p14="http://schemas.microsoft.com/office/powerpoint/2010/main" val="2167134349"/>
      </p:ext>
    </p:extLst>
  </p:cSld>
  <p:clrMapOvr>
    <a:masterClrMapping/>
  </p:clrMapOvr>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Polymer</a:t>
            </a:r>
            <a:r>
              <a:rPr lang="es-ES" sz="2000" dirty="0">
                <a:solidFill>
                  <a:srgbClr val="FFFFFF"/>
                </a:solidFill>
                <a:latin typeface="Helvetica"/>
                <a:ea typeface="Lucida Grande"/>
                <a:cs typeface="Helvetica"/>
              </a:rPr>
              <a:t> CLI</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a:latin typeface="Arial Black"/>
                <a:cs typeface="Arial Black"/>
              </a:rPr>
              <a:t>Polymer</a:t>
            </a:r>
            <a:r>
              <a:rPr lang="es-ES_tradnl" sz="2200" u="sng" dirty="0">
                <a:latin typeface="Arial Black"/>
                <a:cs typeface="Arial Black"/>
              </a:rPr>
              <a:t> </a:t>
            </a:r>
            <a:r>
              <a:rPr lang="es-ES_tradnl" sz="2200" u="sng" dirty="0" smtClean="0">
                <a:latin typeface="Arial Black"/>
                <a:cs typeface="Arial Black"/>
              </a:rPr>
              <a:t>CLI &gt; </a:t>
            </a:r>
            <a:r>
              <a:rPr lang="es-ES_tradnl" sz="2200" u="sng" dirty="0" err="1">
                <a:solidFill>
                  <a:srgbClr val="94D66C"/>
                </a:solidFill>
                <a:latin typeface="Arial Black"/>
                <a:cs typeface="Arial Black"/>
              </a:rPr>
              <a:t>p</a:t>
            </a:r>
            <a:r>
              <a:rPr lang="es-ES_tradnl" sz="2200" u="sng" dirty="0" err="1" smtClean="0">
                <a:solidFill>
                  <a:srgbClr val="94D66C"/>
                </a:solidFill>
                <a:latin typeface="Arial Black"/>
                <a:cs typeface="Arial Black"/>
              </a:rPr>
              <a:t>olymer</a:t>
            </a:r>
            <a:r>
              <a:rPr lang="es-ES_tradnl" sz="2200" u="sng" dirty="0" smtClean="0">
                <a:solidFill>
                  <a:srgbClr val="94D66C"/>
                </a:solidFill>
                <a:latin typeface="Arial Black"/>
                <a:cs typeface="Arial Black"/>
              </a:rPr>
              <a:t> </a:t>
            </a:r>
            <a:r>
              <a:rPr lang="es-ES_tradnl" sz="2200" u="sng" dirty="0" err="1">
                <a:solidFill>
                  <a:srgbClr val="94D66C"/>
                </a:solidFill>
                <a:latin typeface="Arial Black"/>
                <a:cs typeface="Arial Black"/>
              </a:rPr>
              <a:t>i</a:t>
            </a:r>
            <a:r>
              <a:rPr lang="es-ES_tradnl" sz="2200" u="sng" dirty="0" err="1" smtClean="0">
                <a:solidFill>
                  <a:srgbClr val="94D66C"/>
                </a:solidFill>
                <a:latin typeface="Arial Black"/>
                <a:cs typeface="Arial Black"/>
              </a:rPr>
              <a:t>nit</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5479963"/>
          </a:xfrm>
          <a:prstGeom prst="rect">
            <a:avLst/>
          </a:prstGeom>
        </p:spPr>
        <p:txBody>
          <a:bodyPr wrap="square">
            <a:spAutoFit/>
          </a:bodyPr>
          <a:lstStyle/>
          <a:p>
            <a:pPr algn="just">
              <a:lnSpc>
                <a:spcPct val="130000"/>
              </a:lnSpc>
            </a:pPr>
            <a:r>
              <a:rPr lang="nb-NO" dirty="0" err="1">
                <a:solidFill>
                  <a:srgbClr val="FFFFFF"/>
                </a:solidFill>
                <a:latin typeface="Helvetica"/>
                <a:cs typeface="Helvetica"/>
              </a:rPr>
              <a:t>Mediante</a:t>
            </a:r>
            <a:r>
              <a:rPr lang="nb-NO" dirty="0">
                <a:solidFill>
                  <a:srgbClr val="FFFFFF"/>
                </a:solidFill>
                <a:latin typeface="Helvetica"/>
                <a:cs typeface="Helvetica"/>
              </a:rPr>
              <a:t> este </a:t>
            </a:r>
            <a:r>
              <a:rPr lang="nb-NO" dirty="0" err="1">
                <a:solidFill>
                  <a:srgbClr val="FFFFFF"/>
                </a:solidFill>
                <a:latin typeface="Helvetica"/>
                <a:cs typeface="Helvetica"/>
              </a:rPr>
              <a:t>comando</a:t>
            </a:r>
            <a:r>
              <a:rPr lang="nb-NO" dirty="0">
                <a:solidFill>
                  <a:srgbClr val="FFFFFF"/>
                </a:solidFill>
                <a:latin typeface="Helvetica"/>
                <a:cs typeface="Helvetica"/>
              </a:rPr>
              <a:t> </a:t>
            </a:r>
            <a:r>
              <a:rPr lang="nb-NO" dirty="0" err="1">
                <a:solidFill>
                  <a:srgbClr val="FFFFFF"/>
                </a:solidFill>
                <a:latin typeface="Helvetica"/>
                <a:cs typeface="Helvetica"/>
              </a:rPr>
              <a:t>podemos</a:t>
            </a:r>
            <a:r>
              <a:rPr lang="nb-NO" dirty="0">
                <a:solidFill>
                  <a:srgbClr val="FFFFFF"/>
                </a:solidFill>
                <a:latin typeface="Helvetica"/>
                <a:cs typeface="Helvetica"/>
              </a:rPr>
              <a:t> </a:t>
            </a:r>
            <a:r>
              <a:rPr lang="nb-NO" dirty="0" err="1">
                <a:solidFill>
                  <a:srgbClr val="FFFFFF"/>
                </a:solidFill>
                <a:latin typeface="Helvetica"/>
                <a:cs typeface="Helvetica"/>
              </a:rPr>
              <a:t>crear</a:t>
            </a:r>
            <a:r>
              <a:rPr lang="nb-NO" dirty="0">
                <a:solidFill>
                  <a:srgbClr val="FFFFFF"/>
                </a:solidFill>
                <a:latin typeface="Helvetica"/>
                <a:cs typeface="Helvetica"/>
              </a:rPr>
              <a:t> la </a:t>
            </a:r>
            <a:r>
              <a:rPr lang="nb-NO" dirty="0" err="1">
                <a:solidFill>
                  <a:srgbClr val="FFFFFF"/>
                </a:solidFill>
                <a:latin typeface="Helvetica"/>
                <a:cs typeface="Helvetica"/>
              </a:rPr>
              <a:t>plantilla</a:t>
            </a:r>
            <a:r>
              <a:rPr lang="nb-NO" dirty="0">
                <a:solidFill>
                  <a:srgbClr val="FFFFFF"/>
                </a:solidFill>
                <a:latin typeface="Helvetica"/>
                <a:cs typeface="Helvetica"/>
              </a:rPr>
              <a:t> o </a:t>
            </a:r>
            <a:r>
              <a:rPr lang="nb-NO" dirty="0" err="1">
                <a:solidFill>
                  <a:srgbClr val="FFFFFF"/>
                </a:solidFill>
                <a:latin typeface="Helvetica"/>
                <a:cs typeface="Helvetica"/>
              </a:rPr>
              <a:t>scafolder</a:t>
            </a:r>
            <a:r>
              <a:rPr lang="nb-NO" dirty="0">
                <a:solidFill>
                  <a:srgbClr val="FFFFFF"/>
                </a:solidFill>
                <a:latin typeface="Helvetica"/>
                <a:cs typeface="Helvetica"/>
              </a:rPr>
              <a:t> de </a:t>
            </a:r>
            <a:r>
              <a:rPr lang="nb-NO" dirty="0" err="1">
                <a:solidFill>
                  <a:srgbClr val="FFFFFF"/>
                </a:solidFill>
                <a:latin typeface="Helvetica"/>
                <a:cs typeface="Helvetica"/>
              </a:rPr>
              <a:t>un</a:t>
            </a:r>
            <a:r>
              <a:rPr lang="nb-NO" dirty="0">
                <a:solidFill>
                  <a:srgbClr val="FFFFFF"/>
                </a:solidFill>
                <a:latin typeface="Helvetica"/>
                <a:cs typeface="Helvetica"/>
              </a:rPr>
              <a:t> </a:t>
            </a:r>
            <a:r>
              <a:rPr lang="nb-NO" dirty="0" err="1">
                <a:solidFill>
                  <a:srgbClr val="FFFFFF"/>
                </a:solidFill>
                <a:latin typeface="Helvetica"/>
                <a:cs typeface="Helvetica"/>
              </a:rPr>
              <a:t>proyecto</a:t>
            </a:r>
            <a:r>
              <a:rPr lang="nb-NO" dirty="0">
                <a:solidFill>
                  <a:srgbClr val="FFFFFF"/>
                </a:solidFill>
                <a:latin typeface="Helvetica"/>
                <a:cs typeface="Helvetica"/>
              </a:rPr>
              <a:t> </a:t>
            </a:r>
            <a:r>
              <a:rPr lang="nb-NO" dirty="0" err="1">
                <a:solidFill>
                  <a:srgbClr val="FFFFFF"/>
                </a:solidFill>
                <a:latin typeface="Helvetica"/>
                <a:cs typeface="Helvetica"/>
              </a:rPr>
              <a:t>polimer</a:t>
            </a:r>
            <a:r>
              <a:rPr lang="nb-NO" dirty="0">
                <a:solidFill>
                  <a:srgbClr val="FFFFFF"/>
                </a:solidFill>
                <a:latin typeface="Helvetica"/>
                <a:cs typeface="Helvetica"/>
              </a:rPr>
              <a:t> de las </a:t>
            </a:r>
            <a:r>
              <a:rPr lang="nb-NO" dirty="0" err="1">
                <a:solidFill>
                  <a:srgbClr val="FFFFFF"/>
                </a:solidFill>
                <a:latin typeface="Helvetica"/>
                <a:cs typeface="Helvetica"/>
              </a:rPr>
              <a:t>siguientes</a:t>
            </a:r>
            <a:r>
              <a:rPr lang="nb-NO" dirty="0">
                <a:solidFill>
                  <a:srgbClr val="FFFFFF"/>
                </a:solidFill>
                <a:latin typeface="Helvetica"/>
                <a:cs typeface="Helvetica"/>
              </a:rPr>
              <a:t> </a:t>
            </a:r>
            <a:r>
              <a:rPr lang="nb-NO" dirty="0" err="1">
                <a:solidFill>
                  <a:srgbClr val="FFFFFF"/>
                </a:solidFill>
                <a:latin typeface="Helvetica"/>
                <a:cs typeface="Helvetica"/>
              </a:rPr>
              <a:t>tipologias</a:t>
            </a:r>
            <a:r>
              <a:rPr lang="nb-NO" dirty="0">
                <a:solidFill>
                  <a:srgbClr val="FFFFFF"/>
                </a:solidFill>
                <a:latin typeface="Helvetica"/>
                <a:cs typeface="Helvetica"/>
              </a:rPr>
              <a:t>:</a:t>
            </a:r>
          </a:p>
          <a:p>
            <a:pPr marL="285750" indent="-285750" algn="just">
              <a:lnSpc>
                <a:spcPct val="130000"/>
              </a:lnSpc>
              <a:buFont typeface="Arial"/>
              <a:buChar char="•"/>
            </a:pPr>
            <a:r>
              <a:rPr lang="nb-NO" dirty="0" err="1">
                <a:solidFill>
                  <a:srgbClr val="FFFFFF"/>
                </a:solidFill>
                <a:latin typeface="Helvetica"/>
                <a:cs typeface="Helvetica"/>
              </a:rPr>
              <a:t>Proyecto</a:t>
            </a:r>
            <a:r>
              <a:rPr lang="nb-NO" dirty="0">
                <a:solidFill>
                  <a:srgbClr val="FFFFFF"/>
                </a:solidFill>
                <a:latin typeface="Helvetica"/>
                <a:cs typeface="Helvetica"/>
              </a:rPr>
              <a:t> de </a:t>
            </a:r>
            <a:r>
              <a:rPr lang="nb-NO" dirty="0" err="1">
                <a:solidFill>
                  <a:srgbClr val="FFFFFF"/>
                </a:solidFill>
                <a:latin typeface="Helvetica"/>
                <a:cs typeface="Helvetica"/>
              </a:rPr>
              <a:t>elemento</a:t>
            </a:r>
            <a:r>
              <a:rPr lang="nb-NO" dirty="0">
                <a:solidFill>
                  <a:srgbClr val="FFFFFF"/>
                </a:solidFill>
                <a:latin typeface="Helvetica"/>
                <a:cs typeface="Helvetica"/>
              </a:rPr>
              <a:t> </a:t>
            </a:r>
            <a:r>
              <a:rPr lang="nb-NO" dirty="0" err="1">
                <a:solidFill>
                  <a:srgbClr val="FFFFFF"/>
                </a:solidFill>
                <a:latin typeface="Helvetica"/>
                <a:cs typeface="Helvetica"/>
              </a:rPr>
              <a:t>individual</a:t>
            </a:r>
            <a:r>
              <a:rPr lang="nb-NO" dirty="0">
                <a:solidFill>
                  <a:srgbClr val="FFFFFF"/>
                </a:solidFill>
                <a:latin typeface="Helvetica"/>
                <a:cs typeface="Helvetica"/>
              </a:rPr>
              <a:t> </a:t>
            </a:r>
            <a:r>
              <a:rPr lang="nb-NO" u="sng" dirty="0">
                <a:solidFill>
                  <a:srgbClr val="FFFFFF"/>
                </a:solidFill>
                <a:latin typeface="Helvetica"/>
                <a:cs typeface="Helvetica"/>
              </a:rPr>
              <a:t>(DEMO)</a:t>
            </a:r>
            <a:r>
              <a:rPr lang="nb-NO" dirty="0">
                <a:solidFill>
                  <a:srgbClr val="FFFFFF"/>
                </a:solidFill>
                <a:latin typeface="Helvetica"/>
                <a:cs typeface="Helvetica"/>
              </a:rPr>
              <a:t>.</a:t>
            </a:r>
          </a:p>
          <a:p>
            <a:pPr marL="285750" indent="-285750" algn="just">
              <a:lnSpc>
                <a:spcPct val="130000"/>
              </a:lnSpc>
              <a:buFont typeface="Arial"/>
              <a:buChar char="•"/>
            </a:pPr>
            <a:r>
              <a:rPr lang="nb-NO" dirty="0" err="1">
                <a:solidFill>
                  <a:srgbClr val="FFFFFF"/>
                </a:solidFill>
                <a:latin typeface="Helvetica"/>
                <a:cs typeface="Helvetica"/>
              </a:rPr>
              <a:t>Proyecto</a:t>
            </a:r>
            <a:r>
              <a:rPr lang="nb-NO" dirty="0">
                <a:solidFill>
                  <a:srgbClr val="FFFFFF"/>
                </a:solidFill>
                <a:latin typeface="Helvetica"/>
                <a:cs typeface="Helvetica"/>
              </a:rPr>
              <a:t> de pagina web </a:t>
            </a:r>
            <a:r>
              <a:rPr lang="nb-NO" dirty="0" err="1">
                <a:solidFill>
                  <a:srgbClr val="FFFFFF"/>
                </a:solidFill>
                <a:latin typeface="Helvetica"/>
                <a:cs typeface="Helvetica"/>
              </a:rPr>
              <a:t>compuesta</a:t>
            </a:r>
            <a:r>
              <a:rPr lang="nb-NO" dirty="0">
                <a:solidFill>
                  <a:srgbClr val="FFFFFF"/>
                </a:solidFill>
                <a:latin typeface="Helvetica"/>
                <a:cs typeface="Helvetica"/>
              </a:rPr>
              <a:t> de </a:t>
            </a:r>
            <a:r>
              <a:rPr lang="nb-NO" dirty="0" err="1">
                <a:solidFill>
                  <a:srgbClr val="FFFFFF"/>
                </a:solidFill>
                <a:latin typeface="Helvetica"/>
                <a:cs typeface="Helvetica"/>
              </a:rPr>
              <a:t>elementos</a:t>
            </a:r>
            <a:r>
              <a:rPr lang="nb-NO" dirty="0">
                <a:solidFill>
                  <a:srgbClr val="FFFFFF"/>
                </a:solidFill>
                <a:latin typeface="Helvetica"/>
                <a:cs typeface="Helvetica"/>
              </a:rPr>
              <a:t> </a:t>
            </a:r>
            <a:r>
              <a:rPr lang="nb-NO" u="sng" dirty="0">
                <a:solidFill>
                  <a:srgbClr val="FFFFFF"/>
                </a:solidFill>
                <a:latin typeface="Helvetica"/>
                <a:cs typeface="Helvetica"/>
              </a:rPr>
              <a:t>(DEMO).</a:t>
            </a:r>
          </a:p>
          <a:p>
            <a:pPr marL="285750" indent="-285750" algn="just">
              <a:lnSpc>
                <a:spcPct val="130000"/>
              </a:lnSpc>
              <a:buFont typeface="Arial"/>
              <a:buChar char="•"/>
            </a:pPr>
            <a:r>
              <a:rPr lang="nb-NO" dirty="0" err="1">
                <a:solidFill>
                  <a:srgbClr val="FFFFFF"/>
                </a:solidFill>
                <a:latin typeface="Helvetica"/>
                <a:cs typeface="Helvetica"/>
              </a:rPr>
              <a:t>Proyecto</a:t>
            </a:r>
            <a:r>
              <a:rPr lang="nb-NO" dirty="0">
                <a:solidFill>
                  <a:srgbClr val="FFFFFF"/>
                </a:solidFill>
                <a:latin typeface="Helvetica"/>
                <a:cs typeface="Helvetica"/>
              </a:rPr>
              <a:t> base (starter </a:t>
            </a:r>
            <a:r>
              <a:rPr lang="nb-NO" dirty="0" err="1">
                <a:solidFill>
                  <a:srgbClr val="FFFFFF"/>
                </a:solidFill>
                <a:latin typeface="Helvetica"/>
                <a:cs typeface="Helvetica"/>
              </a:rPr>
              <a:t>kit</a:t>
            </a:r>
            <a:r>
              <a:rPr lang="nb-NO" dirty="0">
                <a:solidFill>
                  <a:srgbClr val="FFFFFF"/>
                </a:solidFill>
                <a:latin typeface="Helvetica"/>
                <a:cs typeface="Helvetica"/>
              </a:rPr>
              <a:t>) </a:t>
            </a:r>
            <a:r>
              <a:rPr lang="nb-NO" dirty="0" err="1">
                <a:solidFill>
                  <a:srgbClr val="FFFFFF"/>
                </a:solidFill>
                <a:latin typeface="Helvetica"/>
                <a:cs typeface="Helvetica"/>
              </a:rPr>
              <a:t>basado</a:t>
            </a:r>
            <a:r>
              <a:rPr lang="nb-NO" dirty="0">
                <a:solidFill>
                  <a:srgbClr val="FFFFFF"/>
                </a:solidFill>
                <a:latin typeface="Helvetica"/>
                <a:cs typeface="Helvetica"/>
              </a:rPr>
              <a:t> en el uso de </a:t>
            </a:r>
            <a:r>
              <a:rPr lang="nb-NO" dirty="0" err="1">
                <a:solidFill>
                  <a:srgbClr val="FFFFFF"/>
                </a:solidFill>
                <a:latin typeface="Helvetica"/>
                <a:cs typeface="Helvetica"/>
              </a:rPr>
              <a:t>app</a:t>
            </a:r>
            <a:r>
              <a:rPr lang="nb-NO" dirty="0">
                <a:solidFill>
                  <a:srgbClr val="FFFFFF"/>
                </a:solidFill>
                <a:latin typeface="Helvetica"/>
                <a:cs typeface="Helvetica"/>
              </a:rPr>
              <a:t>-</a:t>
            </a:r>
            <a:r>
              <a:rPr lang="nb-NO" dirty="0" smtClean="0">
                <a:solidFill>
                  <a:srgbClr val="FFFFFF"/>
                </a:solidFill>
                <a:latin typeface="Helvetica"/>
                <a:cs typeface="Helvetica"/>
              </a:rPr>
              <a:t>layout (</a:t>
            </a:r>
            <a:r>
              <a:rPr lang="nb-NO" u="sng" dirty="0" smtClean="0">
                <a:solidFill>
                  <a:srgbClr val="FFFFFF"/>
                </a:solidFill>
                <a:latin typeface="Helvetica"/>
                <a:cs typeface="Helvetica"/>
              </a:rPr>
              <a:t>DEMO</a:t>
            </a:r>
            <a:r>
              <a:rPr lang="nb-NO" dirty="0" smtClean="0">
                <a:solidFill>
                  <a:srgbClr val="FFFFFF"/>
                </a:solidFill>
                <a:latin typeface="Helvetica"/>
                <a:cs typeface="Helvetica"/>
              </a:rPr>
              <a:t>).</a:t>
            </a:r>
            <a:endParaRPr lang="nb-NO" dirty="0">
              <a:solidFill>
                <a:srgbClr val="FFFFFF"/>
              </a:solidFill>
              <a:latin typeface="Helvetica"/>
              <a:cs typeface="Helvetica"/>
            </a:endParaRPr>
          </a:p>
          <a:p>
            <a:pPr marL="285750" indent="-285750" algn="just">
              <a:lnSpc>
                <a:spcPct val="130000"/>
              </a:lnSpc>
              <a:buFont typeface="Arial"/>
              <a:buChar char="•"/>
            </a:pPr>
            <a:endParaRPr lang="nb-NO" dirty="0">
              <a:solidFill>
                <a:srgbClr val="FFFFFF"/>
              </a:solidFill>
              <a:latin typeface="Helvetica"/>
              <a:cs typeface="Helvetica"/>
            </a:endParaRPr>
          </a:p>
          <a:p>
            <a:pPr algn="just">
              <a:lnSpc>
                <a:spcPct val="130000"/>
              </a:lnSpc>
            </a:pPr>
            <a:r>
              <a:rPr lang="nb-NO" dirty="0">
                <a:solidFill>
                  <a:srgbClr val="FFFFFF"/>
                </a:solidFill>
                <a:latin typeface="Helvetica"/>
                <a:cs typeface="Helvetica"/>
              </a:rPr>
              <a:t>El </a:t>
            </a:r>
            <a:r>
              <a:rPr lang="nb-NO" dirty="0" err="1">
                <a:solidFill>
                  <a:srgbClr val="FFFFFF"/>
                </a:solidFill>
                <a:latin typeface="Helvetica"/>
                <a:cs typeface="Helvetica"/>
              </a:rPr>
              <a:t>proceso</a:t>
            </a:r>
            <a:r>
              <a:rPr lang="nb-NO" dirty="0">
                <a:solidFill>
                  <a:srgbClr val="FFFFFF"/>
                </a:solidFill>
                <a:latin typeface="Helvetica"/>
                <a:cs typeface="Helvetica"/>
              </a:rPr>
              <a:t> </a:t>
            </a:r>
            <a:r>
              <a:rPr lang="nb-NO" dirty="0" err="1">
                <a:solidFill>
                  <a:srgbClr val="FFFFFF"/>
                </a:solidFill>
                <a:latin typeface="Helvetica"/>
                <a:cs typeface="Helvetica"/>
              </a:rPr>
              <a:t>comenzará</a:t>
            </a:r>
            <a:r>
              <a:rPr lang="nb-NO" dirty="0">
                <a:solidFill>
                  <a:srgbClr val="FFFFFF"/>
                </a:solidFill>
                <a:latin typeface="Helvetica"/>
                <a:cs typeface="Helvetica"/>
              </a:rPr>
              <a:t> </a:t>
            </a:r>
            <a:r>
              <a:rPr lang="nb-NO" dirty="0" err="1">
                <a:solidFill>
                  <a:srgbClr val="FFFFFF"/>
                </a:solidFill>
                <a:latin typeface="Helvetica"/>
                <a:cs typeface="Helvetica"/>
              </a:rPr>
              <a:t>creando</a:t>
            </a:r>
            <a:r>
              <a:rPr lang="nb-NO" dirty="0">
                <a:solidFill>
                  <a:srgbClr val="FFFFFF"/>
                </a:solidFill>
                <a:latin typeface="Helvetica"/>
                <a:cs typeface="Helvetica"/>
              </a:rPr>
              <a:t> </a:t>
            </a:r>
            <a:r>
              <a:rPr lang="nb-NO" dirty="0" err="1">
                <a:solidFill>
                  <a:srgbClr val="FFFFFF"/>
                </a:solidFill>
                <a:latin typeface="Helvetica"/>
                <a:cs typeface="Helvetica"/>
              </a:rPr>
              <a:t>una</a:t>
            </a:r>
            <a:r>
              <a:rPr lang="nb-NO" dirty="0">
                <a:solidFill>
                  <a:srgbClr val="FFFFFF"/>
                </a:solidFill>
                <a:latin typeface="Helvetica"/>
                <a:cs typeface="Helvetica"/>
              </a:rPr>
              <a:t> </a:t>
            </a:r>
            <a:r>
              <a:rPr lang="nb-NO" dirty="0" err="1">
                <a:solidFill>
                  <a:srgbClr val="FFFFFF"/>
                </a:solidFill>
                <a:latin typeface="Helvetica"/>
                <a:cs typeface="Helvetica"/>
              </a:rPr>
              <a:t>estructura</a:t>
            </a:r>
            <a:r>
              <a:rPr lang="nb-NO" dirty="0">
                <a:solidFill>
                  <a:srgbClr val="FFFFFF"/>
                </a:solidFill>
                <a:latin typeface="Helvetica"/>
                <a:cs typeface="Helvetica"/>
              </a:rPr>
              <a:t> de </a:t>
            </a:r>
            <a:r>
              <a:rPr lang="nb-NO" dirty="0" err="1">
                <a:solidFill>
                  <a:srgbClr val="FFFFFF"/>
                </a:solidFill>
                <a:latin typeface="Helvetica"/>
                <a:cs typeface="Helvetica"/>
              </a:rPr>
              <a:t>carpetas</a:t>
            </a:r>
            <a:r>
              <a:rPr lang="nb-NO" dirty="0">
                <a:solidFill>
                  <a:srgbClr val="FFFFFF"/>
                </a:solidFill>
                <a:latin typeface="Helvetica"/>
                <a:cs typeface="Helvetica"/>
              </a:rPr>
              <a:t> e </a:t>
            </a:r>
            <a:r>
              <a:rPr lang="nb-NO" dirty="0" err="1">
                <a:solidFill>
                  <a:srgbClr val="FFFFFF"/>
                </a:solidFill>
                <a:latin typeface="Helvetica"/>
                <a:cs typeface="Helvetica"/>
              </a:rPr>
              <a:t>instalando</a:t>
            </a:r>
            <a:r>
              <a:rPr lang="nb-NO" dirty="0">
                <a:solidFill>
                  <a:srgbClr val="FFFFFF"/>
                </a:solidFill>
                <a:latin typeface="Helvetica"/>
                <a:cs typeface="Helvetica"/>
              </a:rPr>
              <a:t> </a:t>
            </a:r>
            <a:r>
              <a:rPr lang="nb-NO" dirty="0" err="1" smtClean="0">
                <a:solidFill>
                  <a:srgbClr val="FFFFFF"/>
                </a:solidFill>
                <a:latin typeface="Helvetica"/>
                <a:cs typeface="Helvetica"/>
              </a:rPr>
              <a:t>todas</a:t>
            </a:r>
            <a:r>
              <a:rPr lang="nb-NO" dirty="0" smtClean="0">
                <a:solidFill>
                  <a:srgbClr val="FFFFFF"/>
                </a:solidFill>
                <a:latin typeface="Helvetica"/>
                <a:cs typeface="Helvetica"/>
              </a:rPr>
              <a:t> las </a:t>
            </a:r>
            <a:r>
              <a:rPr lang="nb-NO" dirty="0" err="1">
                <a:solidFill>
                  <a:srgbClr val="FFFFFF"/>
                </a:solidFill>
                <a:latin typeface="Helvetica"/>
                <a:cs typeface="Helvetica"/>
              </a:rPr>
              <a:t>dependencias</a:t>
            </a:r>
            <a:r>
              <a:rPr lang="nb-NO" dirty="0">
                <a:solidFill>
                  <a:srgbClr val="FFFFFF"/>
                </a:solidFill>
                <a:latin typeface="Helvetica"/>
                <a:cs typeface="Helvetica"/>
              </a:rPr>
              <a:t> </a:t>
            </a:r>
            <a:r>
              <a:rPr lang="nb-NO" dirty="0" err="1">
                <a:solidFill>
                  <a:srgbClr val="FFFFFF"/>
                </a:solidFill>
                <a:latin typeface="Helvetica"/>
                <a:cs typeface="Helvetica"/>
              </a:rPr>
              <a:t>necesarias</a:t>
            </a:r>
            <a:r>
              <a:rPr lang="nb-NO" dirty="0">
                <a:solidFill>
                  <a:srgbClr val="FFFFFF"/>
                </a:solidFill>
                <a:latin typeface="Helvetica"/>
                <a:cs typeface="Helvetica"/>
              </a:rPr>
              <a:t> </a:t>
            </a:r>
            <a:r>
              <a:rPr lang="nb-NO" dirty="0" err="1">
                <a:solidFill>
                  <a:srgbClr val="FFFFFF"/>
                </a:solidFill>
                <a:latin typeface="Helvetica"/>
                <a:cs typeface="Helvetica"/>
              </a:rPr>
              <a:t>que</a:t>
            </a:r>
            <a:r>
              <a:rPr lang="nb-NO" dirty="0">
                <a:solidFill>
                  <a:srgbClr val="FFFFFF"/>
                </a:solidFill>
                <a:latin typeface="Helvetica"/>
                <a:cs typeface="Helvetica"/>
              </a:rPr>
              <a:t> </a:t>
            </a:r>
            <a:r>
              <a:rPr lang="nb-NO" dirty="0" err="1">
                <a:solidFill>
                  <a:srgbClr val="FFFFFF"/>
                </a:solidFill>
                <a:latin typeface="Helvetica"/>
                <a:cs typeface="Helvetica"/>
              </a:rPr>
              <a:t>nuestra</a:t>
            </a:r>
            <a:r>
              <a:rPr lang="nb-NO" dirty="0">
                <a:solidFill>
                  <a:srgbClr val="FFFFFF"/>
                </a:solidFill>
                <a:latin typeface="Helvetica"/>
                <a:cs typeface="Helvetica"/>
              </a:rPr>
              <a:t> </a:t>
            </a:r>
            <a:r>
              <a:rPr lang="nb-NO" dirty="0" err="1">
                <a:solidFill>
                  <a:srgbClr val="FFFFFF"/>
                </a:solidFill>
                <a:latin typeface="Helvetica"/>
                <a:cs typeface="Helvetica"/>
              </a:rPr>
              <a:t>aplicación</a:t>
            </a:r>
            <a:r>
              <a:rPr lang="nb-NO" dirty="0">
                <a:solidFill>
                  <a:srgbClr val="FFFFFF"/>
                </a:solidFill>
                <a:latin typeface="Helvetica"/>
                <a:cs typeface="Helvetica"/>
              </a:rPr>
              <a:t> </a:t>
            </a:r>
            <a:r>
              <a:rPr lang="nb-NO" dirty="0" err="1">
                <a:solidFill>
                  <a:srgbClr val="FFFFFF"/>
                </a:solidFill>
                <a:latin typeface="Helvetica"/>
                <a:cs typeface="Helvetica"/>
              </a:rPr>
              <a:t>funcione</a:t>
            </a:r>
            <a:r>
              <a:rPr lang="nb-NO" dirty="0">
                <a:solidFill>
                  <a:srgbClr val="FFFFFF"/>
                </a:solidFill>
                <a:latin typeface="Helvetica"/>
                <a:cs typeface="Helvetica"/>
              </a:rPr>
              <a:t>, se </a:t>
            </a:r>
            <a:r>
              <a:rPr lang="nb-NO" dirty="0" err="1">
                <a:solidFill>
                  <a:srgbClr val="FFFFFF"/>
                </a:solidFill>
                <a:latin typeface="Helvetica"/>
                <a:cs typeface="Helvetica"/>
              </a:rPr>
              <a:t>pueda</a:t>
            </a:r>
            <a:r>
              <a:rPr lang="nb-NO" dirty="0">
                <a:solidFill>
                  <a:srgbClr val="FFFFFF"/>
                </a:solidFill>
                <a:latin typeface="Helvetica"/>
                <a:cs typeface="Helvetica"/>
              </a:rPr>
              <a:t> </a:t>
            </a:r>
            <a:r>
              <a:rPr lang="nb-NO" dirty="0" err="1">
                <a:solidFill>
                  <a:srgbClr val="FFFFFF"/>
                </a:solidFill>
                <a:latin typeface="Helvetica"/>
                <a:cs typeface="Helvetica"/>
              </a:rPr>
              <a:t>testear</a:t>
            </a:r>
            <a:r>
              <a:rPr lang="nb-NO" dirty="0">
                <a:solidFill>
                  <a:srgbClr val="FFFFFF"/>
                </a:solidFill>
                <a:latin typeface="Helvetica"/>
                <a:cs typeface="Helvetica"/>
              </a:rPr>
              <a:t>, etc.</a:t>
            </a:r>
            <a:endParaRPr lang="nb-NO" dirty="0" smtClean="0">
              <a:solidFill>
                <a:srgbClr val="FFFFFF"/>
              </a:solidFill>
              <a:latin typeface="Helvetica"/>
              <a:cs typeface="Helvetica"/>
            </a:endParaRPr>
          </a:p>
          <a:p>
            <a:pPr marL="285750" indent="-285750" algn="just">
              <a:lnSpc>
                <a:spcPct val="130000"/>
              </a:lnSpc>
              <a:buFont typeface="Arial"/>
              <a:buChar char="•"/>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2" name="Marcador de número de diapositiva 11"/>
          <p:cNvSpPr>
            <a:spLocks noGrp="1"/>
          </p:cNvSpPr>
          <p:nvPr>
            <p:ph type="sldNum" sz="quarter" idx="12"/>
          </p:nvPr>
        </p:nvSpPr>
        <p:spPr/>
        <p:txBody>
          <a:bodyPr/>
          <a:lstStyle/>
          <a:p>
            <a:fld id="{9C1F5A0A-F6FC-4FFD-9B49-0DA8697211D9}" type="slidenum">
              <a:rPr lang="en-US" smtClean="0"/>
              <a:t>59</a:t>
            </a:fld>
            <a:endParaRPr lang="en-US"/>
          </a:p>
        </p:txBody>
      </p:sp>
    </p:spTree>
    <p:extLst>
      <p:ext uri="{BB962C8B-B14F-4D97-AF65-F5344CB8AC3E}">
        <p14:creationId xmlns:p14="http://schemas.microsoft.com/office/powerpoint/2010/main" val="792407541"/>
      </p:ext>
    </p:extLst>
  </p:cSld>
  <p:clrMapOvr>
    <a:masterClrMapping/>
  </p:clrMapOvr>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Polymer</a:t>
            </a:r>
            <a:r>
              <a:rPr lang="es-ES" sz="2000" dirty="0">
                <a:solidFill>
                  <a:srgbClr val="FFFFFF"/>
                </a:solidFill>
                <a:latin typeface="Helvetica"/>
                <a:ea typeface="Lucida Grande"/>
                <a:cs typeface="Helvetica"/>
              </a:rPr>
              <a:t> CLI</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a:latin typeface="Arial Black"/>
                <a:cs typeface="Arial Black"/>
              </a:rPr>
              <a:t>Polymer</a:t>
            </a:r>
            <a:r>
              <a:rPr lang="es-ES_tradnl" sz="2200" u="sng" dirty="0">
                <a:latin typeface="Arial Black"/>
                <a:cs typeface="Arial Black"/>
              </a:rPr>
              <a:t> </a:t>
            </a:r>
            <a:r>
              <a:rPr lang="es-ES_tradnl" sz="2200" u="sng" dirty="0" smtClean="0">
                <a:latin typeface="Arial Black"/>
                <a:cs typeface="Arial Black"/>
              </a:rPr>
              <a:t>CLI &gt; </a:t>
            </a:r>
            <a:r>
              <a:rPr lang="es-ES_tradnl" sz="2200" u="sng" dirty="0" err="1">
                <a:solidFill>
                  <a:srgbClr val="94D66C"/>
                </a:solidFill>
                <a:latin typeface="Arial Black"/>
                <a:cs typeface="Arial Black"/>
              </a:rPr>
              <a:t>p</a:t>
            </a:r>
            <a:r>
              <a:rPr lang="es-ES_tradnl" sz="2200" u="sng" dirty="0" err="1" smtClean="0">
                <a:solidFill>
                  <a:srgbClr val="94D66C"/>
                </a:solidFill>
                <a:latin typeface="Arial Black"/>
                <a:cs typeface="Arial Black"/>
              </a:rPr>
              <a:t>olymer</a:t>
            </a:r>
            <a:r>
              <a:rPr lang="es-ES_tradnl" sz="2200" u="sng" dirty="0" smtClean="0">
                <a:solidFill>
                  <a:srgbClr val="94D66C"/>
                </a:solidFill>
                <a:latin typeface="Arial Black"/>
                <a:cs typeface="Arial Black"/>
              </a:rPr>
              <a:t> </a:t>
            </a:r>
            <a:r>
              <a:rPr lang="es-ES_tradnl" sz="2200" u="sng" dirty="0" err="1" smtClean="0">
                <a:solidFill>
                  <a:srgbClr val="94D66C"/>
                </a:solidFill>
                <a:latin typeface="Arial Black"/>
                <a:cs typeface="Arial Black"/>
              </a:rPr>
              <a:t>init</a:t>
            </a:r>
            <a:r>
              <a:rPr lang="es-ES_tradnl" sz="2200" u="sng" dirty="0" smtClean="0">
                <a:solidFill>
                  <a:srgbClr val="94D66C"/>
                </a:solidFill>
                <a:latin typeface="Arial Black"/>
                <a:cs typeface="Arial Black"/>
              </a:rPr>
              <a:t> &gt; </a:t>
            </a:r>
            <a:r>
              <a:rPr lang="es-ES_tradnl" sz="2200" u="sng" dirty="0" err="1" smtClean="0">
                <a:latin typeface="Arial Black"/>
                <a:cs typeface="Arial Black"/>
              </a:rPr>
              <a:t>scafolding</a:t>
            </a:r>
            <a:endParaRPr lang="es-ES" sz="2200" u="sng" dirty="0" smtClean="0">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pic>
        <p:nvPicPr>
          <p:cNvPr id="3" name="Imagen 2"/>
          <p:cNvPicPr>
            <a:picLocks noChangeAspect="1"/>
          </p:cNvPicPr>
          <p:nvPr/>
        </p:nvPicPr>
        <p:blipFill>
          <a:blip r:embed="rId5"/>
          <a:stretch>
            <a:fillRect/>
          </a:stretch>
        </p:blipFill>
        <p:spPr>
          <a:xfrm>
            <a:off x="2777790" y="1737053"/>
            <a:ext cx="3235332" cy="4357987"/>
          </a:xfrm>
          <a:prstGeom prst="rect">
            <a:avLst/>
          </a:prstGeom>
        </p:spPr>
      </p:pic>
      <p:sp>
        <p:nvSpPr>
          <p:cNvPr id="12" name="Marcador de número de diapositiva 11"/>
          <p:cNvSpPr>
            <a:spLocks noGrp="1"/>
          </p:cNvSpPr>
          <p:nvPr>
            <p:ph type="sldNum" sz="quarter" idx="12"/>
          </p:nvPr>
        </p:nvSpPr>
        <p:spPr/>
        <p:txBody>
          <a:bodyPr/>
          <a:lstStyle/>
          <a:p>
            <a:fld id="{9C1F5A0A-F6FC-4FFD-9B49-0DA8697211D9}" type="slidenum">
              <a:rPr lang="en-US" smtClean="0"/>
              <a:t>60</a:t>
            </a:fld>
            <a:endParaRPr lang="en-US"/>
          </a:p>
        </p:txBody>
      </p:sp>
    </p:spTree>
    <p:extLst>
      <p:ext uri="{BB962C8B-B14F-4D97-AF65-F5344CB8AC3E}">
        <p14:creationId xmlns:p14="http://schemas.microsoft.com/office/powerpoint/2010/main" val="2209307774"/>
      </p:ext>
    </p:extLst>
  </p:cSld>
  <p:clrMapOvr>
    <a:masterClrMapping/>
  </p:clrMapOvr>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Polymer</a:t>
            </a:r>
            <a:r>
              <a:rPr lang="es-ES" sz="2000" dirty="0">
                <a:solidFill>
                  <a:srgbClr val="FFFFFF"/>
                </a:solidFill>
                <a:latin typeface="Helvetica"/>
                <a:ea typeface="Lucida Grande"/>
                <a:cs typeface="Helvetica"/>
              </a:rPr>
              <a:t> CLI</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a:latin typeface="Arial Black"/>
                <a:cs typeface="Arial Black"/>
              </a:rPr>
              <a:t>Polymer</a:t>
            </a:r>
            <a:r>
              <a:rPr lang="es-ES_tradnl" sz="2200" u="sng" dirty="0">
                <a:latin typeface="Arial Black"/>
                <a:cs typeface="Arial Black"/>
              </a:rPr>
              <a:t> </a:t>
            </a:r>
            <a:r>
              <a:rPr lang="es-ES_tradnl" sz="2200" u="sng" dirty="0" smtClean="0">
                <a:latin typeface="Arial Black"/>
                <a:cs typeface="Arial Black"/>
              </a:rPr>
              <a:t>CLI &gt; </a:t>
            </a:r>
            <a:r>
              <a:rPr lang="es-ES_tradnl" sz="2200" u="sng" dirty="0" err="1" smtClean="0">
                <a:latin typeface="Arial Black"/>
                <a:cs typeface="Arial Black"/>
              </a:rPr>
              <a:t>polymer.json</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6920359"/>
          </a:xfrm>
          <a:prstGeom prst="rect">
            <a:avLst/>
          </a:prstGeom>
        </p:spPr>
        <p:txBody>
          <a:bodyPr wrap="square">
            <a:spAutoFit/>
          </a:bodyPr>
          <a:lstStyle/>
          <a:p>
            <a:pPr algn="just">
              <a:lnSpc>
                <a:spcPct val="130000"/>
              </a:lnSpc>
            </a:pPr>
            <a:r>
              <a:rPr lang="nb-NO" dirty="0" err="1" smtClean="0">
                <a:solidFill>
                  <a:srgbClr val="FFFFFF"/>
                </a:solidFill>
                <a:latin typeface="Helvetica"/>
                <a:cs typeface="Helvetica"/>
              </a:rPr>
              <a:t>Fichero</a:t>
            </a:r>
            <a:r>
              <a:rPr lang="nb-NO" dirty="0" smtClean="0">
                <a:solidFill>
                  <a:srgbClr val="FFFFFF"/>
                </a:solidFill>
                <a:latin typeface="Helvetica"/>
                <a:cs typeface="Helvetica"/>
              </a:rPr>
              <a:t> de </a:t>
            </a:r>
            <a:r>
              <a:rPr lang="nb-NO" dirty="0" err="1" smtClean="0">
                <a:solidFill>
                  <a:srgbClr val="FFFFFF"/>
                </a:solidFill>
                <a:latin typeface="Helvetica"/>
                <a:cs typeface="Helvetica"/>
              </a:rPr>
              <a:t>configuración</a:t>
            </a:r>
            <a:r>
              <a:rPr lang="nb-NO" dirty="0" smtClean="0">
                <a:solidFill>
                  <a:srgbClr val="FFFFFF"/>
                </a:solidFill>
                <a:latin typeface="Helvetica"/>
                <a:cs typeface="Helvetica"/>
              </a:rPr>
              <a:t> </a:t>
            </a:r>
            <a:r>
              <a:rPr lang="nb-NO" dirty="0" err="1" smtClean="0">
                <a:solidFill>
                  <a:srgbClr val="FFFFFF"/>
                </a:solidFill>
                <a:latin typeface="Helvetica"/>
                <a:cs typeface="Helvetica"/>
              </a:rPr>
              <a:t>utilizado</a:t>
            </a:r>
            <a:r>
              <a:rPr lang="nb-NO" dirty="0" smtClean="0">
                <a:solidFill>
                  <a:srgbClr val="FFFFFF"/>
                </a:solidFill>
                <a:latin typeface="Helvetica"/>
                <a:cs typeface="Helvetica"/>
              </a:rPr>
              <a:t> por las </a:t>
            </a:r>
            <a:r>
              <a:rPr lang="nb-NO" dirty="0" err="1" smtClean="0">
                <a:solidFill>
                  <a:srgbClr val="FFFFFF"/>
                </a:solidFill>
                <a:latin typeface="Helvetica"/>
                <a:cs typeface="Helvetica"/>
              </a:rPr>
              <a:t>diferentes</a:t>
            </a:r>
            <a:r>
              <a:rPr lang="nb-NO" dirty="0" smtClean="0">
                <a:solidFill>
                  <a:srgbClr val="FFFFFF"/>
                </a:solidFill>
                <a:latin typeface="Helvetica"/>
                <a:cs typeface="Helvetica"/>
              </a:rPr>
              <a:t> </a:t>
            </a:r>
            <a:r>
              <a:rPr lang="nb-NO" dirty="0" err="1" smtClean="0">
                <a:solidFill>
                  <a:srgbClr val="FFFFFF"/>
                </a:solidFill>
                <a:latin typeface="Helvetica"/>
                <a:cs typeface="Helvetica"/>
              </a:rPr>
              <a:t>utilidades</a:t>
            </a:r>
            <a:r>
              <a:rPr lang="nb-NO" dirty="0" smtClean="0">
                <a:solidFill>
                  <a:srgbClr val="FFFFFF"/>
                </a:solidFill>
                <a:latin typeface="Helvetica"/>
                <a:cs typeface="Helvetica"/>
              </a:rPr>
              <a:t> de Polymer CLI.</a:t>
            </a:r>
          </a:p>
          <a:p>
            <a:pPr algn="just">
              <a:lnSpc>
                <a:spcPct val="130000"/>
              </a:lnSpc>
            </a:pPr>
            <a:r>
              <a:rPr lang="nb-NO" dirty="0" smtClean="0">
                <a:solidFill>
                  <a:srgbClr val="FFFFFF"/>
                </a:solidFill>
                <a:latin typeface="Helvetica"/>
                <a:cs typeface="Helvetica"/>
              </a:rPr>
              <a:t>Entre otras </a:t>
            </a:r>
            <a:r>
              <a:rPr lang="nb-NO" dirty="0" err="1" smtClean="0">
                <a:solidFill>
                  <a:srgbClr val="FFFFFF"/>
                </a:solidFill>
                <a:latin typeface="Helvetica"/>
                <a:cs typeface="Helvetica"/>
              </a:rPr>
              <a:t>opciones</a:t>
            </a:r>
            <a:r>
              <a:rPr lang="nb-NO" dirty="0" smtClean="0">
                <a:solidFill>
                  <a:srgbClr val="FFFFFF"/>
                </a:solidFill>
                <a:latin typeface="Helvetica"/>
                <a:cs typeface="Helvetica"/>
              </a:rPr>
              <a:t> </a:t>
            </a:r>
            <a:r>
              <a:rPr lang="nb-NO" dirty="0" err="1" smtClean="0">
                <a:solidFill>
                  <a:srgbClr val="FFFFFF"/>
                </a:solidFill>
                <a:latin typeface="Helvetica"/>
                <a:cs typeface="Helvetica"/>
              </a:rPr>
              <a:t>permite</a:t>
            </a:r>
            <a:r>
              <a:rPr lang="nb-NO" dirty="0" smtClean="0">
                <a:solidFill>
                  <a:srgbClr val="FFFFFF"/>
                </a:solidFill>
                <a:latin typeface="Helvetica"/>
                <a:cs typeface="Helvetica"/>
              </a:rPr>
              <a:t> </a:t>
            </a:r>
            <a:r>
              <a:rPr lang="nb-NO" dirty="0" err="1" smtClean="0">
                <a:solidFill>
                  <a:srgbClr val="FFFFFF"/>
                </a:solidFill>
                <a:latin typeface="Helvetica"/>
                <a:cs typeface="Helvetica"/>
              </a:rPr>
              <a:t>especificar</a:t>
            </a:r>
            <a:r>
              <a:rPr lang="nb-NO" dirty="0" smtClean="0">
                <a:solidFill>
                  <a:srgbClr val="FFFFFF"/>
                </a:solidFill>
                <a:latin typeface="Helvetica"/>
                <a:cs typeface="Helvetica"/>
              </a:rPr>
              <a:t> las </a:t>
            </a:r>
            <a:r>
              <a:rPr lang="nb-NO" dirty="0" err="1" smtClean="0">
                <a:solidFill>
                  <a:srgbClr val="FFFFFF"/>
                </a:solidFill>
                <a:latin typeface="Helvetica"/>
                <a:cs typeface="Helvetica"/>
              </a:rPr>
              <a:t>diferentes</a:t>
            </a:r>
            <a:r>
              <a:rPr lang="nb-NO" dirty="0" smtClean="0">
                <a:solidFill>
                  <a:srgbClr val="FFFFFF"/>
                </a:solidFill>
                <a:latin typeface="Helvetica"/>
                <a:cs typeface="Helvetica"/>
              </a:rPr>
              <a:t> rutas de </a:t>
            </a:r>
            <a:r>
              <a:rPr lang="nb-NO" dirty="0" err="1" smtClean="0">
                <a:solidFill>
                  <a:srgbClr val="FFFFFF"/>
                </a:solidFill>
                <a:latin typeface="Helvetica"/>
                <a:cs typeface="Helvetica"/>
              </a:rPr>
              <a:t>configuración</a:t>
            </a:r>
            <a:r>
              <a:rPr lang="nb-NO" dirty="0" smtClean="0">
                <a:solidFill>
                  <a:srgbClr val="FFFFFF"/>
                </a:solidFill>
                <a:latin typeface="Helvetica"/>
                <a:cs typeface="Helvetica"/>
              </a:rPr>
              <a:t> , </a:t>
            </a:r>
            <a:r>
              <a:rPr lang="nb-NO" dirty="0" err="1" smtClean="0">
                <a:solidFill>
                  <a:srgbClr val="FFFFFF"/>
                </a:solidFill>
                <a:latin typeface="Helvetica"/>
                <a:cs typeface="Helvetica"/>
              </a:rPr>
              <a:t>opciones</a:t>
            </a:r>
            <a:r>
              <a:rPr lang="nb-NO" dirty="0" smtClean="0">
                <a:solidFill>
                  <a:srgbClr val="FFFFFF"/>
                </a:solidFill>
                <a:latin typeface="Helvetica"/>
                <a:cs typeface="Helvetica"/>
              </a:rPr>
              <a:t> de </a:t>
            </a:r>
            <a:r>
              <a:rPr lang="nb-NO" dirty="0" err="1" smtClean="0">
                <a:solidFill>
                  <a:srgbClr val="FFFFFF"/>
                </a:solidFill>
                <a:latin typeface="Helvetica"/>
                <a:cs typeface="Helvetica"/>
              </a:rPr>
              <a:t>empaquetacion</a:t>
            </a:r>
            <a:r>
              <a:rPr lang="nb-NO" dirty="0" smtClean="0">
                <a:solidFill>
                  <a:srgbClr val="FFFFFF"/>
                </a:solidFill>
                <a:latin typeface="Helvetica"/>
                <a:cs typeface="Helvetica"/>
              </a:rPr>
              <a:t> , </a:t>
            </a:r>
            <a:r>
              <a:rPr lang="nb-NO" dirty="0" err="1" smtClean="0">
                <a:solidFill>
                  <a:srgbClr val="FFFFFF"/>
                </a:solidFill>
                <a:latin typeface="Helvetica"/>
                <a:cs typeface="Helvetica"/>
              </a:rPr>
              <a:t>opciones</a:t>
            </a:r>
            <a:r>
              <a:rPr lang="nb-NO" dirty="0" smtClean="0">
                <a:solidFill>
                  <a:srgbClr val="FFFFFF"/>
                </a:solidFill>
                <a:latin typeface="Helvetica"/>
                <a:cs typeface="Helvetica"/>
              </a:rPr>
              <a:t> para </a:t>
            </a:r>
            <a:r>
              <a:rPr lang="nb-NO" dirty="0" err="1" smtClean="0">
                <a:solidFill>
                  <a:srgbClr val="FFFFFF"/>
                </a:solidFill>
                <a:latin typeface="Helvetica"/>
                <a:cs typeface="Helvetica"/>
              </a:rPr>
              <a:t>análisis</a:t>
            </a:r>
            <a:r>
              <a:rPr lang="nb-NO" dirty="0" smtClean="0">
                <a:solidFill>
                  <a:srgbClr val="FFFFFF"/>
                </a:solidFill>
                <a:latin typeface="Helvetica"/>
                <a:cs typeface="Helvetica"/>
              </a:rPr>
              <a:t> </a:t>
            </a:r>
            <a:r>
              <a:rPr lang="nb-NO" dirty="0" err="1" smtClean="0">
                <a:solidFill>
                  <a:srgbClr val="FFFFFF"/>
                </a:solidFill>
                <a:latin typeface="Helvetica"/>
                <a:cs typeface="Helvetica"/>
              </a:rPr>
              <a:t>sintactico</a:t>
            </a:r>
            <a:r>
              <a:rPr lang="nb-NO" dirty="0" smtClean="0">
                <a:solidFill>
                  <a:srgbClr val="FFFFFF"/>
                </a:solidFill>
                <a:latin typeface="Helvetica"/>
                <a:cs typeface="Helvetica"/>
              </a:rPr>
              <a:t>, </a:t>
            </a:r>
            <a:r>
              <a:rPr lang="nb-NO" dirty="0" err="1" smtClean="0">
                <a:solidFill>
                  <a:srgbClr val="FFFFFF"/>
                </a:solidFill>
                <a:latin typeface="Helvetica"/>
                <a:cs typeface="Helvetica"/>
              </a:rPr>
              <a:t>opciones</a:t>
            </a:r>
            <a:r>
              <a:rPr lang="nb-NO" dirty="0" smtClean="0">
                <a:solidFill>
                  <a:srgbClr val="FFFFFF"/>
                </a:solidFill>
                <a:latin typeface="Helvetica"/>
                <a:cs typeface="Helvetica"/>
              </a:rPr>
              <a:t> de </a:t>
            </a:r>
            <a:r>
              <a:rPr lang="nb-NO" dirty="0" err="1" smtClean="0">
                <a:solidFill>
                  <a:srgbClr val="FFFFFF"/>
                </a:solidFill>
                <a:latin typeface="Helvetica"/>
                <a:cs typeface="Helvetica"/>
              </a:rPr>
              <a:t>compresión</a:t>
            </a:r>
            <a:r>
              <a:rPr lang="nb-NO" dirty="0" smtClean="0">
                <a:solidFill>
                  <a:srgbClr val="FFFFFF"/>
                </a:solidFill>
                <a:latin typeface="Helvetica"/>
                <a:cs typeface="Helvetica"/>
              </a:rPr>
              <a:t> (</a:t>
            </a:r>
            <a:r>
              <a:rPr lang="nb-NO" dirty="0" err="1" smtClean="0">
                <a:solidFill>
                  <a:srgbClr val="FFFFFF"/>
                </a:solidFill>
                <a:latin typeface="Helvetica"/>
                <a:cs typeface="Helvetica"/>
              </a:rPr>
              <a:t>minify</a:t>
            </a:r>
            <a:r>
              <a:rPr lang="nb-NO" dirty="0" smtClean="0">
                <a:solidFill>
                  <a:srgbClr val="FFFFFF"/>
                </a:solidFill>
                <a:latin typeface="Helvetica"/>
                <a:cs typeface="Helvetica"/>
              </a:rPr>
              <a:t>) , </a:t>
            </a:r>
            <a:r>
              <a:rPr lang="nb-NO" dirty="0" err="1" smtClean="0">
                <a:solidFill>
                  <a:srgbClr val="FFFFFF"/>
                </a:solidFill>
                <a:latin typeface="Helvetica"/>
                <a:cs typeface="Helvetica"/>
              </a:rPr>
              <a:t>configuraciones</a:t>
            </a:r>
            <a:r>
              <a:rPr lang="nb-NO" dirty="0" smtClean="0">
                <a:solidFill>
                  <a:srgbClr val="FFFFFF"/>
                </a:solidFill>
                <a:latin typeface="Helvetica"/>
                <a:cs typeface="Helvetica"/>
              </a:rPr>
              <a:t> de </a:t>
            </a:r>
            <a:r>
              <a:rPr lang="nb-NO" dirty="0" err="1" smtClean="0">
                <a:solidFill>
                  <a:srgbClr val="FFFFFF"/>
                </a:solidFill>
                <a:latin typeface="Helvetica"/>
                <a:cs typeface="Helvetica"/>
              </a:rPr>
              <a:t>distribución</a:t>
            </a:r>
            <a:r>
              <a:rPr lang="nb-NO" dirty="0" smtClean="0">
                <a:solidFill>
                  <a:srgbClr val="FFFFFF"/>
                </a:solidFill>
                <a:latin typeface="Helvetica"/>
                <a:cs typeface="Helvetica"/>
              </a:rPr>
              <a:t> ,</a:t>
            </a:r>
            <a:r>
              <a:rPr lang="nb-NO" dirty="0" err="1" smtClean="0">
                <a:solidFill>
                  <a:srgbClr val="FFFFFF"/>
                </a:solidFill>
                <a:latin typeface="Helvetica"/>
                <a:cs typeface="Helvetica"/>
              </a:rPr>
              <a:t>punto</a:t>
            </a:r>
            <a:r>
              <a:rPr lang="nb-NO" dirty="0" smtClean="0">
                <a:solidFill>
                  <a:srgbClr val="FFFFFF"/>
                </a:solidFill>
                <a:latin typeface="Helvetica"/>
                <a:cs typeface="Helvetica"/>
              </a:rPr>
              <a:t> de </a:t>
            </a:r>
            <a:r>
              <a:rPr lang="nb-NO" dirty="0" err="1" smtClean="0">
                <a:solidFill>
                  <a:srgbClr val="FFFFFF"/>
                </a:solidFill>
                <a:latin typeface="Helvetica"/>
                <a:cs typeface="Helvetica"/>
              </a:rPr>
              <a:t>entrada</a:t>
            </a:r>
            <a:r>
              <a:rPr lang="nb-NO" dirty="0" smtClean="0">
                <a:solidFill>
                  <a:srgbClr val="FFFFFF"/>
                </a:solidFill>
                <a:latin typeface="Helvetica"/>
                <a:cs typeface="Helvetica"/>
              </a:rPr>
              <a:t> por </a:t>
            </a:r>
            <a:r>
              <a:rPr lang="nb-NO" dirty="0" err="1" smtClean="0">
                <a:solidFill>
                  <a:srgbClr val="FFFFFF"/>
                </a:solidFill>
                <a:latin typeface="Helvetica"/>
                <a:cs typeface="Helvetica"/>
              </a:rPr>
              <a:t>defecto</a:t>
            </a:r>
            <a:r>
              <a:rPr lang="mr-IN" dirty="0" smtClean="0">
                <a:solidFill>
                  <a:srgbClr val="FFFFFF"/>
                </a:solidFill>
                <a:latin typeface="Helvetica"/>
                <a:cs typeface="Helvetica"/>
              </a:rPr>
              <a:t>…</a:t>
            </a:r>
            <a:r>
              <a:rPr lang="es-ES_tradnl" dirty="0" err="1" smtClean="0">
                <a:solidFill>
                  <a:srgbClr val="FFFFFF"/>
                </a:solidFill>
                <a:latin typeface="Helvetica"/>
                <a:cs typeface="Helvetica"/>
              </a:rPr>
              <a:t>etc</a:t>
            </a:r>
            <a:endParaRPr lang="es-ES_tradnl" dirty="0" smtClean="0">
              <a:solidFill>
                <a:srgbClr val="FFFFFF"/>
              </a:solidFill>
              <a:latin typeface="Helvetica"/>
              <a:cs typeface="Helvetica"/>
            </a:endParaRPr>
          </a:p>
          <a:p>
            <a:pPr algn="just">
              <a:lnSpc>
                <a:spcPct val="130000"/>
              </a:lnSpc>
            </a:pPr>
            <a:endParaRPr lang="es-ES_tradnl" dirty="0">
              <a:solidFill>
                <a:srgbClr val="FFFFFF"/>
              </a:solidFill>
              <a:latin typeface="Helvetica"/>
              <a:cs typeface="Helvetica"/>
            </a:endParaRPr>
          </a:p>
          <a:p>
            <a:pPr algn="just">
              <a:lnSpc>
                <a:spcPct val="130000"/>
              </a:lnSpc>
            </a:pPr>
            <a:endParaRPr lang="es-ES_tradnl" dirty="0" smtClean="0">
              <a:solidFill>
                <a:srgbClr val="FFFFFF"/>
              </a:solidFill>
              <a:latin typeface="Helvetica"/>
              <a:cs typeface="Helvetica"/>
            </a:endParaRPr>
          </a:p>
          <a:p>
            <a:pPr algn="just">
              <a:lnSpc>
                <a:spcPct val="130000"/>
              </a:lnSpc>
            </a:pPr>
            <a:r>
              <a:rPr lang="nb-NO" dirty="0" err="1">
                <a:solidFill>
                  <a:srgbClr val="FFFFFF"/>
                </a:solidFill>
                <a:latin typeface="Helvetica"/>
                <a:cs typeface="Helvetica"/>
              </a:rPr>
              <a:t>Referencia</a:t>
            </a:r>
            <a:r>
              <a:rPr lang="nb-NO" dirty="0">
                <a:solidFill>
                  <a:srgbClr val="FFFFFF"/>
                </a:solidFill>
                <a:latin typeface="Helvetica"/>
                <a:cs typeface="Helvetica"/>
              </a:rPr>
              <a:t> </a:t>
            </a:r>
            <a:r>
              <a:rPr lang="nb-NO" dirty="0" err="1">
                <a:solidFill>
                  <a:srgbClr val="FFFFFF"/>
                </a:solidFill>
                <a:latin typeface="Helvetica"/>
                <a:cs typeface="Helvetica"/>
              </a:rPr>
              <a:t>Completa</a:t>
            </a:r>
            <a:r>
              <a:rPr lang="nb-NO" dirty="0" smtClean="0">
                <a:solidFill>
                  <a:srgbClr val="FFFFFF"/>
                </a:solidFill>
                <a:latin typeface="Helvetica"/>
                <a:cs typeface="Helvetica"/>
              </a:rPr>
              <a:t>:</a:t>
            </a:r>
            <a:endParaRPr lang="nb-NO" dirty="0">
              <a:solidFill>
                <a:srgbClr val="FFFFFF"/>
              </a:solidFill>
              <a:latin typeface="Helvetica"/>
              <a:cs typeface="Helvetica"/>
            </a:endParaRPr>
          </a:p>
          <a:p>
            <a:pPr algn="just">
              <a:lnSpc>
                <a:spcPct val="130000"/>
              </a:lnSpc>
            </a:pPr>
            <a:r>
              <a:rPr lang="nb-NO" dirty="0">
                <a:solidFill>
                  <a:srgbClr val="FFFFFF"/>
                </a:solidFill>
                <a:latin typeface="Helvetica"/>
                <a:cs typeface="Helvetica"/>
                <a:hlinkClick r:id="rId5"/>
              </a:rPr>
              <a:t>https://polymer-library.polymer-project.org/3.0/docs/tools/polymer-</a:t>
            </a:r>
            <a:r>
              <a:rPr lang="nb-NO" dirty="0" smtClean="0">
                <a:solidFill>
                  <a:srgbClr val="FFFFFF"/>
                </a:solidFill>
                <a:latin typeface="Helvetica"/>
                <a:cs typeface="Helvetica"/>
                <a:hlinkClick r:id="rId5"/>
              </a:rPr>
              <a:t>json</a:t>
            </a: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61</a:t>
            </a:fld>
            <a:endParaRPr lang="en-US"/>
          </a:p>
        </p:txBody>
      </p:sp>
    </p:spTree>
    <p:extLst>
      <p:ext uri="{BB962C8B-B14F-4D97-AF65-F5344CB8AC3E}">
        <p14:creationId xmlns:p14="http://schemas.microsoft.com/office/powerpoint/2010/main" val="3171632833"/>
      </p:ext>
    </p:extLst>
  </p:cSld>
  <p:clrMapOvr>
    <a:masterClrMapping/>
  </p:clrMapOvr>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Polymer</a:t>
            </a:r>
            <a:r>
              <a:rPr lang="es-ES" sz="2000" dirty="0">
                <a:solidFill>
                  <a:srgbClr val="FFFFFF"/>
                </a:solidFill>
                <a:latin typeface="Helvetica"/>
                <a:ea typeface="Lucida Grande"/>
                <a:cs typeface="Helvetica"/>
              </a:rPr>
              <a:t> CLI</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a:latin typeface="Arial Black"/>
                <a:cs typeface="Arial Black"/>
              </a:rPr>
              <a:t>Polymer</a:t>
            </a:r>
            <a:r>
              <a:rPr lang="es-ES_tradnl" sz="2200" u="sng" dirty="0">
                <a:latin typeface="Arial Black"/>
                <a:cs typeface="Arial Black"/>
              </a:rPr>
              <a:t> </a:t>
            </a:r>
            <a:r>
              <a:rPr lang="es-ES_tradnl" sz="2200" u="sng" dirty="0" smtClean="0">
                <a:latin typeface="Arial Black"/>
                <a:cs typeface="Arial Black"/>
              </a:rPr>
              <a:t>CLI &gt; </a:t>
            </a:r>
            <a:r>
              <a:rPr lang="es-ES_tradnl" sz="2200" u="sng" dirty="0" err="1" smtClean="0">
                <a:latin typeface="Arial Black"/>
                <a:cs typeface="Arial Black"/>
              </a:rPr>
              <a:t>manifiesto.json</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6920359"/>
          </a:xfrm>
          <a:prstGeom prst="rect">
            <a:avLst/>
          </a:prstGeom>
        </p:spPr>
        <p:txBody>
          <a:bodyPr wrap="square">
            <a:spAutoFit/>
          </a:bodyPr>
          <a:lstStyle/>
          <a:p>
            <a:pPr algn="just">
              <a:lnSpc>
                <a:spcPct val="130000"/>
              </a:lnSpc>
            </a:pPr>
            <a:r>
              <a:rPr lang="nb-NO" dirty="0" err="1" smtClean="0">
                <a:solidFill>
                  <a:srgbClr val="FFFFFF"/>
                </a:solidFill>
                <a:latin typeface="Helvetica"/>
                <a:cs typeface="Helvetica"/>
              </a:rPr>
              <a:t>Fichero</a:t>
            </a:r>
            <a:r>
              <a:rPr lang="nb-NO" dirty="0" smtClean="0">
                <a:solidFill>
                  <a:srgbClr val="FFFFFF"/>
                </a:solidFill>
                <a:latin typeface="Helvetica"/>
                <a:cs typeface="Helvetica"/>
              </a:rPr>
              <a:t> de </a:t>
            </a:r>
            <a:r>
              <a:rPr lang="nb-NO" dirty="0" err="1" smtClean="0">
                <a:solidFill>
                  <a:srgbClr val="FFFFFF"/>
                </a:solidFill>
                <a:latin typeface="Helvetica"/>
                <a:cs typeface="Helvetica"/>
              </a:rPr>
              <a:t>configuración</a:t>
            </a:r>
            <a:r>
              <a:rPr lang="nb-NO" dirty="0" smtClean="0">
                <a:solidFill>
                  <a:srgbClr val="FFFFFF"/>
                </a:solidFill>
                <a:latin typeface="Helvetica"/>
                <a:cs typeface="Helvetica"/>
              </a:rPr>
              <a:t> </a:t>
            </a:r>
            <a:r>
              <a:rPr lang="es-ES_tradnl" dirty="0" smtClean="0">
                <a:solidFill>
                  <a:srgbClr val="FFFFFF"/>
                </a:solidFill>
                <a:latin typeface="Helvetica"/>
                <a:cs typeface="Helvetica"/>
              </a:rPr>
              <a:t>utilizado como manifiesto de </a:t>
            </a:r>
            <a:r>
              <a:rPr lang="es-ES_tradnl" dirty="0">
                <a:solidFill>
                  <a:srgbClr val="FFFFFF"/>
                </a:solidFill>
                <a:latin typeface="Helvetica"/>
                <a:cs typeface="Helvetica"/>
              </a:rPr>
              <a:t>aplicaciones web. </a:t>
            </a:r>
            <a:r>
              <a:rPr lang="es-ES_tradnl" dirty="0" smtClean="0">
                <a:solidFill>
                  <a:srgbClr val="FFFFFF"/>
                </a:solidFill>
                <a:latin typeface="Helvetica"/>
                <a:cs typeface="Helvetica"/>
              </a:rPr>
              <a:t>Proporciona </a:t>
            </a:r>
            <a:r>
              <a:rPr lang="es-ES_tradnl" dirty="0">
                <a:solidFill>
                  <a:srgbClr val="FFFFFF"/>
                </a:solidFill>
                <a:latin typeface="Helvetica"/>
                <a:cs typeface="Helvetica"/>
              </a:rPr>
              <a:t>información sobre una aplicación (como nombre, autor, icono y descripción) en un documento </a:t>
            </a:r>
            <a:r>
              <a:rPr lang="es-ES_tradnl" dirty="0" smtClean="0">
                <a:solidFill>
                  <a:srgbClr val="FFFFFF"/>
                </a:solidFill>
                <a:latin typeface="Helvetica"/>
                <a:cs typeface="Helvetica"/>
              </a:rPr>
              <a:t>simplificado dentro del </a:t>
            </a:r>
            <a:r>
              <a:rPr lang="es-ES_tradnl" dirty="0" err="1" smtClean="0">
                <a:solidFill>
                  <a:srgbClr val="FFFFFF"/>
                </a:solidFill>
                <a:latin typeface="Helvetica"/>
                <a:cs typeface="Helvetica"/>
              </a:rPr>
              <a:t>estandar</a:t>
            </a:r>
            <a:r>
              <a:rPr lang="es-ES_tradnl" dirty="0" smtClean="0">
                <a:solidFill>
                  <a:srgbClr val="FFFFFF"/>
                </a:solidFill>
                <a:latin typeface="Helvetica"/>
                <a:cs typeface="Helvetica"/>
              </a:rPr>
              <a:t> de las </a:t>
            </a:r>
            <a:r>
              <a:rPr lang="es-ES_tradnl" dirty="0" smtClean="0">
                <a:solidFill>
                  <a:srgbClr val="FFFFFF"/>
                </a:solidFill>
                <a:latin typeface="Helvetica"/>
                <a:cs typeface="Helvetica"/>
                <a:hlinkClick r:id="rId5"/>
              </a:rPr>
              <a:t>progressive web apps:</a:t>
            </a:r>
            <a:endParaRPr lang="es-ES_tradnl" dirty="0" smtClean="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https</a:t>
            </a:r>
            <a:r>
              <a:rPr lang="es-ES_tradnl" dirty="0">
                <a:solidFill>
                  <a:srgbClr val="FFFFFF"/>
                </a:solidFill>
                <a:latin typeface="Helvetica"/>
                <a:cs typeface="Helvetica"/>
              </a:rPr>
              <a:t>://developer.mozilla.org/en-US/docs/Web/Apps/</a:t>
            </a:r>
            <a:r>
              <a:rPr lang="es-ES_tradnl" dirty="0" err="1" smtClean="0">
                <a:solidFill>
                  <a:srgbClr val="FFFFFF"/>
                </a:solidFill>
                <a:latin typeface="Helvetica"/>
                <a:cs typeface="Helvetica"/>
              </a:rPr>
              <a:t>Progressive</a:t>
            </a:r>
            <a:endParaRPr lang="es-ES_tradnl" dirty="0" smtClean="0">
              <a:solidFill>
                <a:srgbClr val="FFFFFF"/>
              </a:solidFill>
              <a:latin typeface="Helvetica"/>
              <a:cs typeface="Helvetica"/>
            </a:endParaRPr>
          </a:p>
          <a:p>
            <a:pPr algn="just">
              <a:lnSpc>
                <a:spcPct val="130000"/>
              </a:lnSpc>
            </a:pPr>
            <a:endParaRPr lang="es-ES_tradnl" dirty="0">
              <a:solidFill>
                <a:srgbClr val="FFFFFF"/>
              </a:solidFill>
              <a:latin typeface="Helvetica"/>
              <a:cs typeface="Helvetica"/>
            </a:endParaRPr>
          </a:p>
          <a:p>
            <a:pPr algn="just">
              <a:lnSpc>
                <a:spcPct val="130000"/>
              </a:lnSpc>
            </a:pPr>
            <a:endParaRPr lang="es-ES_tradnl" dirty="0" smtClean="0">
              <a:solidFill>
                <a:srgbClr val="FFFFFF"/>
              </a:solidFill>
              <a:latin typeface="Helvetica"/>
              <a:cs typeface="Helvetica"/>
            </a:endParaRPr>
          </a:p>
          <a:p>
            <a:pPr algn="just">
              <a:lnSpc>
                <a:spcPct val="130000"/>
              </a:lnSpc>
            </a:pPr>
            <a:r>
              <a:rPr lang="nb-NO" dirty="0" err="1">
                <a:solidFill>
                  <a:srgbClr val="FFFFFF"/>
                </a:solidFill>
                <a:latin typeface="Helvetica"/>
                <a:cs typeface="Helvetica"/>
              </a:rPr>
              <a:t>Referencia</a:t>
            </a:r>
            <a:r>
              <a:rPr lang="nb-NO" dirty="0">
                <a:solidFill>
                  <a:srgbClr val="FFFFFF"/>
                </a:solidFill>
                <a:latin typeface="Helvetica"/>
                <a:cs typeface="Helvetica"/>
              </a:rPr>
              <a:t> </a:t>
            </a:r>
            <a:r>
              <a:rPr lang="nb-NO" dirty="0" err="1">
                <a:solidFill>
                  <a:srgbClr val="FFFFFF"/>
                </a:solidFill>
                <a:latin typeface="Helvetica"/>
                <a:cs typeface="Helvetica"/>
              </a:rPr>
              <a:t>Completa</a:t>
            </a:r>
            <a:r>
              <a:rPr lang="nb-NO" dirty="0" smtClean="0">
                <a:solidFill>
                  <a:srgbClr val="FFFFFF"/>
                </a:solidFill>
                <a:latin typeface="Helvetica"/>
                <a:cs typeface="Helvetica"/>
              </a:rPr>
              <a:t>:</a:t>
            </a:r>
            <a:endParaRPr lang="nb-NO" dirty="0">
              <a:solidFill>
                <a:srgbClr val="FFFFFF"/>
              </a:solidFill>
              <a:latin typeface="Helvetica"/>
              <a:cs typeface="Helvetica"/>
            </a:endParaRPr>
          </a:p>
          <a:p>
            <a:pPr algn="just">
              <a:lnSpc>
                <a:spcPct val="130000"/>
              </a:lnSpc>
            </a:pPr>
            <a:r>
              <a:rPr lang="nb-NO" dirty="0">
                <a:solidFill>
                  <a:srgbClr val="FFFFFF"/>
                </a:solidFill>
                <a:latin typeface="Helvetica"/>
                <a:cs typeface="Helvetica"/>
                <a:hlinkClick r:id="rId6"/>
              </a:rPr>
              <a:t>https://developer.mozilla.org/es/docs/Web/</a:t>
            </a:r>
            <a:r>
              <a:rPr lang="nb-NO" dirty="0" smtClean="0">
                <a:solidFill>
                  <a:srgbClr val="FFFFFF"/>
                </a:solidFill>
                <a:latin typeface="Helvetica"/>
                <a:cs typeface="Helvetica"/>
                <a:hlinkClick r:id="rId6"/>
              </a:rPr>
              <a:t>Manifest</a:t>
            </a: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62</a:t>
            </a:fld>
            <a:endParaRPr lang="en-US"/>
          </a:p>
        </p:txBody>
      </p:sp>
    </p:spTree>
    <p:extLst>
      <p:ext uri="{BB962C8B-B14F-4D97-AF65-F5344CB8AC3E}">
        <p14:creationId xmlns:p14="http://schemas.microsoft.com/office/powerpoint/2010/main" val="426364479"/>
      </p:ext>
    </p:extLst>
  </p:cSld>
  <p:clrMapOvr>
    <a:masterClrMapping/>
  </p:clrMapOvr>
  <p:timing>
    <p:tnLst>
      <p:par>
        <p:cTn xmlns:p14="http://schemas.microsoft.com/office/powerpoint/2010/mai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Polymer</a:t>
            </a:r>
            <a:r>
              <a:rPr lang="es-ES" sz="2000" dirty="0">
                <a:solidFill>
                  <a:srgbClr val="FFFFFF"/>
                </a:solidFill>
                <a:latin typeface="Helvetica"/>
                <a:ea typeface="Lucida Grande"/>
                <a:cs typeface="Helvetica"/>
              </a:rPr>
              <a:t> CLI</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a:latin typeface="Arial Black"/>
                <a:cs typeface="Arial Black"/>
              </a:rPr>
              <a:t>Polymer</a:t>
            </a:r>
            <a:r>
              <a:rPr lang="es-ES_tradnl" sz="2200" u="sng" dirty="0">
                <a:latin typeface="Arial Black"/>
                <a:cs typeface="Arial Black"/>
              </a:rPr>
              <a:t> </a:t>
            </a:r>
            <a:r>
              <a:rPr lang="es-ES_tradnl" sz="2200" u="sng" dirty="0" smtClean="0">
                <a:latin typeface="Arial Black"/>
                <a:cs typeface="Arial Black"/>
              </a:rPr>
              <a:t>CLI &gt; </a:t>
            </a:r>
            <a:r>
              <a:rPr lang="es-ES_tradnl" sz="2200" u="sng" dirty="0" err="1">
                <a:solidFill>
                  <a:srgbClr val="94D66C"/>
                </a:solidFill>
                <a:latin typeface="Arial Black"/>
                <a:cs typeface="Arial Black"/>
              </a:rPr>
              <a:t>polymer</a:t>
            </a:r>
            <a:r>
              <a:rPr lang="es-ES_tradnl" sz="2200" u="sng" dirty="0">
                <a:solidFill>
                  <a:srgbClr val="94D66C"/>
                </a:solidFill>
                <a:latin typeface="Arial Black"/>
                <a:cs typeface="Arial Black"/>
              </a:rPr>
              <a:t> </a:t>
            </a:r>
            <a:r>
              <a:rPr lang="es-ES_tradnl" sz="2200" u="sng" dirty="0" err="1">
                <a:solidFill>
                  <a:srgbClr val="94D66C"/>
                </a:solidFill>
                <a:latin typeface="Arial Black"/>
                <a:cs typeface="Arial Black"/>
              </a:rPr>
              <a:t>lint</a:t>
            </a:r>
            <a:endParaRPr lang="es-ES_tradnl" sz="2200" u="sng" dirty="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7640554"/>
          </a:xfrm>
          <a:prstGeom prst="rect">
            <a:avLst/>
          </a:prstGeom>
        </p:spPr>
        <p:txBody>
          <a:bodyPr wrap="square">
            <a:spAutoFit/>
          </a:bodyPr>
          <a:lstStyle/>
          <a:p>
            <a:pPr algn="just">
              <a:lnSpc>
                <a:spcPct val="130000"/>
              </a:lnSpc>
            </a:pPr>
            <a:r>
              <a:rPr lang="nb-NO" dirty="0" smtClean="0">
                <a:solidFill>
                  <a:srgbClr val="FFFFFF"/>
                </a:solidFill>
                <a:latin typeface="Helvetica"/>
                <a:cs typeface="Helvetica"/>
              </a:rPr>
              <a:t>Es </a:t>
            </a:r>
            <a:r>
              <a:rPr lang="nb-NO" dirty="0" err="1" smtClean="0">
                <a:solidFill>
                  <a:srgbClr val="FFFFFF"/>
                </a:solidFill>
                <a:latin typeface="Helvetica"/>
                <a:cs typeface="Helvetica"/>
              </a:rPr>
              <a:t>un</a:t>
            </a:r>
            <a:r>
              <a:rPr lang="nb-NO" dirty="0" smtClean="0">
                <a:solidFill>
                  <a:srgbClr val="FFFFFF"/>
                </a:solidFill>
                <a:latin typeface="Helvetica"/>
                <a:cs typeface="Helvetica"/>
              </a:rPr>
              <a:t> </a:t>
            </a:r>
            <a:r>
              <a:rPr lang="nb-NO" dirty="0" err="1" smtClean="0">
                <a:solidFill>
                  <a:srgbClr val="FFFFFF"/>
                </a:solidFill>
                <a:latin typeface="Helvetica"/>
                <a:cs typeface="Helvetica"/>
              </a:rPr>
              <a:t>analizador</a:t>
            </a:r>
            <a:r>
              <a:rPr lang="nb-NO" dirty="0" smtClean="0">
                <a:solidFill>
                  <a:srgbClr val="FFFFFF"/>
                </a:solidFill>
                <a:latin typeface="Helvetica"/>
                <a:cs typeface="Helvetica"/>
              </a:rPr>
              <a:t> </a:t>
            </a:r>
            <a:r>
              <a:rPr lang="nb-NO" dirty="0" err="1" smtClean="0">
                <a:solidFill>
                  <a:srgbClr val="FFFFFF"/>
                </a:solidFill>
                <a:latin typeface="Helvetica"/>
                <a:cs typeface="Helvetica"/>
              </a:rPr>
              <a:t>sintactico</a:t>
            </a:r>
            <a:r>
              <a:rPr lang="nb-NO" dirty="0" smtClean="0">
                <a:solidFill>
                  <a:srgbClr val="FFFFFF"/>
                </a:solidFill>
                <a:latin typeface="Helvetica"/>
                <a:cs typeface="Helvetica"/>
              </a:rPr>
              <a:t> </a:t>
            </a:r>
            <a:r>
              <a:rPr lang="nb-NO" dirty="0" err="1" smtClean="0">
                <a:solidFill>
                  <a:srgbClr val="FFFFFF"/>
                </a:solidFill>
                <a:latin typeface="Helvetica"/>
                <a:cs typeface="Helvetica"/>
              </a:rPr>
              <a:t>que</a:t>
            </a:r>
            <a:r>
              <a:rPr lang="nb-NO" dirty="0" smtClean="0">
                <a:solidFill>
                  <a:srgbClr val="FFFFFF"/>
                </a:solidFill>
                <a:latin typeface="Helvetica"/>
                <a:cs typeface="Helvetica"/>
              </a:rPr>
              <a:t> nos </a:t>
            </a:r>
            <a:r>
              <a:rPr lang="nb-NO" dirty="0" err="1" smtClean="0">
                <a:solidFill>
                  <a:srgbClr val="FFFFFF"/>
                </a:solidFill>
                <a:latin typeface="Helvetica"/>
                <a:cs typeface="Helvetica"/>
              </a:rPr>
              <a:t>aporta</a:t>
            </a:r>
            <a:r>
              <a:rPr lang="nb-NO" dirty="0" smtClean="0">
                <a:solidFill>
                  <a:srgbClr val="FFFFFF"/>
                </a:solidFill>
                <a:latin typeface="Helvetica"/>
                <a:cs typeface="Helvetica"/>
              </a:rPr>
              <a:t> </a:t>
            </a:r>
            <a:r>
              <a:rPr lang="nb-NO" dirty="0" err="1" smtClean="0">
                <a:solidFill>
                  <a:srgbClr val="FFFFFF"/>
                </a:solidFill>
                <a:latin typeface="Helvetica"/>
                <a:cs typeface="Helvetica"/>
              </a:rPr>
              <a:t>información</a:t>
            </a:r>
            <a:r>
              <a:rPr lang="nb-NO" dirty="0" smtClean="0">
                <a:solidFill>
                  <a:srgbClr val="FFFFFF"/>
                </a:solidFill>
                <a:latin typeface="Helvetica"/>
                <a:cs typeface="Helvetica"/>
              </a:rPr>
              <a:t> </a:t>
            </a:r>
            <a:r>
              <a:rPr lang="nb-NO" dirty="0" err="1" smtClean="0">
                <a:solidFill>
                  <a:srgbClr val="FFFFFF"/>
                </a:solidFill>
                <a:latin typeface="Helvetica"/>
                <a:cs typeface="Helvetica"/>
              </a:rPr>
              <a:t>adicional</a:t>
            </a:r>
            <a:r>
              <a:rPr lang="nb-NO" dirty="0" smtClean="0">
                <a:solidFill>
                  <a:srgbClr val="FFFFFF"/>
                </a:solidFill>
                <a:latin typeface="Helvetica"/>
                <a:cs typeface="Helvetica"/>
              </a:rPr>
              <a:t> sobre databindings </a:t>
            </a:r>
            <a:r>
              <a:rPr lang="nb-NO" dirty="0" err="1" smtClean="0">
                <a:solidFill>
                  <a:srgbClr val="FFFFFF"/>
                </a:solidFill>
                <a:latin typeface="Helvetica"/>
                <a:cs typeface="Helvetica"/>
              </a:rPr>
              <a:t>erroneos</a:t>
            </a:r>
            <a:r>
              <a:rPr lang="nb-NO" dirty="0" smtClean="0">
                <a:solidFill>
                  <a:srgbClr val="FFFFFF"/>
                </a:solidFill>
                <a:latin typeface="Helvetica"/>
                <a:cs typeface="Helvetica"/>
              </a:rPr>
              <a:t> , </a:t>
            </a:r>
            <a:r>
              <a:rPr lang="nb-NO" dirty="0" err="1" smtClean="0">
                <a:solidFill>
                  <a:srgbClr val="FFFFFF"/>
                </a:solidFill>
                <a:latin typeface="Helvetica"/>
                <a:cs typeface="Helvetica"/>
              </a:rPr>
              <a:t>errores</a:t>
            </a:r>
            <a:r>
              <a:rPr lang="nb-NO" dirty="0" smtClean="0">
                <a:solidFill>
                  <a:srgbClr val="FFFFFF"/>
                </a:solidFill>
                <a:latin typeface="Helvetica"/>
                <a:cs typeface="Helvetica"/>
              </a:rPr>
              <a:t> de </a:t>
            </a:r>
            <a:r>
              <a:rPr lang="nb-NO" dirty="0" err="1" smtClean="0">
                <a:solidFill>
                  <a:srgbClr val="FFFFFF"/>
                </a:solidFill>
                <a:latin typeface="Helvetica"/>
                <a:cs typeface="Helvetica"/>
              </a:rPr>
              <a:t>sintaxis</a:t>
            </a:r>
            <a:r>
              <a:rPr lang="nb-NO" dirty="0" smtClean="0">
                <a:solidFill>
                  <a:srgbClr val="FFFFFF"/>
                </a:solidFill>
                <a:latin typeface="Helvetica"/>
                <a:cs typeface="Helvetica"/>
              </a:rPr>
              <a:t> </a:t>
            </a:r>
            <a:r>
              <a:rPr lang="mr-IN" dirty="0" smtClean="0">
                <a:solidFill>
                  <a:srgbClr val="FFFFFF"/>
                </a:solidFill>
                <a:latin typeface="Helvetica"/>
                <a:cs typeface="Helvetica"/>
              </a:rPr>
              <a:t>…</a:t>
            </a:r>
            <a:r>
              <a:rPr lang="es-ES_tradnl" dirty="0" smtClean="0">
                <a:solidFill>
                  <a:srgbClr val="FFFFFF"/>
                </a:solidFill>
                <a:latin typeface="Helvetica"/>
                <a:cs typeface="Helvetica"/>
              </a:rPr>
              <a:t>etc. Su </a:t>
            </a:r>
            <a:r>
              <a:rPr lang="es-ES_tradnl" dirty="0" err="1" smtClean="0">
                <a:solidFill>
                  <a:srgbClr val="FFFFFF"/>
                </a:solidFill>
                <a:latin typeface="Helvetica"/>
                <a:cs typeface="Helvetica"/>
              </a:rPr>
              <a:t>funcionanimiento</a:t>
            </a:r>
            <a:r>
              <a:rPr lang="es-ES_tradnl" dirty="0" smtClean="0">
                <a:solidFill>
                  <a:srgbClr val="FFFFFF"/>
                </a:solidFill>
                <a:latin typeface="Helvetica"/>
                <a:cs typeface="Helvetica"/>
              </a:rPr>
              <a:t> es configurable mediante la introducción de reglas dentro del fichero de </a:t>
            </a:r>
            <a:r>
              <a:rPr lang="es-ES_tradnl" dirty="0" err="1" smtClean="0">
                <a:solidFill>
                  <a:srgbClr val="FFFFFF"/>
                </a:solidFill>
                <a:latin typeface="Helvetica"/>
                <a:cs typeface="Helvetica"/>
              </a:rPr>
              <a:t>configuracion</a:t>
            </a:r>
            <a:r>
              <a:rPr lang="es-ES_tradnl" dirty="0" smtClean="0">
                <a:solidFill>
                  <a:srgbClr val="FFFFFF"/>
                </a:solidFill>
                <a:latin typeface="Helvetica"/>
                <a:cs typeface="Helvetica"/>
              </a:rPr>
              <a:t> “</a:t>
            </a:r>
            <a:r>
              <a:rPr lang="es-ES_tradnl" dirty="0" err="1" smtClean="0">
                <a:solidFill>
                  <a:srgbClr val="FFFFFF"/>
                </a:solidFill>
                <a:latin typeface="Helvetica"/>
                <a:cs typeface="Helvetica"/>
              </a:rPr>
              <a:t>polymer.json</a:t>
            </a:r>
            <a:r>
              <a:rPr lang="es-ES_tradnl" dirty="0" smtClean="0">
                <a:solidFill>
                  <a:srgbClr val="FFFFFF"/>
                </a:solidFill>
                <a:latin typeface="Helvetica"/>
                <a:cs typeface="Helvetica"/>
              </a:rPr>
              <a:t>”.</a:t>
            </a:r>
          </a:p>
          <a:p>
            <a:pPr algn="just">
              <a:lnSpc>
                <a:spcPct val="130000"/>
              </a:lnSpc>
            </a:pPr>
            <a:r>
              <a:rPr lang="es-ES_tradnl" dirty="0">
                <a:solidFill>
                  <a:srgbClr val="FFFFFF"/>
                </a:solidFill>
                <a:latin typeface="Helvetica"/>
                <a:cs typeface="Helvetica"/>
              </a:rPr>
              <a:t> </a:t>
            </a:r>
            <a:r>
              <a:rPr lang="es-ES_tradnl" dirty="0" smtClean="0">
                <a:solidFill>
                  <a:srgbClr val="FFFFFF"/>
                </a:solidFill>
                <a:latin typeface="Helvetica"/>
                <a:cs typeface="Helvetica"/>
              </a:rPr>
              <a:t>Es el complemento perfecto para otro tipo de </a:t>
            </a:r>
            <a:r>
              <a:rPr lang="es-ES_tradnl" dirty="0">
                <a:solidFill>
                  <a:srgbClr val="FFFFFF"/>
                </a:solidFill>
                <a:latin typeface="Helvetica"/>
                <a:cs typeface="Helvetica"/>
              </a:rPr>
              <a:t>analizadores como </a:t>
            </a:r>
            <a:r>
              <a:rPr lang="es-ES_tradnl" dirty="0" err="1">
                <a:solidFill>
                  <a:srgbClr val="FFFFFF"/>
                </a:solidFill>
                <a:latin typeface="Helvetica"/>
                <a:cs typeface="Helvetica"/>
              </a:rPr>
              <a:t>eslint</a:t>
            </a:r>
            <a:r>
              <a:rPr lang="es-ES_tradnl" dirty="0">
                <a:solidFill>
                  <a:srgbClr val="FFFFFF"/>
                </a:solidFill>
                <a:latin typeface="Helvetica"/>
                <a:cs typeface="Helvetica"/>
              </a:rPr>
              <a:t> </a:t>
            </a:r>
            <a:r>
              <a:rPr lang="es-ES_tradnl" dirty="0" smtClean="0">
                <a:solidFill>
                  <a:srgbClr val="FFFFFF"/>
                </a:solidFill>
                <a:latin typeface="Helvetica"/>
                <a:cs typeface="Helvetica"/>
              </a:rPr>
              <a:t>o </a:t>
            </a:r>
            <a:r>
              <a:rPr lang="es-ES_tradnl" dirty="0" err="1" smtClean="0">
                <a:solidFill>
                  <a:srgbClr val="FFFFFF"/>
                </a:solidFill>
                <a:latin typeface="Helvetica"/>
                <a:cs typeface="Helvetica"/>
              </a:rPr>
              <a:t>htmlhint</a:t>
            </a:r>
            <a:r>
              <a:rPr lang="es-ES_tradnl" dirty="0" smtClean="0">
                <a:solidFill>
                  <a:srgbClr val="FFFFFF"/>
                </a:solidFill>
                <a:latin typeface="Helvetica"/>
                <a:cs typeface="Helvetica"/>
              </a:rPr>
              <a:t>.</a:t>
            </a:r>
          </a:p>
          <a:p>
            <a:pPr algn="just">
              <a:lnSpc>
                <a:spcPct val="130000"/>
              </a:lnSpc>
            </a:pPr>
            <a:r>
              <a:rPr lang="es-ES_tradnl" dirty="0">
                <a:solidFill>
                  <a:srgbClr val="FFFFFF"/>
                </a:solidFill>
                <a:latin typeface="Helvetica"/>
                <a:cs typeface="Helvetica"/>
              </a:rPr>
              <a:t> </a:t>
            </a:r>
            <a:r>
              <a:rPr lang="es-ES_tradnl" dirty="0" smtClean="0">
                <a:solidFill>
                  <a:srgbClr val="FFFFFF"/>
                </a:solidFill>
                <a:latin typeface="Helvetica"/>
                <a:cs typeface="Helvetica"/>
              </a:rPr>
              <a:t> Este tipo de herramientas se pueden utilizar en procesos de integración continua para reemplazar a otros analizadores </a:t>
            </a:r>
            <a:r>
              <a:rPr lang="es-ES_tradnl" dirty="0" err="1" smtClean="0">
                <a:solidFill>
                  <a:srgbClr val="FFFFFF"/>
                </a:solidFill>
                <a:latin typeface="Helvetica"/>
                <a:cs typeface="Helvetica"/>
              </a:rPr>
              <a:t>sintacticos</a:t>
            </a:r>
            <a:r>
              <a:rPr lang="es-ES_tradnl" dirty="0">
                <a:solidFill>
                  <a:srgbClr val="FFFFFF"/>
                </a:solidFill>
                <a:latin typeface="Helvetica"/>
                <a:cs typeface="Helvetica"/>
              </a:rPr>
              <a:t> como </a:t>
            </a:r>
            <a:r>
              <a:rPr lang="es-ES_tradnl" dirty="0" err="1" smtClean="0">
                <a:solidFill>
                  <a:srgbClr val="FFFFFF"/>
                </a:solidFill>
                <a:latin typeface="Helvetica"/>
                <a:cs typeface="Helvetica"/>
              </a:rPr>
              <a:t>SonarQube</a:t>
            </a:r>
            <a:r>
              <a:rPr lang="es-ES_tradnl" dirty="0" smtClean="0">
                <a:solidFill>
                  <a:srgbClr val="FFFFFF"/>
                </a:solidFill>
                <a:latin typeface="Helvetica"/>
                <a:cs typeface="Helvetica"/>
              </a:rPr>
              <a:t> u  otros.</a:t>
            </a:r>
          </a:p>
          <a:p>
            <a:pPr algn="just">
              <a:lnSpc>
                <a:spcPct val="130000"/>
              </a:lnSpc>
            </a:pPr>
            <a:r>
              <a:rPr lang="nb-NO" dirty="0" smtClean="0">
                <a:solidFill>
                  <a:srgbClr val="FFFFFF"/>
                </a:solidFill>
                <a:latin typeface="Helvetica"/>
                <a:cs typeface="Helvetica"/>
              </a:rPr>
              <a:t> 	</a:t>
            </a:r>
          </a:p>
          <a:p>
            <a:pPr algn="just">
              <a:lnSpc>
                <a:spcPct val="130000"/>
              </a:lnSpc>
            </a:pPr>
            <a:r>
              <a:rPr lang="nb-NO" dirty="0" err="1" smtClean="0">
                <a:solidFill>
                  <a:srgbClr val="FFFFFF"/>
                </a:solidFill>
                <a:latin typeface="Helvetica"/>
                <a:cs typeface="Helvetica"/>
              </a:rPr>
              <a:t>Referencia</a:t>
            </a:r>
            <a:r>
              <a:rPr lang="nb-NO" dirty="0" smtClean="0">
                <a:solidFill>
                  <a:srgbClr val="FFFFFF"/>
                </a:solidFill>
                <a:latin typeface="Helvetica"/>
                <a:cs typeface="Helvetica"/>
              </a:rPr>
              <a:t> </a:t>
            </a:r>
            <a:r>
              <a:rPr lang="nb-NO" dirty="0" err="1" smtClean="0">
                <a:solidFill>
                  <a:srgbClr val="FFFFFF"/>
                </a:solidFill>
                <a:latin typeface="Helvetica"/>
                <a:cs typeface="Helvetica"/>
              </a:rPr>
              <a:t>Completa</a:t>
            </a:r>
            <a:r>
              <a:rPr lang="nb-NO" dirty="0" smtClean="0">
                <a:solidFill>
                  <a:srgbClr val="FFFFFF"/>
                </a:solidFill>
                <a:latin typeface="Helvetica"/>
                <a:cs typeface="Helvetica"/>
              </a:rPr>
              <a:t>:</a:t>
            </a:r>
          </a:p>
          <a:p>
            <a:pPr algn="just">
              <a:lnSpc>
                <a:spcPct val="130000"/>
              </a:lnSpc>
            </a:pPr>
            <a:r>
              <a:rPr lang="nb-NO" dirty="0">
                <a:solidFill>
                  <a:srgbClr val="FFFFFF"/>
                </a:solidFill>
                <a:latin typeface="Helvetica"/>
                <a:cs typeface="Helvetica"/>
                <a:hlinkClick r:id="rId5"/>
              </a:rPr>
              <a:t>https://polymer-library.polymer-project.org/3.0/docs/tools/polymer-cli-commands#</a:t>
            </a:r>
            <a:r>
              <a:rPr lang="nb-NO" dirty="0" smtClean="0">
                <a:solidFill>
                  <a:srgbClr val="FFFFFF"/>
                </a:solidFill>
                <a:latin typeface="Helvetica"/>
                <a:cs typeface="Helvetica"/>
                <a:hlinkClick r:id="rId5"/>
              </a:rPr>
              <a:t>lint</a:t>
            </a: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63</a:t>
            </a:fld>
            <a:endParaRPr lang="en-US"/>
          </a:p>
        </p:txBody>
      </p:sp>
    </p:spTree>
    <p:extLst>
      <p:ext uri="{BB962C8B-B14F-4D97-AF65-F5344CB8AC3E}">
        <p14:creationId xmlns:p14="http://schemas.microsoft.com/office/powerpoint/2010/main" val="3071499484"/>
      </p:ext>
    </p:extLst>
  </p:cSld>
  <p:clrMapOvr>
    <a:masterClrMapping/>
  </p:clrMapOvr>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Polymer</a:t>
            </a:r>
            <a:r>
              <a:rPr lang="es-ES" sz="2000" dirty="0">
                <a:solidFill>
                  <a:srgbClr val="FFFFFF"/>
                </a:solidFill>
                <a:latin typeface="Helvetica"/>
                <a:ea typeface="Lucida Grande"/>
                <a:cs typeface="Helvetica"/>
              </a:rPr>
              <a:t> CLI</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6" name="Rectángulo 15"/>
          <p:cNvSpPr/>
          <p:nvPr/>
        </p:nvSpPr>
        <p:spPr>
          <a:xfrm>
            <a:off x="492433" y="1225525"/>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a:latin typeface="Arial Black"/>
                <a:cs typeface="Arial Black"/>
              </a:rPr>
              <a:t>Polymer</a:t>
            </a:r>
            <a:r>
              <a:rPr lang="es-ES_tradnl" sz="2200" u="sng" dirty="0">
                <a:latin typeface="Arial Black"/>
                <a:cs typeface="Arial Black"/>
              </a:rPr>
              <a:t> </a:t>
            </a:r>
            <a:r>
              <a:rPr lang="es-ES_tradnl" sz="2200" u="sng" dirty="0" smtClean="0">
                <a:latin typeface="Arial Black"/>
                <a:cs typeface="Arial Black"/>
              </a:rPr>
              <a:t>CLI &gt; </a:t>
            </a:r>
            <a:r>
              <a:rPr lang="es-ES_tradnl" sz="2200" u="sng" dirty="0" err="1">
                <a:solidFill>
                  <a:srgbClr val="94D66C"/>
                </a:solidFill>
                <a:latin typeface="Arial Black"/>
                <a:cs typeface="Arial Black"/>
              </a:rPr>
              <a:t>p</a:t>
            </a:r>
            <a:r>
              <a:rPr lang="es-ES_tradnl" sz="2200" u="sng" dirty="0" err="1" smtClean="0">
                <a:solidFill>
                  <a:srgbClr val="94D66C"/>
                </a:solidFill>
                <a:latin typeface="Arial Black"/>
                <a:cs typeface="Arial Black"/>
              </a:rPr>
              <a:t>olymer</a:t>
            </a:r>
            <a:r>
              <a:rPr lang="es-ES_tradnl" sz="2200" u="sng" dirty="0" smtClean="0">
                <a:solidFill>
                  <a:srgbClr val="94D66C"/>
                </a:solidFill>
                <a:latin typeface="Arial Black"/>
                <a:cs typeface="Arial Black"/>
              </a:rPr>
              <a:t> </a:t>
            </a:r>
            <a:r>
              <a:rPr lang="es-ES_tradnl" sz="2200" u="sng" dirty="0" err="1" smtClean="0">
                <a:solidFill>
                  <a:srgbClr val="94D66C"/>
                </a:solidFill>
                <a:latin typeface="Arial Black"/>
                <a:cs typeface="Arial Black"/>
              </a:rPr>
              <a:t>serve</a:t>
            </a:r>
            <a:endParaRPr lang="es-ES" sz="2200" u="sng" dirty="0" smtClean="0">
              <a:solidFill>
                <a:srgbClr val="94D66C"/>
              </a:solidFill>
              <a:latin typeface="Arial Black"/>
              <a:cs typeface="Arial Black"/>
            </a:endParaRPr>
          </a:p>
        </p:txBody>
      </p:sp>
      <p:sp>
        <p:nvSpPr>
          <p:cNvPr id="17" name="Rectángulo 16"/>
          <p:cNvSpPr/>
          <p:nvPr/>
        </p:nvSpPr>
        <p:spPr>
          <a:xfrm>
            <a:off x="505396" y="1630042"/>
            <a:ext cx="8202871" cy="1878976"/>
          </a:xfrm>
          <a:prstGeom prst="rect">
            <a:avLst/>
          </a:prstGeom>
        </p:spPr>
        <p:txBody>
          <a:bodyPr wrap="square">
            <a:spAutoFit/>
          </a:bodyPr>
          <a:lstStyle/>
          <a:p>
            <a:pPr algn="just">
              <a:lnSpc>
                <a:spcPct val="130000"/>
              </a:lnSpc>
            </a:pPr>
            <a:r>
              <a:rPr lang="nb-NO" dirty="0" err="1" smtClean="0">
                <a:solidFill>
                  <a:srgbClr val="FFFFFF"/>
                </a:solidFill>
                <a:latin typeface="Helvetica"/>
                <a:cs typeface="Helvetica"/>
              </a:rPr>
              <a:t>Levanta</a:t>
            </a:r>
            <a:r>
              <a:rPr lang="nb-NO" dirty="0" smtClean="0">
                <a:solidFill>
                  <a:srgbClr val="FFFFFF"/>
                </a:solidFill>
                <a:latin typeface="Helvetica"/>
                <a:cs typeface="Helvetica"/>
              </a:rPr>
              <a:t> </a:t>
            </a:r>
            <a:r>
              <a:rPr lang="nb-NO" dirty="0" err="1" smtClean="0">
                <a:solidFill>
                  <a:srgbClr val="FFFFFF"/>
                </a:solidFill>
                <a:latin typeface="Helvetica"/>
                <a:cs typeface="Helvetica"/>
              </a:rPr>
              <a:t>un</a:t>
            </a:r>
            <a:r>
              <a:rPr lang="nb-NO" dirty="0" smtClean="0">
                <a:solidFill>
                  <a:srgbClr val="FFFFFF"/>
                </a:solidFill>
                <a:latin typeface="Helvetica"/>
                <a:cs typeface="Helvetica"/>
              </a:rPr>
              <a:t> </a:t>
            </a:r>
            <a:r>
              <a:rPr lang="nb-NO" dirty="0" err="1" smtClean="0">
                <a:solidFill>
                  <a:srgbClr val="FFFFFF"/>
                </a:solidFill>
                <a:latin typeface="Helvetica"/>
                <a:cs typeface="Helvetica"/>
              </a:rPr>
              <a:t>servidor</a:t>
            </a:r>
            <a:r>
              <a:rPr lang="nb-NO" dirty="0" smtClean="0">
                <a:solidFill>
                  <a:srgbClr val="FFFFFF"/>
                </a:solidFill>
                <a:latin typeface="Helvetica"/>
                <a:cs typeface="Helvetica"/>
              </a:rPr>
              <a:t> http para </a:t>
            </a:r>
            <a:r>
              <a:rPr lang="nb-NO" dirty="0" err="1" smtClean="0">
                <a:solidFill>
                  <a:srgbClr val="FFFFFF"/>
                </a:solidFill>
                <a:latin typeface="Helvetica"/>
                <a:cs typeface="Helvetica"/>
              </a:rPr>
              <a:t>servir</a:t>
            </a:r>
            <a:r>
              <a:rPr lang="nb-NO" dirty="0" smtClean="0">
                <a:solidFill>
                  <a:srgbClr val="FFFFFF"/>
                </a:solidFill>
                <a:latin typeface="Helvetica"/>
                <a:cs typeface="Helvetica"/>
              </a:rPr>
              <a:t> </a:t>
            </a:r>
            <a:r>
              <a:rPr lang="nb-NO" dirty="0" err="1" smtClean="0">
                <a:solidFill>
                  <a:srgbClr val="FFFFFF"/>
                </a:solidFill>
                <a:latin typeface="Helvetica"/>
                <a:cs typeface="Helvetica"/>
              </a:rPr>
              <a:t>nuestro</a:t>
            </a:r>
            <a:r>
              <a:rPr lang="nb-NO" dirty="0" smtClean="0">
                <a:solidFill>
                  <a:srgbClr val="FFFFFF"/>
                </a:solidFill>
                <a:latin typeface="Helvetica"/>
                <a:cs typeface="Helvetica"/>
              </a:rPr>
              <a:t> </a:t>
            </a:r>
            <a:r>
              <a:rPr lang="nb-NO" dirty="0" err="1" smtClean="0">
                <a:solidFill>
                  <a:srgbClr val="FFFFFF"/>
                </a:solidFill>
                <a:latin typeface="Helvetica"/>
                <a:cs typeface="Helvetica"/>
              </a:rPr>
              <a:t>proyectomen</a:t>
            </a:r>
            <a:r>
              <a:rPr lang="nb-NO" dirty="0" smtClean="0">
                <a:solidFill>
                  <a:srgbClr val="FFFFFF"/>
                </a:solidFill>
                <a:latin typeface="Helvetica"/>
                <a:cs typeface="Helvetica"/>
              </a:rPr>
              <a:t> el </a:t>
            </a:r>
            <a:r>
              <a:rPr lang="nb-NO" dirty="0" err="1" smtClean="0">
                <a:solidFill>
                  <a:srgbClr val="FFFFFF"/>
                </a:solidFill>
                <a:latin typeface="Helvetica"/>
                <a:cs typeface="Helvetica"/>
              </a:rPr>
              <a:t>dominio</a:t>
            </a:r>
            <a:r>
              <a:rPr lang="nb-NO" dirty="0" smtClean="0">
                <a:solidFill>
                  <a:srgbClr val="FFFFFF"/>
                </a:solidFill>
                <a:latin typeface="Helvetica"/>
                <a:cs typeface="Helvetica"/>
              </a:rPr>
              <a:t> </a:t>
            </a:r>
            <a:r>
              <a:rPr lang="nb-NO" dirty="0" err="1" smtClean="0">
                <a:solidFill>
                  <a:srgbClr val="FFFFFF"/>
                </a:solidFill>
                <a:latin typeface="Helvetica"/>
                <a:cs typeface="Helvetica"/>
              </a:rPr>
              <a:t>local</a:t>
            </a:r>
            <a:r>
              <a:rPr lang="nb-NO" dirty="0" smtClean="0">
                <a:solidFill>
                  <a:srgbClr val="FFFFFF"/>
                </a:solidFill>
                <a:latin typeface="Helvetica"/>
                <a:cs typeface="Helvetica"/>
              </a:rPr>
              <a:t> (</a:t>
            </a:r>
            <a:r>
              <a:rPr lang="nb-NO" dirty="0" err="1" smtClean="0">
                <a:solidFill>
                  <a:srgbClr val="FFFFFF"/>
                </a:solidFill>
                <a:latin typeface="Helvetica"/>
                <a:cs typeface="Helvetica"/>
              </a:rPr>
              <a:t>localhost</a:t>
            </a:r>
            <a:r>
              <a:rPr lang="nb-NO" dirty="0" smtClean="0">
                <a:solidFill>
                  <a:srgbClr val="FFFFFF"/>
                </a:solidFill>
                <a:latin typeface="Helvetica"/>
                <a:cs typeface="Helvetica"/>
              </a:rPr>
              <a:t>)</a:t>
            </a:r>
          </a:p>
          <a:p>
            <a:pPr algn="just">
              <a:lnSpc>
                <a:spcPct val="130000"/>
              </a:lnSpc>
            </a:pPr>
            <a:endParaRPr lang="nb-NO" dirty="0" smtClean="0">
              <a:solidFill>
                <a:srgbClr val="FFFFFF"/>
              </a:solidFill>
              <a:latin typeface="Helvetica"/>
              <a:cs typeface="Helvetica"/>
            </a:endParaRPr>
          </a:p>
          <a:p>
            <a:pPr algn="just">
              <a:lnSpc>
                <a:spcPct val="130000"/>
              </a:lnSpc>
            </a:pPr>
            <a:r>
              <a:rPr lang="nb-NO" dirty="0" smtClean="0">
                <a:solidFill>
                  <a:srgbClr val="FFFFFF"/>
                </a:solidFill>
                <a:latin typeface="Helvetica"/>
                <a:cs typeface="Helvetica"/>
              </a:rPr>
              <a:t>Con la </a:t>
            </a:r>
            <a:r>
              <a:rPr lang="nb-NO" dirty="0" err="1" smtClean="0">
                <a:solidFill>
                  <a:srgbClr val="FFFFFF"/>
                </a:solidFill>
                <a:latin typeface="Helvetica"/>
                <a:cs typeface="Helvetica"/>
              </a:rPr>
              <a:t>opcion</a:t>
            </a:r>
            <a:r>
              <a:rPr lang="nb-NO" dirty="0" smtClean="0">
                <a:solidFill>
                  <a:srgbClr val="FFFFFF"/>
                </a:solidFill>
                <a:latin typeface="Helvetica"/>
                <a:cs typeface="Helvetica"/>
              </a:rPr>
              <a:t> </a:t>
            </a:r>
            <a:r>
              <a:rPr lang="mr-IN" dirty="0" smtClean="0">
                <a:solidFill>
                  <a:srgbClr val="94D66C"/>
                </a:solidFill>
                <a:latin typeface="Helvetica"/>
                <a:cs typeface="Helvetica"/>
              </a:rPr>
              <a:t>–</a:t>
            </a:r>
            <a:r>
              <a:rPr lang="nb-NO" dirty="0" smtClean="0">
                <a:solidFill>
                  <a:srgbClr val="94D66C"/>
                </a:solidFill>
                <a:latin typeface="Helvetica"/>
                <a:cs typeface="Helvetica"/>
              </a:rPr>
              <a:t>o   </a:t>
            </a:r>
            <a:r>
              <a:rPr lang="nb-NO" dirty="0" smtClean="0">
                <a:latin typeface="Helvetica"/>
                <a:cs typeface="Helvetica"/>
              </a:rPr>
              <a:t>(</a:t>
            </a:r>
            <a:r>
              <a:rPr lang="nb-NO" dirty="0" err="1" smtClean="0">
                <a:latin typeface="Helvetica"/>
                <a:cs typeface="Helvetica"/>
              </a:rPr>
              <a:t>open</a:t>
            </a:r>
            <a:r>
              <a:rPr lang="nb-NO" dirty="0" smtClean="0">
                <a:latin typeface="Helvetica"/>
                <a:cs typeface="Helvetica"/>
              </a:rPr>
              <a:t>)  </a:t>
            </a:r>
            <a:r>
              <a:rPr lang="nb-NO" dirty="0" err="1" smtClean="0">
                <a:solidFill>
                  <a:srgbClr val="FFFFFF"/>
                </a:solidFill>
                <a:latin typeface="Helvetica"/>
                <a:cs typeface="Helvetica"/>
              </a:rPr>
              <a:t>abre</a:t>
            </a:r>
            <a:r>
              <a:rPr lang="nb-NO" dirty="0" smtClean="0">
                <a:solidFill>
                  <a:srgbClr val="FFFFFF"/>
                </a:solidFill>
                <a:latin typeface="Helvetica"/>
                <a:cs typeface="Helvetica"/>
              </a:rPr>
              <a:t> </a:t>
            </a:r>
            <a:r>
              <a:rPr lang="nb-NO" dirty="0" err="1" smtClean="0">
                <a:solidFill>
                  <a:srgbClr val="FFFFFF"/>
                </a:solidFill>
                <a:latin typeface="Helvetica"/>
                <a:cs typeface="Helvetica"/>
              </a:rPr>
              <a:t>automáticamente</a:t>
            </a:r>
            <a:r>
              <a:rPr lang="nb-NO" dirty="0" smtClean="0">
                <a:solidFill>
                  <a:srgbClr val="FFFFFF"/>
                </a:solidFill>
                <a:latin typeface="Helvetica"/>
                <a:cs typeface="Helvetica"/>
              </a:rPr>
              <a:t> el </a:t>
            </a:r>
            <a:r>
              <a:rPr lang="nb-NO" dirty="0" err="1" smtClean="0">
                <a:solidFill>
                  <a:srgbClr val="FFFFFF"/>
                </a:solidFill>
                <a:latin typeface="Helvetica"/>
                <a:cs typeface="Helvetica"/>
              </a:rPr>
              <a:t>navegador</a:t>
            </a:r>
            <a:r>
              <a:rPr lang="nb-NO" dirty="0" smtClean="0">
                <a:solidFill>
                  <a:srgbClr val="FFFFFF"/>
                </a:solidFill>
                <a:latin typeface="Helvetica"/>
                <a:cs typeface="Helvetica"/>
              </a:rPr>
              <a:t> con el </a:t>
            </a:r>
            <a:r>
              <a:rPr lang="nb-NO" dirty="0" err="1" smtClean="0">
                <a:solidFill>
                  <a:srgbClr val="FFFFFF"/>
                </a:solidFill>
                <a:latin typeface="Helvetica"/>
                <a:cs typeface="Helvetica"/>
              </a:rPr>
              <a:t>proyecto</a:t>
            </a:r>
            <a:r>
              <a:rPr lang="nb-NO" dirty="0" smtClean="0">
                <a:solidFill>
                  <a:srgbClr val="FFFFFF"/>
                </a:solidFill>
                <a:latin typeface="Helvetica"/>
                <a:cs typeface="Helvetica"/>
              </a:rPr>
              <a:t>.</a:t>
            </a:r>
            <a:endParaRPr lang="nb-NO" dirty="0">
              <a:solidFill>
                <a:srgbClr val="FFFFFF"/>
              </a:solidFill>
              <a:latin typeface="Helvetica"/>
              <a:cs typeface="Helvetica"/>
            </a:endParaRPr>
          </a:p>
        </p:txBody>
      </p:sp>
      <p:sp>
        <p:nvSpPr>
          <p:cNvPr id="18" name="Marcador de número de diapositiva 17"/>
          <p:cNvSpPr>
            <a:spLocks noGrp="1"/>
          </p:cNvSpPr>
          <p:nvPr>
            <p:ph type="sldNum" sz="quarter" idx="12"/>
          </p:nvPr>
        </p:nvSpPr>
        <p:spPr/>
        <p:txBody>
          <a:bodyPr/>
          <a:lstStyle/>
          <a:p>
            <a:fld id="{9C1F5A0A-F6FC-4FFD-9B49-0DA8697211D9}" type="slidenum">
              <a:rPr lang="en-US" smtClean="0"/>
              <a:t>64</a:t>
            </a:fld>
            <a:endParaRPr lang="en-US"/>
          </a:p>
        </p:txBody>
      </p:sp>
    </p:spTree>
    <p:extLst>
      <p:ext uri="{BB962C8B-B14F-4D97-AF65-F5344CB8AC3E}">
        <p14:creationId xmlns:p14="http://schemas.microsoft.com/office/powerpoint/2010/main" val="492982299"/>
      </p:ext>
    </p:extLst>
  </p:cSld>
  <p:clrMapOvr>
    <a:masterClrMapping/>
  </p:clrMapOvr>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Polymer</a:t>
            </a:r>
            <a:r>
              <a:rPr lang="es-ES" sz="2000" dirty="0">
                <a:solidFill>
                  <a:srgbClr val="FFFFFF"/>
                </a:solidFill>
                <a:latin typeface="Helvetica"/>
                <a:ea typeface="Lucida Grande"/>
                <a:cs typeface="Helvetica"/>
              </a:rPr>
              <a:t> CLI</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a:latin typeface="Arial Black"/>
                <a:cs typeface="Arial Black"/>
              </a:rPr>
              <a:t>Polymer</a:t>
            </a:r>
            <a:r>
              <a:rPr lang="es-ES_tradnl" sz="2200" u="sng" dirty="0">
                <a:latin typeface="Arial Black"/>
                <a:cs typeface="Arial Black"/>
              </a:rPr>
              <a:t> </a:t>
            </a:r>
            <a:r>
              <a:rPr lang="es-ES_tradnl" sz="2200" u="sng" dirty="0" smtClean="0">
                <a:latin typeface="Arial Black"/>
                <a:cs typeface="Arial Black"/>
              </a:rPr>
              <a:t>CLI &gt; </a:t>
            </a:r>
            <a:r>
              <a:rPr lang="es-ES_tradnl" sz="2200" u="sng" dirty="0" err="1">
                <a:solidFill>
                  <a:srgbClr val="94D66C"/>
                </a:solidFill>
                <a:latin typeface="Arial Black"/>
                <a:cs typeface="Arial Black"/>
              </a:rPr>
              <a:t>p</a:t>
            </a:r>
            <a:r>
              <a:rPr lang="es-ES_tradnl" sz="2200" u="sng" dirty="0" err="1" smtClean="0">
                <a:solidFill>
                  <a:srgbClr val="94D66C"/>
                </a:solidFill>
                <a:latin typeface="Arial Black"/>
                <a:cs typeface="Arial Black"/>
              </a:rPr>
              <a:t>olymer</a:t>
            </a:r>
            <a:r>
              <a:rPr lang="es-ES_tradnl" sz="2200" u="sng" dirty="0" smtClean="0">
                <a:solidFill>
                  <a:srgbClr val="94D66C"/>
                </a:solidFill>
                <a:latin typeface="Arial Black"/>
                <a:cs typeface="Arial Black"/>
              </a:rPr>
              <a:t> </a:t>
            </a:r>
            <a:r>
              <a:rPr lang="es-ES_tradnl" sz="2200" u="sng" dirty="0" err="1" smtClean="0">
                <a:solidFill>
                  <a:srgbClr val="94D66C"/>
                </a:solidFill>
                <a:latin typeface="Arial Black"/>
                <a:cs typeface="Arial Black"/>
              </a:rPr>
              <a:t>build</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6920359"/>
          </a:xfrm>
          <a:prstGeom prst="rect">
            <a:avLst/>
          </a:prstGeom>
        </p:spPr>
        <p:txBody>
          <a:bodyPr wrap="square">
            <a:spAutoFit/>
          </a:bodyPr>
          <a:lstStyle/>
          <a:p>
            <a:pPr algn="just">
              <a:lnSpc>
                <a:spcPct val="130000"/>
              </a:lnSpc>
            </a:pPr>
            <a:r>
              <a:rPr lang="nb-NO" dirty="0" err="1" smtClean="0">
                <a:solidFill>
                  <a:srgbClr val="FFFFFF"/>
                </a:solidFill>
                <a:latin typeface="Helvetica"/>
                <a:cs typeface="Helvetica"/>
              </a:rPr>
              <a:t>Empaquetador</a:t>
            </a:r>
            <a:r>
              <a:rPr lang="nb-NO" dirty="0" smtClean="0">
                <a:solidFill>
                  <a:srgbClr val="FFFFFF"/>
                </a:solidFill>
                <a:latin typeface="Helvetica"/>
                <a:cs typeface="Helvetica"/>
              </a:rPr>
              <a:t> de </a:t>
            </a:r>
            <a:r>
              <a:rPr lang="nb-NO" dirty="0" err="1">
                <a:solidFill>
                  <a:srgbClr val="FFFFFF"/>
                </a:solidFill>
                <a:latin typeface="Helvetica"/>
                <a:cs typeface="Helvetica"/>
              </a:rPr>
              <a:t>archivos</a:t>
            </a:r>
            <a:r>
              <a:rPr lang="nb-NO" dirty="0">
                <a:solidFill>
                  <a:srgbClr val="FFFFFF"/>
                </a:solidFill>
                <a:latin typeface="Helvetica"/>
                <a:cs typeface="Helvetica"/>
              </a:rPr>
              <a:t> para la </a:t>
            </a:r>
            <a:r>
              <a:rPr lang="nb-NO" dirty="0" err="1">
                <a:solidFill>
                  <a:srgbClr val="FFFFFF"/>
                </a:solidFill>
                <a:latin typeface="Helvetica"/>
                <a:cs typeface="Helvetica"/>
              </a:rPr>
              <a:t>distribución</a:t>
            </a:r>
            <a:r>
              <a:rPr lang="nb-NO" dirty="0">
                <a:solidFill>
                  <a:srgbClr val="FFFFFF"/>
                </a:solidFill>
                <a:latin typeface="Helvetica"/>
                <a:cs typeface="Helvetica"/>
              </a:rPr>
              <a:t> de </a:t>
            </a:r>
            <a:r>
              <a:rPr lang="nb-NO" dirty="0" err="1" smtClean="0">
                <a:solidFill>
                  <a:srgbClr val="FFFFFF"/>
                </a:solidFill>
                <a:latin typeface="Helvetica"/>
                <a:cs typeface="Helvetica"/>
              </a:rPr>
              <a:t>un</a:t>
            </a:r>
            <a:r>
              <a:rPr lang="nb-NO" dirty="0" smtClean="0">
                <a:solidFill>
                  <a:srgbClr val="FFFFFF"/>
                </a:solidFill>
                <a:latin typeface="Helvetica"/>
                <a:cs typeface="Helvetica"/>
              </a:rPr>
              <a:t> </a:t>
            </a:r>
            <a:r>
              <a:rPr lang="nb-NO" dirty="0" err="1" smtClean="0">
                <a:solidFill>
                  <a:srgbClr val="FFFFFF"/>
                </a:solidFill>
                <a:latin typeface="Helvetica"/>
                <a:cs typeface="Helvetica"/>
              </a:rPr>
              <a:t>proyecto</a:t>
            </a:r>
            <a:r>
              <a:rPr lang="nb-NO" dirty="0">
                <a:solidFill>
                  <a:srgbClr val="FFFFFF"/>
                </a:solidFill>
                <a:latin typeface="Helvetica"/>
                <a:cs typeface="Helvetica"/>
              </a:rPr>
              <a:t>. Este </a:t>
            </a:r>
            <a:r>
              <a:rPr lang="nb-NO" dirty="0" err="1">
                <a:solidFill>
                  <a:srgbClr val="FFFFFF"/>
                </a:solidFill>
                <a:latin typeface="Helvetica"/>
                <a:cs typeface="Helvetica"/>
              </a:rPr>
              <a:t>comando</a:t>
            </a:r>
            <a:r>
              <a:rPr lang="nb-NO" dirty="0">
                <a:solidFill>
                  <a:srgbClr val="FFFFFF"/>
                </a:solidFill>
                <a:latin typeface="Helvetica"/>
                <a:cs typeface="Helvetica"/>
              </a:rPr>
              <a:t> </a:t>
            </a:r>
            <a:r>
              <a:rPr lang="nb-NO" dirty="0" err="1">
                <a:solidFill>
                  <a:srgbClr val="FFFFFF"/>
                </a:solidFill>
                <a:latin typeface="Helvetica"/>
                <a:cs typeface="Helvetica"/>
              </a:rPr>
              <a:t>revisará</a:t>
            </a:r>
            <a:r>
              <a:rPr lang="nb-NO" dirty="0">
                <a:solidFill>
                  <a:srgbClr val="FFFFFF"/>
                </a:solidFill>
                <a:latin typeface="Helvetica"/>
                <a:cs typeface="Helvetica"/>
              </a:rPr>
              <a:t> el </a:t>
            </a:r>
            <a:r>
              <a:rPr lang="nb-NO" dirty="0" err="1">
                <a:solidFill>
                  <a:srgbClr val="FFFFFF"/>
                </a:solidFill>
                <a:latin typeface="Helvetica"/>
                <a:cs typeface="Helvetica"/>
              </a:rPr>
              <a:t>archivo</a:t>
            </a:r>
            <a:r>
              <a:rPr lang="nb-NO" dirty="0">
                <a:solidFill>
                  <a:srgbClr val="FFFFFF"/>
                </a:solidFill>
                <a:latin typeface="Helvetica"/>
                <a:cs typeface="Helvetica"/>
              </a:rPr>
              <a:t> "</a:t>
            </a:r>
            <a:r>
              <a:rPr lang="nb-NO" dirty="0" err="1">
                <a:solidFill>
                  <a:srgbClr val="FFFFFF"/>
                </a:solidFill>
                <a:latin typeface="Helvetica"/>
                <a:cs typeface="Helvetica"/>
              </a:rPr>
              <a:t>polymer.json</a:t>
            </a:r>
            <a:r>
              <a:rPr lang="nb-NO" dirty="0">
                <a:solidFill>
                  <a:srgbClr val="FFFFFF"/>
                </a:solidFill>
                <a:latin typeface="Helvetica"/>
                <a:cs typeface="Helvetica"/>
              </a:rPr>
              <a:t>" </a:t>
            </a:r>
            <a:r>
              <a:rPr lang="nb-NO" dirty="0" err="1">
                <a:solidFill>
                  <a:srgbClr val="FFFFFF"/>
                </a:solidFill>
                <a:latin typeface="Helvetica"/>
                <a:cs typeface="Helvetica"/>
              </a:rPr>
              <a:t>que</a:t>
            </a:r>
            <a:r>
              <a:rPr lang="nb-NO" dirty="0">
                <a:solidFill>
                  <a:srgbClr val="FFFFFF"/>
                </a:solidFill>
                <a:latin typeface="Helvetica"/>
                <a:cs typeface="Helvetica"/>
              </a:rPr>
              <a:t> </a:t>
            </a:r>
            <a:r>
              <a:rPr lang="nb-NO" dirty="0" err="1">
                <a:solidFill>
                  <a:srgbClr val="FFFFFF"/>
                </a:solidFill>
                <a:latin typeface="Helvetica"/>
                <a:cs typeface="Helvetica"/>
              </a:rPr>
              <a:t>hay</a:t>
            </a:r>
            <a:r>
              <a:rPr lang="nb-NO" dirty="0">
                <a:solidFill>
                  <a:srgbClr val="FFFFFF"/>
                </a:solidFill>
                <a:latin typeface="Helvetica"/>
                <a:cs typeface="Helvetica"/>
              </a:rPr>
              <a:t> en </a:t>
            </a:r>
            <a:r>
              <a:rPr lang="nb-NO" dirty="0" err="1">
                <a:solidFill>
                  <a:srgbClr val="FFFFFF"/>
                </a:solidFill>
                <a:latin typeface="Helvetica"/>
                <a:cs typeface="Helvetica"/>
              </a:rPr>
              <a:t>raíz</a:t>
            </a:r>
            <a:r>
              <a:rPr lang="nb-NO" dirty="0">
                <a:solidFill>
                  <a:srgbClr val="FFFFFF"/>
                </a:solidFill>
                <a:latin typeface="Helvetica"/>
                <a:cs typeface="Helvetica"/>
              </a:rPr>
              <a:t> y </a:t>
            </a:r>
            <a:r>
              <a:rPr lang="nb-NO" dirty="0" err="1">
                <a:solidFill>
                  <a:srgbClr val="FFFFFF"/>
                </a:solidFill>
                <a:latin typeface="Helvetica"/>
                <a:cs typeface="Helvetica"/>
              </a:rPr>
              <a:t>atendiendo</a:t>
            </a:r>
            <a:r>
              <a:rPr lang="nb-NO" dirty="0">
                <a:solidFill>
                  <a:srgbClr val="FFFFFF"/>
                </a:solidFill>
                <a:latin typeface="Helvetica"/>
                <a:cs typeface="Helvetica"/>
              </a:rPr>
              <a:t> a las </a:t>
            </a:r>
            <a:r>
              <a:rPr lang="nb-NO" dirty="0" err="1">
                <a:solidFill>
                  <a:srgbClr val="FFFFFF"/>
                </a:solidFill>
                <a:latin typeface="Helvetica"/>
                <a:cs typeface="Helvetica"/>
              </a:rPr>
              <a:t>definiciones</a:t>
            </a:r>
            <a:r>
              <a:rPr lang="nb-NO" dirty="0">
                <a:solidFill>
                  <a:srgbClr val="FFFFFF"/>
                </a:solidFill>
                <a:latin typeface="Helvetica"/>
                <a:cs typeface="Helvetica"/>
              </a:rPr>
              <a:t> </a:t>
            </a:r>
            <a:r>
              <a:rPr lang="nb-NO" dirty="0" err="1">
                <a:solidFill>
                  <a:srgbClr val="FFFFFF"/>
                </a:solidFill>
                <a:latin typeface="Helvetica"/>
                <a:cs typeface="Helvetica"/>
              </a:rPr>
              <a:t>creará</a:t>
            </a:r>
            <a:r>
              <a:rPr lang="nb-NO" dirty="0">
                <a:solidFill>
                  <a:srgbClr val="FFFFFF"/>
                </a:solidFill>
                <a:latin typeface="Helvetica"/>
                <a:cs typeface="Helvetica"/>
              </a:rPr>
              <a:t> los </a:t>
            </a:r>
            <a:r>
              <a:rPr lang="nb-NO" dirty="0" err="1">
                <a:solidFill>
                  <a:srgbClr val="FFFFFF"/>
                </a:solidFill>
                <a:latin typeface="Helvetica"/>
                <a:cs typeface="Helvetica"/>
              </a:rPr>
              <a:t>archivos</a:t>
            </a:r>
            <a:r>
              <a:rPr lang="nb-NO" dirty="0">
                <a:solidFill>
                  <a:srgbClr val="FFFFFF"/>
                </a:solidFill>
                <a:latin typeface="Helvetica"/>
                <a:cs typeface="Helvetica"/>
              </a:rPr>
              <a:t> para </a:t>
            </a:r>
            <a:r>
              <a:rPr lang="nb-NO" dirty="0" err="1">
                <a:solidFill>
                  <a:srgbClr val="FFFFFF"/>
                </a:solidFill>
                <a:latin typeface="Helvetica"/>
                <a:cs typeface="Helvetica"/>
              </a:rPr>
              <a:t>distribución</a:t>
            </a:r>
            <a:r>
              <a:rPr lang="nb-NO" dirty="0" smtClean="0">
                <a:solidFill>
                  <a:srgbClr val="FFFFFF"/>
                </a:solidFill>
                <a:latin typeface="Helvetica"/>
                <a:cs typeface="Helvetica"/>
              </a:rPr>
              <a:t>.</a:t>
            </a:r>
          </a:p>
          <a:p>
            <a:pPr algn="just">
              <a:lnSpc>
                <a:spcPct val="130000"/>
              </a:lnSpc>
            </a:pPr>
            <a:endParaRPr lang="nb-NO" dirty="0">
              <a:solidFill>
                <a:srgbClr val="FFFFFF"/>
              </a:solidFill>
              <a:latin typeface="Helvetica"/>
              <a:cs typeface="Helvetica"/>
            </a:endParaRPr>
          </a:p>
          <a:p>
            <a:pPr algn="just">
              <a:lnSpc>
                <a:spcPct val="130000"/>
              </a:lnSpc>
            </a:pPr>
            <a:r>
              <a:rPr lang="nb-NO" dirty="0">
                <a:solidFill>
                  <a:srgbClr val="FFFFFF"/>
                </a:solidFill>
                <a:latin typeface="Helvetica"/>
                <a:cs typeface="Helvetica"/>
              </a:rPr>
              <a:t>El </a:t>
            </a:r>
            <a:r>
              <a:rPr lang="nb-NO" dirty="0" err="1">
                <a:solidFill>
                  <a:srgbClr val="FFFFFF"/>
                </a:solidFill>
                <a:latin typeface="Helvetica"/>
                <a:cs typeface="Helvetica"/>
              </a:rPr>
              <a:t>proceso</a:t>
            </a:r>
            <a:r>
              <a:rPr lang="nb-NO" dirty="0">
                <a:solidFill>
                  <a:srgbClr val="FFFFFF"/>
                </a:solidFill>
                <a:latin typeface="Helvetica"/>
                <a:cs typeface="Helvetica"/>
              </a:rPr>
              <a:t> de </a:t>
            </a:r>
            <a:r>
              <a:rPr lang="nb-NO" dirty="0" err="1">
                <a:solidFill>
                  <a:srgbClr val="FFFFFF"/>
                </a:solidFill>
                <a:latin typeface="Helvetica"/>
                <a:cs typeface="Helvetica"/>
              </a:rPr>
              <a:t>Build</a:t>
            </a:r>
            <a:r>
              <a:rPr lang="nb-NO" dirty="0">
                <a:solidFill>
                  <a:srgbClr val="FFFFFF"/>
                </a:solidFill>
                <a:latin typeface="Helvetica"/>
                <a:cs typeface="Helvetica"/>
              </a:rPr>
              <a:t> </a:t>
            </a:r>
            <a:r>
              <a:rPr lang="nb-NO" dirty="0" err="1">
                <a:solidFill>
                  <a:srgbClr val="FFFFFF"/>
                </a:solidFill>
                <a:latin typeface="Helvetica"/>
                <a:cs typeface="Helvetica"/>
              </a:rPr>
              <a:t>además</a:t>
            </a:r>
            <a:r>
              <a:rPr lang="nb-NO" dirty="0">
                <a:solidFill>
                  <a:srgbClr val="FFFFFF"/>
                </a:solidFill>
                <a:latin typeface="Helvetica"/>
                <a:cs typeface="Helvetica"/>
              </a:rPr>
              <a:t> </a:t>
            </a:r>
            <a:r>
              <a:rPr lang="nb-NO" dirty="0" err="1">
                <a:solidFill>
                  <a:srgbClr val="FFFFFF"/>
                </a:solidFill>
                <a:latin typeface="Helvetica"/>
                <a:cs typeface="Helvetica"/>
              </a:rPr>
              <a:t>generará</a:t>
            </a:r>
            <a:r>
              <a:rPr lang="nb-NO" dirty="0">
                <a:solidFill>
                  <a:srgbClr val="FFFFFF"/>
                </a:solidFill>
                <a:latin typeface="Helvetica"/>
                <a:cs typeface="Helvetica"/>
              </a:rPr>
              <a:t> dos </a:t>
            </a:r>
            <a:r>
              <a:rPr lang="nb-NO" dirty="0" err="1">
                <a:solidFill>
                  <a:srgbClr val="FFFFFF"/>
                </a:solidFill>
                <a:latin typeface="Helvetica"/>
                <a:cs typeface="Helvetica"/>
              </a:rPr>
              <a:t>carpetas</a:t>
            </a:r>
            <a:r>
              <a:rPr lang="nb-NO" dirty="0">
                <a:solidFill>
                  <a:srgbClr val="FFFFFF"/>
                </a:solidFill>
                <a:latin typeface="Helvetica"/>
                <a:cs typeface="Helvetica"/>
              </a:rPr>
              <a:t> para </a:t>
            </a:r>
            <a:r>
              <a:rPr lang="nb-NO" dirty="0" err="1" smtClean="0">
                <a:solidFill>
                  <a:srgbClr val="FFFFFF"/>
                </a:solidFill>
                <a:latin typeface="Helvetica"/>
                <a:cs typeface="Helvetica"/>
              </a:rPr>
              <a:t>distribución</a:t>
            </a:r>
            <a:r>
              <a:rPr lang="nb-NO" dirty="0" smtClean="0">
                <a:solidFill>
                  <a:srgbClr val="FFFFFF"/>
                </a:solidFill>
                <a:latin typeface="Helvetica"/>
                <a:cs typeface="Helvetica"/>
              </a:rPr>
              <a:t>:</a:t>
            </a:r>
          </a:p>
          <a:p>
            <a:pPr marL="342900" indent="-342900" algn="just">
              <a:lnSpc>
                <a:spcPct val="130000"/>
              </a:lnSpc>
              <a:buFont typeface="+mj-lt"/>
              <a:buAutoNum type="arabicPeriod"/>
            </a:pPr>
            <a:r>
              <a:rPr lang="nb-NO" dirty="0" err="1" smtClean="0">
                <a:solidFill>
                  <a:srgbClr val="FFFFFF"/>
                </a:solidFill>
                <a:latin typeface="Helvetica"/>
                <a:cs typeface="Helvetica"/>
              </a:rPr>
              <a:t>Build</a:t>
            </a:r>
            <a:r>
              <a:rPr lang="nb-NO" dirty="0">
                <a:solidFill>
                  <a:srgbClr val="FFFFFF"/>
                </a:solidFill>
                <a:latin typeface="Helvetica"/>
                <a:cs typeface="Helvetica"/>
              </a:rPr>
              <a:t> &gt; </a:t>
            </a:r>
            <a:r>
              <a:rPr lang="nb-NO" dirty="0" err="1" smtClean="0">
                <a:solidFill>
                  <a:srgbClr val="FFFFFF"/>
                </a:solidFill>
                <a:latin typeface="Helvetica"/>
                <a:cs typeface="Helvetica"/>
              </a:rPr>
              <a:t>bundled</a:t>
            </a:r>
            <a:r>
              <a:rPr lang="nb-NO" dirty="0" smtClean="0">
                <a:solidFill>
                  <a:srgbClr val="FFFFFF"/>
                </a:solidFill>
                <a:latin typeface="Helvetica"/>
                <a:cs typeface="Helvetica"/>
              </a:rPr>
              <a:t> : </a:t>
            </a:r>
            <a:r>
              <a:rPr lang="nb-NO" dirty="0" err="1" smtClean="0">
                <a:solidFill>
                  <a:srgbClr val="FFFFFF"/>
                </a:solidFill>
                <a:latin typeface="Helvetica"/>
                <a:cs typeface="Helvetica"/>
              </a:rPr>
              <a:t>Archivos</a:t>
            </a:r>
            <a:r>
              <a:rPr lang="nb-NO" dirty="0" smtClean="0">
                <a:solidFill>
                  <a:srgbClr val="FFFFFF"/>
                </a:solidFill>
                <a:latin typeface="Helvetica"/>
                <a:cs typeface="Helvetica"/>
              </a:rPr>
              <a:t> </a:t>
            </a:r>
            <a:r>
              <a:rPr lang="nb-NO" dirty="0" err="1">
                <a:solidFill>
                  <a:srgbClr val="FFFFFF"/>
                </a:solidFill>
                <a:latin typeface="Helvetica"/>
                <a:cs typeface="Helvetica"/>
              </a:rPr>
              <a:t>c</a:t>
            </a:r>
            <a:r>
              <a:rPr lang="nb-NO" dirty="0" err="1" smtClean="0">
                <a:solidFill>
                  <a:srgbClr val="FFFFFF"/>
                </a:solidFill>
                <a:latin typeface="Helvetica"/>
                <a:cs typeface="Helvetica"/>
              </a:rPr>
              <a:t>ompactados</a:t>
            </a:r>
            <a:r>
              <a:rPr lang="nb-NO" dirty="0" smtClean="0">
                <a:solidFill>
                  <a:srgbClr val="FFFFFF"/>
                </a:solidFill>
                <a:latin typeface="Helvetica"/>
                <a:cs typeface="Helvetica"/>
              </a:rPr>
              <a:t> (</a:t>
            </a:r>
            <a:r>
              <a:rPr lang="nb-NO" dirty="0" err="1" smtClean="0">
                <a:solidFill>
                  <a:srgbClr val="FFFFFF"/>
                </a:solidFill>
                <a:latin typeface="Helvetica"/>
                <a:cs typeface="Helvetica"/>
              </a:rPr>
              <a:t>Servidores</a:t>
            </a:r>
            <a:r>
              <a:rPr lang="nb-NO" dirty="0" smtClean="0">
                <a:solidFill>
                  <a:srgbClr val="FFFFFF"/>
                </a:solidFill>
                <a:latin typeface="Helvetica"/>
                <a:cs typeface="Helvetica"/>
              </a:rPr>
              <a:t> http)</a:t>
            </a:r>
          </a:p>
          <a:p>
            <a:pPr marL="342900" indent="-342900" algn="just">
              <a:lnSpc>
                <a:spcPct val="130000"/>
              </a:lnSpc>
              <a:buFont typeface="+mj-lt"/>
              <a:buAutoNum type="arabicPeriod"/>
            </a:pPr>
            <a:r>
              <a:rPr lang="nb-NO" dirty="0" err="1" smtClean="0">
                <a:solidFill>
                  <a:srgbClr val="FFFFFF"/>
                </a:solidFill>
                <a:latin typeface="Helvetica"/>
                <a:cs typeface="Helvetica"/>
              </a:rPr>
              <a:t>Build</a:t>
            </a:r>
            <a:r>
              <a:rPr lang="nb-NO" dirty="0" smtClean="0">
                <a:solidFill>
                  <a:srgbClr val="FFFFFF"/>
                </a:solidFill>
                <a:latin typeface="Helvetica"/>
                <a:cs typeface="Helvetica"/>
              </a:rPr>
              <a:t> &gt; </a:t>
            </a:r>
            <a:r>
              <a:rPr lang="nb-NO" dirty="0" err="1">
                <a:solidFill>
                  <a:srgbClr val="FFFFFF"/>
                </a:solidFill>
                <a:latin typeface="Helvetica"/>
                <a:cs typeface="Helvetica"/>
              </a:rPr>
              <a:t>u</a:t>
            </a:r>
            <a:r>
              <a:rPr lang="nb-NO" dirty="0" err="1" smtClean="0">
                <a:solidFill>
                  <a:srgbClr val="FFFFFF"/>
                </a:solidFill>
                <a:latin typeface="Helvetica"/>
                <a:cs typeface="Helvetica"/>
              </a:rPr>
              <a:t>nbundle</a:t>
            </a:r>
            <a:r>
              <a:rPr lang="nb-NO" dirty="0" smtClean="0">
                <a:solidFill>
                  <a:srgbClr val="FFFFFF"/>
                </a:solidFill>
                <a:latin typeface="Helvetica"/>
                <a:cs typeface="Helvetica"/>
              </a:rPr>
              <a:t> : </a:t>
            </a:r>
            <a:r>
              <a:rPr lang="nb-NO" dirty="0" err="1" smtClean="0">
                <a:solidFill>
                  <a:srgbClr val="FFFFFF"/>
                </a:solidFill>
                <a:latin typeface="Helvetica"/>
                <a:cs typeface="Helvetica"/>
              </a:rPr>
              <a:t>Archivos</a:t>
            </a:r>
            <a:r>
              <a:rPr lang="nb-NO" dirty="0" smtClean="0">
                <a:solidFill>
                  <a:srgbClr val="FFFFFF"/>
                </a:solidFill>
                <a:latin typeface="Helvetica"/>
                <a:cs typeface="Helvetica"/>
              </a:rPr>
              <a:t> sin </a:t>
            </a:r>
            <a:r>
              <a:rPr lang="nb-NO" dirty="0" err="1" smtClean="0">
                <a:solidFill>
                  <a:srgbClr val="FFFFFF"/>
                </a:solidFill>
                <a:latin typeface="Helvetica"/>
                <a:cs typeface="Helvetica"/>
              </a:rPr>
              <a:t>compactar</a:t>
            </a:r>
            <a:r>
              <a:rPr lang="nb-NO" dirty="0" smtClean="0">
                <a:solidFill>
                  <a:srgbClr val="FFFFFF"/>
                </a:solidFill>
                <a:latin typeface="Helvetica"/>
                <a:cs typeface="Helvetica"/>
              </a:rPr>
              <a:t> (</a:t>
            </a:r>
            <a:r>
              <a:rPr lang="nb-NO" dirty="0" err="1" smtClean="0">
                <a:solidFill>
                  <a:srgbClr val="FFFFFF"/>
                </a:solidFill>
                <a:latin typeface="Helvetica"/>
                <a:cs typeface="Helvetica"/>
              </a:rPr>
              <a:t>Servidores</a:t>
            </a:r>
            <a:r>
              <a:rPr lang="nb-NO" dirty="0" smtClean="0">
                <a:solidFill>
                  <a:srgbClr val="FFFFFF"/>
                </a:solidFill>
                <a:latin typeface="Helvetica"/>
                <a:cs typeface="Helvetica"/>
              </a:rPr>
              <a:t> http2)</a:t>
            </a:r>
          </a:p>
          <a:p>
            <a:pPr marL="342900" indent="-342900" algn="just">
              <a:lnSpc>
                <a:spcPct val="130000"/>
              </a:lnSpc>
              <a:buFont typeface="+mj-lt"/>
              <a:buAutoNum type="arabicPeriod"/>
            </a:pPr>
            <a:endParaRPr lang="nb-NO" dirty="0">
              <a:solidFill>
                <a:srgbClr val="FFFFFF"/>
              </a:solidFill>
              <a:latin typeface="Helvetica"/>
              <a:cs typeface="Helvetica"/>
            </a:endParaRPr>
          </a:p>
          <a:p>
            <a:pPr marL="342900" indent="-342900" algn="just">
              <a:lnSpc>
                <a:spcPct val="130000"/>
              </a:lnSpc>
              <a:buFont typeface="+mj-lt"/>
              <a:buAutoNum type="arabicPeriod"/>
            </a:pPr>
            <a:endParaRPr lang="nb-NO" dirty="0" smtClean="0">
              <a:solidFill>
                <a:srgbClr val="FFFFFF"/>
              </a:solidFill>
              <a:latin typeface="Helvetica"/>
              <a:cs typeface="Helvetica"/>
            </a:endParaRPr>
          </a:p>
          <a:p>
            <a:pPr algn="just">
              <a:lnSpc>
                <a:spcPct val="130000"/>
              </a:lnSpc>
            </a:pPr>
            <a:r>
              <a:rPr lang="nb-NO" dirty="0" err="1" smtClean="0">
                <a:solidFill>
                  <a:srgbClr val="FFFFFF"/>
                </a:solidFill>
                <a:latin typeface="Helvetica"/>
                <a:cs typeface="Helvetica"/>
              </a:rPr>
              <a:t>Referencia</a:t>
            </a:r>
            <a:r>
              <a:rPr lang="nb-NO" dirty="0" smtClean="0">
                <a:solidFill>
                  <a:srgbClr val="FFFFFF"/>
                </a:solidFill>
                <a:latin typeface="Helvetica"/>
                <a:cs typeface="Helvetica"/>
              </a:rPr>
              <a:t> </a:t>
            </a:r>
            <a:r>
              <a:rPr lang="nb-NO" dirty="0" err="1" smtClean="0">
                <a:solidFill>
                  <a:srgbClr val="FFFFFF"/>
                </a:solidFill>
                <a:latin typeface="Helvetica"/>
                <a:cs typeface="Helvetica"/>
              </a:rPr>
              <a:t>Completa</a:t>
            </a:r>
            <a:r>
              <a:rPr lang="nb-NO" dirty="0" smtClean="0">
                <a:solidFill>
                  <a:srgbClr val="FFFFFF"/>
                </a:solidFill>
                <a:latin typeface="Helvetica"/>
                <a:cs typeface="Helvetica"/>
              </a:rPr>
              <a:t>:</a:t>
            </a:r>
          </a:p>
          <a:p>
            <a:pPr algn="just">
              <a:lnSpc>
                <a:spcPct val="130000"/>
              </a:lnSpc>
            </a:pPr>
            <a:r>
              <a:rPr lang="nb-NO" dirty="0">
                <a:solidFill>
                  <a:srgbClr val="FFFFFF"/>
                </a:solidFill>
                <a:latin typeface="Helvetica"/>
                <a:cs typeface="Helvetica"/>
                <a:hlinkClick r:id="rId5"/>
              </a:rPr>
              <a:t>https://polymer-library.polymer-project.org/3.0/docs/apps/build-for-</a:t>
            </a:r>
            <a:r>
              <a:rPr lang="nb-NO" dirty="0" smtClean="0">
                <a:solidFill>
                  <a:srgbClr val="FFFFFF"/>
                </a:solidFill>
                <a:latin typeface="Helvetica"/>
                <a:cs typeface="Helvetica"/>
                <a:hlinkClick r:id="rId5"/>
              </a:rPr>
              <a:t>production</a:t>
            </a: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65</a:t>
            </a:fld>
            <a:endParaRPr lang="en-US"/>
          </a:p>
        </p:txBody>
      </p:sp>
    </p:spTree>
    <p:extLst>
      <p:ext uri="{BB962C8B-B14F-4D97-AF65-F5344CB8AC3E}">
        <p14:creationId xmlns:p14="http://schemas.microsoft.com/office/powerpoint/2010/main" val="3351330231"/>
      </p:ext>
    </p:extLst>
  </p:cSld>
  <p:clrMapOvr>
    <a:masterClrMapping/>
  </p:clrMapOvr>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polymer-modulizer</a:t>
            </a:r>
            <a:r>
              <a:rPr lang="es-ES" sz="2000" dirty="0" smtClean="0">
                <a:solidFill>
                  <a:srgbClr val="FFFFFF"/>
                </a:solidFill>
                <a:latin typeface="Helvetica"/>
                <a:ea typeface="Lucida Grande"/>
                <a:cs typeface="Helvetica"/>
              </a:rPr>
              <a:t>	</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Polymer-modulizer</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6560259"/>
          </a:xfrm>
          <a:prstGeom prst="rect">
            <a:avLst/>
          </a:prstGeom>
        </p:spPr>
        <p:txBody>
          <a:bodyPr wrap="square">
            <a:spAutoFit/>
          </a:bodyPr>
          <a:lstStyle/>
          <a:p>
            <a:pPr algn="just">
              <a:lnSpc>
                <a:spcPct val="130000"/>
              </a:lnSpc>
            </a:pPr>
            <a:r>
              <a:rPr lang="nb-NO" dirty="0" err="1">
                <a:solidFill>
                  <a:srgbClr val="FFFFFF"/>
                </a:solidFill>
                <a:latin typeface="Helvetica"/>
                <a:cs typeface="Helvetica"/>
              </a:rPr>
              <a:t>Esta</a:t>
            </a:r>
            <a:r>
              <a:rPr lang="nb-NO" dirty="0">
                <a:solidFill>
                  <a:srgbClr val="FFFFFF"/>
                </a:solidFill>
                <a:latin typeface="Helvetica"/>
                <a:cs typeface="Helvetica"/>
              </a:rPr>
              <a:t> </a:t>
            </a:r>
            <a:r>
              <a:rPr lang="nb-NO" dirty="0" err="1">
                <a:solidFill>
                  <a:srgbClr val="FFFFFF"/>
                </a:solidFill>
                <a:latin typeface="Helvetica"/>
                <a:cs typeface="Helvetica"/>
              </a:rPr>
              <a:t>herramienta</a:t>
            </a:r>
            <a:r>
              <a:rPr lang="nb-NO" dirty="0">
                <a:solidFill>
                  <a:srgbClr val="FFFFFF"/>
                </a:solidFill>
                <a:latin typeface="Helvetica"/>
                <a:cs typeface="Helvetica"/>
              </a:rPr>
              <a:t> </a:t>
            </a:r>
            <a:r>
              <a:rPr lang="nb-NO" dirty="0" err="1">
                <a:solidFill>
                  <a:srgbClr val="FFFFFF"/>
                </a:solidFill>
                <a:latin typeface="Helvetica"/>
                <a:cs typeface="Helvetica"/>
              </a:rPr>
              <a:t>permite</a:t>
            </a:r>
            <a:r>
              <a:rPr lang="nb-NO" dirty="0">
                <a:solidFill>
                  <a:srgbClr val="FFFFFF"/>
                </a:solidFill>
                <a:latin typeface="Helvetica"/>
                <a:cs typeface="Helvetica"/>
              </a:rPr>
              <a:t> resolver de </a:t>
            </a:r>
            <a:r>
              <a:rPr lang="nb-NO" dirty="0" err="1">
                <a:solidFill>
                  <a:srgbClr val="FFFFFF"/>
                </a:solidFill>
                <a:latin typeface="Helvetica"/>
                <a:cs typeface="Helvetica"/>
              </a:rPr>
              <a:t>manera</a:t>
            </a:r>
            <a:r>
              <a:rPr lang="nb-NO" dirty="0">
                <a:solidFill>
                  <a:srgbClr val="FFFFFF"/>
                </a:solidFill>
                <a:latin typeface="Helvetica"/>
                <a:cs typeface="Helvetica"/>
              </a:rPr>
              <a:t> </a:t>
            </a:r>
            <a:r>
              <a:rPr lang="nb-NO" dirty="0" err="1">
                <a:solidFill>
                  <a:srgbClr val="FFFFFF"/>
                </a:solidFill>
                <a:latin typeface="Helvetica"/>
                <a:cs typeface="Helvetica"/>
              </a:rPr>
              <a:t>automática</a:t>
            </a:r>
            <a:r>
              <a:rPr lang="nb-NO" dirty="0">
                <a:solidFill>
                  <a:srgbClr val="FFFFFF"/>
                </a:solidFill>
                <a:latin typeface="Helvetica"/>
                <a:cs typeface="Helvetica"/>
              </a:rPr>
              <a:t> la </a:t>
            </a:r>
            <a:r>
              <a:rPr lang="nb-NO" dirty="0" err="1">
                <a:solidFill>
                  <a:srgbClr val="FFFFFF"/>
                </a:solidFill>
                <a:latin typeface="Helvetica"/>
                <a:cs typeface="Helvetica"/>
              </a:rPr>
              <a:t>prácticamente</a:t>
            </a:r>
            <a:r>
              <a:rPr lang="nb-NO" dirty="0">
                <a:solidFill>
                  <a:srgbClr val="FFFFFF"/>
                </a:solidFill>
                <a:latin typeface="Helvetica"/>
                <a:cs typeface="Helvetica"/>
              </a:rPr>
              <a:t> </a:t>
            </a:r>
            <a:r>
              <a:rPr lang="nb-NO" dirty="0" err="1">
                <a:solidFill>
                  <a:srgbClr val="FFFFFF"/>
                </a:solidFill>
                <a:latin typeface="Helvetica"/>
                <a:cs typeface="Helvetica"/>
              </a:rPr>
              <a:t>totalidad</a:t>
            </a:r>
            <a:r>
              <a:rPr lang="nb-NO" dirty="0">
                <a:solidFill>
                  <a:srgbClr val="FFFFFF"/>
                </a:solidFill>
                <a:latin typeface="Helvetica"/>
                <a:cs typeface="Helvetica"/>
              </a:rPr>
              <a:t> de </a:t>
            </a:r>
            <a:r>
              <a:rPr lang="nb-NO" dirty="0" err="1" smtClean="0">
                <a:solidFill>
                  <a:srgbClr val="FFFFFF"/>
                </a:solidFill>
                <a:latin typeface="Helvetica"/>
                <a:cs typeface="Helvetica"/>
              </a:rPr>
              <a:t>lasvnecesidades</a:t>
            </a:r>
            <a:r>
              <a:rPr lang="nb-NO" dirty="0" smtClean="0">
                <a:solidFill>
                  <a:srgbClr val="FFFFFF"/>
                </a:solidFill>
                <a:latin typeface="Helvetica"/>
                <a:cs typeface="Helvetica"/>
              </a:rPr>
              <a:t> </a:t>
            </a:r>
            <a:r>
              <a:rPr lang="nb-NO" dirty="0">
                <a:solidFill>
                  <a:srgbClr val="FFFFFF"/>
                </a:solidFill>
                <a:latin typeface="Helvetica"/>
                <a:cs typeface="Helvetica"/>
              </a:rPr>
              <a:t>de </a:t>
            </a:r>
            <a:r>
              <a:rPr lang="nb-NO" dirty="0" err="1">
                <a:solidFill>
                  <a:srgbClr val="FFFFFF"/>
                </a:solidFill>
                <a:latin typeface="Helvetica"/>
                <a:cs typeface="Helvetica"/>
              </a:rPr>
              <a:t>migración</a:t>
            </a:r>
            <a:r>
              <a:rPr lang="nb-NO" dirty="0">
                <a:solidFill>
                  <a:srgbClr val="FFFFFF"/>
                </a:solidFill>
                <a:latin typeface="Helvetica"/>
                <a:cs typeface="Helvetica"/>
              </a:rPr>
              <a:t> de </a:t>
            </a:r>
            <a:r>
              <a:rPr lang="nb-NO" dirty="0" err="1">
                <a:solidFill>
                  <a:srgbClr val="FFFFFF"/>
                </a:solidFill>
                <a:latin typeface="Helvetica"/>
                <a:cs typeface="Helvetica"/>
              </a:rPr>
              <a:t>componentes</a:t>
            </a:r>
            <a:r>
              <a:rPr lang="nb-NO" dirty="0">
                <a:solidFill>
                  <a:srgbClr val="FFFFFF"/>
                </a:solidFill>
                <a:latin typeface="Helvetica"/>
                <a:cs typeface="Helvetica"/>
              </a:rPr>
              <a:t> y </a:t>
            </a:r>
            <a:r>
              <a:rPr lang="nb-NO" dirty="0" err="1">
                <a:solidFill>
                  <a:srgbClr val="FFFFFF"/>
                </a:solidFill>
                <a:latin typeface="Helvetica"/>
                <a:cs typeface="Helvetica"/>
              </a:rPr>
              <a:t>aplicaciones</a:t>
            </a:r>
            <a:r>
              <a:rPr lang="nb-NO" dirty="0">
                <a:solidFill>
                  <a:srgbClr val="FFFFFF"/>
                </a:solidFill>
                <a:latin typeface="Helvetica"/>
                <a:cs typeface="Helvetica"/>
              </a:rPr>
              <a:t>, </a:t>
            </a:r>
            <a:r>
              <a:rPr lang="nb-NO" dirty="0" err="1">
                <a:solidFill>
                  <a:srgbClr val="FFFFFF"/>
                </a:solidFill>
                <a:latin typeface="Helvetica"/>
                <a:cs typeface="Helvetica"/>
              </a:rPr>
              <a:t>desde</a:t>
            </a:r>
            <a:r>
              <a:rPr lang="nb-NO" dirty="0">
                <a:solidFill>
                  <a:srgbClr val="FFFFFF"/>
                </a:solidFill>
                <a:latin typeface="Helvetica"/>
                <a:cs typeface="Helvetica"/>
              </a:rPr>
              <a:t> Polymer 2.0 a Polymer 3.0.</a:t>
            </a:r>
          </a:p>
          <a:p>
            <a:pPr algn="just">
              <a:lnSpc>
                <a:spcPct val="130000"/>
              </a:lnSpc>
            </a:pPr>
            <a:r>
              <a:rPr lang="nb-NO" dirty="0">
                <a:solidFill>
                  <a:srgbClr val="FFFFFF"/>
                </a:solidFill>
                <a:latin typeface="Helvetica"/>
                <a:cs typeface="Helvetica"/>
              </a:rPr>
              <a:t>No </a:t>
            </a:r>
            <a:r>
              <a:rPr lang="nb-NO" dirty="0" err="1">
                <a:solidFill>
                  <a:srgbClr val="FFFFFF"/>
                </a:solidFill>
                <a:latin typeface="Helvetica"/>
                <a:cs typeface="Helvetica"/>
              </a:rPr>
              <a:t>funciona</a:t>
            </a:r>
            <a:r>
              <a:rPr lang="nb-NO" dirty="0">
                <a:solidFill>
                  <a:srgbClr val="FFFFFF"/>
                </a:solidFill>
                <a:latin typeface="Helvetica"/>
                <a:cs typeface="Helvetica"/>
              </a:rPr>
              <a:t> </a:t>
            </a:r>
            <a:r>
              <a:rPr lang="nb-NO" dirty="0" err="1">
                <a:solidFill>
                  <a:srgbClr val="FFFFFF"/>
                </a:solidFill>
                <a:latin typeface="Helvetica"/>
                <a:cs typeface="Helvetica"/>
              </a:rPr>
              <a:t>desde</a:t>
            </a:r>
            <a:r>
              <a:rPr lang="nb-NO" dirty="0">
                <a:solidFill>
                  <a:srgbClr val="FFFFFF"/>
                </a:solidFill>
                <a:latin typeface="Helvetica"/>
                <a:cs typeface="Helvetica"/>
              </a:rPr>
              <a:t> Polymer 1.x, </a:t>
            </a:r>
            <a:r>
              <a:rPr lang="nb-NO" dirty="0" err="1">
                <a:solidFill>
                  <a:srgbClr val="FFFFFF"/>
                </a:solidFill>
                <a:latin typeface="Helvetica"/>
                <a:cs typeface="Helvetica"/>
              </a:rPr>
              <a:t>ya</a:t>
            </a:r>
            <a:r>
              <a:rPr lang="nb-NO" dirty="0">
                <a:solidFill>
                  <a:srgbClr val="FFFFFF"/>
                </a:solidFill>
                <a:latin typeface="Helvetica"/>
                <a:cs typeface="Helvetica"/>
              </a:rPr>
              <a:t> </a:t>
            </a:r>
            <a:r>
              <a:rPr lang="nb-NO" dirty="0" err="1">
                <a:solidFill>
                  <a:srgbClr val="FFFFFF"/>
                </a:solidFill>
                <a:latin typeface="Helvetica"/>
                <a:cs typeface="Helvetica"/>
              </a:rPr>
              <a:t>que</a:t>
            </a:r>
            <a:r>
              <a:rPr lang="nb-NO" dirty="0">
                <a:solidFill>
                  <a:srgbClr val="FFFFFF"/>
                </a:solidFill>
                <a:latin typeface="Helvetica"/>
                <a:cs typeface="Helvetica"/>
              </a:rPr>
              <a:t> en </a:t>
            </a:r>
            <a:r>
              <a:rPr lang="nb-NO" dirty="0" err="1">
                <a:solidFill>
                  <a:srgbClr val="FFFFFF"/>
                </a:solidFill>
                <a:latin typeface="Helvetica"/>
                <a:cs typeface="Helvetica"/>
              </a:rPr>
              <a:t>esa</a:t>
            </a:r>
            <a:r>
              <a:rPr lang="nb-NO" dirty="0">
                <a:solidFill>
                  <a:srgbClr val="FFFFFF"/>
                </a:solidFill>
                <a:latin typeface="Helvetica"/>
                <a:cs typeface="Helvetica"/>
              </a:rPr>
              <a:t> </a:t>
            </a:r>
            <a:r>
              <a:rPr lang="nb-NO" dirty="0" err="1">
                <a:solidFill>
                  <a:srgbClr val="FFFFFF"/>
                </a:solidFill>
                <a:latin typeface="Helvetica"/>
                <a:cs typeface="Helvetica"/>
              </a:rPr>
              <a:t>versión</a:t>
            </a:r>
            <a:r>
              <a:rPr lang="nb-NO" dirty="0">
                <a:solidFill>
                  <a:srgbClr val="FFFFFF"/>
                </a:solidFill>
                <a:latin typeface="Helvetica"/>
                <a:cs typeface="Helvetica"/>
              </a:rPr>
              <a:t> de la </a:t>
            </a:r>
            <a:r>
              <a:rPr lang="nb-NO" dirty="0" err="1">
                <a:solidFill>
                  <a:srgbClr val="FFFFFF"/>
                </a:solidFill>
                <a:latin typeface="Helvetica"/>
                <a:cs typeface="Helvetica"/>
              </a:rPr>
              <a:t>librería</a:t>
            </a:r>
            <a:r>
              <a:rPr lang="nb-NO" dirty="0">
                <a:solidFill>
                  <a:srgbClr val="FFFFFF"/>
                </a:solidFill>
                <a:latin typeface="Helvetica"/>
                <a:cs typeface="Helvetica"/>
              </a:rPr>
              <a:t> </a:t>
            </a:r>
            <a:r>
              <a:rPr lang="nb-NO" dirty="0" err="1">
                <a:solidFill>
                  <a:srgbClr val="FFFFFF"/>
                </a:solidFill>
                <a:latin typeface="Helvetica"/>
                <a:cs typeface="Helvetica"/>
              </a:rPr>
              <a:t>no</a:t>
            </a:r>
            <a:r>
              <a:rPr lang="nb-NO" dirty="0">
                <a:solidFill>
                  <a:srgbClr val="FFFFFF"/>
                </a:solidFill>
                <a:latin typeface="Helvetica"/>
                <a:cs typeface="Helvetica"/>
              </a:rPr>
              <a:t> se </a:t>
            </a:r>
            <a:r>
              <a:rPr lang="nb-NO" dirty="0" err="1">
                <a:solidFill>
                  <a:srgbClr val="FFFFFF"/>
                </a:solidFill>
                <a:latin typeface="Helvetica"/>
                <a:cs typeface="Helvetica"/>
              </a:rPr>
              <a:t>usaban</a:t>
            </a:r>
            <a:r>
              <a:rPr lang="nb-NO" dirty="0">
                <a:solidFill>
                  <a:srgbClr val="FFFFFF"/>
                </a:solidFill>
                <a:latin typeface="Helvetica"/>
                <a:cs typeface="Helvetica"/>
              </a:rPr>
              <a:t> </a:t>
            </a:r>
            <a:r>
              <a:rPr lang="nb-NO" dirty="0" err="1">
                <a:solidFill>
                  <a:srgbClr val="FFFFFF"/>
                </a:solidFill>
                <a:latin typeface="Helvetica"/>
                <a:cs typeface="Helvetica"/>
              </a:rPr>
              <a:t>clases</a:t>
            </a:r>
            <a:r>
              <a:rPr lang="nb-NO" dirty="0">
                <a:solidFill>
                  <a:srgbClr val="FFFFFF"/>
                </a:solidFill>
                <a:latin typeface="Helvetica"/>
                <a:cs typeface="Helvetica"/>
              </a:rPr>
              <a:t> </a:t>
            </a:r>
            <a:r>
              <a:rPr lang="nb-NO" dirty="0" smtClean="0">
                <a:solidFill>
                  <a:srgbClr val="FFFFFF"/>
                </a:solidFill>
                <a:latin typeface="Helvetica"/>
                <a:cs typeface="Helvetica"/>
              </a:rPr>
              <a:t>ES6 para </a:t>
            </a:r>
            <a:r>
              <a:rPr lang="nb-NO" dirty="0" err="1">
                <a:solidFill>
                  <a:srgbClr val="FFFFFF"/>
                </a:solidFill>
                <a:latin typeface="Helvetica"/>
                <a:cs typeface="Helvetica"/>
              </a:rPr>
              <a:t>implementar</a:t>
            </a:r>
            <a:r>
              <a:rPr lang="nb-NO" dirty="0">
                <a:solidFill>
                  <a:srgbClr val="FFFFFF"/>
                </a:solidFill>
                <a:latin typeface="Helvetica"/>
                <a:cs typeface="Helvetica"/>
              </a:rPr>
              <a:t> los </a:t>
            </a:r>
            <a:r>
              <a:rPr lang="nb-NO" dirty="0" err="1">
                <a:solidFill>
                  <a:srgbClr val="FFFFFF"/>
                </a:solidFill>
                <a:latin typeface="Helvetica"/>
                <a:cs typeface="Helvetica"/>
              </a:rPr>
              <a:t>custom</a:t>
            </a:r>
            <a:r>
              <a:rPr lang="nb-NO" dirty="0">
                <a:solidFill>
                  <a:srgbClr val="FFFFFF"/>
                </a:solidFill>
                <a:latin typeface="Helvetica"/>
                <a:cs typeface="Helvetica"/>
              </a:rPr>
              <a:t> elements</a:t>
            </a:r>
            <a:endParaRPr lang="es-ES_tradnl" dirty="0">
              <a:solidFill>
                <a:srgbClr val="FFFFFF"/>
              </a:solidFill>
              <a:latin typeface="Helvetica"/>
              <a:cs typeface="Helvetica"/>
            </a:endParaRPr>
          </a:p>
          <a:p>
            <a:pPr algn="just">
              <a:lnSpc>
                <a:spcPct val="130000"/>
              </a:lnSpc>
            </a:pPr>
            <a:endParaRPr lang="es-ES_tradnl" dirty="0" smtClean="0">
              <a:solidFill>
                <a:srgbClr val="FFFFFF"/>
              </a:solidFill>
              <a:latin typeface="Helvetica"/>
              <a:cs typeface="Helvetica"/>
            </a:endParaRPr>
          </a:p>
          <a:p>
            <a:pPr algn="just">
              <a:lnSpc>
                <a:spcPct val="130000"/>
              </a:lnSpc>
            </a:pPr>
            <a:r>
              <a:rPr lang="nb-NO" dirty="0" err="1">
                <a:solidFill>
                  <a:srgbClr val="FFFFFF"/>
                </a:solidFill>
                <a:latin typeface="Helvetica"/>
                <a:cs typeface="Helvetica"/>
              </a:rPr>
              <a:t>Referencia</a:t>
            </a:r>
            <a:r>
              <a:rPr lang="nb-NO" dirty="0">
                <a:solidFill>
                  <a:srgbClr val="FFFFFF"/>
                </a:solidFill>
                <a:latin typeface="Helvetica"/>
                <a:cs typeface="Helvetica"/>
              </a:rPr>
              <a:t> </a:t>
            </a:r>
            <a:r>
              <a:rPr lang="nb-NO" dirty="0" err="1">
                <a:solidFill>
                  <a:srgbClr val="FFFFFF"/>
                </a:solidFill>
                <a:latin typeface="Helvetica"/>
                <a:cs typeface="Helvetica"/>
              </a:rPr>
              <a:t>Completa</a:t>
            </a:r>
            <a:r>
              <a:rPr lang="nb-NO" dirty="0" smtClean="0">
                <a:solidFill>
                  <a:srgbClr val="FFFFFF"/>
                </a:solidFill>
                <a:latin typeface="Helvetica"/>
                <a:cs typeface="Helvetica"/>
              </a:rPr>
              <a:t>:</a:t>
            </a:r>
            <a:endParaRPr lang="nb-NO" dirty="0">
              <a:solidFill>
                <a:srgbClr val="FFFFFF"/>
              </a:solidFill>
              <a:latin typeface="Helvetica"/>
              <a:cs typeface="Helvetica"/>
            </a:endParaRPr>
          </a:p>
          <a:p>
            <a:pPr algn="just">
              <a:lnSpc>
                <a:spcPct val="130000"/>
              </a:lnSpc>
            </a:pPr>
            <a:r>
              <a:rPr lang="nb-NO" dirty="0">
                <a:solidFill>
                  <a:srgbClr val="FFFFFF"/>
                </a:solidFill>
                <a:latin typeface="Helvetica"/>
                <a:cs typeface="Helvetica"/>
                <a:hlinkClick r:id="rId5"/>
              </a:rPr>
              <a:t>https://polymer-library.polymer-project.org/3.0/docs/</a:t>
            </a:r>
            <a:r>
              <a:rPr lang="nb-NO" dirty="0" smtClean="0">
                <a:solidFill>
                  <a:srgbClr val="FFFFFF"/>
                </a:solidFill>
                <a:latin typeface="Helvetica"/>
                <a:cs typeface="Helvetica"/>
                <a:hlinkClick r:id="rId5"/>
              </a:rPr>
              <a:t>upgrade</a:t>
            </a: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66</a:t>
            </a:fld>
            <a:endParaRPr lang="en-US"/>
          </a:p>
        </p:txBody>
      </p:sp>
    </p:spTree>
    <p:extLst>
      <p:ext uri="{BB962C8B-B14F-4D97-AF65-F5344CB8AC3E}">
        <p14:creationId xmlns:p14="http://schemas.microsoft.com/office/powerpoint/2010/main" val="2262807936"/>
      </p:ext>
    </p:extLst>
  </p:cSld>
  <p:clrMapOvr>
    <a:masterClrMapping/>
  </p:clrMapOvr>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Lifecycle</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a:latin typeface="Arial Black"/>
                <a:cs typeface="Arial Black"/>
              </a:rPr>
              <a:t>Lifecycle</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3679469"/>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67</a:t>
            </a:fld>
            <a:endParaRPr lang="en-US"/>
          </a:p>
        </p:txBody>
      </p:sp>
      <p:sp>
        <p:nvSpPr>
          <p:cNvPr id="16" name="Rectángulo 15"/>
          <p:cNvSpPr/>
          <p:nvPr/>
        </p:nvSpPr>
        <p:spPr>
          <a:xfrm>
            <a:off x="492433" y="1614742"/>
            <a:ext cx="8202871" cy="7640554"/>
          </a:xfrm>
          <a:prstGeom prst="rect">
            <a:avLst/>
          </a:prstGeom>
        </p:spPr>
        <p:txBody>
          <a:bodyPr wrap="square">
            <a:spAutoFit/>
          </a:bodyPr>
          <a:lstStyle/>
          <a:p>
            <a:pPr algn="just">
              <a:lnSpc>
                <a:spcPct val="130000"/>
              </a:lnSpc>
            </a:pPr>
            <a:r>
              <a:rPr lang="nb-NO" dirty="0">
                <a:solidFill>
                  <a:srgbClr val="FFFFFF"/>
                </a:solidFill>
                <a:latin typeface="Helvetica"/>
                <a:cs typeface="Helvetica"/>
              </a:rPr>
              <a:t>La </a:t>
            </a:r>
            <a:r>
              <a:rPr lang="nb-NO" dirty="0" err="1">
                <a:solidFill>
                  <a:srgbClr val="FFFFFF"/>
                </a:solidFill>
                <a:latin typeface="Helvetica"/>
                <a:cs typeface="Helvetica"/>
              </a:rPr>
              <a:t>mayor</a:t>
            </a:r>
            <a:r>
              <a:rPr lang="nb-NO" dirty="0">
                <a:solidFill>
                  <a:srgbClr val="FFFFFF"/>
                </a:solidFill>
                <a:latin typeface="Helvetica"/>
                <a:cs typeface="Helvetica"/>
              </a:rPr>
              <a:t> </a:t>
            </a:r>
            <a:r>
              <a:rPr lang="nb-NO" dirty="0" err="1">
                <a:solidFill>
                  <a:srgbClr val="FFFFFF"/>
                </a:solidFill>
                <a:latin typeface="Helvetica"/>
                <a:cs typeface="Helvetica"/>
              </a:rPr>
              <a:t>parte</a:t>
            </a:r>
            <a:r>
              <a:rPr lang="nb-NO" dirty="0">
                <a:solidFill>
                  <a:srgbClr val="FFFFFF"/>
                </a:solidFill>
                <a:latin typeface="Helvetica"/>
                <a:cs typeface="Helvetica"/>
              </a:rPr>
              <a:t> de los </a:t>
            </a:r>
            <a:r>
              <a:rPr lang="nb-NO" dirty="0" err="1">
                <a:solidFill>
                  <a:srgbClr val="FFFFFF"/>
                </a:solidFill>
                <a:latin typeface="Helvetica"/>
                <a:cs typeface="Helvetica"/>
              </a:rPr>
              <a:t>estados</a:t>
            </a:r>
            <a:r>
              <a:rPr lang="nb-NO" dirty="0">
                <a:solidFill>
                  <a:srgbClr val="FFFFFF"/>
                </a:solidFill>
                <a:latin typeface="Helvetica"/>
                <a:cs typeface="Helvetica"/>
              </a:rPr>
              <a:t> del </a:t>
            </a:r>
            <a:r>
              <a:rPr lang="nb-NO" dirty="0" err="1">
                <a:solidFill>
                  <a:srgbClr val="FFFFFF"/>
                </a:solidFill>
                <a:latin typeface="Helvetica"/>
                <a:cs typeface="Helvetica"/>
              </a:rPr>
              <a:t>ciclo</a:t>
            </a:r>
            <a:r>
              <a:rPr lang="nb-NO" dirty="0">
                <a:solidFill>
                  <a:srgbClr val="FFFFFF"/>
                </a:solidFill>
                <a:latin typeface="Helvetica"/>
                <a:cs typeface="Helvetica"/>
              </a:rPr>
              <a:t> de vida de </a:t>
            </a:r>
            <a:r>
              <a:rPr lang="nb-NO" dirty="0" err="1">
                <a:solidFill>
                  <a:srgbClr val="FFFFFF"/>
                </a:solidFill>
                <a:latin typeface="Helvetica"/>
                <a:cs typeface="Helvetica"/>
              </a:rPr>
              <a:t>un</a:t>
            </a:r>
            <a:r>
              <a:rPr lang="nb-NO" dirty="0">
                <a:solidFill>
                  <a:srgbClr val="FFFFFF"/>
                </a:solidFill>
                <a:latin typeface="Helvetica"/>
                <a:cs typeface="Helvetica"/>
              </a:rPr>
              <a:t> </a:t>
            </a:r>
            <a:r>
              <a:rPr lang="nb-NO" dirty="0" err="1">
                <a:solidFill>
                  <a:srgbClr val="FFFFFF"/>
                </a:solidFill>
                <a:latin typeface="Helvetica"/>
                <a:cs typeface="Helvetica"/>
              </a:rPr>
              <a:t>componente</a:t>
            </a:r>
            <a:r>
              <a:rPr lang="nb-NO" dirty="0">
                <a:solidFill>
                  <a:srgbClr val="FFFFFF"/>
                </a:solidFill>
                <a:latin typeface="Helvetica"/>
                <a:cs typeface="Helvetica"/>
              </a:rPr>
              <a:t> Polymer </a:t>
            </a:r>
            <a:r>
              <a:rPr lang="nb-NO" dirty="0" smtClean="0">
                <a:solidFill>
                  <a:srgbClr val="FFFFFF"/>
                </a:solidFill>
                <a:latin typeface="Helvetica"/>
                <a:cs typeface="Helvetica"/>
              </a:rPr>
              <a:t> </a:t>
            </a:r>
            <a:r>
              <a:rPr lang="nb-NO" dirty="0">
                <a:solidFill>
                  <a:srgbClr val="FFFFFF"/>
                </a:solidFill>
                <a:latin typeface="Helvetica"/>
                <a:cs typeface="Helvetica"/>
              </a:rPr>
              <a:t>son </a:t>
            </a:r>
            <a:r>
              <a:rPr lang="nb-NO" dirty="0" err="1">
                <a:solidFill>
                  <a:srgbClr val="FFFFFF"/>
                </a:solidFill>
                <a:latin typeface="Helvetica"/>
                <a:cs typeface="Helvetica"/>
              </a:rPr>
              <a:t>derivados</a:t>
            </a:r>
            <a:r>
              <a:rPr lang="nb-NO" dirty="0">
                <a:solidFill>
                  <a:srgbClr val="FFFFFF"/>
                </a:solidFill>
                <a:latin typeface="Helvetica"/>
                <a:cs typeface="Helvetica"/>
              </a:rPr>
              <a:t> </a:t>
            </a:r>
            <a:r>
              <a:rPr lang="nb-NO" dirty="0" err="1" smtClean="0">
                <a:solidFill>
                  <a:srgbClr val="FFFFFF"/>
                </a:solidFill>
                <a:latin typeface="Helvetica"/>
                <a:cs typeface="Helvetica"/>
              </a:rPr>
              <a:t>directamente</a:t>
            </a:r>
            <a:r>
              <a:rPr lang="nb-NO" dirty="0" smtClean="0">
                <a:solidFill>
                  <a:srgbClr val="FFFFFF"/>
                </a:solidFill>
                <a:latin typeface="Helvetica"/>
                <a:cs typeface="Helvetica"/>
              </a:rPr>
              <a:t> del </a:t>
            </a:r>
            <a:r>
              <a:rPr lang="nb-NO" dirty="0" err="1">
                <a:solidFill>
                  <a:srgbClr val="FFFFFF"/>
                </a:solidFill>
                <a:latin typeface="Helvetica"/>
                <a:cs typeface="Helvetica"/>
              </a:rPr>
              <a:t>estándar</a:t>
            </a:r>
            <a:r>
              <a:rPr lang="nb-NO" dirty="0">
                <a:solidFill>
                  <a:srgbClr val="FFFFFF"/>
                </a:solidFill>
                <a:latin typeface="Helvetica"/>
                <a:cs typeface="Helvetica"/>
              </a:rPr>
              <a:t> Web Components </a:t>
            </a:r>
            <a:r>
              <a:rPr lang="nb-NO" dirty="0" smtClean="0">
                <a:solidFill>
                  <a:srgbClr val="FFFFFF"/>
                </a:solidFill>
                <a:latin typeface="Helvetica"/>
                <a:cs typeface="Helvetica"/>
              </a:rPr>
              <a:t>V1:</a:t>
            </a:r>
          </a:p>
          <a:p>
            <a:pPr algn="just">
              <a:lnSpc>
                <a:spcPct val="130000"/>
              </a:lnSpc>
            </a:pPr>
            <a:endParaRPr lang="nb-NO" dirty="0" smtClean="0">
              <a:solidFill>
                <a:srgbClr val="FFFFFF"/>
              </a:solidFill>
              <a:latin typeface="Helvetica"/>
              <a:cs typeface="Helvetica"/>
            </a:endParaRPr>
          </a:p>
          <a:p>
            <a:pPr algn="just">
              <a:lnSpc>
                <a:spcPct val="130000"/>
              </a:lnSpc>
            </a:pPr>
            <a:r>
              <a:rPr lang="nb-NO" dirty="0" err="1">
                <a:solidFill>
                  <a:srgbClr val="B8E39D"/>
                </a:solidFill>
                <a:latin typeface="Helvetica"/>
                <a:cs typeface="Helvetica"/>
              </a:rPr>
              <a:t>constructor</a:t>
            </a:r>
            <a:r>
              <a:rPr lang="nb-NO" dirty="0">
                <a:solidFill>
                  <a:srgbClr val="B8E39D"/>
                </a:solidFill>
                <a:latin typeface="Helvetica"/>
                <a:cs typeface="Helvetica"/>
              </a:rPr>
              <a:t>: </a:t>
            </a:r>
            <a:r>
              <a:rPr lang="nb-NO" dirty="0">
                <a:solidFill>
                  <a:srgbClr val="FFFFFF"/>
                </a:solidFill>
                <a:latin typeface="Helvetica"/>
                <a:cs typeface="Helvetica"/>
              </a:rPr>
              <a:t>Es el </a:t>
            </a:r>
            <a:r>
              <a:rPr lang="nb-NO" dirty="0" err="1">
                <a:solidFill>
                  <a:srgbClr val="FFFFFF"/>
                </a:solidFill>
                <a:latin typeface="Helvetica"/>
                <a:cs typeface="Helvetica"/>
              </a:rPr>
              <a:t>propio</a:t>
            </a:r>
            <a:r>
              <a:rPr lang="nb-NO" dirty="0">
                <a:solidFill>
                  <a:srgbClr val="FFFFFF"/>
                </a:solidFill>
                <a:latin typeface="Helvetica"/>
                <a:cs typeface="Helvetica"/>
              </a:rPr>
              <a:t> </a:t>
            </a:r>
            <a:r>
              <a:rPr lang="nb-NO" dirty="0" err="1">
                <a:solidFill>
                  <a:srgbClr val="FFFFFF"/>
                </a:solidFill>
                <a:latin typeface="Helvetica"/>
                <a:cs typeface="Helvetica"/>
              </a:rPr>
              <a:t>constructor</a:t>
            </a:r>
            <a:r>
              <a:rPr lang="nb-NO" dirty="0">
                <a:solidFill>
                  <a:srgbClr val="FFFFFF"/>
                </a:solidFill>
                <a:latin typeface="Helvetica"/>
                <a:cs typeface="Helvetica"/>
              </a:rPr>
              <a:t> de la </a:t>
            </a:r>
            <a:r>
              <a:rPr lang="nb-NO" dirty="0" err="1">
                <a:solidFill>
                  <a:srgbClr val="FFFFFF"/>
                </a:solidFill>
                <a:latin typeface="Helvetica"/>
                <a:cs typeface="Helvetica"/>
              </a:rPr>
              <a:t>clase</a:t>
            </a:r>
            <a:r>
              <a:rPr lang="nb-NO" dirty="0">
                <a:solidFill>
                  <a:srgbClr val="FFFFFF"/>
                </a:solidFill>
                <a:latin typeface="Helvetica"/>
                <a:cs typeface="Helvetica"/>
              </a:rPr>
              <a:t> ES6 </a:t>
            </a:r>
            <a:r>
              <a:rPr lang="nb-NO" dirty="0" err="1">
                <a:solidFill>
                  <a:srgbClr val="FFFFFF"/>
                </a:solidFill>
                <a:latin typeface="Helvetica"/>
                <a:cs typeface="Helvetica"/>
              </a:rPr>
              <a:t>que</a:t>
            </a:r>
            <a:r>
              <a:rPr lang="nb-NO" dirty="0">
                <a:solidFill>
                  <a:srgbClr val="FFFFFF"/>
                </a:solidFill>
                <a:latin typeface="Helvetica"/>
                <a:cs typeface="Helvetica"/>
              </a:rPr>
              <a:t> se </a:t>
            </a:r>
            <a:r>
              <a:rPr lang="nb-NO" dirty="0" err="1">
                <a:solidFill>
                  <a:srgbClr val="FFFFFF"/>
                </a:solidFill>
                <a:latin typeface="Helvetica"/>
                <a:cs typeface="Helvetica"/>
              </a:rPr>
              <a:t>escribe</a:t>
            </a:r>
            <a:r>
              <a:rPr lang="nb-NO" dirty="0">
                <a:solidFill>
                  <a:srgbClr val="FFFFFF"/>
                </a:solidFill>
                <a:latin typeface="Helvetica"/>
                <a:cs typeface="Helvetica"/>
              </a:rPr>
              <a:t> para </a:t>
            </a:r>
            <a:r>
              <a:rPr lang="nb-NO" dirty="0" err="1">
                <a:solidFill>
                  <a:srgbClr val="FFFFFF"/>
                </a:solidFill>
                <a:latin typeface="Helvetica"/>
                <a:cs typeface="Helvetica"/>
              </a:rPr>
              <a:t>implementar</a:t>
            </a:r>
            <a:r>
              <a:rPr lang="nb-NO" dirty="0">
                <a:solidFill>
                  <a:srgbClr val="FFFFFF"/>
                </a:solidFill>
                <a:latin typeface="Helvetica"/>
                <a:cs typeface="Helvetica"/>
              </a:rPr>
              <a:t> </a:t>
            </a:r>
            <a:r>
              <a:rPr lang="nb-NO" dirty="0" err="1">
                <a:solidFill>
                  <a:srgbClr val="FFFFFF"/>
                </a:solidFill>
                <a:latin typeface="Helvetica"/>
                <a:cs typeface="Helvetica"/>
              </a:rPr>
              <a:t>un</a:t>
            </a:r>
            <a:r>
              <a:rPr lang="nb-NO" dirty="0">
                <a:solidFill>
                  <a:srgbClr val="FFFFFF"/>
                </a:solidFill>
                <a:latin typeface="Helvetica"/>
                <a:cs typeface="Helvetica"/>
              </a:rPr>
              <a:t> </a:t>
            </a:r>
            <a:r>
              <a:rPr lang="nb-NO" dirty="0" err="1" smtClean="0">
                <a:solidFill>
                  <a:srgbClr val="FFFFFF"/>
                </a:solidFill>
                <a:latin typeface="Helvetica"/>
                <a:cs typeface="Helvetica"/>
              </a:rPr>
              <a:t>custom</a:t>
            </a:r>
            <a:r>
              <a:rPr lang="nb-NO" dirty="0" smtClean="0">
                <a:solidFill>
                  <a:srgbClr val="FFFFFF"/>
                </a:solidFill>
                <a:latin typeface="Helvetica"/>
                <a:cs typeface="Helvetica"/>
              </a:rPr>
              <a:t> element</a:t>
            </a:r>
            <a:r>
              <a:rPr lang="nb-NO" dirty="0">
                <a:solidFill>
                  <a:srgbClr val="FFFFFF"/>
                </a:solidFill>
                <a:latin typeface="Helvetica"/>
                <a:cs typeface="Helvetica"/>
              </a:rPr>
              <a:t>. </a:t>
            </a:r>
            <a:endParaRPr lang="nb-NO" dirty="0" smtClean="0">
              <a:solidFill>
                <a:srgbClr val="FFFFFF"/>
              </a:solidFill>
              <a:latin typeface="Helvetica"/>
              <a:cs typeface="Helvetica"/>
            </a:endParaRPr>
          </a:p>
          <a:p>
            <a:pPr algn="just">
              <a:lnSpc>
                <a:spcPct val="130000"/>
              </a:lnSpc>
            </a:pPr>
            <a:r>
              <a:rPr lang="nb-NO" dirty="0" err="1" smtClean="0">
                <a:solidFill>
                  <a:srgbClr val="B8E39D"/>
                </a:solidFill>
                <a:latin typeface="Helvetica"/>
                <a:cs typeface="Helvetica"/>
              </a:rPr>
              <a:t>connectedCallback</a:t>
            </a:r>
            <a:r>
              <a:rPr lang="nb-NO" dirty="0">
                <a:solidFill>
                  <a:srgbClr val="B8E39D"/>
                </a:solidFill>
                <a:latin typeface="Helvetica"/>
                <a:cs typeface="Helvetica"/>
              </a:rPr>
              <a:t>: </a:t>
            </a:r>
            <a:r>
              <a:rPr lang="nb-NO" dirty="0">
                <a:solidFill>
                  <a:srgbClr val="FFFFFF"/>
                </a:solidFill>
                <a:latin typeface="Helvetica"/>
                <a:cs typeface="Helvetica"/>
              </a:rPr>
              <a:t>Este </a:t>
            </a:r>
            <a:r>
              <a:rPr lang="nb-NO" dirty="0" err="1">
                <a:solidFill>
                  <a:srgbClr val="FFFFFF"/>
                </a:solidFill>
                <a:latin typeface="Helvetica"/>
                <a:cs typeface="Helvetica"/>
              </a:rPr>
              <a:t>estado</a:t>
            </a:r>
            <a:r>
              <a:rPr lang="nb-NO" dirty="0">
                <a:solidFill>
                  <a:srgbClr val="FFFFFF"/>
                </a:solidFill>
                <a:latin typeface="Helvetica"/>
                <a:cs typeface="Helvetica"/>
              </a:rPr>
              <a:t> del </a:t>
            </a:r>
            <a:r>
              <a:rPr lang="nb-NO" dirty="0" err="1">
                <a:solidFill>
                  <a:srgbClr val="FFFFFF"/>
                </a:solidFill>
                <a:latin typeface="Helvetica"/>
                <a:cs typeface="Helvetica"/>
              </a:rPr>
              <a:t>ciclo</a:t>
            </a:r>
            <a:r>
              <a:rPr lang="nb-NO" dirty="0">
                <a:solidFill>
                  <a:srgbClr val="FFFFFF"/>
                </a:solidFill>
                <a:latin typeface="Helvetica"/>
                <a:cs typeface="Helvetica"/>
              </a:rPr>
              <a:t> de vida </a:t>
            </a:r>
            <a:r>
              <a:rPr lang="nb-NO" dirty="0" err="1">
                <a:solidFill>
                  <a:srgbClr val="FFFFFF"/>
                </a:solidFill>
                <a:latin typeface="Helvetica"/>
                <a:cs typeface="Helvetica"/>
              </a:rPr>
              <a:t>ocurre</a:t>
            </a:r>
            <a:r>
              <a:rPr lang="nb-NO" dirty="0">
                <a:solidFill>
                  <a:srgbClr val="FFFFFF"/>
                </a:solidFill>
                <a:latin typeface="Helvetica"/>
                <a:cs typeface="Helvetica"/>
              </a:rPr>
              <a:t> </a:t>
            </a:r>
            <a:r>
              <a:rPr lang="nb-NO" dirty="0" err="1">
                <a:solidFill>
                  <a:srgbClr val="FFFFFF"/>
                </a:solidFill>
                <a:latin typeface="Helvetica"/>
                <a:cs typeface="Helvetica"/>
              </a:rPr>
              <a:t>cuando</a:t>
            </a:r>
            <a:r>
              <a:rPr lang="nb-NO" dirty="0">
                <a:solidFill>
                  <a:srgbClr val="FFFFFF"/>
                </a:solidFill>
                <a:latin typeface="Helvetica"/>
                <a:cs typeface="Helvetica"/>
              </a:rPr>
              <a:t> el </a:t>
            </a:r>
            <a:r>
              <a:rPr lang="nb-NO" dirty="0" err="1">
                <a:solidFill>
                  <a:srgbClr val="FFFFFF"/>
                </a:solidFill>
                <a:latin typeface="Helvetica"/>
                <a:cs typeface="Helvetica"/>
              </a:rPr>
              <a:t>elemento</a:t>
            </a:r>
            <a:r>
              <a:rPr lang="nb-NO" dirty="0">
                <a:solidFill>
                  <a:srgbClr val="FFFFFF"/>
                </a:solidFill>
                <a:latin typeface="Helvetica"/>
                <a:cs typeface="Helvetica"/>
              </a:rPr>
              <a:t> se </a:t>
            </a:r>
            <a:r>
              <a:rPr lang="nb-NO" dirty="0" err="1">
                <a:solidFill>
                  <a:srgbClr val="FFFFFF"/>
                </a:solidFill>
                <a:latin typeface="Helvetica"/>
                <a:cs typeface="Helvetica"/>
              </a:rPr>
              <a:t>inyecta</a:t>
            </a:r>
            <a:r>
              <a:rPr lang="nb-NO" dirty="0">
                <a:solidFill>
                  <a:srgbClr val="FFFFFF"/>
                </a:solidFill>
                <a:latin typeface="Helvetica"/>
                <a:cs typeface="Helvetica"/>
              </a:rPr>
              <a:t> en el </a:t>
            </a:r>
            <a:r>
              <a:rPr lang="nb-NO" dirty="0" smtClean="0">
                <a:solidFill>
                  <a:srgbClr val="FFFFFF"/>
                </a:solidFill>
                <a:latin typeface="Helvetica"/>
                <a:cs typeface="Helvetica"/>
              </a:rPr>
              <a:t>DOM.</a:t>
            </a:r>
          </a:p>
          <a:p>
            <a:pPr algn="just">
              <a:lnSpc>
                <a:spcPct val="130000"/>
              </a:lnSpc>
            </a:pPr>
            <a:r>
              <a:rPr lang="nb-NO" dirty="0" err="1" smtClean="0">
                <a:solidFill>
                  <a:srgbClr val="B8E39D"/>
                </a:solidFill>
                <a:latin typeface="Helvetica"/>
                <a:cs typeface="Helvetica"/>
              </a:rPr>
              <a:t>disconnectedCallback</a:t>
            </a:r>
            <a:r>
              <a:rPr lang="nb-NO" dirty="0">
                <a:solidFill>
                  <a:srgbClr val="B8E39D"/>
                </a:solidFill>
                <a:latin typeface="Helvetica"/>
                <a:cs typeface="Helvetica"/>
              </a:rPr>
              <a:t>: </a:t>
            </a:r>
            <a:r>
              <a:rPr lang="nb-NO" dirty="0">
                <a:solidFill>
                  <a:srgbClr val="FFFFFF"/>
                </a:solidFill>
                <a:latin typeface="Helvetica"/>
                <a:cs typeface="Helvetica"/>
              </a:rPr>
              <a:t>Este </a:t>
            </a:r>
            <a:r>
              <a:rPr lang="nb-NO" dirty="0" err="1">
                <a:solidFill>
                  <a:srgbClr val="FFFFFF"/>
                </a:solidFill>
                <a:latin typeface="Helvetica"/>
                <a:cs typeface="Helvetica"/>
              </a:rPr>
              <a:t>estado</a:t>
            </a:r>
            <a:r>
              <a:rPr lang="nb-NO" dirty="0">
                <a:solidFill>
                  <a:srgbClr val="FFFFFF"/>
                </a:solidFill>
                <a:latin typeface="Helvetica"/>
                <a:cs typeface="Helvetica"/>
              </a:rPr>
              <a:t> </a:t>
            </a:r>
            <a:r>
              <a:rPr lang="nb-NO" dirty="0" err="1">
                <a:solidFill>
                  <a:srgbClr val="FFFFFF"/>
                </a:solidFill>
                <a:latin typeface="Helvetica"/>
                <a:cs typeface="Helvetica"/>
              </a:rPr>
              <a:t>ocurre</a:t>
            </a:r>
            <a:r>
              <a:rPr lang="nb-NO" dirty="0">
                <a:solidFill>
                  <a:srgbClr val="FFFFFF"/>
                </a:solidFill>
                <a:latin typeface="Helvetica"/>
                <a:cs typeface="Helvetica"/>
              </a:rPr>
              <a:t> </a:t>
            </a:r>
            <a:r>
              <a:rPr lang="nb-NO" dirty="0" err="1">
                <a:solidFill>
                  <a:srgbClr val="FFFFFF"/>
                </a:solidFill>
                <a:latin typeface="Helvetica"/>
                <a:cs typeface="Helvetica"/>
              </a:rPr>
              <a:t>cuando</a:t>
            </a:r>
            <a:r>
              <a:rPr lang="nb-NO" dirty="0">
                <a:solidFill>
                  <a:srgbClr val="FFFFFF"/>
                </a:solidFill>
                <a:latin typeface="Helvetica"/>
                <a:cs typeface="Helvetica"/>
              </a:rPr>
              <a:t> el </a:t>
            </a:r>
            <a:r>
              <a:rPr lang="nb-NO" dirty="0" err="1">
                <a:solidFill>
                  <a:srgbClr val="FFFFFF"/>
                </a:solidFill>
                <a:latin typeface="Helvetica"/>
                <a:cs typeface="Helvetica"/>
              </a:rPr>
              <a:t>elemento</a:t>
            </a:r>
            <a:r>
              <a:rPr lang="nb-NO" dirty="0">
                <a:solidFill>
                  <a:srgbClr val="FFFFFF"/>
                </a:solidFill>
                <a:latin typeface="Helvetica"/>
                <a:cs typeface="Helvetica"/>
              </a:rPr>
              <a:t> se borra del DOM de la </a:t>
            </a:r>
            <a:r>
              <a:rPr lang="nb-NO" dirty="0" err="1">
                <a:solidFill>
                  <a:srgbClr val="FFFFFF"/>
                </a:solidFill>
                <a:latin typeface="Helvetica"/>
                <a:cs typeface="Helvetica"/>
              </a:rPr>
              <a:t>página</a:t>
            </a:r>
            <a:r>
              <a:rPr lang="nb-NO" dirty="0">
                <a:solidFill>
                  <a:srgbClr val="FFFFFF"/>
                </a:solidFill>
                <a:latin typeface="Helvetica"/>
                <a:cs typeface="Helvetica"/>
              </a:rPr>
              <a:t>.</a:t>
            </a:r>
          </a:p>
          <a:p>
            <a:pPr algn="just">
              <a:lnSpc>
                <a:spcPct val="130000"/>
              </a:lnSpc>
            </a:pPr>
            <a:r>
              <a:rPr lang="nb-NO" dirty="0" err="1">
                <a:solidFill>
                  <a:srgbClr val="B8E39D"/>
                </a:solidFill>
                <a:latin typeface="Helvetica"/>
                <a:cs typeface="Helvetica"/>
              </a:rPr>
              <a:t>attributeChangedCallback</a:t>
            </a:r>
            <a:r>
              <a:rPr lang="nb-NO" dirty="0">
                <a:solidFill>
                  <a:srgbClr val="B8E39D"/>
                </a:solidFill>
                <a:latin typeface="Helvetica"/>
                <a:cs typeface="Helvetica"/>
              </a:rPr>
              <a:t>: </a:t>
            </a:r>
            <a:r>
              <a:rPr lang="nb-NO" dirty="0">
                <a:solidFill>
                  <a:srgbClr val="FFFFFF"/>
                </a:solidFill>
                <a:latin typeface="Helvetica"/>
                <a:cs typeface="Helvetica"/>
              </a:rPr>
              <a:t>Este </a:t>
            </a:r>
            <a:r>
              <a:rPr lang="nb-NO" dirty="0" err="1">
                <a:solidFill>
                  <a:srgbClr val="FFFFFF"/>
                </a:solidFill>
                <a:latin typeface="Helvetica"/>
                <a:cs typeface="Helvetica"/>
              </a:rPr>
              <a:t>momento</a:t>
            </a:r>
            <a:r>
              <a:rPr lang="nb-NO" dirty="0">
                <a:solidFill>
                  <a:srgbClr val="FFFFFF"/>
                </a:solidFill>
                <a:latin typeface="Helvetica"/>
                <a:cs typeface="Helvetica"/>
              </a:rPr>
              <a:t> </a:t>
            </a:r>
            <a:r>
              <a:rPr lang="nb-NO" dirty="0" smtClean="0">
                <a:solidFill>
                  <a:srgbClr val="FFFFFF"/>
                </a:solidFill>
                <a:latin typeface="Helvetica"/>
                <a:cs typeface="Helvetica"/>
              </a:rPr>
              <a:t>se </a:t>
            </a:r>
            <a:r>
              <a:rPr lang="nb-NO" dirty="0" err="1">
                <a:solidFill>
                  <a:srgbClr val="FFFFFF"/>
                </a:solidFill>
                <a:latin typeface="Helvetica"/>
                <a:cs typeface="Helvetica"/>
              </a:rPr>
              <a:t>produce</a:t>
            </a:r>
            <a:r>
              <a:rPr lang="nb-NO" dirty="0">
                <a:solidFill>
                  <a:srgbClr val="FFFFFF"/>
                </a:solidFill>
                <a:latin typeface="Helvetica"/>
                <a:cs typeface="Helvetica"/>
              </a:rPr>
              <a:t> </a:t>
            </a:r>
            <a:r>
              <a:rPr lang="nb-NO" dirty="0" err="1" smtClean="0">
                <a:solidFill>
                  <a:srgbClr val="FFFFFF"/>
                </a:solidFill>
                <a:latin typeface="Helvetica"/>
                <a:cs typeface="Helvetica"/>
              </a:rPr>
              <a:t>cada</a:t>
            </a:r>
            <a:r>
              <a:rPr lang="nb-NO" dirty="0" smtClean="0">
                <a:solidFill>
                  <a:srgbClr val="FFFFFF"/>
                </a:solidFill>
                <a:latin typeface="Helvetica"/>
                <a:cs typeface="Helvetica"/>
              </a:rPr>
              <a:t> </a:t>
            </a:r>
            <a:r>
              <a:rPr lang="nb-NO" dirty="0" err="1" smtClean="0">
                <a:solidFill>
                  <a:srgbClr val="FFFFFF"/>
                </a:solidFill>
                <a:latin typeface="Helvetica"/>
                <a:cs typeface="Helvetica"/>
              </a:rPr>
              <a:t>vez</a:t>
            </a:r>
            <a:r>
              <a:rPr lang="nb-NO" dirty="0" smtClean="0">
                <a:solidFill>
                  <a:srgbClr val="FFFFFF"/>
                </a:solidFill>
                <a:latin typeface="Helvetica"/>
                <a:cs typeface="Helvetica"/>
              </a:rPr>
              <a:t> </a:t>
            </a:r>
            <a:r>
              <a:rPr lang="nb-NO" dirty="0" err="1">
                <a:solidFill>
                  <a:srgbClr val="FFFFFF"/>
                </a:solidFill>
                <a:latin typeface="Helvetica"/>
                <a:cs typeface="Helvetica"/>
              </a:rPr>
              <a:t>que</a:t>
            </a:r>
            <a:r>
              <a:rPr lang="nb-NO" dirty="0">
                <a:solidFill>
                  <a:srgbClr val="FFFFFF"/>
                </a:solidFill>
                <a:latin typeface="Helvetica"/>
                <a:cs typeface="Helvetica"/>
              </a:rPr>
              <a:t> </a:t>
            </a:r>
            <a:r>
              <a:rPr lang="nb-NO" dirty="0" err="1">
                <a:solidFill>
                  <a:srgbClr val="FFFFFF"/>
                </a:solidFill>
                <a:latin typeface="Helvetica"/>
                <a:cs typeface="Helvetica"/>
              </a:rPr>
              <a:t>un</a:t>
            </a:r>
            <a:r>
              <a:rPr lang="nb-NO" dirty="0">
                <a:solidFill>
                  <a:srgbClr val="FFFFFF"/>
                </a:solidFill>
                <a:latin typeface="Helvetica"/>
                <a:cs typeface="Helvetica"/>
              </a:rPr>
              <a:t> </a:t>
            </a:r>
            <a:r>
              <a:rPr lang="nb-NO" dirty="0" err="1">
                <a:solidFill>
                  <a:srgbClr val="FFFFFF"/>
                </a:solidFill>
                <a:latin typeface="Helvetica"/>
                <a:cs typeface="Helvetica"/>
              </a:rPr>
              <a:t>atributo</a:t>
            </a:r>
            <a:r>
              <a:rPr lang="nb-NO" dirty="0">
                <a:solidFill>
                  <a:srgbClr val="FFFFFF"/>
                </a:solidFill>
                <a:latin typeface="Helvetica"/>
                <a:cs typeface="Helvetica"/>
              </a:rPr>
              <a:t> o </a:t>
            </a:r>
            <a:r>
              <a:rPr lang="nb-NO" dirty="0" err="1">
                <a:solidFill>
                  <a:srgbClr val="FFFFFF"/>
                </a:solidFill>
                <a:latin typeface="Helvetica"/>
                <a:cs typeface="Helvetica"/>
              </a:rPr>
              <a:t>propiedad</a:t>
            </a:r>
            <a:r>
              <a:rPr lang="nb-NO" dirty="0">
                <a:solidFill>
                  <a:srgbClr val="FFFFFF"/>
                </a:solidFill>
                <a:latin typeface="Helvetica"/>
                <a:cs typeface="Helvetica"/>
              </a:rPr>
              <a:t> del </a:t>
            </a:r>
            <a:r>
              <a:rPr lang="nb-NO" dirty="0" err="1">
                <a:solidFill>
                  <a:srgbClr val="FFFFFF"/>
                </a:solidFill>
                <a:latin typeface="Helvetica"/>
                <a:cs typeface="Helvetica"/>
              </a:rPr>
              <a:t>componente</a:t>
            </a:r>
            <a:r>
              <a:rPr lang="nb-NO" dirty="0">
                <a:solidFill>
                  <a:srgbClr val="FFFFFF"/>
                </a:solidFill>
                <a:latin typeface="Helvetica"/>
                <a:cs typeface="Helvetica"/>
              </a:rPr>
              <a:t> </a:t>
            </a:r>
            <a:r>
              <a:rPr lang="nb-NO" dirty="0" err="1">
                <a:solidFill>
                  <a:srgbClr val="FFFFFF"/>
                </a:solidFill>
                <a:latin typeface="Helvetica"/>
                <a:cs typeface="Helvetica"/>
              </a:rPr>
              <a:t>cambia</a:t>
            </a:r>
            <a:r>
              <a:rPr lang="nb-NO" dirty="0">
                <a:solidFill>
                  <a:srgbClr val="FFFFFF"/>
                </a:solidFill>
                <a:latin typeface="Helvetica"/>
                <a:cs typeface="Helvetica"/>
              </a:rPr>
              <a:t>.</a:t>
            </a:r>
            <a:endParaRPr lang="nb-NO" dirty="0">
              <a:solidFill>
                <a:srgbClr val="FFFFFF"/>
              </a:solidFill>
              <a:latin typeface="Helvetica"/>
              <a:cs typeface="Helvetica"/>
            </a:endParaRPr>
          </a:p>
          <a:p>
            <a:pPr algn="just">
              <a:lnSpc>
                <a:spcPct val="130000"/>
              </a:lnSpc>
            </a:pPr>
            <a:r>
              <a:rPr lang="nb-NO" dirty="0" err="1" smtClean="0">
                <a:solidFill>
                  <a:srgbClr val="B8E39D"/>
                </a:solidFill>
                <a:latin typeface="Helvetica"/>
                <a:cs typeface="Helvetica"/>
              </a:rPr>
              <a:t>Ready</a:t>
            </a:r>
            <a:r>
              <a:rPr lang="nb-NO" dirty="0" smtClean="0">
                <a:solidFill>
                  <a:srgbClr val="B8E39D"/>
                </a:solidFill>
                <a:latin typeface="Helvetica"/>
                <a:cs typeface="Helvetica"/>
              </a:rPr>
              <a:t>: </a:t>
            </a:r>
            <a:r>
              <a:rPr lang="nb-NO" dirty="0">
                <a:solidFill>
                  <a:srgbClr val="FFFFFF"/>
                </a:solidFill>
                <a:latin typeface="Helvetica"/>
                <a:cs typeface="Helvetica"/>
              </a:rPr>
              <a:t>	</a:t>
            </a:r>
            <a:r>
              <a:rPr lang="nb-NO" dirty="0" err="1">
                <a:solidFill>
                  <a:srgbClr val="FFFFFF"/>
                </a:solidFill>
                <a:latin typeface="Helvetica"/>
                <a:cs typeface="Helvetica"/>
              </a:rPr>
              <a:t>Básicamente</a:t>
            </a:r>
            <a:r>
              <a:rPr lang="nb-NO" dirty="0">
                <a:solidFill>
                  <a:srgbClr val="FFFFFF"/>
                </a:solidFill>
                <a:latin typeface="Helvetica"/>
                <a:cs typeface="Helvetica"/>
              </a:rPr>
              <a:t> es </a:t>
            </a:r>
            <a:r>
              <a:rPr lang="nb-NO" dirty="0" err="1">
                <a:solidFill>
                  <a:srgbClr val="FFFFFF"/>
                </a:solidFill>
                <a:latin typeface="Helvetica"/>
                <a:cs typeface="Helvetica"/>
              </a:rPr>
              <a:t>como</a:t>
            </a:r>
            <a:r>
              <a:rPr lang="nb-NO" dirty="0">
                <a:solidFill>
                  <a:srgbClr val="FFFFFF"/>
                </a:solidFill>
                <a:latin typeface="Helvetica"/>
                <a:cs typeface="Helvetica"/>
              </a:rPr>
              <a:t> </a:t>
            </a:r>
            <a:r>
              <a:rPr lang="nb-NO" dirty="0" err="1">
                <a:solidFill>
                  <a:srgbClr val="FFFFFF"/>
                </a:solidFill>
                <a:latin typeface="Helvetica"/>
                <a:cs typeface="Helvetica"/>
              </a:rPr>
              <a:t>un</a:t>
            </a:r>
            <a:r>
              <a:rPr lang="nb-NO" dirty="0">
                <a:solidFill>
                  <a:srgbClr val="FFFFFF"/>
                </a:solidFill>
                <a:latin typeface="Helvetica"/>
                <a:cs typeface="Helvetica"/>
              </a:rPr>
              <a:t> "</a:t>
            </a:r>
            <a:r>
              <a:rPr lang="nb-NO" dirty="0" err="1" smtClean="0">
                <a:solidFill>
                  <a:srgbClr val="FFFFFF"/>
                </a:solidFill>
                <a:latin typeface="Helvetica"/>
                <a:cs typeface="Helvetica"/>
              </a:rPr>
              <a:t>connectedCallback</a:t>
            </a:r>
            <a:r>
              <a:rPr lang="nb-NO" dirty="0" smtClean="0">
                <a:solidFill>
                  <a:srgbClr val="FFFFFF"/>
                </a:solidFill>
                <a:latin typeface="Helvetica"/>
                <a:cs typeface="Helvetica"/>
              </a:rPr>
              <a:t>”,solo </a:t>
            </a:r>
            <a:r>
              <a:rPr lang="nb-NO" dirty="0" err="1">
                <a:solidFill>
                  <a:srgbClr val="FFFFFF"/>
                </a:solidFill>
                <a:latin typeface="Helvetica"/>
                <a:cs typeface="Helvetica"/>
              </a:rPr>
              <a:t>que</a:t>
            </a:r>
            <a:r>
              <a:rPr lang="nb-NO" dirty="0">
                <a:solidFill>
                  <a:srgbClr val="FFFFFF"/>
                </a:solidFill>
                <a:latin typeface="Helvetica"/>
                <a:cs typeface="Helvetica"/>
              </a:rPr>
              <a:t> </a:t>
            </a:r>
            <a:r>
              <a:rPr lang="nb-NO" dirty="0" err="1">
                <a:solidFill>
                  <a:srgbClr val="FFFFFF"/>
                </a:solidFill>
                <a:latin typeface="Helvetica"/>
                <a:cs typeface="Helvetica"/>
              </a:rPr>
              <a:t>no</a:t>
            </a:r>
            <a:r>
              <a:rPr lang="nb-NO" dirty="0">
                <a:solidFill>
                  <a:srgbClr val="FFFFFF"/>
                </a:solidFill>
                <a:latin typeface="Helvetica"/>
                <a:cs typeface="Helvetica"/>
              </a:rPr>
              <a:t> se </a:t>
            </a:r>
            <a:r>
              <a:rPr lang="nb-NO" dirty="0" err="1">
                <a:solidFill>
                  <a:srgbClr val="FFFFFF"/>
                </a:solidFill>
                <a:latin typeface="Helvetica"/>
                <a:cs typeface="Helvetica"/>
              </a:rPr>
              <a:t>ejecuta</a:t>
            </a:r>
            <a:r>
              <a:rPr lang="nb-NO" dirty="0">
                <a:solidFill>
                  <a:srgbClr val="FFFFFF"/>
                </a:solidFill>
                <a:latin typeface="Helvetica"/>
                <a:cs typeface="Helvetica"/>
              </a:rPr>
              <a:t> </a:t>
            </a:r>
            <a:r>
              <a:rPr lang="nb-NO" dirty="0" err="1">
                <a:solidFill>
                  <a:srgbClr val="FFFFFF"/>
                </a:solidFill>
                <a:latin typeface="Helvetica"/>
                <a:cs typeface="Helvetica"/>
              </a:rPr>
              <a:t>más</a:t>
            </a:r>
            <a:r>
              <a:rPr lang="nb-NO" dirty="0">
                <a:solidFill>
                  <a:srgbClr val="FFFFFF"/>
                </a:solidFill>
                <a:latin typeface="Helvetica"/>
                <a:cs typeface="Helvetica"/>
              </a:rPr>
              <a:t> </a:t>
            </a:r>
            <a:r>
              <a:rPr lang="nb-NO" dirty="0" err="1">
                <a:solidFill>
                  <a:srgbClr val="FFFFFF"/>
                </a:solidFill>
                <a:latin typeface="Helvetica"/>
                <a:cs typeface="Helvetica"/>
              </a:rPr>
              <a:t>que</a:t>
            </a:r>
            <a:r>
              <a:rPr lang="nb-NO" dirty="0">
                <a:solidFill>
                  <a:srgbClr val="FFFFFF"/>
                </a:solidFill>
                <a:latin typeface="Helvetica"/>
                <a:cs typeface="Helvetica"/>
              </a:rPr>
              <a:t> 1 </a:t>
            </a:r>
            <a:r>
              <a:rPr lang="nb-NO" dirty="0" err="1">
                <a:solidFill>
                  <a:srgbClr val="FFFFFF"/>
                </a:solidFill>
                <a:latin typeface="Helvetica"/>
                <a:cs typeface="Helvetica"/>
              </a:rPr>
              <a:t>vez</a:t>
            </a:r>
            <a:r>
              <a:rPr lang="nb-NO" dirty="0">
                <a:solidFill>
                  <a:srgbClr val="FFFFFF"/>
                </a:solidFill>
                <a:latin typeface="Helvetica"/>
                <a:cs typeface="Helvetica"/>
              </a:rPr>
              <a:t>, la </a:t>
            </a:r>
            <a:r>
              <a:rPr lang="nb-NO" dirty="0" err="1">
                <a:solidFill>
                  <a:srgbClr val="FFFFFF"/>
                </a:solidFill>
                <a:latin typeface="Helvetica"/>
                <a:cs typeface="Helvetica"/>
              </a:rPr>
              <a:t>primera</a:t>
            </a:r>
            <a:r>
              <a:rPr lang="nb-NO" dirty="0">
                <a:solidFill>
                  <a:srgbClr val="FFFFFF"/>
                </a:solidFill>
                <a:latin typeface="Helvetica"/>
                <a:cs typeface="Helvetica"/>
              </a:rPr>
              <a:t> </a:t>
            </a:r>
            <a:r>
              <a:rPr lang="nb-NO" dirty="0" err="1">
                <a:solidFill>
                  <a:srgbClr val="FFFFFF"/>
                </a:solidFill>
                <a:latin typeface="Helvetica"/>
                <a:cs typeface="Helvetica"/>
              </a:rPr>
              <a:t>que</a:t>
            </a:r>
            <a:r>
              <a:rPr lang="nb-NO" dirty="0">
                <a:solidFill>
                  <a:srgbClr val="FFFFFF"/>
                </a:solidFill>
                <a:latin typeface="Helvetica"/>
                <a:cs typeface="Helvetica"/>
              </a:rPr>
              <a:t> se </a:t>
            </a:r>
            <a:r>
              <a:rPr lang="nb-NO" dirty="0" err="1">
                <a:solidFill>
                  <a:srgbClr val="FFFFFF"/>
                </a:solidFill>
                <a:latin typeface="Helvetica"/>
                <a:cs typeface="Helvetica"/>
              </a:rPr>
              <a:t>inyecta</a:t>
            </a:r>
            <a:r>
              <a:rPr lang="nb-NO" dirty="0">
                <a:solidFill>
                  <a:srgbClr val="FFFFFF"/>
                </a:solidFill>
                <a:latin typeface="Helvetica"/>
                <a:cs typeface="Helvetica"/>
              </a:rPr>
              <a:t> en el DOM de la </a:t>
            </a:r>
            <a:r>
              <a:rPr lang="nb-NO" dirty="0" err="1">
                <a:solidFill>
                  <a:srgbClr val="FFFFFF"/>
                </a:solidFill>
                <a:latin typeface="Helvetica"/>
                <a:cs typeface="Helvetica"/>
              </a:rPr>
              <a:t>página</a:t>
            </a:r>
            <a:r>
              <a:rPr lang="nb-NO" dirty="0">
                <a:solidFill>
                  <a:srgbClr val="FFFFFF"/>
                </a:solidFill>
                <a:latin typeface="Helvetica"/>
                <a:cs typeface="Helvetica"/>
              </a:rPr>
              <a:t>.</a:t>
            </a: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Tree>
    <p:extLst>
      <p:ext uri="{BB962C8B-B14F-4D97-AF65-F5344CB8AC3E}">
        <p14:creationId xmlns:p14="http://schemas.microsoft.com/office/powerpoint/2010/main" val="688364580"/>
      </p:ext>
    </p:extLst>
  </p:cSld>
  <p:clrMapOvr>
    <a:masterClrMapping/>
  </p:clrMapOvr>
  <p:timing>
    <p:tnLst>
      <p:par>
        <p:cTn xmlns:p14="http://schemas.microsoft.com/office/powerpoint/2010/mai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a:solidFill>
                  <a:srgbClr val="FFFFFF"/>
                </a:solidFill>
                <a:latin typeface="Helvetica"/>
                <a:ea typeface="Lucida Grande"/>
                <a:cs typeface="Helvetica"/>
              </a:rPr>
              <a:t>Lifecycle</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Lifecycle</a:t>
            </a:r>
            <a:r>
              <a:rPr lang="es-ES_tradnl" sz="2200" u="sng" dirty="0" smtClean="0">
                <a:latin typeface="Arial Black"/>
                <a:cs typeface="Arial Black"/>
              </a:rPr>
              <a:t> &gt; </a:t>
            </a:r>
            <a:r>
              <a:rPr lang="es-ES_tradnl" sz="2200" u="sng" dirty="0" smtClean="0">
                <a:latin typeface="Arial Black"/>
                <a:cs typeface="Arial Black"/>
              </a:rPr>
              <a:t>Aclaraciones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3679469"/>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68</a:t>
            </a:fld>
            <a:endParaRPr lang="en-US"/>
          </a:p>
        </p:txBody>
      </p:sp>
      <p:sp>
        <p:nvSpPr>
          <p:cNvPr id="16" name="Rectángulo 15"/>
          <p:cNvSpPr/>
          <p:nvPr/>
        </p:nvSpPr>
        <p:spPr>
          <a:xfrm>
            <a:off x="492433" y="1614742"/>
            <a:ext cx="8202871" cy="5119865"/>
          </a:xfrm>
          <a:prstGeom prst="rect">
            <a:avLst/>
          </a:prstGeom>
        </p:spPr>
        <p:txBody>
          <a:bodyPr wrap="square">
            <a:spAutoFit/>
          </a:bodyPr>
          <a:lstStyle/>
          <a:p>
            <a:pPr marL="285750" indent="-285750" algn="just">
              <a:lnSpc>
                <a:spcPct val="130000"/>
              </a:lnSpc>
              <a:buFont typeface="Wingdings" charset="2"/>
              <a:buChar char="ü"/>
            </a:pPr>
            <a:r>
              <a:rPr lang="nb-NO" dirty="0">
                <a:solidFill>
                  <a:srgbClr val="FFFFFF"/>
                </a:solidFill>
                <a:latin typeface="Helvetica"/>
                <a:cs typeface="Helvetica"/>
              </a:rPr>
              <a:t>Es </a:t>
            </a:r>
            <a:r>
              <a:rPr lang="nb-NO" dirty="0" err="1">
                <a:solidFill>
                  <a:srgbClr val="FFFFFF"/>
                </a:solidFill>
                <a:latin typeface="Helvetica"/>
                <a:cs typeface="Helvetica"/>
              </a:rPr>
              <a:t>importante</a:t>
            </a:r>
            <a:r>
              <a:rPr lang="nb-NO" dirty="0">
                <a:solidFill>
                  <a:srgbClr val="FFFFFF"/>
                </a:solidFill>
                <a:latin typeface="Helvetica"/>
                <a:cs typeface="Helvetica"/>
              </a:rPr>
              <a:t> </a:t>
            </a:r>
            <a:r>
              <a:rPr lang="nb-NO" dirty="0" err="1">
                <a:solidFill>
                  <a:srgbClr val="FFFFFF"/>
                </a:solidFill>
                <a:latin typeface="Helvetica"/>
                <a:cs typeface="Helvetica"/>
              </a:rPr>
              <a:t>que</a:t>
            </a:r>
            <a:r>
              <a:rPr lang="nb-NO" dirty="0">
                <a:solidFill>
                  <a:srgbClr val="FFFFFF"/>
                </a:solidFill>
                <a:latin typeface="Helvetica"/>
                <a:cs typeface="Helvetica"/>
              </a:rPr>
              <a:t>, en </a:t>
            </a:r>
            <a:r>
              <a:rPr lang="nb-NO" dirty="0" err="1">
                <a:solidFill>
                  <a:srgbClr val="FFFFFF"/>
                </a:solidFill>
                <a:latin typeface="Helvetica"/>
                <a:cs typeface="Helvetica"/>
              </a:rPr>
              <a:t>todo</a:t>
            </a:r>
            <a:r>
              <a:rPr lang="nb-NO" dirty="0">
                <a:solidFill>
                  <a:srgbClr val="FFFFFF"/>
                </a:solidFill>
                <a:latin typeface="Helvetica"/>
                <a:cs typeface="Helvetica"/>
              </a:rPr>
              <a:t> </a:t>
            </a:r>
            <a:r>
              <a:rPr lang="nb-NO" dirty="0" err="1">
                <a:solidFill>
                  <a:srgbClr val="FFFFFF"/>
                </a:solidFill>
                <a:latin typeface="Helvetica"/>
                <a:cs typeface="Helvetica"/>
              </a:rPr>
              <a:t>método</a:t>
            </a:r>
            <a:r>
              <a:rPr lang="nb-NO" dirty="0">
                <a:solidFill>
                  <a:srgbClr val="FFFFFF"/>
                </a:solidFill>
                <a:latin typeface="Helvetica"/>
                <a:cs typeface="Helvetica"/>
              </a:rPr>
              <a:t> </a:t>
            </a:r>
            <a:r>
              <a:rPr lang="nb-NO" dirty="0" err="1">
                <a:solidFill>
                  <a:srgbClr val="FFFFFF"/>
                </a:solidFill>
                <a:latin typeface="Helvetica"/>
                <a:cs typeface="Helvetica"/>
              </a:rPr>
              <a:t>callback</a:t>
            </a:r>
            <a:r>
              <a:rPr lang="nb-NO" dirty="0">
                <a:solidFill>
                  <a:srgbClr val="FFFFFF"/>
                </a:solidFill>
                <a:latin typeface="Helvetica"/>
                <a:cs typeface="Helvetica"/>
              </a:rPr>
              <a:t> del </a:t>
            </a:r>
            <a:r>
              <a:rPr lang="nb-NO" dirty="0" err="1">
                <a:solidFill>
                  <a:srgbClr val="FFFFFF"/>
                </a:solidFill>
                <a:latin typeface="Helvetica"/>
                <a:cs typeface="Helvetica"/>
              </a:rPr>
              <a:t>ciclo</a:t>
            </a:r>
            <a:r>
              <a:rPr lang="nb-NO" dirty="0">
                <a:solidFill>
                  <a:srgbClr val="FFFFFF"/>
                </a:solidFill>
                <a:latin typeface="Helvetica"/>
                <a:cs typeface="Helvetica"/>
              </a:rPr>
              <a:t> de vida de Polymer, se </a:t>
            </a:r>
            <a:r>
              <a:rPr lang="nb-NO" dirty="0" err="1">
                <a:solidFill>
                  <a:srgbClr val="FFFFFF"/>
                </a:solidFill>
                <a:latin typeface="Helvetica"/>
                <a:cs typeface="Helvetica"/>
              </a:rPr>
              <a:t>invoque</a:t>
            </a:r>
            <a:r>
              <a:rPr lang="nb-NO" dirty="0">
                <a:solidFill>
                  <a:srgbClr val="FFFFFF"/>
                </a:solidFill>
                <a:latin typeface="Helvetica"/>
                <a:cs typeface="Helvetica"/>
              </a:rPr>
              <a:t> </a:t>
            </a:r>
            <a:r>
              <a:rPr lang="nb-NO" dirty="0" err="1">
                <a:solidFill>
                  <a:srgbClr val="FFFFFF"/>
                </a:solidFill>
                <a:latin typeface="Helvetica"/>
                <a:cs typeface="Helvetica"/>
              </a:rPr>
              <a:t>siempre</a:t>
            </a:r>
            <a:r>
              <a:rPr lang="nb-NO" dirty="0">
                <a:solidFill>
                  <a:srgbClr val="FFFFFF"/>
                </a:solidFill>
                <a:latin typeface="Helvetica"/>
                <a:cs typeface="Helvetica"/>
              </a:rPr>
              <a:t> al </a:t>
            </a:r>
            <a:r>
              <a:rPr lang="nb-NO" dirty="0" err="1" smtClean="0">
                <a:solidFill>
                  <a:srgbClr val="FFFFFF"/>
                </a:solidFill>
                <a:latin typeface="Helvetica"/>
                <a:cs typeface="Helvetica"/>
              </a:rPr>
              <a:t>métodocorrespondiente</a:t>
            </a:r>
            <a:r>
              <a:rPr lang="nb-NO" dirty="0">
                <a:solidFill>
                  <a:srgbClr val="FFFFFF"/>
                </a:solidFill>
                <a:latin typeface="Helvetica"/>
                <a:cs typeface="Helvetica"/>
              </a:rPr>
              <a:t>, </a:t>
            </a:r>
            <a:r>
              <a:rPr lang="nb-NO" dirty="0" err="1">
                <a:solidFill>
                  <a:srgbClr val="FFFFFF"/>
                </a:solidFill>
                <a:latin typeface="Helvetica"/>
                <a:cs typeface="Helvetica"/>
              </a:rPr>
              <a:t>pero</a:t>
            </a:r>
            <a:r>
              <a:rPr lang="nb-NO" dirty="0">
                <a:solidFill>
                  <a:srgbClr val="FFFFFF"/>
                </a:solidFill>
                <a:latin typeface="Helvetica"/>
                <a:cs typeface="Helvetica"/>
              </a:rPr>
              <a:t> en la </a:t>
            </a:r>
            <a:r>
              <a:rPr lang="nb-NO" dirty="0" err="1">
                <a:solidFill>
                  <a:srgbClr val="FFFFFF"/>
                </a:solidFill>
                <a:latin typeface="Helvetica"/>
                <a:cs typeface="Helvetica"/>
              </a:rPr>
              <a:t>clase</a:t>
            </a:r>
            <a:r>
              <a:rPr lang="nb-NO" dirty="0">
                <a:solidFill>
                  <a:srgbClr val="FFFFFF"/>
                </a:solidFill>
                <a:latin typeface="Helvetica"/>
                <a:cs typeface="Helvetica"/>
              </a:rPr>
              <a:t> </a:t>
            </a:r>
            <a:r>
              <a:rPr lang="nb-NO" dirty="0" err="1">
                <a:solidFill>
                  <a:srgbClr val="FFFFFF"/>
                </a:solidFill>
                <a:latin typeface="Helvetica"/>
                <a:cs typeface="Helvetica"/>
              </a:rPr>
              <a:t>padre</a:t>
            </a:r>
            <a:r>
              <a:rPr lang="nb-NO" dirty="0">
                <a:solidFill>
                  <a:srgbClr val="FFFFFF"/>
                </a:solidFill>
                <a:latin typeface="Helvetica"/>
                <a:cs typeface="Helvetica"/>
              </a:rPr>
              <a:t>, por medio de "super"</a:t>
            </a:r>
            <a:r>
              <a:rPr lang="nb-NO" dirty="0" smtClean="0">
                <a:solidFill>
                  <a:srgbClr val="FFFFFF"/>
                </a:solidFill>
                <a:latin typeface="Helvetica"/>
                <a:cs typeface="Helvetica"/>
              </a:rPr>
              <a:t>.</a:t>
            </a:r>
          </a:p>
          <a:p>
            <a:pPr marL="285750" indent="-285750" algn="just">
              <a:lnSpc>
                <a:spcPct val="130000"/>
              </a:lnSpc>
              <a:buFont typeface="Wingdings" charset="2"/>
              <a:buChar char="ü"/>
            </a:pPr>
            <a:endParaRPr lang="nb-NO" dirty="0">
              <a:solidFill>
                <a:srgbClr val="FFFFFF"/>
              </a:solidFill>
              <a:latin typeface="Helvetica"/>
              <a:cs typeface="Helvetica"/>
            </a:endParaRPr>
          </a:p>
          <a:p>
            <a:pPr marL="285750" indent="-285750" algn="just">
              <a:lnSpc>
                <a:spcPct val="130000"/>
              </a:lnSpc>
              <a:buFont typeface="Wingdings" charset="2"/>
              <a:buChar char="ü"/>
            </a:pPr>
            <a:r>
              <a:rPr lang="nb-NO" dirty="0" smtClean="0">
                <a:solidFill>
                  <a:srgbClr val="FFFFFF"/>
                </a:solidFill>
                <a:latin typeface="Helvetica"/>
                <a:cs typeface="Helvetica"/>
              </a:rPr>
              <a:t>Si </a:t>
            </a:r>
            <a:r>
              <a:rPr lang="nb-NO" dirty="0">
                <a:solidFill>
                  <a:srgbClr val="FFFFFF"/>
                </a:solidFill>
                <a:latin typeface="Helvetica"/>
                <a:cs typeface="Helvetica"/>
              </a:rPr>
              <a:t>el </a:t>
            </a:r>
            <a:r>
              <a:rPr lang="nb-NO" dirty="0" err="1">
                <a:solidFill>
                  <a:srgbClr val="FFFFFF"/>
                </a:solidFill>
                <a:latin typeface="Helvetica"/>
                <a:cs typeface="Helvetica"/>
              </a:rPr>
              <a:t>componente</a:t>
            </a:r>
            <a:r>
              <a:rPr lang="nb-NO" dirty="0">
                <a:solidFill>
                  <a:srgbClr val="FFFFFF"/>
                </a:solidFill>
                <a:latin typeface="Helvetica"/>
                <a:cs typeface="Helvetica"/>
              </a:rPr>
              <a:t> </a:t>
            </a:r>
            <a:r>
              <a:rPr lang="nb-NO" dirty="0" err="1">
                <a:solidFill>
                  <a:srgbClr val="FFFFFF"/>
                </a:solidFill>
                <a:latin typeface="Helvetica"/>
                <a:cs typeface="Helvetica"/>
              </a:rPr>
              <a:t>sufre</a:t>
            </a:r>
            <a:r>
              <a:rPr lang="nb-NO" dirty="0">
                <a:solidFill>
                  <a:srgbClr val="FFFFFF"/>
                </a:solidFill>
                <a:latin typeface="Helvetica"/>
                <a:cs typeface="Helvetica"/>
              </a:rPr>
              <a:t> </a:t>
            </a:r>
            <a:r>
              <a:rPr lang="nb-NO" dirty="0" err="1">
                <a:solidFill>
                  <a:srgbClr val="FFFFFF"/>
                </a:solidFill>
                <a:latin typeface="Helvetica"/>
                <a:cs typeface="Helvetica"/>
              </a:rPr>
              <a:t>un</a:t>
            </a:r>
            <a:r>
              <a:rPr lang="nb-NO" dirty="0">
                <a:solidFill>
                  <a:srgbClr val="FFFFFF"/>
                </a:solidFill>
                <a:latin typeface="Helvetica"/>
                <a:cs typeface="Helvetica"/>
              </a:rPr>
              <a:t> </a:t>
            </a:r>
            <a:r>
              <a:rPr lang="nb-NO" dirty="0" err="1">
                <a:solidFill>
                  <a:srgbClr val="FFFFFF"/>
                </a:solidFill>
                <a:latin typeface="Helvetica"/>
                <a:cs typeface="Helvetica"/>
              </a:rPr>
              <a:t>cambio</a:t>
            </a:r>
            <a:r>
              <a:rPr lang="nb-NO" dirty="0">
                <a:solidFill>
                  <a:srgbClr val="FFFFFF"/>
                </a:solidFill>
                <a:latin typeface="Helvetica"/>
                <a:cs typeface="Helvetica"/>
              </a:rPr>
              <a:t> en </a:t>
            </a:r>
            <a:r>
              <a:rPr lang="nb-NO" dirty="0" err="1" smtClean="0">
                <a:solidFill>
                  <a:srgbClr val="FFFFFF"/>
                </a:solidFill>
                <a:latin typeface="Helvetica"/>
                <a:cs typeface="Helvetica"/>
              </a:rPr>
              <a:t>uno</a:t>
            </a:r>
            <a:r>
              <a:rPr lang="nb-NO" dirty="0" smtClean="0">
                <a:solidFill>
                  <a:srgbClr val="FFFFFF"/>
                </a:solidFill>
                <a:latin typeface="Helvetica"/>
                <a:cs typeface="Helvetica"/>
              </a:rPr>
              <a:t> de </a:t>
            </a:r>
            <a:r>
              <a:rPr lang="nb-NO" dirty="0">
                <a:solidFill>
                  <a:srgbClr val="FFFFFF"/>
                </a:solidFill>
                <a:latin typeface="Helvetica"/>
                <a:cs typeface="Helvetica"/>
              </a:rPr>
              <a:t>sus </a:t>
            </a:r>
            <a:r>
              <a:rPr lang="nb-NO" dirty="0" err="1">
                <a:solidFill>
                  <a:srgbClr val="FFFFFF"/>
                </a:solidFill>
                <a:latin typeface="Helvetica"/>
                <a:cs typeface="Helvetica"/>
              </a:rPr>
              <a:t>atributos</a:t>
            </a:r>
            <a:r>
              <a:rPr lang="nb-NO" dirty="0">
                <a:solidFill>
                  <a:srgbClr val="FFFFFF"/>
                </a:solidFill>
                <a:latin typeface="Helvetica"/>
                <a:cs typeface="Helvetica"/>
              </a:rPr>
              <a:t> del HTML </a:t>
            </a:r>
            <a:r>
              <a:rPr lang="nb-NO" u="sng" dirty="0" err="1">
                <a:solidFill>
                  <a:srgbClr val="FFFFFF"/>
                </a:solidFill>
                <a:latin typeface="Helvetica"/>
                <a:cs typeface="Helvetica"/>
              </a:rPr>
              <a:t>no</a:t>
            </a:r>
            <a:r>
              <a:rPr lang="nb-NO" u="sng" dirty="0">
                <a:solidFill>
                  <a:srgbClr val="FFFFFF"/>
                </a:solidFill>
                <a:latin typeface="Helvetica"/>
                <a:cs typeface="Helvetica"/>
              </a:rPr>
              <a:t> se </a:t>
            </a:r>
            <a:r>
              <a:rPr lang="nb-NO" u="sng" dirty="0" err="1">
                <a:solidFill>
                  <a:srgbClr val="FFFFFF"/>
                </a:solidFill>
                <a:latin typeface="Helvetica"/>
                <a:cs typeface="Helvetica"/>
              </a:rPr>
              <a:t>invocará</a:t>
            </a:r>
            <a:r>
              <a:rPr lang="nb-NO" dirty="0">
                <a:solidFill>
                  <a:srgbClr val="FFFFFF"/>
                </a:solidFill>
                <a:latin typeface="Helvetica"/>
                <a:cs typeface="Helvetica"/>
              </a:rPr>
              <a:t> </a:t>
            </a:r>
            <a:r>
              <a:rPr lang="nb-NO" dirty="0" err="1">
                <a:solidFill>
                  <a:srgbClr val="B8E39D"/>
                </a:solidFill>
                <a:latin typeface="Helvetica"/>
                <a:cs typeface="Helvetica"/>
              </a:rPr>
              <a:t>attributeChangedCallback</a:t>
            </a:r>
            <a:r>
              <a:rPr lang="nb-NO" dirty="0">
                <a:solidFill>
                  <a:srgbClr val="B8E39D"/>
                </a:solidFill>
                <a:latin typeface="Helvetica"/>
                <a:cs typeface="Helvetica"/>
              </a:rPr>
              <a:t> </a:t>
            </a:r>
            <a:r>
              <a:rPr lang="nb-NO" dirty="0">
                <a:solidFill>
                  <a:srgbClr val="FFFFFF"/>
                </a:solidFill>
                <a:latin typeface="Helvetica"/>
                <a:cs typeface="Helvetica"/>
              </a:rPr>
              <a:t>en el </a:t>
            </a:r>
            <a:r>
              <a:rPr lang="nb-NO" dirty="0" err="1">
                <a:solidFill>
                  <a:srgbClr val="FFFFFF"/>
                </a:solidFill>
                <a:latin typeface="Helvetica"/>
                <a:cs typeface="Helvetica"/>
              </a:rPr>
              <a:t>caso</a:t>
            </a:r>
            <a:r>
              <a:rPr lang="nb-NO" dirty="0">
                <a:solidFill>
                  <a:srgbClr val="FFFFFF"/>
                </a:solidFill>
                <a:latin typeface="Helvetica"/>
                <a:cs typeface="Helvetica"/>
              </a:rPr>
              <a:t> </a:t>
            </a:r>
            <a:r>
              <a:rPr lang="nb-NO" dirty="0" err="1">
                <a:solidFill>
                  <a:srgbClr val="FFFFFF"/>
                </a:solidFill>
                <a:latin typeface="Helvetica"/>
                <a:cs typeface="Helvetica"/>
              </a:rPr>
              <a:t>que</a:t>
            </a:r>
            <a:r>
              <a:rPr lang="nb-NO" dirty="0">
                <a:solidFill>
                  <a:srgbClr val="FFFFFF"/>
                </a:solidFill>
                <a:latin typeface="Helvetica"/>
                <a:cs typeface="Helvetica"/>
              </a:rPr>
              <a:t> ese </a:t>
            </a:r>
            <a:r>
              <a:rPr lang="nb-NO" dirty="0" err="1">
                <a:solidFill>
                  <a:srgbClr val="FFFFFF"/>
                </a:solidFill>
                <a:latin typeface="Helvetica"/>
                <a:cs typeface="Helvetica"/>
              </a:rPr>
              <a:t>atributo</a:t>
            </a:r>
            <a:r>
              <a:rPr lang="nb-NO" dirty="0">
                <a:solidFill>
                  <a:srgbClr val="FFFFFF"/>
                </a:solidFill>
                <a:latin typeface="Helvetica"/>
                <a:cs typeface="Helvetica"/>
              </a:rPr>
              <a:t> </a:t>
            </a:r>
            <a:r>
              <a:rPr lang="nb-NO" dirty="0" err="1">
                <a:solidFill>
                  <a:srgbClr val="FFFFFF"/>
                </a:solidFill>
                <a:latin typeface="Helvetica"/>
                <a:cs typeface="Helvetica"/>
              </a:rPr>
              <a:t>no</a:t>
            </a:r>
            <a:r>
              <a:rPr lang="nb-NO" dirty="0">
                <a:solidFill>
                  <a:srgbClr val="FFFFFF"/>
                </a:solidFill>
                <a:latin typeface="Helvetica"/>
                <a:cs typeface="Helvetica"/>
              </a:rPr>
              <a:t> </a:t>
            </a:r>
            <a:r>
              <a:rPr lang="nb-NO" dirty="0" err="1">
                <a:solidFill>
                  <a:srgbClr val="FFFFFF"/>
                </a:solidFill>
                <a:latin typeface="Helvetica"/>
                <a:cs typeface="Helvetica"/>
              </a:rPr>
              <a:t>sea</a:t>
            </a:r>
            <a:r>
              <a:rPr lang="nb-NO" dirty="0">
                <a:solidFill>
                  <a:srgbClr val="FFFFFF"/>
                </a:solidFill>
                <a:latin typeface="Helvetica"/>
                <a:cs typeface="Helvetica"/>
              </a:rPr>
              <a:t> </a:t>
            </a:r>
            <a:r>
              <a:rPr lang="nb-NO" dirty="0" err="1" smtClean="0">
                <a:solidFill>
                  <a:srgbClr val="FFFFFF"/>
                </a:solidFill>
                <a:latin typeface="Helvetica"/>
                <a:cs typeface="Helvetica"/>
              </a:rPr>
              <a:t>una</a:t>
            </a:r>
            <a:r>
              <a:rPr lang="nb-NO" dirty="0" smtClean="0">
                <a:solidFill>
                  <a:srgbClr val="FFFFFF"/>
                </a:solidFill>
                <a:latin typeface="Helvetica"/>
                <a:cs typeface="Helvetica"/>
              </a:rPr>
              <a:t> </a:t>
            </a:r>
            <a:r>
              <a:rPr lang="nb-NO" dirty="0">
                <a:solidFill>
                  <a:srgbClr val="FFFFFF"/>
                </a:solidFill>
                <a:latin typeface="Helvetica"/>
                <a:cs typeface="Helvetica"/>
              </a:rPr>
              <a:t>de </a:t>
            </a:r>
            <a:r>
              <a:rPr lang="nb-NO" dirty="0">
                <a:solidFill>
                  <a:srgbClr val="FFFFFF"/>
                </a:solidFill>
                <a:latin typeface="Helvetica"/>
                <a:cs typeface="Helvetica"/>
              </a:rPr>
              <a:t>sus </a:t>
            </a:r>
            <a:r>
              <a:rPr lang="nb-NO" dirty="0" err="1">
                <a:solidFill>
                  <a:srgbClr val="FFFFFF"/>
                </a:solidFill>
                <a:latin typeface="Helvetica"/>
                <a:cs typeface="Helvetica"/>
              </a:rPr>
              <a:t>propiedades</a:t>
            </a:r>
            <a:r>
              <a:rPr lang="nb-NO" dirty="0">
                <a:solidFill>
                  <a:srgbClr val="FFFFFF"/>
                </a:solidFill>
                <a:latin typeface="Helvetica"/>
                <a:cs typeface="Helvetica"/>
              </a:rPr>
              <a:t> </a:t>
            </a:r>
            <a:r>
              <a:rPr lang="nb-NO" dirty="0" err="1">
                <a:solidFill>
                  <a:srgbClr val="FFFFFF"/>
                </a:solidFill>
                <a:latin typeface="Helvetica"/>
                <a:cs typeface="Helvetica"/>
              </a:rPr>
              <a:t>declaradas.Los</a:t>
            </a:r>
            <a:r>
              <a:rPr lang="nb-NO" dirty="0">
                <a:solidFill>
                  <a:srgbClr val="FFFFFF"/>
                </a:solidFill>
                <a:latin typeface="Helvetica"/>
                <a:cs typeface="Helvetica"/>
              </a:rPr>
              <a:t> </a:t>
            </a:r>
            <a:r>
              <a:rPr lang="nb-NO" dirty="0" err="1">
                <a:solidFill>
                  <a:srgbClr val="FFFFFF"/>
                </a:solidFill>
                <a:latin typeface="Helvetica"/>
                <a:cs typeface="Helvetica"/>
              </a:rPr>
              <a:t>Callbacks</a:t>
            </a:r>
            <a:r>
              <a:rPr lang="nb-NO" dirty="0">
                <a:solidFill>
                  <a:srgbClr val="FFFFFF"/>
                </a:solidFill>
                <a:latin typeface="Helvetica"/>
                <a:cs typeface="Helvetica"/>
              </a:rPr>
              <a:t> de 	 </a:t>
            </a:r>
            <a:r>
              <a:rPr lang="nb-NO" dirty="0" err="1">
                <a:solidFill>
                  <a:srgbClr val="FFFFFF"/>
                </a:solidFill>
                <a:latin typeface="Helvetica"/>
                <a:cs typeface="Helvetica"/>
              </a:rPr>
              <a:t>attributeChangedCallback</a:t>
            </a:r>
            <a:r>
              <a:rPr lang="nb-NO" dirty="0">
                <a:solidFill>
                  <a:srgbClr val="FFFFFF"/>
                </a:solidFill>
                <a:latin typeface="Helvetica"/>
                <a:cs typeface="Helvetica"/>
              </a:rPr>
              <a:t> </a:t>
            </a:r>
            <a:r>
              <a:rPr lang="nb-NO" dirty="0">
                <a:solidFill>
                  <a:srgbClr val="FFFFFF"/>
                </a:solidFill>
                <a:latin typeface="Helvetica"/>
                <a:cs typeface="Helvetica"/>
              </a:rPr>
              <a:t>solo son para las </a:t>
            </a:r>
            <a:r>
              <a:rPr lang="nb-NO" dirty="0" err="1">
                <a:solidFill>
                  <a:srgbClr val="FFFFFF"/>
                </a:solidFill>
                <a:latin typeface="Helvetica"/>
                <a:cs typeface="Helvetica"/>
              </a:rPr>
              <a:t>propiedades</a:t>
            </a:r>
            <a:r>
              <a:rPr lang="nb-NO" dirty="0">
                <a:solidFill>
                  <a:srgbClr val="FFFFFF"/>
                </a:solidFill>
                <a:latin typeface="Helvetica"/>
                <a:cs typeface="Helvetica"/>
              </a:rPr>
              <a:t> del </a:t>
            </a:r>
            <a:r>
              <a:rPr lang="nb-NO" dirty="0" err="1">
                <a:solidFill>
                  <a:srgbClr val="FFFFFF"/>
                </a:solidFill>
                <a:latin typeface="Helvetica"/>
                <a:cs typeface="Helvetica"/>
              </a:rPr>
              <a:t>componente</a:t>
            </a:r>
            <a:r>
              <a:rPr lang="nb-NO" dirty="0">
                <a:solidFill>
                  <a:srgbClr val="FFFFFF"/>
                </a:solidFill>
                <a:latin typeface="Helvetica"/>
                <a:cs typeface="Helvetica"/>
              </a:rPr>
              <a:t>.</a:t>
            </a:r>
            <a:endParaRPr lang="nb-NO" dirty="0">
              <a:solidFill>
                <a:srgbClr val="FFFFFF"/>
              </a:solidFill>
              <a:latin typeface="Helvetica"/>
              <a:cs typeface="Helvetica"/>
            </a:endParaRPr>
          </a:p>
          <a:p>
            <a:pPr marL="285750" indent="-285750" algn="just">
              <a:lnSpc>
                <a:spcPct val="130000"/>
              </a:lnSpc>
              <a:buFont typeface="Wingdings" charset="2"/>
              <a:buChar char="ü"/>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Tree>
    <p:extLst>
      <p:ext uri="{BB962C8B-B14F-4D97-AF65-F5344CB8AC3E}">
        <p14:creationId xmlns:p14="http://schemas.microsoft.com/office/powerpoint/2010/main" val="1046972368"/>
      </p:ext>
    </p:extLst>
  </p:cSld>
  <p:clrMapOvr>
    <a:masterClrMapping/>
  </p:clrMapOvr>
  <p:timing>
    <p:tnLst>
      <p:par>
        <p:cTn xmlns:p14="http://schemas.microsoft.com/office/powerpoint/2010/mai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Lifecycle</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a:latin typeface="Arial Black"/>
                <a:cs typeface="Arial Black"/>
              </a:rPr>
              <a:t>Lifecycle</a:t>
            </a:r>
            <a:r>
              <a:rPr lang="es-ES_tradnl" sz="2200" u="sng" dirty="0">
                <a:latin typeface="Arial Black"/>
                <a:cs typeface="Arial Black"/>
              </a:rPr>
              <a:t> &gt; </a:t>
            </a:r>
            <a:r>
              <a:rPr lang="es-ES_tradnl" sz="2200" u="sng" dirty="0">
                <a:latin typeface="Arial Black"/>
                <a:cs typeface="Arial Black"/>
                <a:hlinkClick r:id="rId4"/>
              </a:rPr>
              <a:t>Monitor</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5"/>
          <a:stretch>
            <a:fillRect/>
          </a:stretch>
        </p:blipFill>
        <p:spPr>
          <a:xfrm>
            <a:off x="1742516" y="6339496"/>
            <a:ext cx="578961" cy="402755"/>
          </a:xfrm>
          <a:prstGeom prst="rect">
            <a:avLst/>
          </a:prstGeom>
        </p:spPr>
      </p:pic>
      <p:sp>
        <p:nvSpPr>
          <p:cNvPr id="14" name="Rectángulo 13"/>
          <p:cNvSpPr/>
          <p:nvPr/>
        </p:nvSpPr>
        <p:spPr>
          <a:xfrm>
            <a:off x="492433" y="1614742"/>
            <a:ext cx="8202871" cy="3679469"/>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5" name="Rectángulo 14"/>
          <p:cNvSpPr/>
          <p:nvPr/>
        </p:nvSpPr>
        <p:spPr>
          <a:xfrm>
            <a:off x="758214" y="1481223"/>
            <a:ext cx="7320484" cy="4708980"/>
          </a:xfrm>
          <a:prstGeom prst="rect">
            <a:avLst/>
          </a:prstGeom>
          <a:solidFill>
            <a:schemeClr val="bg2">
              <a:lumMod val="75000"/>
              <a:lumOff val="25000"/>
            </a:schemeClr>
          </a:solidFill>
          <a:ln w="12700" cmpd="sng">
            <a:solidFill>
              <a:srgbClr val="3366FF"/>
            </a:solidFill>
          </a:ln>
        </p:spPr>
        <p:txBody>
          <a:bodyPr wrap="square">
            <a:spAutoFit/>
          </a:bodyPr>
          <a:lstStyle/>
          <a:p>
            <a:endParaRPr lang="en-US" sz="1200" dirty="0"/>
          </a:p>
          <a:p>
            <a:r>
              <a:rPr lang="en-US" sz="1200" dirty="0"/>
              <a:t>class </a:t>
            </a:r>
            <a:r>
              <a:rPr lang="en-US" sz="1200" dirty="0" err="1"/>
              <a:t>CicloVida</a:t>
            </a:r>
            <a:r>
              <a:rPr lang="en-US" sz="1200" dirty="0"/>
              <a:t> extends </a:t>
            </a:r>
            <a:r>
              <a:rPr lang="en-US" sz="1200" dirty="0" err="1"/>
              <a:t>PolymerElement</a:t>
            </a:r>
            <a:r>
              <a:rPr lang="en-US" sz="1200" dirty="0"/>
              <a:t> </a:t>
            </a:r>
            <a:r>
              <a:rPr lang="en-US" sz="1200" dirty="0" smtClean="0"/>
              <a:t>{</a:t>
            </a:r>
            <a:endParaRPr lang="en-US" sz="1200" dirty="0"/>
          </a:p>
          <a:p>
            <a:r>
              <a:rPr lang="en-US" sz="1200" dirty="0"/>
              <a:t>  static get properties() {</a:t>
            </a:r>
          </a:p>
          <a:p>
            <a:r>
              <a:rPr lang="en-US" sz="1200" dirty="0"/>
              <a:t>   return {</a:t>
            </a:r>
          </a:p>
          <a:p>
            <a:r>
              <a:rPr lang="en-US" sz="1200" dirty="0"/>
              <a:t>      test: String</a:t>
            </a:r>
          </a:p>
          <a:p>
            <a:r>
              <a:rPr lang="en-US" sz="1200" dirty="0"/>
              <a:t>   };</a:t>
            </a:r>
          </a:p>
          <a:p>
            <a:r>
              <a:rPr lang="en-US" sz="1200" dirty="0"/>
              <a:t>  </a:t>
            </a:r>
            <a:r>
              <a:rPr lang="en-US" sz="1200" dirty="0" smtClean="0"/>
              <a:t>}</a:t>
            </a:r>
            <a:endParaRPr lang="en-US" sz="1200" dirty="0"/>
          </a:p>
          <a:p>
            <a:r>
              <a:rPr lang="en-US" sz="1200" dirty="0"/>
              <a:t>  constructor() {</a:t>
            </a:r>
          </a:p>
          <a:p>
            <a:r>
              <a:rPr lang="en-US" sz="1200" dirty="0"/>
              <a:t>    super()</a:t>
            </a:r>
            <a:r>
              <a:rPr lang="en-US" sz="1200" dirty="0" smtClean="0"/>
              <a:t>;    </a:t>
            </a:r>
            <a:r>
              <a:rPr lang="en-US" sz="1200" dirty="0" err="1" smtClean="0"/>
              <a:t>console.log</a:t>
            </a:r>
            <a:r>
              <a:rPr lang="en-US" sz="1200" dirty="0"/>
              <a:t>('</a:t>
            </a:r>
            <a:r>
              <a:rPr lang="en-US" sz="1200" dirty="0" err="1"/>
              <a:t>Ejecutándose</a:t>
            </a:r>
            <a:r>
              <a:rPr lang="en-US" sz="1200" dirty="0"/>
              <a:t> el constructor')</a:t>
            </a:r>
          </a:p>
          <a:p>
            <a:r>
              <a:rPr lang="en-US" sz="1200" dirty="0"/>
              <a:t>  </a:t>
            </a:r>
            <a:r>
              <a:rPr lang="en-US" sz="1200" dirty="0" smtClean="0"/>
              <a:t>}</a:t>
            </a:r>
            <a:endParaRPr lang="en-US" sz="1200" dirty="0"/>
          </a:p>
          <a:p>
            <a:r>
              <a:rPr lang="en-US" sz="1200" dirty="0"/>
              <a:t>  </a:t>
            </a:r>
            <a:r>
              <a:rPr lang="en-US" sz="1200" dirty="0" err="1"/>
              <a:t>connectedCallback</a:t>
            </a:r>
            <a:r>
              <a:rPr lang="en-US" sz="1200" dirty="0"/>
              <a:t>() {</a:t>
            </a:r>
          </a:p>
          <a:p>
            <a:r>
              <a:rPr lang="en-US" sz="1200" dirty="0"/>
              <a:t>    </a:t>
            </a:r>
            <a:r>
              <a:rPr lang="en-US" sz="1200" dirty="0" err="1"/>
              <a:t>super.connectedCallback</a:t>
            </a:r>
            <a:r>
              <a:rPr lang="en-US" sz="1200" dirty="0"/>
              <a:t>(</a:t>
            </a:r>
            <a:r>
              <a:rPr lang="en-US" sz="1200" dirty="0" smtClean="0"/>
              <a:t>);  </a:t>
            </a:r>
            <a:r>
              <a:rPr lang="en-US" sz="1200" dirty="0" err="1"/>
              <a:t>console.log</a:t>
            </a:r>
            <a:r>
              <a:rPr lang="en-US" sz="1200" dirty="0"/>
              <a:t>('</a:t>
            </a:r>
            <a:r>
              <a:rPr lang="en-US" sz="1200" dirty="0" err="1"/>
              <a:t>Ejecutándose</a:t>
            </a:r>
            <a:r>
              <a:rPr lang="en-US" sz="1200" dirty="0"/>
              <a:t> </a:t>
            </a:r>
            <a:r>
              <a:rPr lang="en-US" sz="1200" dirty="0" err="1"/>
              <a:t>connectedCallback</a:t>
            </a:r>
            <a:r>
              <a:rPr lang="en-US" sz="1200" dirty="0"/>
              <a:t>');</a:t>
            </a:r>
          </a:p>
          <a:p>
            <a:r>
              <a:rPr lang="en-US" sz="1200" dirty="0"/>
              <a:t>  </a:t>
            </a:r>
            <a:r>
              <a:rPr lang="en-US" sz="1200" dirty="0" smtClean="0"/>
              <a:t>}</a:t>
            </a:r>
            <a:endParaRPr lang="en-US" sz="1200" dirty="0"/>
          </a:p>
          <a:p>
            <a:r>
              <a:rPr lang="en-US" sz="1200" dirty="0"/>
              <a:t>  </a:t>
            </a:r>
            <a:r>
              <a:rPr lang="en-US" sz="1200" dirty="0" err="1"/>
              <a:t>disconnectedCallback</a:t>
            </a:r>
            <a:r>
              <a:rPr lang="en-US" sz="1200" dirty="0"/>
              <a:t>() {</a:t>
            </a:r>
          </a:p>
          <a:p>
            <a:r>
              <a:rPr lang="en-US" sz="1200" dirty="0"/>
              <a:t>    </a:t>
            </a:r>
            <a:r>
              <a:rPr lang="en-US" sz="1200" dirty="0" err="1"/>
              <a:t>super.disconnectedCallback</a:t>
            </a:r>
            <a:r>
              <a:rPr lang="en-US" sz="1200" dirty="0"/>
              <a:t>()</a:t>
            </a:r>
            <a:r>
              <a:rPr lang="en-US" sz="1200" dirty="0" smtClean="0"/>
              <a:t>;   </a:t>
            </a:r>
            <a:r>
              <a:rPr lang="en-US" sz="1200" dirty="0" err="1" smtClean="0"/>
              <a:t>console.log</a:t>
            </a:r>
            <a:r>
              <a:rPr lang="en-US" sz="1200" dirty="0"/>
              <a:t>('</a:t>
            </a:r>
            <a:r>
              <a:rPr lang="en-US" sz="1200" dirty="0" err="1"/>
              <a:t>Ejecutándose</a:t>
            </a:r>
            <a:r>
              <a:rPr lang="en-US" sz="1200" dirty="0"/>
              <a:t> </a:t>
            </a:r>
            <a:r>
              <a:rPr lang="en-US" sz="1200" dirty="0" err="1"/>
              <a:t>disconnectedCallback</a:t>
            </a:r>
            <a:r>
              <a:rPr lang="en-US" sz="1200" dirty="0"/>
              <a:t>');</a:t>
            </a:r>
          </a:p>
          <a:p>
            <a:r>
              <a:rPr lang="en-US" sz="1200" dirty="0"/>
              <a:t>  </a:t>
            </a:r>
            <a:r>
              <a:rPr lang="en-US" sz="1200" dirty="0" smtClean="0"/>
              <a:t>}</a:t>
            </a:r>
            <a:endParaRPr lang="en-US" sz="1200" dirty="0"/>
          </a:p>
          <a:p>
            <a:r>
              <a:rPr lang="en-US" sz="1200" dirty="0"/>
              <a:t>  </a:t>
            </a:r>
            <a:r>
              <a:rPr lang="en-US" sz="1200" dirty="0" err="1"/>
              <a:t>attributeChangedCallback</a:t>
            </a:r>
            <a:r>
              <a:rPr lang="en-US" sz="1200" dirty="0"/>
              <a:t>(</a:t>
            </a:r>
            <a:r>
              <a:rPr lang="en-US" sz="1200" dirty="0" err="1"/>
              <a:t>nombre</a:t>
            </a:r>
            <a:r>
              <a:rPr lang="en-US" sz="1200" dirty="0"/>
              <a:t>, </a:t>
            </a:r>
            <a:r>
              <a:rPr lang="en-US" sz="1200" dirty="0" err="1"/>
              <a:t>valorAnterior</a:t>
            </a:r>
            <a:r>
              <a:rPr lang="en-US" sz="1200" dirty="0"/>
              <a:t>, </a:t>
            </a:r>
            <a:r>
              <a:rPr lang="en-US" sz="1200" dirty="0" err="1"/>
              <a:t>valorNuevo</a:t>
            </a:r>
            <a:r>
              <a:rPr lang="en-US" sz="1200" dirty="0"/>
              <a:t>) {</a:t>
            </a:r>
          </a:p>
          <a:p>
            <a:r>
              <a:rPr lang="en-US" sz="1200" dirty="0"/>
              <a:t>    </a:t>
            </a:r>
            <a:r>
              <a:rPr lang="en-US" sz="1200" dirty="0" err="1"/>
              <a:t>super.attributeChangedCallback</a:t>
            </a:r>
            <a:r>
              <a:rPr lang="en-US" sz="1200" dirty="0"/>
              <a:t>()</a:t>
            </a:r>
            <a:r>
              <a:rPr lang="en-US" sz="1200" dirty="0" smtClean="0"/>
              <a:t>;  </a:t>
            </a:r>
            <a:r>
              <a:rPr lang="en-US" sz="1200" dirty="0" err="1" smtClean="0"/>
              <a:t>console.log</a:t>
            </a:r>
            <a:r>
              <a:rPr lang="en-US" sz="1200" dirty="0"/>
              <a:t>('</a:t>
            </a:r>
            <a:r>
              <a:rPr lang="en-US" sz="1200" dirty="0" err="1"/>
              <a:t>Ejecutándose</a:t>
            </a:r>
            <a:r>
              <a:rPr lang="en-US" sz="1200" dirty="0"/>
              <a:t> </a:t>
            </a:r>
            <a:r>
              <a:rPr lang="en-US" sz="1200" dirty="0" err="1"/>
              <a:t>attributeChangedCallback</a:t>
            </a:r>
            <a:r>
              <a:rPr lang="en-US" sz="1200" dirty="0"/>
              <a:t>', </a:t>
            </a:r>
            <a:r>
              <a:rPr lang="en-US" sz="1200" dirty="0" err="1"/>
              <a:t>nombre</a:t>
            </a:r>
            <a:r>
              <a:rPr lang="en-US" sz="1200" dirty="0"/>
              <a:t>, </a:t>
            </a:r>
            <a:r>
              <a:rPr lang="en-US" sz="1200" dirty="0" err="1"/>
              <a:t>valorAnterior</a:t>
            </a:r>
            <a:r>
              <a:rPr lang="en-US" sz="1200" dirty="0"/>
              <a:t>, </a:t>
            </a:r>
            <a:r>
              <a:rPr lang="en-US" sz="1200" dirty="0" err="1"/>
              <a:t>valorNuevo</a:t>
            </a:r>
            <a:r>
              <a:rPr lang="en-US" sz="1200" dirty="0"/>
              <a:t>);</a:t>
            </a:r>
          </a:p>
          <a:p>
            <a:r>
              <a:rPr lang="en-US" sz="1200" dirty="0"/>
              <a:t>  </a:t>
            </a:r>
            <a:r>
              <a:rPr lang="en-US" sz="1200" dirty="0" smtClean="0"/>
              <a:t>}</a:t>
            </a:r>
            <a:endParaRPr lang="en-US" sz="1200" dirty="0"/>
          </a:p>
          <a:p>
            <a:r>
              <a:rPr lang="en-US" sz="1200" dirty="0"/>
              <a:t>  ready() {</a:t>
            </a:r>
          </a:p>
          <a:p>
            <a:r>
              <a:rPr lang="en-US" sz="1200" dirty="0"/>
              <a:t>    </a:t>
            </a:r>
            <a:r>
              <a:rPr lang="en-US" sz="1200" dirty="0" err="1"/>
              <a:t>super.ready</a:t>
            </a:r>
            <a:r>
              <a:rPr lang="en-US" sz="1200" dirty="0"/>
              <a:t>()</a:t>
            </a:r>
            <a:r>
              <a:rPr lang="en-US" sz="1200" dirty="0" smtClean="0"/>
              <a:t>;   </a:t>
            </a:r>
            <a:r>
              <a:rPr lang="en-US" sz="1200" dirty="0" err="1"/>
              <a:t>console.log</a:t>
            </a:r>
            <a:r>
              <a:rPr lang="en-US" sz="1200" dirty="0"/>
              <a:t>('</a:t>
            </a:r>
            <a:r>
              <a:rPr lang="en-US" sz="1200" dirty="0" err="1"/>
              <a:t>Ejecutándose</a:t>
            </a:r>
            <a:r>
              <a:rPr lang="en-US" sz="1200" dirty="0"/>
              <a:t> ready');</a:t>
            </a:r>
          </a:p>
          <a:p>
            <a:r>
              <a:rPr lang="en-US" sz="1200" dirty="0"/>
              <a:t>  </a:t>
            </a:r>
            <a:r>
              <a:rPr lang="en-US" sz="1200" dirty="0" smtClean="0"/>
              <a:t>}</a:t>
            </a:r>
            <a:endParaRPr lang="en-US" sz="1200" dirty="0"/>
          </a:p>
          <a:p>
            <a:r>
              <a:rPr lang="en-US" sz="1200" dirty="0" smtClean="0"/>
              <a:t>}</a:t>
            </a:r>
            <a:endParaRPr lang="en-US" sz="1200" dirty="0"/>
          </a:p>
          <a:p>
            <a:r>
              <a:rPr lang="en-US" sz="1200" dirty="0" err="1"/>
              <a:t>customElements.define</a:t>
            </a:r>
            <a:r>
              <a:rPr lang="en-US" sz="1200" dirty="0"/>
              <a:t>('</a:t>
            </a:r>
            <a:r>
              <a:rPr lang="en-US" sz="1200" dirty="0" err="1"/>
              <a:t>ciclo-vida</a:t>
            </a:r>
            <a:r>
              <a:rPr lang="en-US" sz="1200" dirty="0"/>
              <a:t>', </a:t>
            </a:r>
            <a:r>
              <a:rPr lang="en-US" sz="1200" dirty="0" err="1"/>
              <a:t>CicloVida</a:t>
            </a:r>
            <a:r>
              <a:rPr lang="en-US" sz="1200" dirty="0"/>
              <a:t>);</a:t>
            </a:r>
            <a:endParaRPr lang="en-US" sz="1200" dirty="0"/>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69</a:t>
            </a:fld>
            <a:endParaRPr lang="en-US"/>
          </a:p>
        </p:txBody>
      </p:sp>
    </p:spTree>
    <p:extLst>
      <p:ext uri="{BB962C8B-B14F-4D97-AF65-F5344CB8AC3E}">
        <p14:creationId xmlns:p14="http://schemas.microsoft.com/office/powerpoint/2010/main" val="2934622438"/>
      </p:ext>
    </p:extLst>
  </p:cSld>
  <p:clrMapOvr>
    <a:masterClrMapping/>
  </p:clrMapOvr>
  <p:timing>
    <p:tnLst>
      <p:par>
        <p:cTn xmlns:p14="http://schemas.microsoft.com/office/powerpoint/2010/mai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Propiedades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Propiedades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8360750"/>
          </a:xfrm>
          <a:prstGeom prst="rect">
            <a:avLst/>
          </a:prstGeom>
        </p:spPr>
        <p:txBody>
          <a:bodyPr wrap="square">
            <a:spAutoFit/>
          </a:bodyPr>
          <a:lstStyle/>
          <a:p>
            <a:pPr algn="just">
              <a:lnSpc>
                <a:spcPct val="130000"/>
              </a:lnSpc>
            </a:pPr>
            <a:r>
              <a:rPr lang="es-ES_tradnl" dirty="0" smtClean="0">
                <a:solidFill>
                  <a:srgbClr val="FFFFFF"/>
                </a:solidFill>
                <a:latin typeface="Helvetica"/>
                <a:cs typeface="Helvetica"/>
              </a:rPr>
              <a:t>Para declarar las propiedades de un componente debemos añadir un método </a:t>
            </a:r>
            <a:r>
              <a:rPr lang="es-ES_tradnl" dirty="0" err="1" smtClean="0">
                <a:solidFill>
                  <a:srgbClr val="FFFFFF"/>
                </a:solidFill>
                <a:latin typeface="Helvetica"/>
                <a:cs typeface="Helvetica"/>
              </a:rPr>
              <a:t>get</a:t>
            </a:r>
            <a:r>
              <a:rPr lang="es-ES_tradnl" dirty="0" smtClean="0">
                <a:solidFill>
                  <a:srgbClr val="FFFFFF"/>
                </a:solidFill>
                <a:latin typeface="Helvetica"/>
                <a:cs typeface="Helvetica"/>
              </a:rPr>
              <a:t> estático que devuelva un objeto con las diferentes propiedades que hemos </a:t>
            </a:r>
            <a:r>
              <a:rPr lang="es-ES_tradnl" dirty="0">
                <a:solidFill>
                  <a:srgbClr val="FFFFFF"/>
                </a:solidFill>
                <a:latin typeface="Helvetica"/>
                <a:cs typeface="Helvetica"/>
              </a:rPr>
              <a:t>creado. </a:t>
            </a:r>
            <a:endParaRPr lang="es-ES_tradnl" dirty="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Hay que distinguir </a:t>
            </a:r>
            <a:r>
              <a:rPr lang="es-ES_tradnl" dirty="0">
                <a:solidFill>
                  <a:srgbClr val="FFFFFF"/>
                </a:solidFill>
                <a:latin typeface="Helvetica"/>
                <a:cs typeface="Helvetica"/>
              </a:rPr>
              <a:t>entre propiedades y </a:t>
            </a:r>
            <a:r>
              <a:rPr lang="es-ES_tradnl" dirty="0" smtClean="0">
                <a:solidFill>
                  <a:srgbClr val="FFFFFF"/>
                </a:solidFill>
                <a:latin typeface="Helvetica"/>
                <a:cs typeface="Helvetica"/>
              </a:rPr>
              <a:t>atributos. </a:t>
            </a:r>
            <a:r>
              <a:rPr lang="es-ES_tradnl" dirty="0">
                <a:solidFill>
                  <a:srgbClr val="FFFFFF"/>
                </a:solidFill>
                <a:latin typeface="Helvetica"/>
                <a:cs typeface="Helvetica"/>
              </a:rPr>
              <a:t>Básicamente </a:t>
            </a:r>
            <a:r>
              <a:rPr lang="es-ES_tradnl" u="sng" dirty="0">
                <a:solidFill>
                  <a:srgbClr val="FFFFFF"/>
                </a:solidFill>
                <a:latin typeface="Helvetica"/>
                <a:cs typeface="Helvetica"/>
              </a:rPr>
              <a:t>propiedades se refiere a elementos de </a:t>
            </a:r>
            <a:r>
              <a:rPr lang="es-ES_tradnl" u="sng" dirty="0" err="1" smtClean="0">
                <a:solidFill>
                  <a:srgbClr val="FFFFFF"/>
                </a:solidFill>
                <a:latin typeface="Helvetica"/>
                <a:cs typeface="Helvetica"/>
              </a:rPr>
              <a:t>Polymer</a:t>
            </a:r>
            <a:r>
              <a:rPr lang="es-ES_tradnl" u="sng" dirty="0" smtClean="0">
                <a:solidFill>
                  <a:srgbClr val="FFFFFF"/>
                </a:solidFill>
                <a:latin typeface="Helvetica"/>
                <a:cs typeface="Helvetica"/>
              </a:rPr>
              <a:t> </a:t>
            </a:r>
            <a:r>
              <a:rPr lang="es-ES_tradnl" dirty="0" smtClean="0">
                <a:solidFill>
                  <a:srgbClr val="FFFFFF"/>
                </a:solidFill>
                <a:latin typeface="Helvetica"/>
                <a:cs typeface="Helvetica"/>
              </a:rPr>
              <a:t>y </a:t>
            </a:r>
            <a:r>
              <a:rPr lang="es-ES_tradnl" dirty="0">
                <a:solidFill>
                  <a:srgbClr val="FFFFFF"/>
                </a:solidFill>
                <a:latin typeface="Helvetica"/>
                <a:cs typeface="Helvetica"/>
              </a:rPr>
              <a:t>sus propiedades declaradas, mientras que </a:t>
            </a:r>
            <a:r>
              <a:rPr lang="es-ES_tradnl" u="sng" dirty="0">
                <a:solidFill>
                  <a:srgbClr val="FFFFFF"/>
                </a:solidFill>
                <a:latin typeface="Helvetica"/>
                <a:cs typeface="Helvetica"/>
              </a:rPr>
              <a:t>atributos se refiere a lo que son atributos estándar, de </a:t>
            </a:r>
            <a:r>
              <a:rPr lang="es-ES_tradnl" u="sng" dirty="0" smtClean="0">
                <a:solidFill>
                  <a:srgbClr val="FFFFFF"/>
                </a:solidFill>
                <a:latin typeface="Helvetica"/>
                <a:cs typeface="Helvetica"/>
              </a:rPr>
              <a:t>las etiquetas </a:t>
            </a:r>
            <a:r>
              <a:rPr lang="es-ES_tradnl" u="sng" dirty="0">
                <a:solidFill>
                  <a:srgbClr val="FFFFFF"/>
                </a:solidFill>
                <a:latin typeface="Helvetica"/>
                <a:cs typeface="Helvetica"/>
              </a:rPr>
              <a:t>HTML </a:t>
            </a:r>
            <a:r>
              <a:rPr lang="es-ES_tradnl" dirty="0">
                <a:solidFill>
                  <a:srgbClr val="FFFFFF"/>
                </a:solidFill>
                <a:latin typeface="Helvetica"/>
                <a:cs typeface="Helvetica"/>
              </a:rPr>
              <a:t>en general.</a:t>
            </a:r>
            <a:endParaRPr lang="es-ES_tradnl" dirty="0" smtClean="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Justamente </a:t>
            </a:r>
            <a:r>
              <a:rPr lang="es-ES_tradnl" dirty="0">
                <a:solidFill>
                  <a:srgbClr val="FFFFFF"/>
                </a:solidFill>
                <a:latin typeface="Helvetica"/>
                <a:cs typeface="Helvetica"/>
              </a:rPr>
              <a:t>esta riqueza en la declaración de propiedades es una </a:t>
            </a:r>
            <a:r>
              <a:rPr lang="es-ES_tradnl" dirty="0" smtClean="0">
                <a:solidFill>
                  <a:srgbClr val="FFFFFF"/>
                </a:solidFill>
                <a:latin typeface="Helvetica"/>
                <a:cs typeface="Helvetica"/>
              </a:rPr>
              <a:t>de las </a:t>
            </a:r>
            <a:r>
              <a:rPr lang="es-ES_tradnl" dirty="0">
                <a:solidFill>
                  <a:srgbClr val="FFFFFF"/>
                </a:solidFill>
                <a:latin typeface="Helvetica"/>
                <a:cs typeface="Helvetica"/>
              </a:rPr>
              <a:t>ventajas de usar </a:t>
            </a:r>
            <a:r>
              <a:rPr lang="es-ES_tradnl" dirty="0" err="1">
                <a:solidFill>
                  <a:srgbClr val="FFFFFF"/>
                </a:solidFill>
                <a:latin typeface="Helvetica"/>
                <a:cs typeface="Helvetica"/>
              </a:rPr>
              <a:t>Polymer</a:t>
            </a:r>
            <a:r>
              <a:rPr lang="es-ES_tradnl" dirty="0">
                <a:solidFill>
                  <a:srgbClr val="FFFFFF"/>
                </a:solidFill>
                <a:latin typeface="Helvetica"/>
                <a:cs typeface="Helvetica"/>
              </a:rPr>
              <a:t>, con respecto a lo que nos ofrece el </a:t>
            </a:r>
            <a:r>
              <a:rPr lang="es-ES_tradnl" dirty="0" err="1">
                <a:solidFill>
                  <a:srgbClr val="FFFFFF"/>
                </a:solidFill>
                <a:latin typeface="Helvetica"/>
                <a:cs typeface="Helvetica"/>
              </a:rPr>
              <a:t>Javascript</a:t>
            </a:r>
            <a:r>
              <a:rPr lang="es-ES_tradnl" dirty="0">
                <a:solidFill>
                  <a:srgbClr val="FFFFFF"/>
                </a:solidFill>
                <a:latin typeface="Helvetica"/>
                <a:cs typeface="Helvetica"/>
              </a:rPr>
              <a:t> nativo de Web </a:t>
            </a:r>
            <a:r>
              <a:rPr lang="es-ES_tradnl" dirty="0" err="1">
                <a:solidFill>
                  <a:srgbClr val="FFFFFF"/>
                </a:solidFill>
                <a:latin typeface="Helvetica"/>
                <a:cs typeface="Helvetica"/>
              </a:rPr>
              <a:t>Components</a:t>
            </a:r>
            <a:r>
              <a:rPr lang="es-ES_tradnl" dirty="0" smtClean="0">
                <a:solidFill>
                  <a:srgbClr val="FFFFFF"/>
                </a:solidFill>
                <a:latin typeface="Helvetica"/>
                <a:cs typeface="Helvetica"/>
              </a:rPr>
              <a:t>.</a:t>
            </a:r>
          </a:p>
          <a:p>
            <a:pPr algn="just">
              <a:lnSpc>
                <a:spcPct val="130000"/>
              </a:lnSpc>
            </a:pPr>
            <a:endParaRPr lang="es-ES_tradnl" dirty="0" smtClean="0">
              <a:solidFill>
                <a:srgbClr val="FFFFFF"/>
              </a:solidFill>
              <a:latin typeface="Helvetica"/>
              <a:cs typeface="Helvetica"/>
            </a:endParaRPr>
          </a:p>
          <a:p>
            <a:pPr algn="just">
              <a:lnSpc>
                <a:spcPct val="130000"/>
              </a:lnSpc>
            </a:pPr>
            <a:r>
              <a:rPr lang="nb-NO" dirty="0" err="1">
                <a:solidFill>
                  <a:srgbClr val="FFFFFF"/>
                </a:solidFill>
                <a:latin typeface="Helvetica"/>
                <a:cs typeface="Helvetica"/>
              </a:rPr>
              <a:t>Referencia</a:t>
            </a:r>
            <a:r>
              <a:rPr lang="nb-NO" dirty="0">
                <a:solidFill>
                  <a:srgbClr val="FFFFFF"/>
                </a:solidFill>
                <a:latin typeface="Helvetica"/>
                <a:cs typeface="Helvetica"/>
              </a:rPr>
              <a:t> </a:t>
            </a:r>
            <a:r>
              <a:rPr lang="nb-NO" dirty="0" err="1">
                <a:solidFill>
                  <a:srgbClr val="FFFFFF"/>
                </a:solidFill>
                <a:latin typeface="Helvetica"/>
                <a:cs typeface="Helvetica"/>
              </a:rPr>
              <a:t>Completa</a:t>
            </a:r>
            <a:r>
              <a:rPr lang="nb-NO" dirty="0" smtClean="0">
                <a:solidFill>
                  <a:srgbClr val="FFFFFF"/>
                </a:solidFill>
                <a:latin typeface="Helvetica"/>
                <a:cs typeface="Helvetica"/>
              </a:rPr>
              <a:t>:</a:t>
            </a:r>
            <a:endParaRPr lang="nb-NO" dirty="0">
              <a:solidFill>
                <a:srgbClr val="FFFFFF"/>
              </a:solidFill>
              <a:latin typeface="Helvetica"/>
              <a:cs typeface="Helvetica"/>
            </a:endParaRPr>
          </a:p>
          <a:p>
            <a:pPr algn="just">
              <a:lnSpc>
                <a:spcPct val="130000"/>
              </a:lnSpc>
            </a:pPr>
            <a:r>
              <a:rPr lang="nb-NO" dirty="0">
                <a:solidFill>
                  <a:srgbClr val="FFFFFF"/>
                </a:solidFill>
                <a:latin typeface="Helvetica"/>
                <a:cs typeface="Helvetica"/>
                <a:hlinkClick r:id="rId5"/>
              </a:rPr>
              <a:t>https://polymer-library.polymer-project.org/2.0/docs/devguide/</a:t>
            </a:r>
            <a:r>
              <a:rPr lang="nb-NO" dirty="0" smtClean="0">
                <a:solidFill>
                  <a:srgbClr val="FFFFFF"/>
                </a:solidFill>
                <a:latin typeface="Helvetica"/>
                <a:cs typeface="Helvetica"/>
                <a:hlinkClick r:id="rId5"/>
              </a:rPr>
              <a:t>properties</a:t>
            </a: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70</a:t>
            </a:fld>
            <a:endParaRPr lang="en-US"/>
          </a:p>
        </p:txBody>
      </p:sp>
    </p:spTree>
    <p:extLst>
      <p:ext uri="{BB962C8B-B14F-4D97-AF65-F5344CB8AC3E}">
        <p14:creationId xmlns:p14="http://schemas.microsoft.com/office/powerpoint/2010/main" val="1589673698"/>
      </p:ext>
    </p:extLst>
  </p:cSld>
  <p:clrMapOvr>
    <a:masterClrMapping/>
  </p:clrMapOvr>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Propiedades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Propiedades &gt; Posibilidades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2599173"/>
          </a:xfrm>
          <a:prstGeom prst="rect">
            <a:avLst/>
          </a:prstGeom>
        </p:spPr>
        <p:txBody>
          <a:bodyPr wrap="square">
            <a:spAutoFit/>
          </a:bodyPr>
          <a:lstStyle/>
          <a:p>
            <a:pPr marL="342900" indent="-342900" algn="just">
              <a:lnSpc>
                <a:spcPct val="130000"/>
              </a:lnSpc>
              <a:buFont typeface="+mj-lt"/>
              <a:buAutoNum type="arabicPeriod"/>
            </a:pPr>
            <a:r>
              <a:rPr lang="es-ES_tradnl" dirty="0" smtClean="0">
                <a:solidFill>
                  <a:srgbClr val="FFFFFF"/>
                </a:solidFill>
                <a:latin typeface="Helvetica"/>
                <a:cs typeface="Helvetica"/>
              </a:rPr>
              <a:t>Declara el tipo y valor por defecto.</a:t>
            </a:r>
          </a:p>
          <a:p>
            <a:pPr marL="342900" indent="-342900" algn="just">
              <a:lnSpc>
                <a:spcPct val="130000"/>
              </a:lnSpc>
              <a:buFont typeface="+mj-lt"/>
              <a:buAutoNum type="arabicPeriod"/>
            </a:pPr>
            <a:r>
              <a:rPr lang="es-ES_tradnl" dirty="0" smtClean="0">
                <a:solidFill>
                  <a:srgbClr val="FFFFFF"/>
                </a:solidFill>
                <a:latin typeface="Helvetica"/>
                <a:cs typeface="Helvetica"/>
              </a:rPr>
              <a:t>Declarar observadores.</a:t>
            </a:r>
            <a:endParaRPr lang="es-ES_tradnl" dirty="0">
              <a:solidFill>
                <a:srgbClr val="FFFFFF"/>
              </a:solidFill>
              <a:latin typeface="Helvetica"/>
              <a:cs typeface="Helvetica"/>
            </a:endParaRPr>
          </a:p>
          <a:p>
            <a:pPr marL="342900" indent="-342900" algn="just">
              <a:lnSpc>
                <a:spcPct val="130000"/>
              </a:lnSpc>
              <a:buFont typeface="+mj-lt"/>
              <a:buAutoNum type="arabicPeriod"/>
            </a:pPr>
            <a:r>
              <a:rPr lang="es-ES_tradnl" dirty="0" err="1" smtClean="0">
                <a:solidFill>
                  <a:srgbClr val="FFFFFF"/>
                </a:solidFill>
                <a:latin typeface="Helvetica"/>
                <a:cs typeface="Helvetica"/>
              </a:rPr>
              <a:t>Databinding</a:t>
            </a:r>
            <a:r>
              <a:rPr lang="es-ES_tradnl" dirty="0" smtClean="0">
                <a:solidFill>
                  <a:srgbClr val="FFFFFF"/>
                </a:solidFill>
                <a:latin typeface="Helvetica"/>
                <a:cs typeface="Helvetica"/>
              </a:rPr>
              <a:t> bidireccional </a:t>
            </a:r>
            <a:r>
              <a:rPr lang="es-ES_tradnl" dirty="0" smtClean="0">
                <a:solidFill>
                  <a:srgbClr val="94D66C"/>
                </a:solidFill>
                <a:latin typeface="Helvetica"/>
                <a:cs typeface="Helvetica"/>
              </a:rPr>
              <a:t>{{</a:t>
            </a:r>
            <a:r>
              <a:rPr lang="mr-IN" dirty="0" smtClean="0">
                <a:solidFill>
                  <a:srgbClr val="94D66C"/>
                </a:solidFill>
                <a:latin typeface="Helvetica"/>
                <a:cs typeface="Helvetica"/>
              </a:rPr>
              <a:t>…</a:t>
            </a:r>
            <a:r>
              <a:rPr lang="es-ES_tradnl" dirty="0" smtClean="0">
                <a:solidFill>
                  <a:srgbClr val="94D66C"/>
                </a:solidFill>
                <a:latin typeface="Helvetica"/>
                <a:cs typeface="Helvetica"/>
              </a:rPr>
              <a:t>}} </a:t>
            </a:r>
            <a:r>
              <a:rPr lang="es-ES_tradnl" dirty="0" smtClean="0">
                <a:solidFill>
                  <a:srgbClr val="FFFFFF"/>
                </a:solidFill>
                <a:latin typeface="Helvetica"/>
                <a:cs typeface="Helvetica"/>
              </a:rPr>
              <a:t>o unidireccional </a:t>
            </a:r>
            <a:r>
              <a:rPr lang="es-ES_tradnl" dirty="0" smtClean="0">
                <a:solidFill>
                  <a:srgbClr val="94D66C"/>
                </a:solidFill>
                <a:latin typeface="Helvetica"/>
                <a:cs typeface="Helvetica"/>
              </a:rPr>
              <a:t>[[</a:t>
            </a:r>
            <a:r>
              <a:rPr lang="mr-IN" dirty="0" smtClean="0">
                <a:solidFill>
                  <a:srgbClr val="94D66C"/>
                </a:solidFill>
                <a:latin typeface="Helvetica"/>
                <a:cs typeface="Helvetica"/>
              </a:rPr>
              <a:t>…</a:t>
            </a:r>
            <a:r>
              <a:rPr lang="es-ES_tradnl" dirty="0" smtClean="0">
                <a:solidFill>
                  <a:srgbClr val="94D66C"/>
                </a:solidFill>
                <a:latin typeface="Helvetica"/>
                <a:cs typeface="Helvetica"/>
              </a:rPr>
              <a:t>]]</a:t>
            </a:r>
          </a:p>
          <a:p>
            <a:pPr marL="342900" indent="-342900" algn="just">
              <a:lnSpc>
                <a:spcPct val="130000"/>
              </a:lnSpc>
              <a:buFont typeface="+mj-lt"/>
              <a:buAutoNum type="arabicPeriod"/>
            </a:pPr>
            <a:r>
              <a:rPr lang="es-ES_tradnl" dirty="0" smtClean="0">
                <a:solidFill>
                  <a:srgbClr val="FFFFFF"/>
                </a:solidFill>
                <a:latin typeface="Helvetica"/>
                <a:cs typeface="Helvetica"/>
              </a:rPr>
              <a:t>Soporte para </a:t>
            </a:r>
            <a:r>
              <a:rPr lang="es-ES_tradnl" dirty="0" err="1" smtClean="0">
                <a:solidFill>
                  <a:srgbClr val="FFFFFF"/>
                </a:solidFill>
                <a:latin typeface="Helvetica"/>
                <a:cs typeface="Helvetica"/>
              </a:rPr>
              <a:t>computos</a:t>
            </a:r>
            <a:r>
              <a:rPr lang="es-ES_tradnl" dirty="0" smtClean="0">
                <a:solidFill>
                  <a:srgbClr val="FFFFFF"/>
                </a:solidFill>
                <a:latin typeface="Helvetica"/>
                <a:cs typeface="Helvetica"/>
              </a:rPr>
              <a:t> y </a:t>
            </a:r>
            <a:r>
              <a:rPr lang="es-ES_tradnl" dirty="0" smtClean="0">
                <a:solidFill>
                  <a:srgbClr val="FFFFFF"/>
                </a:solidFill>
                <a:latin typeface="Helvetica"/>
                <a:cs typeface="Helvetica"/>
              </a:rPr>
              <a:t>operaciones al asignar un valor.</a:t>
            </a:r>
            <a:endParaRPr lang="es-ES_tradnl" dirty="0" smtClean="0">
              <a:solidFill>
                <a:srgbClr val="FFFFFF"/>
              </a:solidFill>
              <a:latin typeface="Helvetica"/>
              <a:cs typeface="Helvetica"/>
            </a:endParaRPr>
          </a:p>
          <a:p>
            <a:pPr marL="342900" indent="-342900" algn="just">
              <a:lnSpc>
                <a:spcPct val="130000"/>
              </a:lnSpc>
              <a:buFont typeface="+mj-lt"/>
              <a:buAutoNum type="arabicPeriod"/>
            </a:pPr>
            <a:r>
              <a:rPr lang="es-ES_tradnl" dirty="0" smtClean="0">
                <a:solidFill>
                  <a:srgbClr val="FFFFFF"/>
                </a:solidFill>
                <a:latin typeface="Helvetica"/>
                <a:cs typeface="Helvetica"/>
              </a:rPr>
              <a:t>Propiedades adicionales como </a:t>
            </a:r>
            <a:r>
              <a:rPr lang="es-ES_tradnl" dirty="0" err="1" smtClean="0">
                <a:solidFill>
                  <a:srgbClr val="FFFFFF"/>
                </a:solidFill>
                <a:latin typeface="Helvetica"/>
                <a:cs typeface="Helvetica"/>
              </a:rPr>
              <a:t>Read-only</a:t>
            </a:r>
            <a:r>
              <a:rPr lang="es-ES_tradnl" dirty="0" smtClean="0">
                <a:solidFill>
                  <a:srgbClr val="FFFFFF"/>
                </a:solidFill>
                <a:latin typeface="Helvetica"/>
                <a:cs typeface="Helvetica"/>
              </a:rPr>
              <a:t>.</a:t>
            </a:r>
          </a:p>
          <a:p>
            <a:pPr marL="342900" indent="-342900" algn="just">
              <a:lnSpc>
                <a:spcPct val="130000"/>
              </a:lnSpc>
              <a:buFont typeface="+mj-lt"/>
              <a:buAutoNum type="arabicPeriod"/>
            </a:pPr>
            <a:r>
              <a:rPr lang="es-ES_tradnl" dirty="0" smtClean="0">
                <a:solidFill>
                  <a:srgbClr val="FFFFFF"/>
                </a:solidFill>
                <a:latin typeface="Helvetica"/>
                <a:cs typeface="Helvetica"/>
              </a:rPr>
              <a:t>Posibilidad de asignar valor desde la llamada HTML </a:t>
            </a:r>
            <a:r>
              <a:rPr lang="es-ES_tradnl" dirty="0" smtClean="0">
                <a:solidFill>
                  <a:srgbClr val="FFFFFF"/>
                </a:solidFill>
                <a:latin typeface="Helvetica"/>
                <a:cs typeface="Helvetica"/>
              </a:rPr>
              <a:t>a las propiedades del </a:t>
            </a:r>
            <a:r>
              <a:rPr lang="es-ES_tradnl" dirty="0" smtClean="0">
                <a:solidFill>
                  <a:srgbClr val="FFFFFF"/>
                </a:solidFill>
                <a:latin typeface="Helvetica"/>
                <a:cs typeface="Helvetica"/>
              </a:rPr>
              <a:t>componente.</a:t>
            </a:r>
            <a:endParaRPr lang="es-ES_tradnl"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71</a:t>
            </a:fld>
            <a:endParaRPr lang="en-US"/>
          </a:p>
        </p:txBody>
      </p:sp>
    </p:spTree>
    <p:extLst>
      <p:ext uri="{BB962C8B-B14F-4D97-AF65-F5344CB8AC3E}">
        <p14:creationId xmlns:p14="http://schemas.microsoft.com/office/powerpoint/2010/main" val="3888240912"/>
      </p:ext>
    </p:extLst>
  </p:cSld>
  <p:clrMapOvr>
    <a:masterClrMapping/>
  </p:clrMapOvr>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Propiedades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Propiedades &gt; Ejemplo</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5" name="Rectángulo 14"/>
          <p:cNvSpPr/>
          <p:nvPr/>
        </p:nvSpPr>
        <p:spPr>
          <a:xfrm>
            <a:off x="1069296" y="1874728"/>
            <a:ext cx="7005407" cy="4185761"/>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err="1"/>
              <a:t>class</a:t>
            </a:r>
            <a:r>
              <a:rPr lang="es-ES" sz="1400" dirty="0"/>
              <a:t> </a:t>
            </a:r>
            <a:r>
              <a:rPr lang="es-ES" sz="1400" dirty="0" err="1"/>
              <a:t>XCustom</a:t>
            </a:r>
            <a:r>
              <a:rPr lang="es-ES" sz="1400" dirty="0"/>
              <a:t> </a:t>
            </a:r>
            <a:r>
              <a:rPr lang="es-ES" sz="1400" dirty="0" err="1"/>
              <a:t>extends</a:t>
            </a:r>
            <a:r>
              <a:rPr lang="es-ES" sz="1400" dirty="0"/>
              <a:t> </a:t>
            </a:r>
            <a:r>
              <a:rPr lang="es-ES" sz="1400" dirty="0" err="1"/>
              <a:t>PolymerElement</a:t>
            </a:r>
            <a:r>
              <a:rPr lang="es-ES" sz="1400" dirty="0"/>
              <a:t> {</a:t>
            </a:r>
          </a:p>
          <a:p>
            <a:endParaRPr lang="es-ES" sz="1400" dirty="0"/>
          </a:p>
          <a:p>
            <a:r>
              <a:rPr lang="es-ES" sz="1400" dirty="0"/>
              <a:t>  </a:t>
            </a:r>
            <a:r>
              <a:rPr lang="es-ES" sz="1400" dirty="0" err="1"/>
              <a:t>static</a:t>
            </a:r>
            <a:r>
              <a:rPr lang="es-ES" sz="1400" dirty="0"/>
              <a:t> </a:t>
            </a:r>
            <a:r>
              <a:rPr lang="es-ES" sz="1400" dirty="0" err="1"/>
              <a:t>get</a:t>
            </a:r>
            <a:r>
              <a:rPr lang="es-ES" sz="1400" dirty="0"/>
              <a:t> </a:t>
            </a:r>
            <a:r>
              <a:rPr lang="es-ES" sz="1400" dirty="0" err="1"/>
              <a:t>properties</a:t>
            </a:r>
            <a:r>
              <a:rPr lang="es-ES" sz="1400" dirty="0"/>
              <a:t>() {</a:t>
            </a:r>
          </a:p>
          <a:p>
            <a:r>
              <a:rPr lang="es-ES" sz="1400" dirty="0"/>
              <a:t>    </a:t>
            </a:r>
            <a:r>
              <a:rPr lang="es-ES" sz="1400" dirty="0" err="1"/>
              <a:t>return</a:t>
            </a:r>
            <a:r>
              <a:rPr lang="es-ES" sz="1400" dirty="0"/>
              <a:t> {</a:t>
            </a:r>
          </a:p>
          <a:p>
            <a:r>
              <a:rPr lang="es-ES" sz="1400" dirty="0"/>
              <a:t>      </a:t>
            </a:r>
            <a:r>
              <a:rPr lang="es-ES" sz="1400" dirty="0" err="1"/>
              <a:t>user</a:t>
            </a:r>
            <a:r>
              <a:rPr lang="es-ES" sz="1400" dirty="0"/>
              <a:t>: </a:t>
            </a:r>
            <a:r>
              <a:rPr lang="es-ES" sz="1400" dirty="0" err="1"/>
              <a:t>String</a:t>
            </a:r>
            <a:r>
              <a:rPr lang="es-ES" sz="1400" dirty="0"/>
              <a:t>,</a:t>
            </a:r>
          </a:p>
          <a:p>
            <a:r>
              <a:rPr lang="es-ES" sz="1400" dirty="0"/>
              <a:t>      </a:t>
            </a:r>
            <a:r>
              <a:rPr lang="es-ES" sz="1400" dirty="0" err="1"/>
              <a:t>isHappy</a:t>
            </a:r>
            <a:r>
              <a:rPr lang="es-ES" sz="1400" dirty="0"/>
              <a:t>: </a:t>
            </a:r>
            <a:r>
              <a:rPr lang="es-ES" sz="1400" dirty="0" err="1"/>
              <a:t>Boolean</a:t>
            </a:r>
            <a:r>
              <a:rPr lang="es-ES" sz="1400" dirty="0"/>
              <a:t>,</a:t>
            </a:r>
          </a:p>
          <a:p>
            <a:r>
              <a:rPr lang="es-ES" sz="1400" dirty="0"/>
              <a:t>      </a:t>
            </a:r>
            <a:r>
              <a:rPr lang="es-ES" sz="1400" dirty="0" err="1"/>
              <a:t>count</a:t>
            </a:r>
            <a:r>
              <a:rPr lang="es-ES" sz="1400" dirty="0"/>
              <a:t>: {</a:t>
            </a:r>
          </a:p>
          <a:p>
            <a:r>
              <a:rPr lang="es-ES" sz="1400" dirty="0"/>
              <a:t>        </a:t>
            </a:r>
            <a:r>
              <a:rPr lang="es-ES" sz="1400" dirty="0" err="1"/>
              <a:t>type</a:t>
            </a:r>
            <a:r>
              <a:rPr lang="es-ES" sz="1400" dirty="0"/>
              <a:t>: </a:t>
            </a:r>
            <a:r>
              <a:rPr lang="es-ES" sz="1400" dirty="0" err="1"/>
              <a:t>Number</a:t>
            </a:r>
            <a:r>
              <a:rPr lang="es-ES" sz="1400" dirty="0"/>
              <a:t>,</a:t>
            </a:r>
          </a:p>
          <a:p>
            <a:r>
              <a:rPr lang="es-ES" sz="1400" dirty="0"/>
              <a:t>        </a:t>
            </a:r>
            <a:r>
              <a:rPr lang="es-ES" sz="1400" dirty="0" err="1"/>
              <a:t>readOnly</a:t>
            </a:r>
            <a:r>
              <a:rPr lang="es-ES" sz="1400" dirty="0"/>
              <a:t>: true,</a:t>
            </a:r>
          </a:p>
          <a:p>
            <a:r>
              <a:rPr lang="es-ES" sz="1400" dirty="0"/>
              <a:t>        </a:t>
            </a:r>
            <a:r>
              <a:rPr lang="es-ES" sz="1400" dirty="0" err="1"/>
              <a:t>notify</a:t>
            </a:r>
            <a:r>
              <a:rPr lang="es-ES" sz="1400" dirty="0"/>
              <a:t>: true</a:t>
            </a:r>
          </a:p>
          <a:p>
            <a:r>
              <a:rPr lang="es-ES" sz="1400" dirty="0"/>
              <a:t>      }</a:t>
            </a:r>
          </a:p>
          <a:p>
            <a:r>
              <a:rPr lang="es-ES" sz="1400" dirty="0"/>
              <a:t>    }</a:t>
            </a:r>
          </a:p>
          <a:p>
            <a:r>
              <a:rPr lang="es-ES" sz="1400" dirty="0"/>
              <a:t>  }</a:t>
            </a:r>
          </a:p>
          <a:p>
            <a:r>
              <a:rPr lang="es-ES" sz="1400" dirty="0"/>
              <a:t>}</a:t>
            </a:r>
          </a:p>
          <a:p>
            <a:endParaRPr lang="es-ES" sz="1400" dirty="0"/>
          </a:p>
          <a:p>
            <a:r>
              <a:rPr lang="es-ES" sz="1400" dirty="0" err="1"/>
              <a:t>customElements.define</a:t>
            </a:r>
            <a:r>
              <a:rPr lang="es-ES" sz="1400" dirty="0"/>
              <a:t>('x-</a:t>
            </a:r>
            <a:r>
              <a:rPr lang="es-ES" sz="1400" dirty="0" err="1"/>
              <a:t>custom</a:t>
            </a:r>
            <a:r>
              <a:rPr lang="es-ES" sz="1400" dirty="0"/>
              <a:t>', </a:t>
            </a:r>
            <a:r>
              <a:rPr lang="es-ES" sz="1400" dirty="0" err="1"/>
              <a:t>XCustom</a:t>
            </a:r>
            <a:r>
              <a:rPr lang="es-ES" sz="1400" dirty="0"/>
              <a:t>)</a:t>
            </a:r>
            <a:r>
              <a:rPr lang="es-ES" sz="1400" dirty="0" smtClean="0"/>
              <a:t>;</a:t>
            </a:r>
          </a:p>
          <a:p>
            <a:r>
              <a:rPr lang="mr-IN" sz="1400" dirty="0" smtClean="0"/>
              <a:t>…</a:t>
            </a:r>
            <a:endParaRPr lang="es-ES_tradnl" sz="1400" dirty="0"/>
          </a:p>
          <a:p>
            <a:r>
              <a:rPr lang="es-ES" sz="1400" dirty="0" smtClean="0"/>
              <a:t>// Asignación de valor desde </a:t>
            </a:r>
            <a:r>
              <a:rPr lang="es-ES" sz="1400" dirty="0" err="1" smtClean="0"/>
              <a:t>Html</a:t>
            </a:r>
            <a:endParaRPr lang="es-ES" sz="1400" dirty="0" smtClean="0"/>
          </a:p>
          <a:p>
            <a:r>
              <a:rPr lang="es-ES" sz="1400" dirty="0" smtClean="0"/>
              <a:t>&lt;</a:t>
            </a:r>
            <a:r>
              <a:rPr lang="es-ES" sz="1400" dirty="0"/>
              <a:t>x-</a:t>
            </a:r>
            <a:r>
              <a:rPr lang="es-ES" sz="1400" dirty="0" err="1" smtClean="0"/>
              <a:t>custom</a:t>
            </a:r>
            <a:r>
              <a:rPr lang="es-ES" sz="1400" dirty="0" smtClean="0"/>
              <a:t>  </a:t>
            </a:r>
            <a:r>
              <a:rPr lang="es-ES" sz="1400" dirty="0" err="1" smtClean="0"/>
              <a:t>user</a:t>
            </a:r>
            <a:r>
              <a:rPr lang="es-ES" sz="1400" dirty="0" smtClean="0"/>
              <a:t>=”Juan"</a:t>
            </a:r>
            <a:r>
              <a:rPr lang="es-ES" sz="1400" dirty="0"/>
              <a:t>&gt;&lt;</a:t>
            </a:r>
            <a:r>
              <a:rPr lang="es-ES" sz="1400" dirty="0" smtClean="0"/>
              <a:t>/</a:t>
            </a:r>
            <a:r>
              <a:rPr lang="es-ES" sz="1400" dirty="0"/>
              <a:t>x-</a:t>
            </a:r>
            <a:r>
              <a:rPr lang="es-ES" sz="1400" dirty="0" err="1"/>
              <a:t>custom</a:t>
            </a:r>
            <a:r>
              <a:rPr lang="es-ES" sz="1400" dirty="0" smtClean="0"/>
              <a:t>&gt;</a:t>
            </a:r>
            <a:endParaRPr lang="es-ES" sz="1400" dirty="0"/>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72</a:t>
            </a:fld>
            <a:endParaRPr lang="en-US"/>
          </a:p>
        </p:txBody>
      </p:sp>
    </p:spTree>
    <p:extLst>
      <p:ext uri="{BB962C8B-B14F-4D97-AF65-F5344CB8AC3E}">
        <p14:creationId xmlns:p14="http://schemas.microsoft.com/office/powerpoint/2010/main" val="3626024605"/>
      </p:ext>
    </p:extLst>
  </p:cSld>
  <p:clrMapOvr>
    <a:masterClrMapping/>
  </p:clrMapOvr>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Propiedades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Propiedades &gt; Funcionalidades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6920359"/>
          </a:xfrm>
          <a:prstGeom prst="rect">
            <a:avLst/>
          </a:prstGeom>
        </p:spPr>
        <p:txBody>
          <a:bodyPr wrap="square">
            <a:spAutoFit/>
          </a:bodyPr>
          <a:lstStyle/>
          <a:p>
            <a:pPr algn="just">
              <a:lnSpc>
                <a:spcPct val="130000"/>
              </a:lnSpc>
            </a:pPr>
            <a:r>
              <a:rPr lang="es-ES_tradnl" dirty="0" err="1">
                <a:solidFill>
                  <a:srgbClr val="B8E39D"/>
                </a:solidFill>
                <a:latin typeface="Helvetica"/>
                <a:cs typeface="Helvetica"/>
              </a:rPr>
              <a:t>type</a:t>
            </a:r>
            <a:r>
              <a:rPr lang="es-ES_tradnl" dirty="0">
                <a:solidFill>
                  <a:srgbClr val="B8E39D"/>
                </a:solidFill>
                <a:latin typeface="Helvetica"/>
                <a:cs typeface="Helvetica"/>
              </a:rPr>
              <a:t>: </a:t>
            </a:r>
            <a:r>
              <a:rPr lang="es-ES_tradnl" dirty="0">
                <a:solidFill>
                  <a:srgbClr val="FFFFFF"/>
                </a:solidFill>
                <a:latin typeface="Helvetica"/>
                <a:cs typeface="Helvetica"/>
              </a:rPr>
              <a:t>Sirve para indicar el tipo </a:t>
            </a:r>
            <a:r>
              <a:rPr lang="es-ES_tradnl" dirty="0" smtClean="0">
                <a:solidFill>
                  <a:srgbClr val="FFFFFF"/>
                </a:solidFill>
                <a:latin typeface="Helvetica"/>
                <a:cs typeface="Helvetica"/>
              </a:rPr>
              <a:t>(Date ,</a:t>
            </a:r>
            <a:r>
              <a:rPr lang="es-ES_tradnl" dirty="0" err="1" smtClean="0">
                <a:solidFill>
                  <a:srgbClr val="FFFFFF"/>
                </a:solidFill>
                <a:latin typeface="Helvetica"/>
                <a:cs typeface="Helvetica"/>
              </a:rPr>
              <a:t>Boolean</a:t>
            </a:r>
            <a:r>
              <a:rPr lang="es-ES_tradnl" dirty="0">
                <a:solidFill>
                  <a:srgbClr val="FFFFFF"/>
                </a:solidFill>
                <a:latin typeface="Helvetica"/>
                <a:cs typeface="Helvetica"/>
              </a:rPr>
              <a:t>, </a:t>
            </a:r>
            <a:r>
              <a:rPr lang="es-ES_tradnl" dirty="0" err="1">
                <a:solidFill>
                  <a:srgbClr val="FFFFFF"/>
                </a:solidFill>
                <a:latin typeface="Helvetica"/>
                <a:cs typeface="Helvetica"/>
              </a:rPr>
              <a:t>Number</a:t>
            </a:r>
            <a:r>
              <a:rPr lang="es-ES_tradnl" dirty="0">
                <a:solidFill>
                  <a:srgbClr val="FFFFFF"/>
                </a:solidFill>
                <a:latin typeface="Helvetica"/>
                <a:cs typeface="Helvetica"/>
              </a:rPr>
              <a:t>, </a:t>
            </a:r>
            <a:r>
              <a:rPr lang="es-ES_tradnl" dirty="0" err="1">
                <a:solidFill>
                  <a:srgbClr val="FFFFFF"/>
                </a:solidFill>
                <a:latin typeface="Helvetica"/>
                <a:cs typeface="Helvetica"/>
              </a:rPr>
              <a:t>String</a:t>
            </a:r>
            <a:r>
              <a:rPr lang="es-ES_tradnl" dirty="0">
                <a:solidFill>
                  <a:srgbClr val="FFFFFF"/>
                </a:solidFill>
                <a:latin typeface="Helvetica"/>
                <a:cs typeface="Helvetica"/>
              </a:rPr>
              <a:t>, </a:t>
            </a:r>
            <a:r>
              <a:rPr lang="es-ES_tradnl" dirty="0" err="1">
                <a:solidFill>
                  <a:srgbClr val="FFFFFF"/>
                </a:solidFill>
                <a:latin typeface="Helvetica"/>
                <a:cs typeface="Helvetica"/>
              </a:rPr>
              <a:t>Array</a:t>
            </a:r>
            <a:r>
              <a:rPr lang="es-ES_tradnl" dirty="0">
                <a:solidFill>
                  <a:srgbClr val="FFFFFF"/>
                </a:solidFill>
                <a:latin typeface="Helvetica"/>
                <a:cs typeface="Helvetica"/>
              </a:rPr>
              <a:t>, </a:t>
            </a:r>
            <a:r>
              <a:rPr lang="es-ES_tradnl" dirty="0" err="1">
                <a:solidFill>
                  <a:srgbClr val="FFFFFF"/>
                </a:solidFill>
                <a:latin typeface="Helvetica"/>
                <a:cs typeface="Helvetica"/>
              </a:rPr>
              <a:t>Object</a:t>
            </a:r>
            <a:r>
              <a:rPr lang="es-ES_tradnl" dirty="0">
                <a:solidFill>
                  <a:srgbClr val="FFFFFF"/>
                </a:solidFill>
                <a:latin typeface="Helvetica"/>
                <a:cs typeface="Helvetica"/>
              </a:rPr>
              <a:t> y la menos conocida Date</a:t>
            </a:r>
            <a:r>
              <a:rPr lang="es-ES_tradnl" dirty="0" smtClean="0">
                <a:solidFill>
                  <a:srgbClr val="FFFFFF"/>
                </a:solidFill>
                <a:latin typeface="Helvetica"/>
                <a:cs typeface="Helvetica"/>
              </a:rPr>
              <a:t>).</a:t>
            </a:r>
            <a:endParaRPr lang="es-ES_tradnl" dirty="0">
              <a:solidFill>
                <a:srgbClr val="FFFFFF"/>
              </a:solidFill>
              <a:latin typeface="Helvetica"/>
              <a:cs typeface="Helvetica"/>
            </a:endParaRPr>
          </a:p>
          <a:p>
            <a:pPr algn="just">
              <a:lnSpc>
                <a:spcPct val="130000"/>
              </a:lnSpc>
            </a:pPr>
            <a:r>
              <a:rPr lang="es-ES_tradnl" dirty="0" err="1" smtClean="0">
                <a:solidFill>
                  <a:srgbClr val="B8E39D"/>
                </a:solidFill>
                <a:latin typeface="Helvetica"/>
                <a:cs typeface="Helvetica"/>
              </a:rPr>
              <a:t>value</a:t>
            </a:r>
            <a:r>
              <a:rPr lang="es-ES_tradnl" dirty="0">
                <a:solidFill>
                  <a:srgbClr val="B8E39D"/>
                </a:solidFill>
                <a:latin typeface="Helvetica"/>
                <a:cs typeface="Helvetica"/>
              </a:rPr>
              <a:t>: </a:t>
            </a:r>
            <a:r>
              <a:rPr lang="es-ES_tradnl" dirty="0">
                <a:solidFill>
                  <a:srgbClr val="FFFFFF"/>
                </a:solidFill>
                <a:latin typeface="Helvetica"/>
                <a:cs typeface="Helvetica"/>
              </a:rPr>
              <a:t>Sirve para definir el valor </a:t>
            </a:r>
            <a:r>
              <a:rPr lang="es-ES_tradnl" dirty="0" smtClean="0">
                <a:solidFill>
                  <a:srgbClr val="FFFFFF"/>
                </a:solidFill>
                <a:latin typeface="Helvetica"/>
                <a:cs typeface="Helvetica"/>
              </a:rPr>
              <a:t>predeterminado o calculado </a:t>
            </a:r>
            <a:r>
              <a:rPr lang="es-ES_tradnl" dirty="0">
                <a:solidFill>
                  <a:srgbClr val="FFFFFF"/>
                </a:solidFill>
                <a:latin typeface="Helvetica"/>
                <a:cs typeface="Helvetica"/>
              </a:rPr>
              <a:t>de una propiedad. Si se indica, se usará </a:t>
            </a:r>
            <a:r>
              <a:rPr lang="es-ES_tradnl" dirty="0" smtClean="0">
                <a:solidFill>
                  <a:srgbClr val="FFFFFF"/>
                </a:solidFill>
                <a:latin typeface="Helvetica"/>
                <a:cs typeface="Helvetica"/>
              </a:rPr>
              <a:t>para inicializar </a:t>
            </a:r>
            <a:r>
              <a:rPr lang="es-ES_tradnl" dirty="0">
                <a:solidFill>
                  <a:srgbClr val="FFFFFF"/>
                </a:solidFill>
                <a:latin typeface="Helvetica"/>
                <a:cs typeface="Helvetica"/>
              </a:rPr>
              <a:t>esa propiedad, aunque a la hora de usar el componente mandará la posible </a:t>
            </a:r>
            <a:r>
              <a:rPr lang="es-ES_tradnl" dirty="0" smtClean="0">
                <a:solidFill>
                  <a:srgbClr val="FFFFFF"/>
                </a:solidFill>
                <a:latin typeface="Helvetica"/>
                <a:cs typeface="Helvetica"/>
              </a:rPr>
              <a:t>inicialización que </a:t>
            </a:r>
            <a:r>
              <a:rPr lang="es-ES_tradnl" dirty="0">
                <a:solidFill>
                  <a:srgbClr val="FFFFFF"/>
                </a:solidFill>
                <a:latin typeface="Helvetica"/>
                <a:cs typeface="Helvetica"/>
              </a:rPr>
              <a:t>se realice en el atributo HTML del componente asociado con esa </a:t>
            </a:r>
            <a:r>
              <a:rPr lang="es-ES_tradnl" dirty="0" smtClean="0">
                <a:solidFill>
                  <a:srgbClr val="FFFFFF"/>
                </a:solidFill>
                <a:latin typeface="Helvetica"/>
                <a:cs typeface="Helvetica"/>
              </a:rPr>
              <a:t>propiedad.</a:t>
            </a:r>
          </a:p>
          <a:p>
            <a:pPr algn="just">
              <a:lnSpc>
                <a:spcPct val="130000"/>
              </a:lnSpc>
            </a:pPr>
            <a:r>
              <a:rPr lang="es-ES_tradnl" dirty="0" err="1" smtClean="0">
                <a:solidFill>
                  <a:srgbClr val="B8E39D"/>
                </a:solidFill>
                <a:latin typeface="Helvetica"/>
                <a:cs typeface="Helvetica"/>
              </a:rPr>
              <a:t>reflectToAttribute</a:t>
            </a:r>
            <a:r>
              <a:rPr lang="es-ES_tradnl" dirty="0">
                <a:solidFill>
                  <a:srgbClr val="B8E39D"/>
                </a:solidFill>
                <a:latin typeface="Helvetica"/>
                <a:cs typeface="Helvetica"/>
              </a:rPr>
              <a:t>: </a:t>
            </a:r>
            <a:r>
              <a:rPr lang="es-ES_tradnl" dirty="0">
                <a:solidFill>
                  <a:srgbClr val="FFFFFF"/>
                </a:solidFill>
                <a:latin typeface="Helvetica"/>
                <a:cs typeface="Helvetica"/>
              </a:rPr>
              <a:t>Sirve para que el valor de la propiedad actualice el valor de </a:t>
            </a:r>
            <a:r>
              <a:rPr lang="es-ES_tradnl" dirty="0" smtClean="0">
                <a:solidFill>
                  <a:srgbClr val="FFFFFF"/>
                </a:solidFill>
                <a:latin typeface="Helvetica"/>
                <a:cs typeface="Helvetica"/>
              </a:rPr>
              <a:t>del atributo en la etiqueta HTML (</a:t>
            </a:r>
            <a:r>
              <a:rPr lang="es-ES_tradnl" u="sng" dirty="0" smtClean="0">
                <a:solidFill>
                  <a:srgbClr val="FFFFFF"/>
                </a:solidFill>
                <a:latin typeface="Helvetica"/>
                <a:cs typeface="Helvetica"/>
              </a:rPr>
              <a:t>sino existe se crear</a:t>
            </a:r>
            <a:r>
              <a:rPr lang="es-ES_tradnl" u="sng" dirty="0" smtClean="0">
                <a:solidFill>
                  <a:srgbClr val="FFFFFF"/>
                </a:solidFill>
                <a:latin typeface="Helvetica"/>
                <a:cs typeface="Helvetica"/>
              </a:rPr>
              <a:t>ía este atributo</a:t>
            </a:r>
            <a:r>
              <a:rPr lang="es-ES_tradnl" dirty="0" smtClean="0">
                <a:solidFill>
                  <a:srgbClr val="FFFFFF"/>
                </a:solidFill>
                <a:latin typeface="Helvetica"/>
                <a:cs typeface="Helvetica"/>
              </a:rPr>
              <a:t>)</a:t>
            </a:r>
            <a:r>
              <a:rPr lang="es-ES_tradnl" dirty="0" smtClean="0">
                <a:solidFill>
                  <a:srgbClr val="FFFFFF"/>
                </a:solidFill>
                <a:latin typeface="Helvetica"/>
                <a:cs typeface="Helvetica"/>
              </a:rPr>
              <a:t>. El valor por defecto es </a:t>
            </a:r>
            <a:r>
              <a:rPr lang="es-ES_tradnl" dirty="0" smtClean="0">
                <a:solidFill>
                  <a:srgbClr val="B8E39D"/>
                </a:solidFill>
                <a:latin typeface="Helvetica"/>
                <a:cs typeface="Helvetica"/>
              </a:rPr>
              <a:t>false</a:t>
            </a:r>
            <a:r>
              <a:rPr lang="es-ES_tradnl" dirty="0" smtClean="0">
                <a:solidFill>
                  <a:srgbClr val="FFFFFF"/>
                </a:solidFill>
                <a:latin typeface="Helvetica"/>
                <a:cs typeface="Helvetica"/>
              </a:rPr>
              <a:t>.</a:t>
            </a:r>
          </a:p>
          <a:p>
            <a:pPr algn="just">
              <a:lnSpc>
                <a:spcPct val="130000"/>
              </a:lnSpc>
            </a:pPr>
            <a:r>
              <a:rPr lang="es-ES_tradnl" dirty="0" err="1">
                <a:solidFill>
                  <a:srgbClr val="B8E39D"/>
                </a:solidFill>
                <a:latin typeface="Helvetica"/>
                <a:cs typeface="Helvetica"/>
              </a:rPr>
              <a:t>readOnly</a:t>
            </a:r>
            <a:r>
              <a:rPr lang="es-ES_tradnl" dirty="0">
                <a:solidFill>
                  <a:srgbClr val="B8E39D"/>
                </a:solidFill>
                <a:latin typeface="Helvetica"/>
                <a:cs typeface="Helvetica"/>
              </a:rPr>
              <a:t>: </a:t>
            </a:r>
            <a:r>
              <a:rPr lang="es-ES_tradnl" dirty="0">
                <a:solidFill>
                  <a:srgbClr val="FFFFFF"/>
                </a:solidFill>
                <a:latin typeface="Helvetica"/>
                <a:cs typeface="Helvetica"/>
              </a:rPr>
              <a:t> </a:t>
            </a:r>
            <a:r>
              <a:rPr lang="es-ES_tradnl" dirty="0" smtClean="0">
                <a:solidFill>
                  <a:srgbClr val="FFFFFF"/>
                </a:solidFill>
                <a:latin typeface="Helvetica"/>
                <a:cs typeface="Helvetica"/>
              </a:rPr>
              <a:t>Indica si se puede modificar el valor de la propiedad.</a:t>
            </a:r>
            <a:endParaRPr lang="es-ES_tradnl" dirty="0">
              <a:solidFill>
                <a:srgbClr val="FFFFFF"/>
              </a:solidFill>
              <a:latin typeface="Helvetica"/>
              <a:cs typeface="Helvetica"/>
            </a:endParaRPr>
          </a:p>
          <a:p>
            <a:pPr algn="just">
              <a:lnSpc>
                <a:spcPct val="130000"/>
              </a:lnSpc>
            </a:pPr>
            <a:r>
              <a:rPr lang="nb-NO" dirty="0" err="1" smtClean="0">
                <a:solidFill>
                  <a:srgbClr val="B8E39D"/>
                </a:solidFill>
                <a:latin typeface="Helvetica"/>
                <a:cs typeface="Helvetica"/>
              </a:rPr>
              <a:t>notify</a:t>
            </a:r>
            <a:r>
              <a:rPr lang="nb-NO" dirty="0">
                <a:solidFill>
                  <a:srgbClr val="B8E39D"/>
                </a:solidFill>
                <a:latin typeface="Helvetica"/>
                <a:cs typeface="Helvetica"/>
              </a:rPr>
              <a:t>: </a:t>
            </a:r>
            <a:r>
              <a:rPr lang="nb-NO" dirty="0" err="1">
                <a:solidFill>
                  <a:srgbClr val="FFFFFF"/>
                </a:solidFill>
                <a:latin typeface="Helvetica"/>
                <a:cs typeface="Helvetica"/>
              </a:rPr>
              <a:t>P</a:t>
            </a:r>
            <a:r>
              <a:rPr lang="nb-NO" dirty="0" err="1" smtClean="0">
                <a:solidFill>
                  <a:srgbClr val="FFFFFF"/>
                </a:solidFill>
                <a:latin typeface="Helvetica"/>
                <a:cs typeface="Helvetica"/>
              </a:rPr>
              <a:t>ermite</a:t>
            </a:r>
            <a:r>
              <a:rPr lang="nb-NO" dirty="0" smtClean="0">
                <a:solidFill>
                  <a:srgbClr val="FFFFFF"/>
                </a:solidFill>
                <a:latin typeface="Helvetica"/>
                <a:cs typeface="Helvetica"/>
              </a:rPr>
              <a:t> </a:t>
            </a:r>
            <a:r>
              <a:rPr lang="nb-NO" dirty="0" err="1">
                <a:solidFill>
                  <a:srgbClr val="FFFFFF"/>
                </a:solidFill>
                <a:latin typeface="Helvetica"/>
                <a:cs typeface="Helvetica"/>
              </a:rPr>
              <a:t>que</a:t>
            </a:r>
            <a:r>
              <a:rPr lang="nb-NO" dirty="0">
                <a:solidFill>
                  <a:srgbClr val="FFFFFF"/>
                </a:solidFill>
                <a:latin typeface="Helvetica"/>
                <a:cs typeface="Helvetica"/>
              </a:rPr>
              <a:t> el </a:t>
            </a:r>
            <a:r>
              <a:rPr lang="nb-NO" dirty="0" err="1">
                <a:solidFill>
                  <a:srgbClr val="FFFFFF"/>
                </a:solidFill>
                <a:latin typeface="Helvetica"/>
                <a:cs typeface="Helvetica"/>
              </a:rPr>
              <a:t>componente</a:t>
            </a:r>
            <a:r>
              <a:rPr lang="nb-NO" dirty="0">
                <a:solidFill>
                  <a:srgbClr val="FFFFFF"/>
                </a:solidFill>
                <a:latin typeface="Helvetica"/>
                <a:cs typeface="Helvetica"/>
              </a:rPr>
              <a:t> </a:t>
            </a:r>
            <a:r>
              <a:rPr lang="nb-NO" dirty="0" err="1">
                <a:solidFill>
                  <a:srgbClr val="FFFFFF"/>
                </a:solidFill>
                <a:latin typeface="Helvetica"/>
                <a:cs typeface="Helvetica"/>
              </a:rPr>
              <a:t>notifique</a:t>
            </a:r>
            <a:r>
              <a:rPr lang="nb-NO" dirty="0">
                <a:solidFill>
                  <a:srgbClr val="FFFFFF"/>
                </a:solidFill>
                <a:latin typeface="Helvetica"/>
                <a:cs typeface="Helvetica"/>
              </a:rPr>
              <a:t> a los </a:t>
            </a:r>
            <a:r>
              <a:rPr lang="nb-NO" dirty="0" err="1" smtClean="0">
                <a:solidFill>
                  <a:srgbClr val="FFFFFF"/>
                </a:solidFill>
                <a:latin typeface="Helvetica"/>
                <a:cs typeface="Helvetica"/>
              </a:rPr>
              <a:t>padres</a:t>
            </a:r>
            <a:r>
              <a:rPr lang="nb-NO" dirty="0" smtClean="0">
                <a:solidFill>
                  <a:srgbClr val="FFFFFF"/>
                </a:solidFill>
                <a:latin typeface="Helvetica"/>
                <a:cs typeface="Helvetica"/>
              </a:rPr>
              <a:t> (databinding </a:t>
            </a:r>
            <a:r>
              <a:rPr lang="nb-NO" dirty="0" err="1" smtClean="0">
                <a:solidFill>
                  <a:srgbClr val="FFFFFF"/>
                </a:solidFill>
                <a:latin typeface="Helvetica"/>
                <a:cs typeface="Helvetica"/>
              </a:rPr>
              <a:t>bidireccional</a:t>
            </a:r>
            <a:r>
              <a:rPr lang="nb-NO" dirty="0" smtClean="0">
                <a:solidFill>
                  <a:srgbClr val="FFFFFF"/>
                </a:solidFill>
                <a:latin typeface="Helvetica"/>
                <a:cs typeface="Helvetica"/>
              </a:rPr>
              <a:t>) </a:t>
            </a:r>
            <a:r>
              <a:rPr lang="nb-NO" dirty="0" err="1">
                <a:solidFill>
                  <a:srgbClr val="FFFFFF"/>
                </a:solidFill>
                <a:latin typeface="Helvetica"/>
                <a:cs typeface="Helvetica"/>
              </a:rPr>
              <a:t>mediante</a:t>
            </a:r>
            <a:r>
              <a:rPr lang="nb-NO" dirty="0">
                <a:solidFill>
                  <a:srgbClr val="FFFFFF"/>
                </a:solidFill>
                <a:latin typeface="Helvetica"/>
                <a:cs typeface="Helvetica"/>
              </a:rPr>
              <a:t> </a:t>
            </a:r>
            <a:r>
              <a:rPr lang="nb-NO" dirty="0" smtClean="0">
                <a:solidFill>
                  <a:srgbClr val="FFFFFF"/>
                </a:solidFill>
                <a:latin typeface="Helvetica"/>
                <a:cs typeface="Helvetica"/>
              </a:rPr>
              <a:t>binding </a:t>
            </a:r>
            <a:r>
              <a:rPr lang="nb-NO" dirty="0" err="1" smtClean="0">
                <a:solidFill>
                  <a:srgbClr val="FFFFFF"/>
                </a:solidFill>
                <a:latin typeface="Helvetica"/>
                <a:cs typeface="Helvetica"/>
              </a:rPr>
              <a:t>cualquier</a:t>
            </a:r>
            <a:r>
              <a:rPr lang="nb-NO" dirty="0" smtClean="0">
                <a:solidFill>
                  <a:srgbClr val="FFFFFF"/>
                </a:solidFill>
                <a:latin typeface="Helvetica"/>
                <a:cs typeface="Helvetica"/>
              </a:rPr>
              <a:t> </a:t>
            </a:r>
            <a:r>
              <a:rPr lang="nb-NO" dirty="0" err="1">
                <a:solidFill>
                  <a:srgbClr val="FFFFFF"/>
                </a:solidFill>
                <a:latin typeface="Helvetica"/>
                <a:cs typeface="Helvetica"/>
              </a:rPr>
              <a:t>cambio</a:t>
            </a:r>
            <a:r>
              <a:rPr lang="nb-NO" dirty="0">
                <a:solidFill>
                  <a:srgbClr val="FFFFFF"/>
                </a:solidFill>
                <a:latin typeface="Helvetica"/>
                <a:cs typeface="Helvetica"/>
              </a:rPr>
              <a:t> de la </a:t>
            </a:r>
            <a:r>
              <a:rPr lang="nb-NO" dirty="0" err="1">
                <a:solidFill>
                  <a:srgbClr val="FFFFFF"/>
                </a:solidFill>
                <a:latin typeface="Helvetica"/>
                <a:cs typeface="Helvetica"/>
              </a:rPr>
              <a:t>propiedad</a:t>
            </a:r>
            <a:r>
              <a:rPr lang="nb-NO" dirty="0">
                <a:solidFill>
                  <a:srgbClr val="FFFFFF"/>
                </a:solidFill>
                <a:latin typeface="Helvetica"/>
                <a:cs typeface="Helvetica"/>
              </a:rPr>
              <a:t>. </a:t>
            </a:r>
            <a:r>
              <a:rPr lang="es-ES_tradnl" dirty="0">
                <a:solidFill>
                  <a:srgbClr val="FFFFFF"/>
                </a:solidFill>
                <a:latin typeface="Helvetica"/>
                <a:cs typeface="Helvetica"/>
              </a:rPr>
              <a:t>El valor por defecto es </a:t>
            </a:r>
            <a:r>
              <a:rPr lang="es-ES_tradnl" dirty="0">
                <a:solidFill>
                  <a:srgbClr val="B8E39D"/>
                </a:solidFill>
                <a:latin typeface="Helvetica"/>
                <a:cs typeface="Helvetica"/>
              </a:rPr>
              <a:t>false</a:t>
            </a:r>
            <a:r>
              <a:rPr lang="es-ES_tradnl" dirty="0">
                <a:solidFill>
                  <a:srgbClr val="FFFFFF"/>
                </a:solidFill>
                <a:latin typeface="Helvetica"/>
                <a:cs typeface="Helvetica"/>
              </a:rPr>
              <a:t>.</a:t>
            </a: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73</a:t>
            </a:fld>
            <a:endParaRPr lang="en-US"/>
          </a:p>
        </p:txBody>
      </p:sp>
    </p:spTree>
    <p:extLst>
      <p:ext uri="{BB962C8B-B14F-4D97-AF65-F5344CB8AC3E}">
        <p14:creationId xmlns:p14="http://schemas.microsoft.com/office/powerpoint/2010/main" val="2856955514"/>
      </p:ext>
    </p:extLst>
  </p:cSld>
  <p:clrMapOvr>
    <a:masterClrMapping/>
  </p:clrMapOvr>
  <p:timing>
    <p:tnLst>
      <p:par>
        <p:cTn xmlns:p14="http://schemas.microsoft.com/office/powerpoint/2010/mai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Propiedades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Propiedades &gt; Funcionalidades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759766"/>
          </a:xfrm>
          <a:prstGeom prst="rect">
            <a:avLst/>
          </a:prstGeom>
        </p:spPr>
        <p:txBody>
          <a:bodyPr wrap="square">
            <a:spAutoFit/>
          </a:bodyPr>
          <a:lstStyle/>
          <a:p>
            <a:pPr algn="just">
              <a:lnSpc>
                <a:spcPct val="130000"/>
              </a:lnSpc>
            </a:pPr>
            <a:r>
              <a:rPr lang="es-ES_tradnl" dirty="0" err="1" smtClean="0">
                <a:solidFill>
                  <a:srgbClr val="B8E39D"/>
                </a:solidFill>
                <a:latin typeface="Helvetica"/>
                <a:cs typeface="Helvetica"/>
              </a:rPr>
              <a:t>computed</a:t>
            </a:r>
            <a:r>
              <a:rPr lang="es-ES_tradnl" dirty="0">
                <a:solidFill>
                  <a:srgbClr val="B8E39D"/>
                </a:solidFill>
                <a:latin typeface="Helvetica"/>
                <a:cs typeface="Helvetica"/>
              </a:rPr>
              <a:t>: </a:t>
            </a:r>
            <a:r>
              <a:rPr lang="es-ES_tradnl" dirty="0" smtClean="0">
                <a:latin typeface="Helvetica"/>
                <a:cs typeface="Helvetica"/>
              </a:rPr>
              <a:t>Permite </a:t>
            </a:r>
            <a:r>
              <a:rPr lang="es-ES_tradnl" dirty="0">
                <a:latin typeface="Helvetica"/>
                <a:cs typeface="Helvetica"/>
              </a:rPr>
              <a:t>hacer propiedades </a:t>
            </a:r>
            <a:r>
              <a:rPr lang="es-ES_tradnl" dirty="0" err="1" smtClean="0">
                <a:latin typeface="Helvetica"/>
                <a:cs typeface="Helvetica"/>
              </a:rPr>
              <a:t>qu</a:t>
            </a:r>
            <a:r>
              <a:rPr lang="es-ES_tradnl" dirty="0" smtClean="0">
                <a:latin typeface="Helvetica"/>
                <a:cs typeface="Helvetica"/>
              </a:rPr>
              <a:t> </a:t>
            </a:r>
            <a:r>
              <a:rPr lang="es-ES_tradnl" dirty="0" err="1" smtClean="0">
                <a:latin typeface="Helvetica"/>
                <a:cs typeface="Helvetica"/>
              </a:rPr>
              <a:t>etiene</a:t>
            </a:r>
            <a:r>
              <a:rPr lang="es-ES_tradnl" dirty="0" smtClean="0">
                <a:latin typeface="Helvetica"/>
                <a:cs typeface="Helvetica"/>
              </a:rPr>
              <a:t> </a:t>
            </a:r>
            <a:r>
              <a:rPr lang="es-ES_tradnl" dirty="0">
                <a:latin typeface="Helvetica"/>
                <a:cs typeface="Helvetica"/>
              </a:rPr>
              <a:t>valores que serán calculados por una función. </a:t>
            </a:r>
            <a:r>
              <a:rPr lang="es-ES_tradnl" dirty="0" err="1">
                <a:latin typeface="Helvetica"/>
                <a:cs typeface="Helvetica"/>
              </a:rPr>
              <a:t>Polymer</a:t>
            </a:r>
            <a:r>
              <a:rPr lang="es-ES_tradnl" dirty="0">
                <a:latin typeface="Helvetica"/>
                <a:cs typeface="Helvetica"/>
              </a:rPr>
              <a:t> ya automatiza el procedimiento para que, cuando</a:t>
            </a:r>
          </a:p>
          <a:p>
            <a:pPr algn="just">
              <a:lnSpc>
                <a:spcPct val="130000"/>
              </a:lnSpc>
            </a:pPr>
            <a:r>
              <a:rPr lang="es-ES_tradnl" dirty="0">
                <a:latin typeface="Helvetica"/>
                <a:cs typeface="Helvetica"/>
              </a:rPr>
              <a:t>cambian los parámetros de entrada en el cómputo, se invoque de nuevo la función, de modo </a:t>
            </a:r>
            <a:r>
              <a:rPr lang="es-ES_tradnl" dirty="0" err="1" smtClean="0">
                <a:latin typeface="Helvetica"/>
                <a:cs typeface="Helvetica"/>
              </a:rPr>
              <a:t>quesiempre</a:t>
            </a:r>
            <a:r>
              <a:rPr lang="es-ES_tradnl" dirty="0" smtClean="0">
                <a:latin typeface="Helvetica"/>
                <a:cs typeface="Helvetica"/>
              </a:rPr>
              <a:t> </a:t>
            </a:r>
            <a:r>
              <a:rPr lang="es-ES_tradnl" dirty="0">
                <a:latin typeface="Helvetica"/>
                <a:cs typeface="Helvetica"/>
              </a:rPr>
              <a:t>las propiedades computadas tengan el valor actualizado</a:t>
            </a:r>
            <a:r>
              <a:rPr lang="es-ES_tradnl" dirty="0" smtClean="0">
                <a:latin typeface="Helvetica"/>
                <a:cs typeface="Helvetica"/>
              </a:rPr>
              <a:t>.</a:t>
            </a:r>
          </a:p>
          <a:p>
            <a:pPr algn="just">
              <a:lnSpc>
                <a:spcPct val="130000"/>
              </a:lnSpc>
            </a:pPr>
            <a:r>
              <a:rPr lang="es-ES_tradnl" dirty="0" err="1">
                <a:solidFill>
                  <a:schemeClr val="accent5">
                    <a:lumMod val="40000"/>
                    <a:lumOff val="60000"/>
                  </a:schemeClr>
                </a:solidFill>
                <a:latin typeface="Helvetica"/>
                <a:cs typeface="Helvetica"/>
              </a:rPr>
              <a:t>observer</a:t>
            </a:r>
            <a:r>
              <a:rPr lang="es-ES_tradnl" dirty="0">
                <a:solidFill>
                  <a:schemeClr val="accent5">
                    <a:lumMod val="40000"/>
                    <a:lumOff val="60000"/>
                  </a:schemeClr>
                </a:solidFill>
                <a:latin typeface="Helvetica"/>
                <a:cs typeface="Helvetica"/>
              </a:rPr>
              <a:t>: </a:t>
            </a:r>
            <a:r>
              <a:rPr lang="es-ES_tradnl" dirty="0" smtClean="0">
                <a:latin typeface="Helvetica"/>
                <a:cs typeface="Helvetica"/>
              </a:rPr>
              <a:t>Permite definir una </a:t>
            </a:r>
            <a:r>
              <a:rPr lang="es-ES_tradnl" dirty="0">
                <a:latin typeface="Helvetica"/>
                <a:cs typeface="Helvetica"/>
              </a:rPr>
              <a:t>función que se </a:t>
            </a:r>
            <a:r>
              <a:rPr lang="es-ES_tradnl" dirty="0" smtClean="0">
                <a:latin typeface="Helvetica"/>
                <a:cs typeface="Helvetica"/>
              </a:rPr>
              <a:t>ejecutará cuando </a:t>
            </a:r>
            <a:r>
              <a:rPr lang="es-ES_tradnl" dirty="0">
                <a:latin typeface="Helvetica"/>
                <a:cs typeface="Helvetica"/>
              </a:rPr>
              <a:t>se produzcan cambios en el valor de una propiedad, facilitando enormemente </a:t>
            </a:r>
            <a:r>
              <a:rPr lang="es-ES_tradnl" dirty="0" smtClean="0">
                <a:latin typeface="Helvetica"/>
                <a:cs typeface="Helvetica"/>
              </a:rPr>
              <a:t>la programación </a:t>
            </a:r>
            <a:r>
              <a:rPr lang="es-ES_tradnl" dirty="0">
                <a:latin typeface="Helvetica"/>
                <a:cs typeface="Helvetica"/>
              </a:rPr>
              <a:t>reactiva.</a:t>
            </a:r>
            <a:endParaRPr lang="nb-NO" dirty="0" smtClean="0">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74</a:t>
            </a:fld>
            <a:endParaRPr lang="en-US"/>
          </a:p>
        </p:txBody>
      </p:sp>
    </p:spTree>
    <p:extLst>
      <p:ext uri="{BB962C8B-B14F-4D97-AF65-F5344CB8AC3E}">
        <p14:creationId xmlns:p14="http://schemas.microsoft.com/office/powerpoint/2010/main" val="966982318"/>
      </p:ext>
    </p:extLst>
  </p:cSld>
  <p:clrMapOvr>
    <a:masterClrMapping/>
  </p:clrMapOvr>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Propiedades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Propiedades &gt; </a:t>
            </a:r>
            <a:r>
              <a:rPr lang="es-ES_tradnl" sz="2200" u="sng" dirty="0" err="1" smtClean="0">
                <a:latin typeface="Arial Black"/>
                <a:cs typeface="Arial Black"/>
              </a:rPr>
              <a:t>Serializacion</a:t>
            </a:r>
            <a:r>
              <a:rPr lang="es-ES_tradnl" sz="2200" u="sng" dirty="0">
                <a:latin typeface="Arial Black"/>
                <a:cs typeface="Arial Black"/>
              </a:rPr>
              <a:t> (</a:t>
            </a:r>
            <a:r>
              <a:rPr lang="es-ES_tradnl" sz="2200" u="sng" dirty="0" err="1" smtClean="0">
                <a:latin typeface="Arial Black"/>
                <a:cs typeface="Arial Black"/>
                <a:hlinkClick r:id="rId4"/>
              </a:rPr>
              <a:t>reflectToAttribute</a:t>
            </a:r>
            <a:r>
              <a:rPr lang="es-ES_tradnl" sz="2200" u="sng" dirty="0" smtClean="0">
                <a:latin typeface="Arial Black"/>
                <a:cs typeface="Arial Black"/>
              </a:rPr>
              <a:t>)</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5"/>
          <a:stretch>
            <a:fillRect/>
          </a:stretch>
        </p:blipFill>
        <p:spPr>
          <a:xfrm>
            <a:off x="1742516" y="6339496"/>
            <a:ext cx="578961" cy="402755"/>
          </a:xfrm>
          <a:prstGeom prst="rect">
            <a:avLst/>
          </a:prstGeom>
        </p:spPr>
      </p:pic>
      <p:sp>
        <p:nvSpPr>
          <p:cNvPr id="14" name="Rectángulo 13"/>
          <p:cNvSpPr/>
          <p:nvPr/>
        </p:nvSpPr>
        <p:spPr>
          <a:xfrm>
            <a:off x="492433" y="1614742"/>
            <a:ext cx="8202871" cy="6560259"/>
          </a:xfrm>
          <a:prstGeom prst="rect">
            <a:avLst/>
          </a:prstGeom>
        </p:spPr>
        <p:txBody>
          <a:bodyPr wrap="square">
            <a:spAutoFit/>
          </a:bodyPr>
          <a:lstStyle/>
          <a:p>
            <a:pPr algn="just">
              <a:lnSpc>
                <a:spcPct val="130000"/>
              </a:lnSpc>
            </a:pPr>
            <a:r>
              <a:rPr lang="es-ES_tradnl" dirty="0" smtClean="0">
                <a:latin typeface="Helvetica"/>
                <a:cs typeface="Helvetica"/>
              </a:rPr>
              <a:t>Cuando </a:t>
            </a:r>
            <a:r>
              <a:rPr lang="es-ES_tradnl" dirty="0">
                <a:latin typeface="Helvetica"/>
                <a:cs typeface="Helvetica"/>
              </a:rPr>
              <a:t>se refleja una propiedad en un atributo del componente ocurre una</a:t>
            </a:r>
          </a:p>
          <a:p>
            <a:pPr algn="just">
              <a:lnSpc>
                <a:spcPct val="130000"/>
              </a:lnSpc>
            </a:pPr>
            <a:r>
              <a:rPr lang="es-ES_tradnl" dirty="0" err="1">
                <a:latin typeface="Helvetica"/>
                <a:cs typeface="Helvetica"/>
              </a:rPr>
              <a:t>serialización</a:t>
            </a:r>
            <a:r>
              <a:rPr lang="es-ES_tradnl" dirty="0">
                <a:latin typeface="Helvetica"/>
                <a:cs typeface="Helvetica"/>
              </a:rPr>
              <a:t> del valor de la propiedad. Esa </a:t>
            </a:r>
            <a:r>
              <a:rPr lang="es-ES_tradnl" dirty="0" err="1">
                <a:latin typeface="Helvetica"/>
                <a:cs typeface="Helvetica"/>
              </a:rPr>
              <a:t>serialización</a:t>
            </a:r>
            <a:r>
              <a:rPr lang="es-ES_tradnl" dirty="0">
                <a:latin typeface="Helvetica"/>
                <a:cs typeface="Helvetica"/>
              </a:rPr>
              <a:t> se realiza para convertir aquel valor de la </a:t>
            </a:r>
            <a:r>
              <a:rPr lang="es-ES_tradnl" dirty="0" smtClean="0">
                <a:latin typeface="Helvetica"/>
                <a:cs typeface="Helvetica"/>
              </a:rPr>
              <a:t>propiedad en </a:t>
            </a:r>
            <a:r>
              <a:rPr lang="es-ES_tradnl" dirty="0">
                <a:latin typeface="Helvetica"/>
                <a:cs typeface="Helvetica"/>
              </a:rPr>
              <a:t>un </a:t>
            </a:r>
            <a:r>
              <a:rPr lang="es-ES_tradnl" dirty="0" err="1">
                <a:latin typeface="Helvetica"/>
                <a:cs typeface="Helvetica"/>
              </a:rPr>
              <a:t>string</a:t>
            </a:r>
            <a:r>
              <a:rPr lang="es-ES_tradnl" dirty="0">
                <a:latin typeface="Helvetica"/>
                <a:cs typeface="Helvetica"/>
              </a:rPr>
              <a:t>, ya que los valores de los atributos en HTML solo aceptan cadenas</a:t>
            </a:r>
            <a:r>
              <a:rPr lang="es-ES_tradnl" dirty="0" smtClean="0">
                <a:latin typeface="Helvetica"/>
                <a:cs typeface="Helvetica"/>
              </a:rPr>
              <a:t>.</a:t>
            </a:r>
          </a:p>
          <a:p>
            <a:pPr algn="just">
              <a:lnSpc>
                <a:spcPct val="130000"/>
              </a:lnSpc>
            </a:pPr>
            <a:endParaRPr lang="es-ES_tradnl" dirty="0">
              <a:solidFill>
                <a:srgbClr val="FFFFFF"/>
              </a:solidFill>
              <a:latin typeface="Helvetica"/>
              <a:cs typeface="Helvetica"/>
            </a:endParaRPr>
          </a:p>
          <a:p>
            <a:pPr algn="just">
              <a:lnSpc>
                <a:spcPct val="130000"/>
              </a:lnSpc>
            </a:pPr>
            <a:r>
              <a:rPr lang="es-ES_tradnl" dirty="0">
                <a:solidFill>
                  <a:srgbClr val="FFFFFF"/>
                </a:solidFill>
                <a:latin typeface="Helvetica"/>
                <a:cs typeface="Helvetica"/>
              </a:rPr>
              <a:t>Al serializar se realizan unas operaciones de conversión a cadena que dependen del tipo (</a:t>
            </a:r>
            <a:r>
              <a:rPr lang="es-ES_tradnl" dirty="0" err="1">
                <a:solidFill>
                  <a:srgbClr val="FFFFFF"/>
                </a:solidFill>
                <a:latin typeface="Helvetica"/>
                <a:cs typeface="Helvetica"/>
              </a:rPr>
              <a:t>type</a:t>
            </a:r>
            <a:r>
              <a:rPr lang="es-ES_tradnl" dirty="0">
                <a:solidFill>
                  <a:srgbClr val="FFFFFF"/>
                </a:solidFill>
                <a:latin typeface="Helvetica"/>
                <a:cs typeface="Helvetica"/>
              </a:rPr>
              <a:t>) de </a:t>
            </a:r>
            <a:r>
              <a:rPr lang="es-ES_tradnl" dirty="0" smtClean="0">
                <a:solidFill>
                  <a:srgbClr val="FFFFFF"/>
                </a:solidFill>
                <a:latin typeface="Helvetica"/>
                <a:cs typeface="Helvetica"/>
              </a:rPr>
              <a:t>la propiedad </a:t>
            </a:r>
            <a:r>
              <a:rPr lang="es-ES_tradnl" dirty="0">
                <a:solidFill>
                  <a:srgbClr val="FFFFFF"/>
                </a:solidFill>
                <a:latin typeface="Helvetica"/>
                <a:cs typeface="Helvetica"/>
              </a:rPr>
              <a:t>declarada. Por </a:t>
            </a:r>
            <a:r>
              <a:rPr lang="es-ES_tradnl" dirty="0" smtClean="0">
                <a:solidFill>
                  <a:srgbClr val="FFFFFF"/>
                </a:solidFill>
                <a:latin typeface="Helvetica"/>
                <a:cs typeface="Helvetica"/>
              </a:rPr>
              <a:t>ejemplo:</a:t>
            </a:r>
          </a:p>
          <a:p>
            <a:pPr marL="285750" indent="-285750" algn="just">
              <a:lnSpc>
                <a:spcPct val="130000"/>
              </a:lnSpc>
              <a:buFont typeface="Wingdings" charset="2"/>
              <a:buChar char="Ø"/>
            </a:pPr>
            <a:r>
              <a:rPr lang="es-ES_tradnl" dirty="0" smtClean="0">
                <a:solidFill>
                  <a:srgbClr val="FFFFFF"/>
                </a:solidFill>
                <a:latin typeface="Helvetica"/>
                <a:cs typeface="Helvetica"/>
              </a:rPr>
              <a:t> Date </a:t>
            </a:r>
            <a:r>
              <a:rPr lang="es-ES_tradnl" dirty="0">
                <a:solidFill>
                  <a:srgbClr val="FFFFFF"/>
                </a:solidFill>
                <a:latin typeface="Helvetica"/>
                <a:cs typeface="Helvetica"/>
              </a:rPr>
              <a:t>o </a:t>
            </a:r>
            <a:r>
              <a:rPr lang="es-ES_tradnl" dirty="0" err="1">
                <a:solidFill>
                  <a:srgbClr val="FFFFFF"/>
                </a:solidFill>
                <a:latin typeface="Helvetica"/>
                <a:cs typeface="Helvetica"/>
              </a:rPr>
              <a:t>Number</a:t>
            </a:r>
            <a:r>
              <a:rPr lang="es-ES_tradnl" dirty="0">
                <a:solidFill>
                  <a:srgbClr val="FFFFFF"/>
                </a:solidFill>
                <a:latin typeface="Helvetica"/>
                <a:cs typeface="Helvetica"/>
              </a:rPr>
              <a:t> se serializan con el método </a:t>
            </a:r>
            <a:r>
              <a:rPr lang="es-ES_tradnl" dirty="0" err="1">
                <a:solidFill>
                  <a:srgbClr val="FFFFFF"/>
                </a:solidFill>
                <a:latin typeface="Helvetica"/>
                <a:cs typeface="Helvetica"/>
              </a:rPr>
              <a:t>toString</a:t>
            </a:r>
            <a:r>
              <a:rPr lang="es-ES_tradnl" dirty="0">
                <a:solidFill>
                  <a:srgbClr val="FFFFFF"/>
                </a:solidFill>
                <a:latin typeface="Helvetica"/>
                <a:cs typeface="Helvetica"/>
              </a:rPr>
              <a:t>() </a:t>
            </a:r>
            <a:endParaRPr lang="es-ES_tradnl" dirty="0" smtClean="0">
              <a:solidFill>
                <a:srgbClr val="FFFFFF"/>
              </a:solidFill>
              <a:latin typeface="Helvetica"/>
              <a:cs typeface="Helvetica"/>
            </a:endParaRPr>
          </a:p>
          <a:p>
            <a:pPr marL="285750" indent="-285750" algn="just">
              <a:lnSpc>
                <a:spcPct val="130000"/>
              </a:lnSpc>
              <a:buFont typeface="Wingdings" charset="2"/>
              <a:buChar char="Ø"/>
            </a:pPr>
            <a:r>
              <a:rPr lang="es-ES_tradnl" dirty="0" smtClean="0">
                <a:solidFill>
                  <a:srgbClr val="FFFFFF"/>
                </a:solidFill>
                <a:latin typeface="Helvetica"/>
                <a:cs typeface="Helvetica"/>
              </a:rPr>
              <a:t> </a:t>
            </a:r>
            <a:r>
              <a:rPr lang="es-ES_tradnl" dirty="0" err="1" smtClean="0">
                <a:solidFill>
                  <a:srgbClr val="FFFFFF"/>
                </a:solidFill>
                <a:latin typeface="Helvetica"/>
                <a:cs typeface="Helvetica"/>
              </a:rPr>
              <a:t>Array</a:t>
            </a:r>
            <a:r>
              <a:rPr lang="es-ES_tradnl" dirty="0" smtClean="0">
                <a:solidFill>
                  <a:srgbClr val="FFFFFF"/>
                </a:solidFill>
                <a:latin typeface="Helvetica"/>
                <a:cs typeface="Helvetica"/>
              </a:rPr>
              <a:t> y  </a:t>
            </a:r>
            <a:r>
              <a:rPr lang="es-ES_tradnl" dirty="0" err="1">
                <a:solidFill>
                  <a:srgbClr val="FFFFFF"/>
                </a:solidFill>
                <a:latin typeface="Helvetica"/>
                <a:cs typeface="Helvetica"/>
              </a:rPr>
              <a:t>O</a:t>
            </a:r>
            <a:r>
              <a:rPr lang="es-ES_tradnl" dirty="0" err="1" smtClean="0">
                <a:solidFill>
                  <a:srgbClr val="FFFFFF"/>
                </a:solidFill>
                <a:latin typeface="Helvetica"/>
                <a:cs typeface="Helvetica"/>
              </a:rPr>
              <a:t>bject</a:t>
            </a:r>
            <a:r>
              <a:rPr lang="es-ES_tradnl" dirty="0" smtClean="0">
                <a:solidFill>
                  <a:srgbClr val="FFFFFF"/>
                </a:solidFill>
                <a:latin typeface="Helvetica"/>
                <a:cs typeface="Helvetica"/>
              </a:rPr>
              <a:t> </a:t>
            </a:r>
            <a:r>
              <a:rPr lang="es-ES_tradnl" dirty="0">
                <a:solidFill>
                  <a:srgbClr val="FFFFFF"/>
                </a:solidFill>
                <a:latin typeface="Helvetica"/>
                <a:cs typeface="Helvetica"/>
              </a:rPr>
              <a:t>se serializan con </a:t>
            </a:r>
            <a:r>
              <a:rPr lang="es-ES_tradnl" dirty="0" err="1">
                <a:solidFill>
                  <a:srgbClr val="FFFFFF"/>
                </a:solidFill>
                <a:latin typeface="Helvetica"/>
                <a:cs typeface="Helvetica"/>
              </a:rPr>
              <a:t>JSON.stringify</a:t>
            </a:r>
            <a:r>
              <a:rPr lang="es-ES_tradnl" dirty="0">
                <a:solidFill>
                  <a:srgbClr val="FFFFFF"/>
                </a:solidFill>
                <a:latin typeface="Helvetica"/>
                <a:cs typeface="Helvetica"/>
              </a:rPr>
              <a:t>(). </a:t>
            </a:r>
            <a:endParaRPr lang="es-ES_tradnl" dirty="0" smtClean="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Esta </a:t>
            </a:r>
            <a:r>
              <a:rPr lang="es-ES_tradnl" dirty="0" err="1" smtClean="0">
                <a:solidFill>
                  <a:srgbClr val="FFFFFF"/>
                </a:solidFill>
                <a:latin typeface="Helvetica"/>
                <a:cs typeface="Helvetica"/>
              </a:rPr>
              <a:t>serialización</a:t>
            </a:r>
            <a:r>
              <a:rPr lang="es-ES_tradnl" dirty="0" smtClean="0">
                <a:solidFill>
                  <a:srgbClr val="FFFFFF"/>
                </a:solidFill>
                <a:latin typeface="Helvetica"/>
                <a:cs typeface="Helvetica"/>
              </a:rPr>
              <a:t> predeterminada se puede </a:t>
            </a:r>
            <a:r>
              <a:rPr lang="es-ES_tradnl" dirty="0" err="1" smtClean="0">
                <a:solidFill>
                  <a:srgbClr val="FFFFFF"/>
                </a:solidFill>
                <a:latin typeface="Helvetica"/>
                <a:cs typeface="Helvetica"/>
              </a:rPr>
              <a:t>sobreescribir</a:t>
            </a:r>
            <a:r>
              <a:rPr lang="es-ES_tradnl" dirty="0" smtClean="0">
                <a:solidFill>
                  <a:srgbClr val="FFFFFF"/>
                </a:solidFill>
                <a:latin typeface="Helvetica"/>
                <a:cs typeface="Helvetica"/>
              </a:rPr>
              <a:t>  o </a:t>
            </a:r>
            <a:r>
              <a:rPr lang="es-ES_tradnl" dirty="0">
                <a:solidFill>
                  <a:srgbClr val="FFFFFF"/>
                </a:solidFill>
                <a:latin typeface="Helvetica"/>
                <a:cs typeface="Helvetica"/>
              </a:rPr>
              <a:t>crear propiedades de tipos personalizados que tengan </a:t>
            </a:r>
            <a:r>
              <a:rPr lang="es-ES_tradnl" dirty="0" err="1">
                <a:solidFill>
                  <a:srgbClr val="FFFFFF"/>
                </a:solidFill>
                <a:latin typeface="Helvetica"/>
                <a:cs typeface="Helvetica"/>
              </a:rPr>
              <a:t>serializaciones</a:t>
            </a:r>
            <a:r>
              <a:rPr lang="es-ES_tradnl" dirty="0">
                <a:solidFill>
                  <a:srgbClr val="FFFFFF"/>
                </a:solidFill>
                <a:latin typeface="Helvetica"/>
                <a:cs typeface="Helvetica"/>
              </a:rPr>
              <a:t> determinadas por</a:t>
            </a:r>
          </a:p>
          <a:p>
            <a:pPr algn="just">
              <a:lnSpc>
                <a:spcPct val="130000"/>
              </a:lnSpc>
            </a:pPr>
            <a:r>
              <a:rPr lang="es-ES_tradnl" dirty="0" smtClean="0">
                <a:solidFill>
                  <a:srgbClr val="FFFFFF"/>
                </a:solidFill>
                <a:latin typeface="Helvetica"/>
                <a:cs typeface="Helvetica"/>
              </a:rPr>
              <a:t>nuestro </a:t>
            </a:r>
            <a:r>
              <a:rPr lang="es-ES_tradnl" dirty="0">
                <a:solidFill>
                  <a:srgbClr val="FFFFFF"/>
                </a:solidFill>
                <a:latin typeface="Helvetica"/>
                <a:cs typeface="Helvetica"/>
              </a:rPr>
              <a:t>propio código. Para ello tenemos que </a:t>
            </a:r>
            <a:r>
              <a:rPr lang="es-ES_tradnl" dirty="0" err="1">
                <a:solidFill>
                  <a:srgbClr val="FFFFFF"/>
                </a:solidFill>
                <a:latin typeface="Helvetica"/>
                <a:cs typeface="Helvetica"/>
              </a:rPr>
              <a:t>sobreescribir</a:t>
            </a:r>
            <a:r>
              <a:rPr lang="es-ES_tradnl" dirty="0">
                <a:solidFill>
                  <a:srgbClr val="FFFFFF"/>
                </a:solidFill>
                <a:latin typeface="Helvetica"/>
                <a:cs typeface="Helvetica"/>
              </a:rPr>
              <a:t> el método </a:t>
            </a:r>
            <a:r>
              <a:rPr lang="es-ES_tradnl" dirty="0">
                <a:solidFill>
                  <a:srgbClr val="B8E39D"/>
                </a:solidFill>
                <a:latin typeface="Helvetica"/>
                <a:cs typeface="Helvetica"/>
              </a:rPr>
              <a:t>_</a:t>
            </a:r>
            <a:r>
              <a:rPr lang="es-ES_tradnl" dirty="0" err="1">
                <a:solidFill>
                  <a:srgbClr val="B8E39D"/>
                </a:solidFill>
                <a:latin typeface="Helvetica"/>
                <a:cs typeface="Helvetica"/>
              </a:rPr>
              <a:t>serializeValue</a:t>
            </a:r>
            <a:r>
              <a:rPr lang="es-ES_tradnl" dirty="0">
                <a:solidFill>
                  <a:srgbClr val="B8E39D"/>
                </a:solidFill>
                <a:latin typeface="Helvetica"/>
                <a:cs typeface="Helvetica"/>
              </a:rPr>
              <a:t>(</a:t>
            </a:r>
            <a:r>
              <a:rPr lang="es-ES_tradnl" dirty="0" err="1" smtClean="0">
                <a:solidFill>
                  <a:srgbClr val="B8E39D"/>
                </a:solidFill>
                <a:latin typeface="Helvetica"/>
                <a:cs typeface="Helvetica"/>
              </a:rPr>
              <a:t>value</a:t>
            </a:r>
            <a:r>
              <a:rPr lang="es-ES_tradnl" dirty="0" smtClean="0">
                <a:solidFill>
                  <a:srgbClr val="B8E39D"/>
                </a:solidFill>
                <a:latin typeface="Helvetica"/>
                <a:cs typeface="Helvetica"/>
              </a:rPr>
              <a:t>)</a:t>
            </a:r>
            <a:endParaRPr lang="es-ES_tradnl" dirty="0">
              <a:solidFill>
                <a:srgbClr val="B8E39D"/>
              </a:solidFill>
              <a:latin typeface="Helvetica"/>
              <a:cs typeface="Helvetica"/>
            </a:endParaRPr>
          </a:p>
          <a:p>
            <a:pPr algn="just">
              <a:lnSpc>
                <a:spcPct val="130000"/>
              </a:lnSpc>
            </a:pPr>
            <a:r>
              <a:rPr lang="es-ES_tradnl" dirty="0">
                <a:solidFill>
                  <a:srgbClr val="FFFFFF"/>
                </a:solidFill>
                <a:latin typeface="Helvetica"/>
                <a:cs typeface="Helvetica"/>
              </a:rPr>
              <a:t>componente.</a:t>
            </a: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75</a:t>
            </a:fld>
            <a:endParaRPr lang="en-US"/>
          </a:p>
        </p:txBody>
      </p:sp>
    </p:spTree>
    <p:extLst>
      <p:ext uri="{BB962C8B-B14F-4D97-AF65-F5344CB8AC3E}">
        <p14:creationId xmlns:p14="http://schemas.microsoft.com/office/powerpoint/2010/main" val="316002635"/>
      </p:ext>
    </p:extLst>
  </p:cSld>
  <p:clrMapOvr>
    <a:masterClrMapping/>
  </p:clrMapOvr>
  <p:timing>
    <p:tnLst>
      <p:par>
        <p:cTn xmlns:p14="http://schemas.microsoft.com/office/powerpoint/2010/mai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Propiedades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Propiedades &gt; </a:t>
            </a:r>
            <a:r>
              <a:rPr lang="es-ES_tradnl" sz="2200" u="sng" dirty="0" err="1" smtClean="0">
                <a:latin typeface="Arial Black"/>
                <a:cs typeface="Arial Black"/>
              </a:rPr>
              <a:t>Serializacion</a:t>
            </a:r>
            <a:r>
              <a:rPr lang="es-ES_tradnl" sz="2200" u="sng" dirty="0">
                <a:latin typeface="Arial Black"/>
                <a:cs typeface="Arial Black"/>
              </a:rPr>
              <a:t> (</a:t>
            </a:r>
            <a:r>
              <a:rPr lang="es-ES_tradnl" sz="2200" u="sng" dirty="0" err="1" smtClean="0">
                <a:latin typeface="Arial Black"/>
                <a:cs typeface="Arial Black"/>
                <a:hlinkClick r:id="rId4"/>
              </a:rPr>
              <a:t>reflectToAttribute</a:t>
            </a:r>
            <a:r>
              <a:rPr lang="es-ES_tradnl" sz="2200" u="sng" dirty="0" smtClean="0">
                <a:latin typeface="Arial Black"/>
                <a:cs typeface="Arial Black"/>
              </a:rPr>
              <a:t>)</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5"/>
          <a:stretch>
            <a:fillRect/>
          </a:stretch>
        </p:blipFill>
        <p:spPr>
          <a:xfrm>
            <a:off x="1742516" y="6339496"/>
            <a:ext cx="578961" cy="402755"/>
          </a:xfrm>
          <a:prstGeom prst="rect">
            <a:avLst/>
          </a:prstGeom>
        </p:spPr>
      </p:pic>
      <p:sp>
        <p:nvSpPr>
          <p:cNvPr id="14" name="Rectángulo 13"/>
          <p:cNvSpPr/>
          <p:nvPr/>
        </p:nvSpPr>
        <p:spPr>
          <a:xfrm>
            <a:off x="492433" y="1614742"/>
            <a:ext cx="8202871" cy="1518877"/>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76</a:t>
            </a:fld>
            <a:endParaRPr lang="en-US"/>
          </a:p>
        </p:txBody>
      </p:sp>
      <p:sp>
        <p:nvSpPr>
          <p:cNvPr id="15" name="Rectángulo 14"/>
          <p:cNvSpPr/>
          <p:nvPr/>
        </p:nvSpPr>
        <p:spPr>
          <a:xfrm>
            <a:off x="1069296" y="1874728"/>
            <a:ext cx="7005407" cy="2031325"/>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a:t>_</a:t>
            </a:r>
            <a:r>
              <a:rPr lang="es-ES" sz="1400" dirty="0" err="1"/>
              <a:t>serializeValue</a:t>
            </a:r>
            <a:r>
              <a:rPr lang="es-ES" sz="1400" dirty="0"/>
              <a:t>(</a:t>
            </a:r>
            <a:r>
              <a:rPr lang="es-ES" sz="1400" dirty="0" err="1"/>
              <a:t>value</a:t>
            </a:r>
            <a:r>
              <a:rPr lang="es-ES" sz="1400" dirty="0"/>
              <a:t>) {</a:t>
            </a:r>
          </a:p>
          <a:p>
            <a:r>
              <a:rPr lang="es-ES" sz="1400" dirty="0" err="1"/>
              <a:t>if</a:t>
            </a:r>
            <a:r>
              <a:rPr lang="es-ES" sz="1400" dirty="0"/>
              <a:t> (</a:t>
            </a:r>
            <a:r>
              <a:rPr lang="es-ES" sz="1400" dirty="0" err="1"/>
              <a:t>typeof</a:t>
            </a:r>
            <a:r>
              <a:rPr lang="es-ES" sz="1400" dirty="0"/>
              <a:t>(</a:t>
            </a:r>
            <a:r>
              <a:rPr lang="es-ES" sz="1400" dirty="0" err="1"/>
              <a:t>value</a:t>
            </a:r>
            <a:r>
              <a:rPr lang="es-ES" sz="1400" dirty="0"/>
              <a:t>) == '</a:t>
            </a:r>
            <a:r>
              <a:rPr lang="es-ES" sz="1400" dirty="0" err="1"/>
              <a:t>number</a:t>
            </a:r>
            <a:r>
              <a:rPr lang="es-ES" sz="1400" dirty="0"/>
              <a:t>') {</a:t>
            </a:r>
          </a:p>
          <a:p>
            <a:r>
              <a:rPr lang="es-ES" sz="1400" dirty="0" err="1"/>
              <a:t>return</a:t>
            </a:r>
            <a:r>
              <a:rPr lang="es-ES" sz="1400" dirty="0"/>
              <a:t> '--' + </a:t>
            </a:r>
            <a:r>
              <a:rPr lang="es-ES" sz="1400" dirty="0" err="1"/>
              <a:t>value</a:t>
            </a:r>
            <a:r>
              <a:rPr lang="es-ES" sz="1400" dirty="0"/>
              <a:t> + '--';</a:t>
            </a:r>
          </a:p>
          <a:p>
            <a:r>
              <a:rPr lang="es-ES" sz="1400" dirty="0"/>
              <a:t>}</a:t>
            </a:r>
          </a:p>
          <a:p>
            <a:r>
              <a:rPr lang="es-ES" sz="1400" dirty="0" err="1"/>
              <a:t>if</a:t>
            </a:r>
            <a:r>
              <a:rPr lang="es-ES" sz="1400" dirty="0"/>
              <a:t> (</a:t>
            </a:r>
            <a:r>
              <a:rPr lang="es-ES" sz="1400" dirty="0" err="1"/>
              <a:t>value</a:t>
            </a:r>
            <a:r>
              <a:rPr lang="es-ES" sz="1400" dirty="0"/>
              <a:t> </a:t>
            </a:r>
            <a:r>
              <a:rPr lang="es-ES" sz="1400" dirty="0" err="1"/>
              <a:t>instanceof</a:t>
            </a:r>
            <a:r>
              <a:rPr lang="es-ES" sz="1400" dirty="0"/>
              <a:t> Cliente) {</a:t>
            </a:r>
          </a:p>
          <a:p>
            <a:r>
              <a:rPr lang="es-ES" sz="1400" dirty="0" err="1"/>
              <a:t>return</a:t>
            </a:r>
            <a:r>
              <a:rPr lang="es-ES" sz="1400" dirty="0"/>
              <a:t> </a:t>
            </a:r>
            <a:r>
              <a:rPr lang="es-ES" sz="1400" dirty="0" err="1"/>
              <a:t>value.nombreContacto</a:t>
            </a:r>
            <a:r>
              <a:rPr lang="es-ES" sz="1400" dirty="0"/>
              <a:t> + ' de ' + </a:t>
            </a:r>
            <a:r>
              <a:rPr lang="es-ES" sz="1400" dirty="0" err="1"/>
              <a:t>value.empresa</a:t>
            </a:r>
            <a:r>
              <a:rPr lang="es-ES" sz="1400" dirty="0"/>
              <a:t> + ' (' + </a:t>
            </a:r>
            <a:r>
              <a:rPr lang="es-ES" sz="1400" dirty="0" err="1"/>
              <a:t>value.cif</a:t>
            </a:r>
            <a:r>
              <a:rPr lang="es-ES" sz="1400" dirty="0"/>
              <a:t> + ')';</a:t>
            </a:r>
          </a:p>
          <a:p>
            <a:r>
              <a:rPr lang="es-ES" sz="1400" dirty="0"/>
              <a:t>}</a:t>
            </a:r>
          </a:p>
          <a:p>
            <a:r>
              <a:rPr lang="es-ES" sz="1400" dirty="0" err="1"/>
              <a:t>return</a:t>
            </a:r>
            <a:r>
              <a:rPr lang="es-ES" sz="1400" dirty="0"/>
              <a:t> </a:t>
            </a:r>
            <a:r>
              <a:rPr lang="es-ES" sz="1400" dirty="0" err="1"/>
              <a:t>super</a:t>
            </a:r>
            <a:r>
              <a:rPr lang="es-ES" sz="1400" dirty="0"/>
              <a:t>._</a:t>
            </a:r>
            <a:r>
              <a:rPr lang="es-ES" sz="1400" dirty="0" err="1"/>
              <a:t>serializeValue</a:t>
            </a:r>
            <a:r>
              <a:rPr lang="es-ES" sz="1400" dirty="0"/>
              <a:t>(</a:t>
            </a:r>
            <a:r>
              <a:rPr lang="es-ES" sz="1400" dirty="0" err="1"/>
              <a:t>value</a:t>
            </a:r>
            <a:r>
              <a:rPr lang="es-ES" sz="1400" dirty="0"/>
              <a:t>);</a:t>
            </a:r>
          </a:p>
          <a:p>
            <a:r>
              <a:rPr lang="es-ES" sz="1400" dirty="0"/>
              <a:t>}</a:t>
            </a:r>
            <a:endParaRPr lang="es-ES" sz="1400" dirty="0"/>
          </a:p>
        </p:txBody>
      </p:sp>
    </p:spTree>
    <p:extLst>
      <p:ext uri="{BB962C8B-B14F-4D97-AF65-F5344CB8AC3E}">
        <p14:creationId xmlns:p14="http://schemas.microsoft.com/office/powerpoint/2010/main" val="3280833769"/>
      </p:ext>
    </p:extLst>
  </p:cSld>
  <p:clrMapOvr>
    <a:masterClrMapping/>
  </p:clrMapOvr>
  <p:timing>
    <p:tnLst>
      <p:par>
        <p:cTn xmlns:p14="http://schemas.microsoft.com/office/powerpoint/2010/mai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6560259"/>
          </a:xfrm>
          <a:prstGeom prst="rect">
            <a:avLst/>
          </a:prstGeom>
        </p:spPr>
        <p:txBody>
          <a:bodyPr wrap="square">
            <a:spAutoFit/>
          </a:bodyPr>
          <a:lstStyle/>
          <a:p>
            <a:pPr algn="just">
              <a:lnSpc>
                <a:spcPct val="130000"/>
              </a:lnSpc>
            </a:pPr>
            <a:r>
              <a:rPr lang="es-ES_tradnl" dirty="0">
                <a:solidFill>
                  <a:srgbClr val="FFFFFF"/>
                </a:solidFill>
                <a:latin typeface="Helvetica"/>
                <a:cs typeface="Helvetica"/>
              </a:rPr>
              <a:t>El </a:t>
            </a:r>
            <a:r>
              <a:rPr lang="es-ES_tradnl" dirty="0" err="1" smtClean="0">
                <a:solidFill>
                  <a:srgbClr val="FFFFFF"/>
                </a:solidFill>
                <a:latin typeface="Helvetica"/>
                <a:cs typeface="Helvetica"/>
              </a:rPr>
              <a:t>databinding</a:t>
            </a:r>
            <a:r>
              <a:rPr lang="es-ES_tradnl" dirty="0" smtClean="0">
                <a:solidFill>
                  <a:srgbClr val="FFFFFF"/>
                </a:solidFill>
                <a:latin typeface="Helvetica"/>
                <a:cs typeface="Helvetica"/>
              </a:rPr>
              <a:t> </a:t>
            </a:r>
            <a:r>
              <a:rPr lang="es-ES_tradnl" dirty="0">
                <a:solidFill>
                  <a:srgbClr val="FFFFFF"/>
                </a:solidFill>
                <a:latin typeface="Helvetica"/>
                <a:cs typeface="Helvetica"/>
              </a:rPr>
              <a:t>en </a:t>
            </a:r>
            <a:r>
              <a:rPr lang="es-ES_tradnl" dirty="0" err="1">
                <a:solidFill>
                  <a:srgbClr val="FFFFFF"/>
                </a:solidFill>
                <a:latin typeface="Helvetica"/>
                <a:cs typeface="Helvetica"/>
              </a:rPr>
              <a:t>Polymer</a:t>
            </a:r>
            <a:r>
              <a:rPr lang="es-ES_tradnl" dirty="0">
                <a:solidFill>
                  <a:srgbClr val="FFFFFF"/>
                </a:solidFill>
                <a:latin typeface="Helvetica"/>
                <a:cs typeface="Helvetica"/>
              </a:rPr>
              <a:t> funciona siempre transmitiendo los datos de padres a hijos. Un componente </a:t>
            </a:r>
            <a:r>
              <a:rPr lang="es-ES_tradnl" dirty="0" smtClean="0">
                <a:solidFill>
                  <a:srgbClr val="FFFFFF"/>
                </a:solidFill>
                <a:latin typeface="Helvetica"/>
                <a:cs typeface="Helvetica"/>
              </a:rPr>
              <a:t>puede transmitir </a:t>
            </a:r>
            <a:r>
              <a:rPr lang="es-ES_tradnl" dirty="0">
                <a:solidFill>
                  <a:srgbClr val="FFFFFF"/>
                </a:solidFill>
                <a:latin typeface="Helvetica"/>
                <a:cs typeface="Helvetica"/>
              </a:rPr>
              <a:t>el valor de una de sus propiedades a cualquier elemento del </a:t>
            </a:r>
            <a:r>
              <a:rPr lang="es-ES_tradnl" dirty="0" err="1">
                <a:solidFill>
                  <a:srgbClr val="FFFFFF"/>
                </a:solidFill>
                <a:latin typeface="Helvetica"/>
                <a:cs typeface="Helvetica"/>
              </a:rPr>
              <a:t>template</a:t>
            </a:r>
            <a:r>
              <a:rPr lang="es-ES_tradnl" dirty="0">
                <a:solidFill>
                  <a:srgbClr val="FFFFFF"/>
                </a:solidFill>
                <a:latin typeface="Helvetica"/>
                <a:cs typeface="Helvetica"/>
              </a:rPr>
              <a:t>, así como a </a:t>
            </a:r>
            <a:r>
              <a:rPr lang="es-ES_tradnl" dirty="0" smtClean="0">
                <a:solidFill>
                  <a:srgbClr val="FFFFFF"/>
                </a:solidFill>
                <a:latin typeface="Helvetica"/>
                <a:cs typeface="Helvetica"/>
              </a:rPr>
              <a:t>otros componentes </a:t>
            </a:r>
            <a:r>
              <a:rPr lang="es-ES_tradnl" dirty="0">
                <a:solidFill>
                  <a:srgbClr val="FFFFFF"/>
                </a:solidFill>
                <a:latin typeface="Helvetica"/>
                <a:cs typeface="Helvetica"/>
              </a:rPr>
              <a:t>que tenga como hijos.</a:t>
            </a: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r>
              <a:rPr lang="nb-NO" dirty="0">
                <a:solidFill>
                  <a:srgbClr val="FFFFFF"/>
                </a:solidFill>
                <a:latin typeface="Helvetica"/>
                <a:cs typeface="Helvetica"/>
              </a:rPr>
              <a:t> </a:t>
            </a:r>
            <a:r>
              <a:rPr lang="nb-NO" dirty="0" smtClean="0">
                <a:solidFill>
                  <a:srgbClr val="FFFFFF"/>
                </a:solidFill>
                <a:latin typeface="Helvetica"/>
                <a:cs typeface="Helvetica"/>
              </a:rPr>
              <a:t>El databinding </a:t>
            </a:r>
            <a:r>
              <a:rPr lang="nb-NO" dirty="0">
                <a:solidFill>
                  <a:srgbClr val="FFFFFF"/>
                </a:solidFill>
                <a:latin typeface="Helvetica"/>
                <a:cs typeface="Helvetica"/>
              </a:rPr>
              <a:t>de </a:t>
            </a:r>
            <a:r>
              <a:rPr lang="nb-NO" dirty="0" err="1">
                <a:solidFill>
                  <a:srgbClr val="FFFFFF"/>
                </a:solidFill>
                <a:latin typeface="Helvetica"/>
                <a:cs typeface="Helvetica"/>
              </a:rPr>
              <a:t>una</a:t>
            </a:r>
            <a:r>
              <a:rPr lang="nb-NO" dirty="0">
                <a:solidFill>
                  <a:srgbClr val="FFFFFF"/>
                </a:solidFill>
                <a:latin typeface="Helvetica"/>
                <a:cs typeface="Helvetica"/>
              </a:rPr>
              <a:t> </a:t>
            </a:r>
            <a:r>
              <a:rPr lang="nb-NO" dirty="0" err="1" smtClean="0">
                <a:solidFill>
                  <a:srgbClr val="FFFFFF"/>
                </a:solidFill>
                <a:latin typeface="Helvetica"/>
                <a:cs typeface="Helvetica"/>
              </a:rPr>
              <a:t>dirección</a:t>
            </a:r>
            <a:r>
              <a:rPr lang="nb-NO" dirty="0" smtClean="0">
                <a:solidFill>
                  <a:srgbClr val="FFFFFF"/>
                </a:solidFill>
                <a:latin typeface="Helvetica"/>
                <a:cs typeface="Helvetica"/>
              </a:rPr>
              <a:t> </a:t>
            </a:r>
            <a:r>
              <a:rPr lang="nb-NO" dirty="0" smtClean="0">
                <a:solidFill>
                  <a:schemeClr val="accent5">
                    <a:lumMod val="40000"/>
                    <a:lumOff val="60000"/>
                  </a:schemeClr>
                </a:solidFill>
                <a:latin typeface="Helvetica"/>
                <a:cs typeface="Helvetica"/>
              </a:rPr>
              <a:t>[[ ]] </a:t>
            </a:r>
            <a:r>
              <a:rPr lang="nb-NO" dirty="0">
                <a:solidFill>
                  <a:srgbClr val="FFFFFF"/>
                </a:solidFill>
                <a:latin typeface="Helvetica"/>
                <a:cs typeface="Helvetica"/>
              </a:rPr>
              <a:t>es el </a:t>
            </a:r>
            <a:r>
              <a:rPr lang="nb-NO" dirty="0" err="1">
                <a:solidFill>
                  <a:srgbClr val="FFFFFF"/>
                </a:solidFill>
                <a:latin typeface="Helvetica"/>
                <a:cs typeface="Helvetica"/>
              </a:rPr>
              <a:t>que</a:t>
            </a:r>
            <a:r>
              <a:rPr lang="nb-NO" dirty="0">
                <a:solidFill>
                  <a:srgbClr val="FFFFFF"/>
                </a:solidFill>
                <a:latin typeface="Helvetica"/>
                <a:cs typeface="Helvetica"/>
              </a:rPr>
              <a:t> </a:t>
            </a:r>
            <a:r>
              <a:rPr lang="nb-NO" dirty="0" err="1">
                <a:solidFill>
                  <a:srgbClr val="FFFFFF"/>
                </a:solidFill>
                <a:latin typeface="Helvetica"/>
                <a:cs typeface="Helvetica"/>
              </a:rPr>
              <a:t>transmite</a:t>
            </a:r>
            <a:r>
              <a:rPr lang="nb-NO" dirty="0">
                <a:solidFill>
                  <a:srgbClr val="FFFFFF"/>
                </a:solidFill>
                <a:latin typeface="Helvetica"/>
                <a:cs typeface="Helvetica"/>
              </a:rPr>
              <a:t> de </a:t>
            </a:r>
            <a:r>
              <a:rPr lang="nb-NO" dirty="0" err="1">
                <a:solidFill>
                  <a:srgbClr val="FFFFFF"/>
                </a:solidFill>
                <a:latin typeface="Helvetica"/>
                <a:cs typeface="Helvetica"/>
              </a:rPr>
              <a:t>padres</a:t>
            </a:r>
            <a:r>
              <a:rPr lang="nb-NO" dirty="0">
                <a:solidFill>
                  <a:srgbClr val="FFFFFF"/>
                </a:solidFill>
                <a:latin typeface="Helvetica"/>
                <a:cs typeface="Helvetica"/>
              </a:rPr>
              <a:t> a </a:t>
            </a:r>
            <a:r>
              <a:rPr lang="nb-NO" dirty="0" err="1">
                <a:solidFill>
                  <a:srgbClr val="FFFFFF"/>
                </a:solidFill>
                <a:latin typeface="Helvetica"/>
                <a:cs typeface="Helvetica"/>
              </a:rPr>
              <a:t>hijos</a:t>
            </a:r>
            <a:r>
              <a:rPr lang="nb-NO" dirty="0">
                <a:solidFill>
                  <a:srgbClr val="FFFFFF"/>
                </a:solidFill>
                <a:latin typeface="Helvetica"/>
                <a:cs typeface="Helvetica"/>
              </a:rPr>
              <a:t> y el </a:t>
            </a:r>
            <a:r>
              <a:rPr lang="nb-NO" dirty="0" smtClean="0">
                <a:solidFill>
                  <a:srgbClr val="FFFFFF"/>
                </a:solidFill>
                <a:latin typeface="Helvetica"/>
                <a:cs typeface="Helvetica"/>
              </a:rPr>
              <a:t>databinding </a:t>
            </a:r>
            <a:r>
              <a:rPr lang="nb-NO" dirty="0">
                <a:solidFill>
                  <a:srgbClr val="FFFFFF"/>
                </a:solidFill>
                <a:latin typeface="Helvetica"/>
                <a:cs typeface="Helvetica"/>
              </a:rPr>
              <a:t>de dos </a:t>
            </a:r>
            <a:r>
              <a:rPr lang="nb-NO" dirty="0" err="1" smtClean="0">
                <a:solidFill>
                  <a:srgbClr val="FFFFFF"/>
                </a:solidFill>
                <a:latin typeface="Helvetica"/>
                <a:cs typeface="Helvetica"/>
              </a:rPr>
              <a:t>direcciones</a:t>
            </a:r>
            <a:r>
              <a:rPr lang="nb-NO" dirty="0" smtClean="0">
                <a:solidFill>
                  <a:srgbClr val="FFFFFF"/>
                </a:solidFill>
                <a:latin typeface="Helvetica"/>
                <a:cs typeface="Helvetica"/>
              </a:rPr>
              <a:t> </a:t>
            </a:r>
            <a:r>
              <a:rPr lang="nb-NO" dirty="0" smtClean="0">
                <a:solidFill>
                  <a:schemeClr val="accent5">
                    <a:lumMod val="40000"/>
                    <a:lumOff val="60000"/>
                  </a:schemeClr>
                </a:solidFill>
                <a:latin typeface="Helvetica"/>
                <a:cs typeface="Helvetica"/>
              </a:rPr>
              <a:t>{{ }} </a:t>
            </a:r>
            <a:r>
              <a:rPr lang="nb-NO" dirty="0" smtClean="0">
                <a:solidFill>
                  <a:srgbClr val="FFFFFF"/>
                </a:solidFill>
                <a:latin typeface="Helvetica"/>
                <a:cs typeface="Helvetica"/>
              </a:rPr>
              <a:t>es </a:t>
            </a:r>
            <a:r>
              <a:rPr lang="nb-NO" dirty="0">
                <a:solidFill>
                  <a:srgbClr val="FFFFFF"/>
                </a:solidFill>
                <a:latin typeface="Helvetica"/>
                <a:cs typeface="Helvetica"/>
              </a:rPr>
              <a:t>el </a:t>
            </a:r>
            <a:r>
              <a:rPr lang="nb-NO" dirty="0" err="1">
                <a:solidFill>
                  <a:srgbClr val="FFFFFF"/>
                </a:solidFill>
                <a:latin typeface="Helvetica"/>
                <a:cs typeface="Helvetica"/>
              </a:rPr>
              <a:t>que</a:t>
            </a:r>
            <a:r>
              <a:rPr lang="nb-NO" dirty="0">
                <a:solidFill>
                  <a:srgbClr val="FFFFFF"/>
                </a:solidFill>
                <a:latin typeface="Helvetica"/>
                <a:cs typeface="Helvetica"/>
              </a:rPr>
              <a:t> </a:t>
            </a:r>
            <a:r>
              <a:rPr lang="nb-NO" dirty="0" err="1">
                <a:solidFill>
                  <a:srgbClr val="FFFFFF"/>
                </a:solidFill>
                <a:latin typeface="Helvetica"/>
                <a:cs typeface="Helvetica"/>
              </a:rPr>
              <a:t>además</a:t>
            </a:r>
            <a:r>
              <a:rPr lang="nb-NO" dirty="0">
                <a:solidFill>
                  <a:srgbClr val="FFFFFF"/>
                </a:solidFill>
                <a:latin typeface="Helvetica"/>
                <a:cs typeface="Helvetica"/>
              </a:rPr>
              <a:t> </a:t>
            </a:r>
            <a:r>
              <a:rPr lang="nb-NO" dirty="0" err="1">
                <a:solidFill>
                  <a:srgbClr val="FFFFFF"/>
                </a:solidFill>
                <a:latin typeface="Helvetica"/>
                <a:cs typeface="Helvetica"/>
              </a:rPr>
              <a:t>transmite</a:t>
            </a:r>
            <a:r>
              <a:rPr lang="nb-NO" dirty="0">
                <a:solidFill>
                  <a:srgbClr val="FFFFFF"/>
                </a:solidFill>
                <a:latin typeface="Helvetica"/>
                <a:cs typeface="Helvetica"/>
              </a:rPr>
              <a:t> el </a:t>
            </a:r>
            <a:r>
              <a:rPr lang="nb-NO" dirty="0" err="1">
                <a:solidFill>
                  <a:srgbClr val="FFFFFF"/>
                </a:solidFill>
                <a:latin typeface="Helvetica"/>
                <a:cs typeface="Helvetica"/>
              </a:rPr>
              <a:t>valor</a:t>
            </a:r>
            <a:r>
              <a:rPr lang="nb-NO" dirty="0">
                <a:solidFill>
                  <a:srgbClr val="FFFFFF"/>
                </a:solidFill>
                <a:latin typeface="Helvetica"/>
                <a:cs typeface="Helvetica"/>
              </a:rPr>
              <a:t> en </a:t>
            </a:r>
            <a:r>
              <a:rPr lang="nb-NO" dirty="0" err="1">
                <a:solidFill>
                  <a:srgbClr val="FFFFFF"/>
                </a:solidFill>
                <a:latin typeface="Helvetica"/>
                <a:cs typeface="Helvetica"/>
              </a:rPr>
              <a:t>dirección</a:t>
            </a:r>
            <a:r>
              <a:rPr lang="nb-NO" dirty="0">
                <a:solidFill>
                  <a:srgbClr val="FFFFFF"/>
                </a:solidFill>
                <a:latin typeface="Helvetica"/>
                <a:cs typeface="Helvetica"/>
              </a:rPr>
              <a:t> </a:t>
            </a:r>
            <a:r>
              <a:rPr lang="nb-NO" dirty="0" err="1">
                <a:solidFill>
                  <a:srgbClr val="FFFFFF"/>
                </a:solidFill>
                <a:latin typeface="Helvetica"/>
                <a:cs typeface="Helvetica"/>
              </a:rPr>
              <a:t>contraria</a:t>
            </a:r>
            <a:r>
              <a:rPr lang="nb-NO" dirty="0">
                <a:solidFill>
                  <a:srgbClr val="FFFFFF"/>
                </a:solidFill>
                <a:latin typeface="Helvetica"/>
                <a:cs typeface="Helvetica"/>
              </a:rPr>
              <a:t>: </a:t>
            </a:r>
            <a:r>
              <a:rPr lang="nb-NO" dirty="0" err="1">
                <a:solidFill>
                  <a:srgbClr val="FFFFFF"/>
                </a:solidFill>
                <a:latin typeface="Helvetica"/>
                <a:cs typeface="Helvetica"/>
              </a:rPr>
              <a:t>desde</a:t>
            </a:r>
            <a:r>
              <a:rPr lang="nb-NO" dirty="0">
                <a:solidFill>
                  <a:srgbClr val="FFFFFF"/>
                </a:solidFill>
                <a:latin typeface="Helvetica"/>
                <a:cs typeface="Helvetica"/>
              </a:rPr>
              <a:t> el </a:t>
            </a:r>
            <a:r>
              <a:rPr lang="nb-NO" dirty="0" err="1">
                <a:solidFill>
                  <a:srgbClr val="FFFFFF"/>
                </a:solidFill>
                <a:latin typeface="Helvetica"/>
                <a:cs typeface="Helvetica"/>
              </a:rPr>
              <a:t>hijo</a:t>
            </a:r>
            <a:r>
              <a:rPr lang="nb-NO" dirty="0">
                <a:solidFill>
                  <a:srgbClr val="FFFFFF"/>
                </a:solidFill>
                <a:latin typeface="Helvetica"/>
                <a:cs typeface="Helvetica"/>
              </a:rPr>
              <a:t> hasta el </a:t>
            </a:r>
            <a:r>
              <a:rPr lang="nb-NO" dirty="0" err="1">
                <a:solidFill>
                  <a:srgbClr val="FFFFFF"/>
                </a:solidFill>
                <a:latin typeface="Helvetica"/>
                <a:cs typeface="Helvetica"/>
              </a:rPr>
              <a:t>padre</a:t>
            </a:r>
            <a:r>
              <a:rPr lang="nb-NO" dirty="0" smtClean="0">
                <a:solidFill>
                  <a:srgbClr val="FFFFFF"/>
                </a:solidFill>
                <a:latin typeface="Helvetica"/>
                <a:cs typeface="Helvetica"/>
              </a:rPr>
              <a:t>.</a:t>
            </a:r>
          </a:p>
          <a:p>
            <a:pPr algn="just">
              <a:lnSpc>
                <a:spcPct val="130000"/>
              </a:lnSpc>
            </a:pPr>
            <a:endParaRPr lang="nb-NO" dirty="0" smtClean="0">
              <a:solidFill>
                <a:srgbClr val="FFFFFF"/>
              </a:solidFill>
              <a:latin typeface="Helvetica"/>
              <a:cs typeface="Helvetica"/>
            </a:endParaRPr>
          </a:p>
          <a:p>
            <a:pPr algn="just">
              <a:lnSpc>
                <a:spcPct val="130000"/>
              </a:lnSpc>
            </a:pPr>
            <a:r>
              <a:rPr lang="nb-NO" dirty="0">
                <a:solidFill>
                  <a:srgbClr val="FFFFFF"/>
                </a:solidFill>
                <a:latin typeface="Helvetica"/>
                <a:cs typeface="Helvetica"/>
              </a:rPr>
              <a:t>  </a:t>
            </a:r>
            <a:r>
              <a:rPr lang="nb-NO" dirty="0" smtClean="0">
                <a:solidFill>
                  <a:srgbClr val="FFFFFF"/>
                </a:solidFill>
                <a:latin typeface="Helvetica"/>
                <a:cs typeface="Helvetica"/>
              </a:rPr>
              <a:t>Para </a:t>
            </a:r>
            <a:r>
              <a:rPr lang="nb-NO" dirty="0" err="1">
                <a:solidFill>
                  <a:srgbClr val="FFFFFF"/>
                </a:solidFill>
                <a:latin typeface="Helvetica"/>
                <a:cs typeface="Helvetica"/>
              </a:rPr>
              <a:t>que</a:t>
            </a:r>
            <a:r>
              <a:rPr lang="nb-NO" dirty="0">
                <a:solidFill>
                  <a:srgbClr val="FFFFFF"/>
                </a:solidFill>
                <a:latin typeface="Helvetica"/>
                <a:cs typeface="Helvetica"/>
              </a:rPr>
              <a:t> se </a:t>
            </a:r>
            <a:r>
              <a:rPr lang="nb-NO" dirty="0" err="1">
                <a:solidFill>
                  <a:srgbClr val="FFFFFF"/>
                </a:solidFill>
                <a:latin typeface="Helvetica"/>
                <a:cs typeface="Helvetica"/>
              </a:rPr>
              <a:t>produzca</a:t>
            </a:r>
            <a:r>
              <a:rPr lang="nb-NO" dirty="0">
                <a:solidFill>
                  <a:srgbClr val="FFFFFF"/>
                </a:solidFill>
                <a:latin typeface="Helvetica"/>
                <a:cs typeface="Helvetica"/>
              </a:rPr>
              <a:t> </a:t>
            </a:r>
            <a:r>
              <a:rPr lang="nb-NO" dirty="0" err="1">
                <a:solidFill>
                  <a:srgbClr val="FFFFFF"/>
                </a:solidFill>
                <a:latin typeface="Helvetica"/>
                <a:cs typeface="Helvetica"/>
              </a:rPr>
              <a:t>un</a:t>
            </a:r>
            <a:r>
              <a:rPr lang="nb-NO" dirty="0">
                <a:solidFill>
                  <a:srgbClr val="FFFFFF"/>
                </a:solidFill>
                <a:latin typeface="Helvetica"/>
                <a:cs typeface="Helvetica"/>
              </a:rPr>
              <a:t> binding </a:t>
            </a:r>
            <a:r>
              <a:rPr lang="nb-NO" dirty="0" err="1">
                <a:solidFill>
                  <a:srgbClr val="FFFFFF"/>
                </a:solidFill>
                <a:latin typeface="Helvetica"/>
                <a:cs typeface="Helvetica"/>
              </a:rPr>
              <a:t>ascendente</a:t>
            </a:r>
            <a:r>
              <a:rPr lang="nb-NO" dirty="0">
                <a:solidFill>
                  <a:srgbClr val="FFFFFF"/>
                </a:solidFill>
                <a:latin typeface="Helvetica"/>
                <a:cs typeface="Helvetica"/>
              </a:rPr>
              <a:t> en Polymer, aparte de </a:t>
            </a:r>
            <a:r>
              <a:rPr lang="nb-NO" dirty="0" err="1">
                <a:solidFill>
                  <a:srgbClr val="FFFFFF"/>
                </a:solidFill>
                <a:latin typeface="Helvetica"/>
                <a:cs typeface="Helvetica"/>
              </a:rPr>
              <a:t>usar</a:t>
            </a:r>
            <a:r>
              <a:rPr lang="nb-NO" dirty="0">
                <a:solidFill>
                  <a:srgbClr val="FFFFFF"/>
                </a:solidFill>
                <a:latin typeface="Helvetica"/>
                <a:cs typeface="Helvetica"/>
              </a:rPr>
              <a:t> las </a:t>
            </a:r>
            <a:r>
              <a:rPr lang="nb-NO" dirty="0" smtClean="0">
                <a:solidFill>
                  <a:srgbClr val="FFFFFF"/>
                </a:solidFill>
                <a:latin typeface="Helvetica"/>
                <a:cs typeface="Helvetica"/>
              </a:rPr>
              <a:t>dobles </a:t>
            </a:r>
            <a:r>
              <a:rPr lang="nb-NO" dirty="0" err="1" smtClean="0">
                <a:solidFill>
                  <a:srgbClr val="FFFFFF"/>
                </a:solidFill>
                <a:latin typeface="Helvetica"/>
                <a:cs typeface="Helvetica"/>
              </a:rPr>
              <a:t>llaves</a:t>
            </a:r>
            <a:r>
              <a:rPr lang="nb-NO" dirty="0">
                <a:solidFill>
                  <a:srgbClr val="FFFFFF"/>
                </a:solidFill>
                <a:latin typeface="Helvetica"/>
                <a:cs typeface="Helvetica"/>
              </a:rPr>
              <a:t>, </a:t>
            </a:r>
            <a:r>
              <a:rPr lang="nb-NO" dirty="0" err="1">
                <a:solidFill>
                  <a:srgbClr val="FFFFFF"/>
                </a:solidFill>
                <a:latin typeface="Helvetica"/>
                <a:cs typeface="Helvetica"/>
              </a:rPr>
              <a:t>necesitas</a:t>
            </a:r>
            <a:r>
              <a:rPr lang="nb-NO" dirty="0">
                <a:solidFill>
                  <a:srgbClr val="FFFFFF"/>
                </a:solidFill>
                <a:latin typeface="Helvetica"/>
                <a:cs typeface="Helvetica"/>
              </a:rPr>
              <a:t> </a:t>
            </a:r>
            <a:r>
              <a:rPr lang="nb-NO" dirty="0" err="1">
                <a:solidFill>
                  <a:srgbClr val="FFFFFF"/>
                </a:solidFill>
                <a:latin typeface="Helvetica"/>
                <a:cs typeface="Helvetica"/>
              </a:rPr>
              <a:t>que</a:t>
            </a:r>
            <a:r>
              <a:rPr lang="nb-NO" dirty="0">
                <a:solidFill>
                  <a:srgbClr val="FFFFFF"/>
                </a:solidFill>
                <a:latin typeface="Helvetica"/>
                <a:cs typeface="Helvetica"/>
              </a:rPr>
              <a:t> el </a:t>
            </a:r>
            <a:r>
              <a:rPr lang="nb-NO" dirty="0" err="1">
                <a:solidFill>
                  <a:srgbClr val="FFFFFF"/>
                </a:solidFill>
                <a:latin typeface="Helvetica"/>
                <a:cs typeface="Helvetica"/>
              </a:rPr>
              <a:t>componente</a:t>
            </a:r>
            <a:r>
              <a:rPr lang="nb-NO" dirty="0">
                <a:solidFill>
                  <a:srgbClr val="FFFFFF"/>
                </a:solidFill>
                <a:latin typeface="Helvetica"/>
                <a:cs typeface="Helvetica"/>
              </a:rPr>
              <a:t> </a:t>
            </a:r>
            <a:r>
              <a:rPr lang="nb-NO" dirty="0" err="1">
                <a:solidFill>
                  <a:srgbClr val="FFFFFF"/>
                </a:solidFill>
                <a:latin typeface="Helvetica"/>
                <a:cs typeface="Helvetica"/>
              </a:rPr>
              <a:t>que</a:t>
            </a:r>
            <a:r>
              <a:rPr lang="nb-NO" dirty="0">
                <a:solidFill>
                  <a:srgbClr val="FFFFFF"/>
                </a:solidFill>
                <a:latin typeface="Helvetica"/>
                <a:cs typeface="Helvetica"/>
              </a:rPr>
              <a:t> </a:t>
            </a:r>
            <a:r>
              <a:rPr lang="nb-NO" dirty="0" err="1">
                <a:solidFill>
                  <a:srgbClr val="FFFFFF"/>
                </a:solidFill>
                <a:latin typeface="Helvetica"/>
                <a:cs typeface="Helvetica"/>
              </a:rPr>
              <a:t>debe</a:t>
            </a:r>
            <a:r>
              <a:rPr lang="nb-NO" dirty="0">
                <a:solidFill>
                  <a:srgbClr val="FFFFFF"/>
                </a:solidFill>
                <a:latin typeface="Helvetica"/>
                <a:cs typeface="Helvetica"/>
              </a:rPr>
              <a:t> </a:t>
            </a:r>
            <a:r>
              <a:rPr lang="nb-NO" dirty="0" err="1">
                <a:solidFill>
                  <a:srgbClr val="FFFFFF"/>
                </a:solidFill>
                <a:latin typeface="Helvetica"/>
                <a:cs typeface="Helvetica"/>
              </a:rPr>
              <a:t>avisar</a:t>
            </a:r>
            <a:r>
              <a:rPr lang="nb-NO" dirty="0">
                <a:solidFill>
                  <a:srgbClr val="FFFFFF"/>
                </a:solidFill>
                <a:latin typeface="Helvetica"/>
                <a:cs typeface="Helvetica"/>
              </a:rPr>
              <a:t> al </a:t>
            </a:r>
            <a:r>
              <a:rPr lang="nb-NO" dirty="0" err="1">
                <a:solidFill>
                  <a:srgbClr val="FFFFFF"/>
                </a:solidFill>
                <a:latin typeface="Helvetica"/>
                <a:cs typeface="Helvetica"/>
              </a:rPr>
              <a:t>padre</a:t>
            </a:r>
            <a:r>
              <a:rPr lang="nb-NO" dirty="0">
                <a:solidFill>
                  <a:srgbClr val="FFFFFF"/>
                </a:solidFill>
                <a:latin typeface="Helvetica"/>
                <a:cs typeface="Helvetica"/>
              </a:rPr>
              <a:t> </a:t>
            </a:r>
            <a:r>
              <a:rPr lang="nb-NO" dirty="0" err="1">
                <a:solidFill>
                  <a:srgbClr val="FFFFFF"/>
                </a:solidFill>
                <a:latin typeface="Helvetica"/>
                <a:cs typeface="Helvetica"/>
              </a:rPr>
              <a:t>tenga</a:t>
            </a:r>
            <a:r>
              <a:rPr lang="nb-NO" dirty="0">
                <a:solidFill>
                  <a:srgbClr val="FFFFFF"/>
                </a:solidFill>
                <a:latin typeface="Helvetica"/>
                <a:cs typeface="Helvetica"/>
              </a:rPr>
              <a:t> </a:t>
            </a:r>
            <a:r>
              <a:rPr lang="nb-NO" dirty="0" err="1">
                <a:solidFill>
                  <a:srgbClr val="FFFFFF"/>
                </a:solidFill>
                <a:latin typeface="Helvetica"/>
                <a:cs typeface="Helvetica"/>
              </a:rPr>
              <a:t>definida</a:t>
            </a:r>
            <a:r>
              <a:rPr lang="nb-NO" dirty="0">
                <a:solidFill>
                  <a:srgbClr val="FFFFFF"/>
                </a:solidFill>
                <a:latin typeface="Helvetica"/>
                <a:cs typeface="Helvetica"/>
              </a:rPr>
              <a:t> la </a:t>
            </a:r>
            <a:r>
              <a:rPr lang="nb-NO" dirty="0" err="1">
                <a:solidFill>
                  <a:srgbClr val="FFFFFF"/>
                </a:solidFill>
                <a:latin typeface="Helvetica"/>
                <a:cs typeface="Helvetica"/>
              </a:rPr>
              <a:t>propiedad</a:t>
            </a:r>
            <a:r>
              <a:rPr lang="nb-NO" dirty="0">
                <a:solidFill>
                  <a:srgbClr val="FFFFFF"/>
                </a:solidFill>
                <a:latin typeface="Helvetica"/>
                <a:cs typeface="Helvetica"/>
              </a:rPr>
              <a:t> con el </a:t>
            </a:r>
            <a:r>
              <a:rPr lang="nb-NO" dirty="0" err="1" smtClean="0">
                <a:solidFill>
                  <a:srgbClr val="FFFFFF"/>
                </a:solidFill>
                <a:latin typeface="Helvetica"/>
                <a:cs typeface="Helvetica"/>
              </a:rPr>
              <a:t>valor</a:t>
            </a:r>
            <a:r>
              <a:rPr lang="nb-NO" dirty="0" smtClean="0">
                <a:solidFill>
                  <a:srgbClr val="FFFFFF"/>
                </a:solidFill>
                <a:latin typeface="Helvetica"/>
                <a:cs typeface="Helvetica"/>
              </a:rPr>
              <a:t> </a:t>
            </a:r>
            <a:r>
              <a:rPr lang="nb-NO" dirty="0" err="1" smtClean="0">
                <a:solidFill>
                  <a:srgbClr val="B8E39D"/>
                </a:solidFill>
                <a:latin typeface="Helvetica"/>
                <a:cs typeface="Helvetica"/>
              </a:rPr>
              <a:t>notify</a:t>
            </a:r>
            <a:r>
              <a:rPr lang="nb-NO" dirty="0" smtClean="0">
                <a:solidFill>
                  <a:srgbClr val="B8E39D"/>
                </a:solidFill>
                <a:latin typeface="Helvetica"/>
                <a:cs typeface="Helvetica"/>
              </a:rPr>
              <a:t>=true</a:t>
            </a:r>
            <a:r>
              <a:rPr lang="nb-NO" dirty="0" smtClean="0">
                <a:solidFill>
                  <a:srgbClr val="FFFFFF"/>
                </a:solidFill>
                <a:latin typeface="Helvetica"/>
                <a:cs typeface="Helvetica"/>
              </a:rPr>
              <a:t>.</a:t>
            </a: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77</a:t>
            </a:fld>
            <a:endParaRPr lang="en-US"/>
          </a:p>
        </p:txBody>
      </p:sp>
    </p:spTree>
    <p:extLst>
      <p:ext uri="{BB962C8B-B14F-4D97-AF65-F5344CB8AC3E}">
        <p14:creationId xmlns:p14="http://schemas.microsoft.com/office/powerpoint/2010/main" val="4012563345"/>
      </p:ext>
    </p:extLst>
  </p:cSld>
  <p:clrMapOvr>
    <a:masterClrMapping/>
  </p:clrMapOvr>
  <p:timing>
    <p:tnLst>
      <p:par>
        <p:cTn xmlns:p14="http://schemas.microsoft.com/office/powerpoint/2010/mai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16363" y="188921"/>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r>
              <a:rPr lang="es-ES_tradnl" sz="2200" u="sng" dirty="0" smtClean="0">
                <a:latin typeface="Arial Black"/>
                <a:cs typeface="Arial Black"/>
              </a:rPr>
              <a:t> &gt; Propiedades Vs Atributos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1878976"/>
          </a:xfrm>
          <a:prstGeom prst="rect">
            <a:avLst/>
          </a:prstGeom>
        </p:spPr>
        <p:txBody>
          <a:bodyPr wrap="square">
            <a:spAutoFit/>
          </a:bodyPr>
          <a:lstStyle/>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78</a:t>
            </a:fld>
            <a:endParaRPr lang="en-US"/>
          </a:p>
        </p:txBody>
      </p:sp>
      <p:sp>
        <p:nvSpPr>
          <p:cNvPr id="15" name="Rectángulo 14"/>
          <p:cNvSpPr/>
          <p:nvPr/>
        </p:nvSpPr>
        <p:spPr>
          <a:xfrm>
            <a:off x="659172" y="1746128"/>
            <a:ext cx="8036132" cy="738664"/>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sz="1400" dirty="0" smtClean="0"/>
          </a:p>
          <a:p>
            <a:r>
              <a:rPr lang="es-ES" sz="1400" dirty="0" smtClean="0"/>
              <a:t>&lt;</a:t>
            </a:r>
            <a:r>
              <a:rPr lang="es-ES" sz="1400" dirty="0" err="1"/>
              <a:t>paper</a:t>
            </a:r>
            <a:r>
              <a:rPr lang="es-ES" sz="1400" dirty="0"/>
              <a:t>-input </a:t>
            </a:r>
            <a:r>
              <a:rPr lang="es-ES" sz="1400" dirty="0" err="1"/>
              <a:t>label</a:t>
            </a:r>
            <a:r>
              <a:rPr lang="es-ES" sz="1400" dirty="0"/>
              <a:t>="Escribe algo" </a:t>
            </a:r>
            <a:r>
              <a:rPr lang="es-ES" sz="1400" dirty="0" err="1"/>
              <a:t>value</a:t>
            </a:r>
            <a:r>
              <a:rPr lang="es-ES" sz="1400" dirty="0"/>
              <a:t>="{{</a:t>
            </a:r>
            <a:r>
              <a:rPr lang="es-ES" sz="1400" dirty="0" err="1"/>
              <a:t>valorEscrito</a:t>
            </a:r>
            <a:r>
              <a:rPr lang="es-ES" sz="1400" dirty="0"/>
              <a:t>}}"&gt;&lt;/</a:t>
            </a:r>
            <a:r>
              <a:rPr lang="es-ES" sz="1400" dirty="0" err="1"/>
              <a:t>paper</a:t>
            </a:r>
            <a:r>
              <a:rPr lang="es-ES" sz="1400" dirty="0"/>
              <a:t>-input</a:t>
            </a:r>
            <a:r>
              <a:rPr lang="es-ES" sz="1400" dirty="0" smtClean="0"/>
              <a:t>&gt;</a:t>
            </a:r>
          </a:p>
          <a:p>
            <a:endParaRPr lang="es-ES" sz="1400" dirty="0"/>
          </a:p>
        </p:txBody>
      </p:sp>
      <p:sp>
        <p:nvSpPr>
          <p:cNvPr id="16" name="Rectángulo 15"/>
          <p:cNvSpPr/>
          <p:nvPr/>
        </p:nvSpPr>
        <p:spPr>
          <a:xfrm>
            <a:off x="492433" y="2257742"/>
            <a:ext cx="8202871" cy="5119865"/>
          </a:xfrm>
          <a:prstGeom prst="rect">
            <a:avLst/>
          </a:prstGeom>
        </p:spPr>
        <p:txBody>
          <a:bodyPr wrap="square">
            <a:spAutoFit/>
          </a:bodyPr>
          <a:lstStyle/>
          <a:p>
            <a:pPr algn="just">
              <a:lnSpc>
                <a:spcPct val="130000"/>
              </a:lnSpc>
            </a:pPr>
            <a:endParaRPr lang="nb-NO" dirty="0" smtClean="0">
              <a:solidFill>
                <a:srgbClr val="FFFFFF"/>
              </a:solidFill>
              <a:latin typeface="Helvetica"/>
              <a:cs typeface="Helvetica"/>
            </a:endParaRPr>
          </a:p>
          <a:p>
            <a:pPr marL="285750" indent="-285750" algn="just">
              <a:lnSpc>
                <a:spcPct val="130000"/>
              </a:lnSpc>
              <a:buFont typeface="Wingdings" charset="2"/>
              <a:buChar char="ü"/>
            </a:pPr>
            <a:r>
              <a:rPr lang="nb-NO" dirty="0">
                <a:solidFill>
                  <a:srgbClr val="FFFFFF"/>
                </a:solidFill>
                <a:latin typeface="Helvetica"/>
                <a:cs typeface="Helvetica"/>
              </a:rPr>
              <a:t>A </a:t>
            </a:r>
            <a:r>
              <a:rPr lang="nb-NO" dirty="0" err="1">
                <a:solidFill>
                  <a:srgbClr val="FFFFFF"/>
                </a:solidFill>
                <a:latin typeface="Helvetica"/>
                <a:cs typeface="Helvetica"/>
              </a:rPr>
              <a:t>una</a:t>
            </a:r>
            <a:r>
              <a:rPr lang="nb-NO" dirty="0">
                <a:solidFill>
                  <a:srgbClr val="FFFFFF"/>
                </a:solidFill>
                <a:latin typeface="Helvetica"/>
                <a:cs typeface="Helvetica"/>
              </a:rPr>
              <a:t> </a:t>
            </a:r>
            <a:r>
              <a:rPr lang="nb-NO" dirty="0" err="1">
                <a:solidFill>
                  <a:srgbClr val="FFFFFF"/>
                </a:solidFill>
                <a:latin typeface="Helvetica"/>
                <a:cs typeface="Helvetica"/>
              </a:rPr>
              <a:t>propiedad</a:t>
            </a:r>
            <a:r>
              <a:rPr lang="nb-NO" dirty="0">
                <a:solidFill>
                  <a:srgbClr val="FFFFFF"/>
                </a:solidFill>
                <a:latin typeface="Helvetica"/>
                <a:cs typeface="Helvetica"/>
              </a:rPr>
              <a:t> </a:t>
            </a:r>
            <a:r>
              <a:rPr lang="nb-NO" dirty="0" err="1">
                <a:solidFill>
                  <a:srgbClr val="FFFFFF"/>
                </a:solidFill>
                <a:latin typeface="Helvetica"/>
                <a:cs typeface="Helvetica"/>
              </a:rPr>
              <a:t>como</a:t>
            </a:r>
            <a:r>
              <a:rPr lang="nb-NO" dirty="0">
                <a:solidFill>
                  <a:srgbClr val="FFFFFF"/>
                </a:solidFill>
                <a:latin typeface="Helvetica"/>
                <a:cs typeface="Helvetica"/>
              </a:rPr>
              <a:t> "</a:t>
            </a:r>
            <a:r>
              <a:rPr lang="nb-NO" dirty="0" err="1">
                <a:solidFill>
                  <a:srgbClr val="FFFFFF"/>
                </a:solidFill>
                <a:latin typeface="Helvetica"/>
                <a:cs typeface="Helvetica"/>
              </a:rPr>
              <a:t>label</a:t>
            </a:r>
            <a:r>
              <a:rPr lang="nb-NO" dirty="0">
                <a:solidFill>
                  <a:srgbClr val="FFFFFF"/>
                </a:solidFill>
                <a:latin typeface="Helvetica"/>
                <a:cs typeface="Helvetica"/>
              </a:rPr>
              <a:t>" le </a:t>
            </a:r>
            <a:r>
              <a:rPr lang="nb-NO" dirty="0" err="1">
                <a:solidFill>
                  <a:srgbClr val="FFFFFF"/>
                </a:solidFill>
                <a:latin typeface="Helvetica"/>
                <a:cs typeface="Helvetica"/>
              </a:rPr>
              <a:t>podemos</a:t>
            </a:r>
            <a:r>
              <a:rPr lang="nb-NO" dirty="0">
                <a:solidFill>
                  <a:srgbClr val="FFFFFF"/>
                </a:solidFill>
                <a:latin typeface="Helvetica"/>
                <a:cs typeface="Helvetica"/>
              </a:rPr>
              <a:t> </a:t>
            </a:r>
            <a:r>
              <a:rPr lang="nb-NO" dirty="0" err="1">
                <a:solidFill>
                  <a:srgbClr val="FFFFFF"/>
                </a:solidFill>
                <a:latin typeface="Helvetica"/>
                <a:cs typeface="Helvetica"/>
              </a:rPr>
              <a:t>asignar</a:t>
            </a:r>
            <a:r>
              <a:rPr lang="nb-NO" dirty="0">
                <a:solidFill>
                  <a:srgbClr val="FFFFFF"/>
                </a:solidFill>
                <a:latin typeface="Helvetica"/>
                <a:cs typeface="Helvetica"/>
              </a:rPr>
              <a:t> </a:t>
            </a:r>
            <a:r>
              <a:rPr lang="nb-NO" dirty="0" err="1">
                <a:solidFill>
                  <a:srgbClr val="FFFFFF"/>
                </a:solidFill>
                <a:latin typeface="Helvetica"/>
                <a:cs typeface="Helvetica"/>
              </a:rPr>
              <a:t>directamente</a:t>
            </a:r>
            <a:r>
              <a:rPr lang="nb-NO" dirty="0">
                <a:solidFill>
                  <a:srgbClr val="FFFFFF"/>
                </a:solidFill>
                <a:latin typeface="Helvetica"/>
                <a:cs typeface="Helvetica"/>
              </a:rPr>
              <a:t> </a:t>
            </a:r>
            <a:r>
              <a:rPr lang="nb-NO" dirty="0" err="1">
                <a:solidFill>
                  <a:srgbClr val="FFFFFF"/>
                </a:solidFill>
                <a:latin typeface="Helvetica"/>
                <a:cs typeface="Helvetica"/>
              </a:rPr>
              <a:t>un</a:t>
            </a:r>
            <a:r>
              <a:rPr lang="nb-NO" dirty="0">
                <a:solidFill>
                  <a:srgbClr val="FFFFFF"/>
                </a:solidFill>
                <a:latin typeface="Helvetica"/>
                <a:cs typeface="Helvetica"/>
              </a:rPr>
              <a:t> </a:t>
            </a:r>
            <a:r>
              <a:rPr lang="nb-NO" dirty="0" err="1">
                <a:solidFill>
                  <a:srgbClr val="FFFFFF"/>
                </a:solidFill>
                <a:latin typeface="Helvetica"/>
                <a:cs typeface="Helvetica"/>
              </a:rPr>
              <a:t>literal</a:t>
            </a:r>
            <a:r>
              <a:rPr lang="nb-NO" dirty="0">
                <a:solidFill>
                  <a:srgbClr val="FFFFFF"/>
                </a:solidFill>
                <a:latin typeface="Helvetica"/>
                <a:cs typeface="Helvetica"/>
              </a:rPr>
              <a:t> de </a:t>
            </a:r>
            <a:r>
              <a:rPr lang="nb-NO" dirty="0" err="1" smtClean="0">
                <a:solidFill>
                  <a:srgbClr val="FFFFFF"/>
                </a:solidFill>
                <a:latin typeface="Helvetica"/>
                <a:cs typeface="Helvetica"/>
              </a:rPr>
              <a:t>cadena</a:t>
            </a:r>
            <a:r>
              <a:rPr lang="nb-NO" dirty="0" smtClean="0">
                <a:solidFill>
                  <a:srgbClr val="FFFFFF"/>
                </a:solidFill>
                <a:latin typeface="Helvetica"/>
                <a:cs typeface="Helvetica"/>
              </a:rPr>
              <a:t>.</a:t>
            </a: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Wingdings" charset="2"/>
              <a:buChar char="ü"/>
            </a:pPr>
            <a:r>
              <a:rPr lang="nb-NO" dirty="0">
                <a:solidFill>
                  <a:srgbClr val="FFFFFF"/>
                </a:solidFill>
                <a:latin typeface="Helvetica"/>
                <a:cs typeface="Helvetica"/>
              </a:rPr>
              <a:t>A la </a:t>
            </a:r>
            <a:r>
              <a:rPr lang="nb-NO" dirty="0" err="1">
                <a:solidFill>
                  <a:srgbClr val="FFFFFF"/>
                </a:solidFill>
                <a:latin typeface="Helvetica"/>
                <a:cs typeface="Helvetica"/>
              </a:rPr>
              <a:t>propiedad</a:t>
            </a:r>
            <a:r>
              <a:rPr lang="nb-NO" dirty="0">
                <a:solidFill>
                  <a:srgbClr val="FFFFFF"/>
                </a:solidFill>
                <a:latin typeface="Helvetica"/>
                <a:cs typeface="Helvetica"/>
              </a:rPr>
              <a:t> "</a:t>
            </a:r>
            <a:r>
              <a:rPr lang="nb-NO" dirty="0" err="1">
                <a:solidFill>
                  <a:srgbClr val="FFFFFF"/>
                </a:solidFill>
                <a:latin typeface="Helvetica"/>
                <a:cs typeface="Helvetica"/>
              </a:rPr>
              <a:t>value</a:t>
            </a:r>
            <a:r>
              <a:rPr lang="nb-NO" dirty="0">
                <a:solidFill>
                  <a:srgbClr val="FFFFFF"/>
                </a:solidFill>
                <a:latin typeface="Helvetica"/>
                <a:cs typeface="Helvetica"/>
              </a:rPr>
              <a:t>" </a:t>
            </a:r>
            <a:r>
              <a:rPr lang="nb-NO" dirty="0" smtClean="0">
                <a:solidFill>
                  <a:srgbClr val="FFFFFF"/>
                </a:solidFill>
                <a:latin typeface="Helvetica"/>
                <a:cs typeface="Helvetica"/>
              </a:rPr>
              <a:t>(</a:t>
            </a:r>
            <a:r>
              <a:rPr lang="nb-NO" dirty="0" err="1" smtClean="0">
                <a:solidFill>
                  <a:srgbClr val="FFFFFF"/>
                </a:solidFill>
                <a:latin typeface="Helvetica"/>
                <a:cs typeface="Helvetica"/>
              </a:rPr>
              <a:t>propia</a:t>
            </a:r>
            <a:r>
              <a:rPr lang="nb-NO" dirty="0" smtClean="0">
                <a:solidFill>
                  <a:srgbClr val="FFFFFF"/>
                </a:solidFill>
                <a:latin typeface="Helvetica"/>
                <a:cs typeface="Helvetica"/>
              </a:rPr>
              <a:t> del </a:t>
            </a:r>
            <a:r>
              <a:rPr lang="nb-NO" dirty="0" err="1" smtClean="0">
                <a:solidFill>
                  <a:srgbClr val="FFFFFF"/>
                </a:solidFill>
                <a:latin typeface="Helvetica"/>
                <a:cs typeface="Helvetica"/>
              </a:rPr>
              <a:t>componente</a:t>
            </a:r>
            <a:r>
              <a:rPr lang="nb-NO" dirty="0" smtClean="0">
                <a:solidFill>
                  <a:srgbClr val="FFFFFF"/>
                </a:solidFill>
                <a:latin typeface="Helvetica"/>
                <a:cs typeface="Helvetica"/>
              </a:rPr>
              <a:t> paper-input) le </a:t>
            </a:r>
            <a:r>
              <a:rPr lang="nb-NO" dirty="0" err="1">
                <a:solidFill>
                  <a:srgbClr val="FFFFFF"/>
                </a:solidFill>
                <a:latin typeface="Helvetica"/>
                <a:cs typeface="Helvetica"/>
              </a:rPr>
              <a:t>estamos</a:t>
            </a:r>
            <a:r>
              <a:rPr lang="nb-NO" dirty="0">
                <a:solidFill>
                  <a:srgbClr val="FFFFFF"/>
                </a:solidFill>
                <a:latin typeface="Helvetica"/>
                <a:cs typeface="Helvetica"/>
              </a:rPr>
              <a:t> </a:t>
            </a:r>
            <a:r>
              <a:rPr lang="nb-NO" dirty="0" err="1">
                <a:solidFill>
                  <a:srgbClr val="FFFFFF"/>
                </a:solidFill>
                <a:latin typeface="Helvetica"/>
                <a:cs typeface="Helvetica"/>
              </a:rPr>
              <a:t>asignando</a:t>
            </a:r>
            <a:r>
              <a:rPr lang="nb-NO" dirty="0">
                <a:solidFill>
                  <a:srgbClr val="FFFFFF"/>
                </a:solidFill>
                <a:latin typeface="Helvetica"/>
                <a:cs typeface="Helvetica"/>
              </a:rPr>
              <a:t> el </a:t>
            </a:r>
            <a:r>
              <a:rPr lang="nb-NO" dirty="0" err="1">
                <a:solidFill>
                  <a:srgbClr val="FFFFFF"/>
                </a:solidFill>
                <a:latin typeface="Helvetica"/>
                <a:cs typeface="Helvetica"/>
              </a:rPr>
              <a:t>valor</a:t>
            </a:r>
            <a:r>
              <a:rPr lang="nb-NO" dirty="0">
                <a:solidFill>
                  <a:srgbClr val="FFFFFF"/>
                </a:solidFill>
                <a:latin typeface="Helvetica"/>
                <a:cs typeface="Helvetica"/>
              </a:rPr>
              <a:t> de otra </a:t>
            </a:r>
            <a:r>
              <a:rPr lang="nb-NO" dirty="0" err="1">
                <a:solidFill>
                  <a:srgbClr val="FFFFFF"/>
                </a:solidFill>
                <a:latin typeface="Helvetica"/>
                <a:cs typeface="Helvetica"/>
              </a:rPr>
              <a:t>propiedad</a:t>
            </a:r>
            <a:r>
              <a:rPr lang="nb-NO" dirty="0">
                <a:solidFill>
                  <a:srgbClr val="FFFFFF"/>
                </a:solidFill>
                <a:latin typeface="Helvetica"/>
                <a:cs typeface="Helvetica"/>
              </a:rPr>
              <a:t> del </a:t>
            </a:r>
            <a:r>
              <a:rPr lang="nb-NO" dirty="0" err="1">
                <a:solidFill>
                  <a:srgbClr val="FFFFFF"/>
                </a:solidFill>
                <a:latin typeface="Helvetica"/>
                <a:cs typeface="Helvetica"/>
              </a:rPr>
              <a:t>componente</a:t>
            </a:r>
            <a:r>
              <a:rPr lang="nb-NO" dirty="0">
                <a:solidFill>
                  <a:srgbClr val="FFFFFF"/>
                </a:solidFill>
                <a:latin typeface="Helvetica"/>
                <a:cs typeface="Helvetica"/>
              </a:rPr>
              <a:t> </a:t>
            </a:r>
            <a:r>
              <a:rPr lang="nb-NO" dirty="0" err="1" smtClean="0">
                <a:solidFill>
                  <a:srgbClr val="FFFFFF"/>
                </a:solidFill>
                <a:latin typeface="Helvetica"/>
                <a:cs typeface="Helvetica"/>
              </a:rPr>
              <a:t>padre</a:t>
            </a:r>
            <a:r>
              <a:rPr lang="nb-NO" dirty="0" smtClean="0">
                <a:solidFill>
                  <a:srgbClr val="FFFFFF"/>
                </a:solidFill>
                <a:latin typeface="Helvetica"/>
                <a:cs typeface="Helvetica"/>
              </a:rPr>
              <a:t> (</a:t>
            </a:r>
            <a:r>
              <a:rPr lang="nb-NO" dirty="0">
                <a:solidFill>
                  <a:srgbClr val="FFFFFF"/>
                </a:solidFill>
                <a:latin typeface="Helvetica"/>
                <a:cs typeface="Helvetica"/>
              </a:rPr>
              <a:t>"</a:t>
            </a:r>
            <a:r>
              <a:rPr lang="nb-NO" dirty="0" err="1">
                <a:solidFill>
                  <a:srgbClr val="FFFFFF"/>
                </a:solidFill>
                <a:latin typeface="Helvetica"/>
                <a:cs typeface="Helvetica"/>
              </a:rPr>
              <a:t>valorEscrito</a:t>
            </a:r>
            <a:r>
              <a:rPr lang="nb-NO" dirty="0">
                <a:solidFill>
                  <a:srgbClr val="FFFFFF"/>
                </a:solidFill>
                <a:latin typeface="Helvetica"/>
                <a:cs typeface="Helvetica"/>
              </a:rPr>
              <a:t>")</a:t>
            </a:r>
            <a:r>
              <a:rPr lang="nb-NO" dirty="0" smtClean="0">
                <a:solidFill>
                  <a:srgbClr val="FFFFFF"/>
                </a:solidFill>
                <a:latin typeface="Helvetica"/>
                <a:cs typeface="Helvetica"/>
              </a:rPr>
              <a:t>.</a:t>
            </a:r>
          </a:p>
          <a:p>
            <a:pPr marL="285750" indent="-285750" algn="just">
              <a:lnSpc>
                <a:spcPct val="130000"/>
              </a:lnSpc>
              <a:buFont typeface="Wingdings" charset="2"/>
              <a:buChar char="ü"/>
            </a:pPr>
            <a:endParaRPr lang="nb-NO" dirty="0">
              <a:solidFill>
                <a:srgbClr val="FFFFFF"/>
              </a:solidFill>
              <a:latin typeface="Helvetica"/>
              <a:cs typeface="Helvetica"/>
            </a:endParaRPr>
          </a:p>
          <a:p>
            <a:pPr marL="285750" indent="-285750" algn="just">
              <a:lnSpc>
                <a:spcPct val="130000"/>
              </a:lnSpc>
              <a:buFont typeface="Wingdings" charset="2"/>
              <a:buChar char="ü"/>
            </a:pPr>
            <a:r>
              <a:rPr lang="nb-NO" dirty="0" smtClean="0">
                <a:solidFill>
                  <a:srgbClr val="FFFFFF"/>
                </a:solidFill>
                <a:latin typeface="Helvetica"/>
                <a:cs typeface="Helvetica"/>
              </a:rPr>
              <a:t>En general </a:t>
            </a:r>
            <a:r>
              <a:rPr lang="nb-NO" dirty="0" err="1" smtClean="0">
                <a:solidFill>
                  <a:srgbClr val="FFFFFF"/>
                </a:solidFill>
                <a:latin typeface="Helvetica"/>
                <a:cs typeface="Helvetica"/>
              </a:rPr>
              <a:t>todo</a:t>
            </a:r>
            <a:r>
              <a:rPr lang="nb-NO" dirty="0" smtClean="0">
                <a:solidFill>
                  <a:srgbClr val="FFFFFF"/>
                </a:solidFill>
                <a:latin typeface="Helvetica"/>
                <a:cs typeface="Helvetica"/>
              </a:rPr>
              <a:t> lo </a:t>
            </a:r>
            <a:r>
              <a:rPr lang="nb-NO" dirty="0" err="1">
                <a:solidFill>
                  <a:srgbClr val="FFFFFF"/>
                </a:solidFill>
                <a:latin typeface="Helvetica"/>
                <a:cs typeface="Helvetica"/>
              </a:rPr>
              <a:t>que</a:t>
            </a:r>
            <a:r>
              <a:rPr lang="nb-NO" dirty="0">
                <a:solidFill>
                  <a:srgbClr val="FFFFFF"/>
                </a:solidFill>
                <a:latin typeface="Helvetica"/>
                <a:cs typeface="Helvetica"/>
              </a:rPr>
              <a:t> son </a:t>
            </a:r>
            <a:r>
              <a:rPr lang="nb-NO" dirty="0" err="1">
                <a:solidFill>
                  <a:srgbClr val="FFFFFF"/>
                </a:solidFill>
                <a:latin typeface="Helvetica"/>
                <a:cs typeface="Helvetica"/>
              </a:rPr>
              <a:t>atributos</a:t>
            </a:r>
            <a:r>
              <a:rPr lang="nb-NO" dirty="0">
                <a:solidFill>
                  <a:srgbClr val="FFFFFF"/>
                </a:solidFill>
                <a:latin typeface="Helvetica"/>
                <a:cs typeface="Helvetica"/>
              </a:rPr>
              <a:t> de las </a:t>
            </a:r>
            <a:r>
              <a:rPr lang="nb-NO" dirty="0" err="1" smtClean="0">
                <a:solidFill>
                  <a:srgbClr val="FFFFFF"/>
                </a:solidFill>
                <a:latin typeface="Helvetica"/>
                <a:cs typeface="Helvetica"/>
              </a:rPr>
              <a:t>etiquetas</a:t>
            </a:r>
            <a:r>
              <a:rPr lang="nb-NO" dirty="0" smtClean="0">
                <a:solidFill>
                  <a:srgbClr val="FFFFFF"/>
                </a:solidFill>
                <a:latin typeface="Helvetica"/>
                <a:cs typeface="Helvetica"/>
              </a:rPr>
              <a:t> (</a:t>
            </a:r>
            <a:r>
              <a:rPr lang="nb-NO" dirty="0" err="1" smtClean="0">
                <a:solidFill>
                  <a:srgbClr val="FFFFFF"/>
                </a:solidFill>
                <a:latin typeface="Helvetica"/>
                <a:cs typeface="Helvetica"/>
              </a:rPr>
              <a:t>class,style,hidden</a:t>
            </a:r>
            <a:r>
              <a:rPr lang="mr-IN" dirty="0" smtClean="0">
                <a:solidFill>
                  <a:srgbClr val="FFFFFF"/>
                </a:solidFill>
                <a:latin typeface="Helvetica"/>
                <a:cs typeface="Helvetica"/>
              </a:rPr>
              <a:t>…</a:t>
            </a:r>
            <a:r>
              <a:rPr lang="es-ES_tradnl" dirty="0" err="1" smtClean="0">
                <a:solidFill>
                  <a:srgbClr val="FFFFFF"/>
                </a:solidFill>
                <a:latin typeface="Helvetica"/>
                <a:cs typeface="Helvetica"/>
              </a:rPr>
              <a:t>etc</a:t>
            </a:r>
            <a:r>
              <a:rPr lang="es-ES_tradnl" dirty="0" smtClean="0">
                <a:solidFill>
                  <a:srgbClr val="FFFFFF"/>
                </a:solidFill>
                <a:latin typeface="Helvetica"/>
                <a:cs typeface="Helvetica"/>
              </a:rPr>
              <a:t>)</a:t>
            </a:r>
            <a:r>
              <a:rPr lang="nb-NO" dirty="0" smtClean="0">
                <a:solidFill>
                  <a:srgbClr val="FFFFFF"/>
                </a:solidFill>
                <a:latin typeface="Helvetica"/>
                <a:cs typeface="Helvetica"/>
              </a:rPr>
              <a:t>, </a:t>
            </a:r>
            <a:r>
              <a:rPr lang="nb-NO" dirty="0" err="1">
                <a:solidFill>
                  <a:srgbClr val="FFFFFF"/>
                </a:solidFill>
                <a:latin typeface="Helvetica"/>
                <a:cs typeface="Helvetica"/>
              </a:rPr>
              <a:t>que</a:t>
            </a:r>
            <a:r>
              <a:rPr lang="nb-NO" dirty="0">
                <a:solidFill>
                  <a:srgbClr val="FFFFFF"/>
                </a:solidFill>
                <a:latin typeface="Helvetica"/>
                <a:cs typeface="Helvetica"/>
              </a:rPr>
              <a:t> </a:t>
            </a:r>
            <a:r>
              <a:rPr lang="nb-NO" dirty="0" err="1">
                <a:solidFill>
                  <a:srgbClr val="FFFFFF"/>
                </a:solidFill>
                <a:latin typeface="Helvetica"/>
                <a:cs typeface="Helvetica"/>
              </a:rPr>
              <a:t>vienen</a:t>
            </a:r>
            <a:r>
              <a:rPr lang="nb-NO" dirty="0">
                <a:solidFill>
                  <a:srgbClr val="FFFFFF"/>
                </a:solidFill>
                <a:latin typeface="Helvetica"/>
                <a:cs typeface="Helvetica"/>
              </a:rPr>
              <a:t> del </a:t>
            </a:r>
            <a:r>
              <a:rPr lang="nb-NO" dirty="0" err="1">
                <a:solidFill>
                  <a:srgbClr val="FFFFFF"/>
                </a:solidFill>
                <a:latin typeface="Helvetica"/>
                <a:cs typeface="Helvetica"/>
              </a:rPr>
              <a:t>lenguaje</a:t>
            </a:r>
            <a:r>
              <a:rPr lang="nb-NO" dirty="0">
                <a:solidFill>
                  <a:srgbClr val="FFFFFF"/>
                </a:solidFill>
                <a:latin typeface="Helvetica"/>
                <a:cs typeface="Helvetica"/>
              </a:rPr>
              <a:t> HTML, </a:t>
            </a:r>
            <a:r>
              <a:rPr lang="nb-NO" dirty="0" smtClean="0">
                <a:solidFill>
                  <a:srgbClr val="FFFFFF"/>
                </a:solidFill>
                <a:latin typeface="Helvetica"/>
                <a:cs typeface="Helvetica"/>
              </a:rPr>
              <a:t>lo </a:t>
            </a:r>
            <a:r>
              <a:rPr lang="nb-NO" dirty="0" err="1" smtClean="0">
                <a:solidFill>
                  <a:srgbClr val="FFFFFF"/>
                </a:solidFill>
                <a:latin typeface="Helvetica"/>
                <a:cs typeface="Helvetica"/>
              </a:rPr>
              <a:t>denominamos</a:t>
            </a:r>
            <a:r>
              <a:rPr lang="nb-NO" dirty="0" smtClean="0">
                <a:solidFill>
                  <a:srgbClr val="FFFFFF"/>
                </a:solidFill>
                <a:latin typeface="Helvetica"/>
                <a:cs typeface="Helvetica"/>
              </a:rPr>
              <a:t> </a:t>
            </a:r>
            <a:r>
              <a:rPr lang="nb-NO" dirty="0" err="1" smtClean="0">
                <a:solidFill>
                  <a:srgbClr val="FFFFFF"/>
                </a:solidFill>
                <a:latin typeface="Helvetica"/>
                <a:cs typeface="Helvetica"/>
              </a:rPr>
              <a:t>atributos</a:t>
            </a:r>
            <a:r>
              <a:rPr lang="nb-NO" dirty="0">
                <a:solidFill>
                  <a:srgbClr val="FFFFFF"/>
                </a:solidFill>
                <a:latin typeface="Helvetica"/>
                <a:cs typeface="Helvetica"/>
              </a:rPr>
              <a:t>.</a:t>
            </a: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Tree>
    <p:extLst>
      <p:ext uri="{BB962C8B-B14F-4D97-AF65-F5344CB8AC3E}">
        <p14:creationId xmlns:p14="http://schemas.microsoft.com/office/powerpoint/2010/main" val="284959780"/>
      </p:ext>
    </p:extLst>
  </p:cSld>
  <p:clrMapOvr>
    <a:masterClrMapping/>
  </p:clrMapOvr>
  <p:timing>
    <p:tnLst>
      <p:par>
        <p:cTn xmlns:p14="http://schemas.microsoft.com/office/powerpoint/2010/mai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5840062"/>
          </a:xfrm>
          <a:prstGeom prst="rect">
            <a:avLst/>
          </a:prstGeom>
        </p:spPr>
        <p:txBody>
          <a:bodyPr wrap="square">
            <a:spAutoFit/>
          </a:bodyPr>
          <a:lstStyle/>
          <a:p>
            <a:pPr algn="just">
              <a:lnSpc>
                <a:spcPct val="130000"/>
              </a:lnSpc>
            </a:pPr>
            <a:r>
              <a:rPr lang="es-ES_tradnl" dirty="0" smtClean="0">
                <a:solidFill>
                  <a:srgbClr val="FFFFFF"/>
                </a:solidFill>
                <a:latin typeface="Helvetica"/>
                <a:cs typeface="Helvetica"/>
              </a:rPr>
              <a:t>Existen </a:t>
            </a:r>
            <a:r>
              <a:rPr lang="es-ES_tradnl" dirty="0">
                <a:solidFill>
                  <a:srgbClr val="FFFFFF"/>
                </a:solidFill>
                <a:latin typeface="Helvetica"/>
                <a:cs typeface="Helvetica"/>
              </a:rPr>
              <a:t>multitud de variantes para realizar </a:t>
            </a:r>
            <a:r>
              <a:rPr lang="es-ES_tradnl" dirty="0" err="1">
                <a:solidFill>
                  <a:srgbClr val="FFFFFF"/>
                </a:solidFill>
                <a:latin typeface="Helvetica"/>
                <a:cs typeface="Helvetica"/>
              </a:rPr>
              <a:t>Databinding</a:t>
            </a:r>
            <a:r>
              <a:rPr lang="es-ES_tradnl" dirty="0">
                <a:solidFill>
                  <a:srgbClr val="FFFFFF"/>
                </a:solidFill>
                <a:latin typeface="Helvetica"/>
                <a:cs typeface="Helvetica"/>
              </a:rPr>
              <a:t>:</a:t>
            </a:r>
          </a:p>
          <a:p>
            <a:pPr algn="just">
              <a:lnSpc>
                <a:spcPct val="130000"/>
              </a:lnSpc>
            </a:pPr>
            <a:endParaRPr lang="es-ES_tradnl" dirty="0" smtClean="0">
              <a:solidFill>
                <a:srgbClr val="FFFFFF"/>
              </a:solidFill>
              <a:latin typeface="Helvetica"/>
              <a:cs typeface="Helvetica"/>
            </a:endParaRPr>
          </a:p>
          <a:p>
            <a:pPr marL="285750" indent="-285750" algn="just">
              <a:lnSpc>
                <a:spcPct val="130000"/>
              </a:lnSpc>
              <a:buFont typeface="Arial"/>
              <a:buChar char="•"/>
            </a:pPr>
            <a:r>
              <a:rPr lang="es-ES_tradnl" dirty="0">
                <a:solidFill>
                  <a:srgbClr val="FFFFFF"/>
                </a:solidFill>
                <a:latin typeface="Helvetica"/>
                <a:cs typeface="Helvetica"/>
              </a:rPr>
              <a:t>Binding del componente al </a:t>
            </a:r>
            <a:r>
              <a:rPr lang="es-ES_tradnl" dirty="0" err="1" smtClean="0">
                <a:solidFill>
                  <a:srgbClr val="FFFFFF"/>
                </a:solidFill>
                <a:latin typeface="Helvetica"/>
                <a:cs typeface="Helvetica"/>
              </a:rPr>
              <a:t>template</a:t>
            </a:r>
            <a:r>
              <a:rPr lang="es-ES_tradnl" dirty="0" smtClean="0">
                <a:solidFill>
                  <a:srgbClr val="FFFFFF"/>
                </a:solidFill>
                <a:latin typeface="Helvetica"/>
                <a:cs typeface="Helvetica"/>
              </a:rPr>
              <a:t>.</a:t>
            </a:r>
          </a:p>
          <a:p>
            <a:pPr marL="285750" indent="-285750" algn="just">
              <a:lnSpc>
                <a:spcPct val="130000"/>
              </a:lnSpc>
              <a:buFont typeface="Arial"/>
              <a:buChar char="•"/>
            </a:pPr>
            <a:r>
              <a:rPr lang="nb-NO" dirty="0" smtClean="0">
                <a:solidFill>
                  <a:srgbClr val="FFFFFF"/>
                </a:solidFill>
                <a:latin typeface="Helvetica"/>
                <a:cs typeface="Helvetica"/>
              </a:rPr>
              <a:t>Binding </a:t>
            </a:r>
            <a:r>
              <a:rPr lang="nb-NO" dirty="0" err="1" smtClean="0">
                <a:solidFill>
                  <a:srgbClr val="FFFFFF"/>
                </a:solidFill>
                <a:latin typeface="Helvetica"/>
                <a:cs typeface="Helvetica"/>
              </a:rPr>
              <a:t>computado</a:t>
            </a:r>
            <a:r>
              <a:rPr lang="nb-NO" dirty="0" smtClean="0">
                <a:solidFill>
                  <a:srgbClr val="FFFFFF"/>
                </a:solidFill>
                <a:latin typeface="Helvetica"/>
                <a:cs typeface="Helvetica"/>
              </a:rPr>
              <a:t>.</a:t>
            </a:r>
          </a:p>
          <a:p>
            <a:pPr marL="285750" indent="-285750" algn="just">
              <a:lnSpc>
                <a:spcPct val="130000"/>
              </a:lnSpc>
              <a:buFont typeface="Arial"/>
              <a:buChar char="•"/>
            </a:pPr>
            <a:r>
              <a:rPr lang="nb-NO" dirty="0">
                <a:solidFill>
                  <a:srgbClr val="FFFFFF"/>
                </a:solidFill>
                <a:latin typeface="Helvetica"/>
                <a:cs typeface="Helvetica"/>
              </a:rPr>
              <a:t>Binding entre </a:t>
            </a:r>
            <a:r>
              <a:rPr lang="nb-NO" dirty="0" err="1" smtClean="0">
                <a:solidFill>
                  <a:srgbClr val="FFFFFF"/>
                </a:solidFill>
                <a:latin typeface="Helvetica"/>
                <a:cs typeface="Helvetica"/>
              </a:rPr>
              <a:t>componentes</a:t>
            </a:r>
            <a:r>
              <a:rPr lang="nb-NO" dirty="0" smtClean="0">
                <a:solidFill>
                  <a:srgbClr val="FFFFFF"/>
                </a:solidFill>
                <a:latin typeface="Helvetica"/>
                <a:cs typeface="Helvetica"/>
              </a:rPr>
              <a:t>.</a:t>
            </a:r>
          </a:p>
          <a:p>
            <a:pPr marL="285750" indent="-285750" algn="just">
              <a:lnSpc>
                <a:spcPct val="130000"/>
              </a:lnSpc>
              <a:buFont typeface="Arial"/>
              <a:buChar char="•"/>
            </a:pPr>
            <a:r>
              <a:rPr lang="es-ES" dirty="0">
                <a:solidFill>
                  <a:srgbClr val="FFFFFF"/>
                </a:solidFill>
                <a:latin typeface="Helvetica"/>
                <a:cs typeface="Helvetica"/>
              </a:rPr>
              <a:t>B</a:t>
            </a:r>
            <a:r>
              <a:rPr lang="es-ES" dirty="0">
                <a:solidFill>
                  <a:srgbClr val="FFFFFF"/>
                </a:solidFill>
                <a:latin typeface="Helvetica"/>
                <a:cs typeface="Helvetica"/>
              </a:rPr>
              <a:t>inding </a:t>
            </a:r>
            <a:r>
              <a:rPr lang="es-ES" dirty="0">
                <a:solidFill>
                  <a:srgbClr val="FFFFFF"/>
                </a:solidFill>
                <a:latin typeface="Helvetica"/>
                <a:cs typeface="Helvetica"/>
              </a:rPr>
              <a:t>a </a:t>
            </a:r>
            <a:r>
              <a:rPr lang="es-ES" dirty="0">
                <a:solidFill>
                  <a:srgbClr val="FFFFFF"/>
                </a:solidFill>
                <a:latin typeface="Helvetica"/>
                <a:cs typeface="Helvetica"/>
              </a:rPr>
              <a:t>propiedades</a:t>
            </a:r>
          </a:p>
          <a:p>
            <a:pPr marL="285750" indent="-285750" algn="just">
              <a:lnSpc>
                <a:spcPct val="130000"/>
              </a:lnSpc>
              <a:buFont typeface="Arial"/>
              <a:buChar char="•"/>
            </a:pPr>
            <a:r>
              <a:rPr lang="es-ES" dirty="0">
                <a:solidFill>
                  <a:srgbClr val="FFFFFF"/>
                </a:solidFill>
                <a:latin typeface="Helvetica"/>
                <a:cs typeface="Helvetica"/>
              </a:rPr>
              <a:t>Binding a </a:t>
            </a:r>
            <a:r>
              <a:rPr lang="es-ES" dirty="0" smtClean="0">
                <a:solidFill>
                  <a:srgbClr val="FFFFFF"/>
                </a:solidFill>
                <a:latin typeface="Helvetica"/>
                <a:cs typeface="Helvetica"/>
              </a:rPr>
              <a:t>atributos</a:t>
            </a:r>
          </a:p>
          <a:p>
            <a:pPr marL="285750" indent="-285750" algn="just">
              <a:lnSpc>
                <a:spcPct val="130000"/>
              </a:lnSpc>
              <a:buFont typeface="Arial"/>
              <a:buChar char="•"/>
            </a:pPr>
            <a:r>
              <a:rPr lang="es-ES" dirty="0">
                <a:solidFill>
                  <a:srgbClr val="FFFFFF"/>
                </a:solidFill>
                <a:latin typeface="Helvetica"/>
                <a:cs typeface="Helvetica"/>
              </a:rPr>
              <a:t>Binding bidireccional con </a:t>
            </a:r>
            <a:r>
              <a:rPr lang="es-ES" dirty="0" err="1" smtClean="0">
                <a:solidFill>
                  <a:srgbClr val="FFFFFF"/>
                </a:solidFill>
                <a:latin typeface="Helvetica"/>
                <a:cs typeface="Helvetica"/>
              </a:rPr>
              <a:t>notify</a:t>
            </a:r>
            <a:endParaRPr lang="es-ES" dirty="0" smtClean="0">
              <a:solidFill>
                <a:srgbClr val="FFFFFF"/>
              </a:solidFill>
              <a:latin typeface="Helvetica"/>
              <a:cs typeface="Helvetica"/>
            </a:endParaRPr>
          </a:p>
          <a:p>
            <a:pPr marL="285750" indent="-285750" algn="just">
              <a:lnSpc>
                <a:spcPct val="130000"/>
              </a:lnSpc>
              <a:buFont typeface="Arial"/>
              <a:buChar char="•"/>
            </a:pPr>
            <a:r>
              <a:rPr lang="mr-IN" dirty="0" smtClean="0">
                <a:solidFill>
                  <a:srgbClr val="FFFFFF"/>
                </a:solidFill>
                <a:latin typeface="Helvetica"/>
                <a:cs typeface="Helvetica"/>
              </a:rPr>
              <a:t>…</a:t>
            </a:r>
            <a:r>
              <a:rPr lang="es-ES_tradnl" dirty="0" err="1" smtClean="0">
                <a:solidFill>
                  <a:srgbClr val="FFFFFF"/>
                </a:solidFill>
                <a:latin typeface="Helvetica"/>
                <a:cs typeface="Helvetica"/>
              </a:rPr>
              <a:t>etc</a:t>
            </a:r>
            <a:endParaRPr lang="es-ES"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r>
              <a:rPr lang="es-ES_tradnl" dirty="0">
                <a:solidFill>
                  <a:srgbClr val="FFFFFF"/>
                </a:solidFill>
                <a:latin typeface="Helvetica"/>
                <a:cs typeface="Helvetica"/>
              </a:rPr>
              <a:t>Referencia Completa:</a:t>
            </a:r>
          </a:p>
          <a:p>
            <a:pPr algn="just">
              <a:lnSpc>
                <a:spcPct val="130000"/>
              </a:lnSpc>
            </a:pPr>
            <a:r>
              <a:rPr lang="es-ES_tradnl" dirty="0">
                <a:solidFill>
                  <a:srgbClr val="FFFFFF"/>
                </a:solidFill>
                <a:latin typeface="Helvetica"/>
                <a:cs typeface="Helvetica"/>
                <a:hlinkClick r:id="rId5"/>
              </a:rPr>
              <a:t>https://polymer-library.polymer-project.org/3.0/docs/devguide/data-binding</a:t>
            </a:r>
            <a:endParaRPr lang="es-ES_tradnl"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79</a:t>
            </a:fld>
            <a:endParaRPr lang="en-US"/>
          </a:p>
        </p:txBody>
      </p:sp>
    </p:spTree>
    <p:extLst>
      <p:ext uri="{BB962C8B-B14F-4D97-AF65-F5344CB8AC3E}">
        <p14:creationId xmlns:p14="http://schemas.microsoft.com/office/powerpoint/2010/main" val="2739219739"/>
      </p:ext>
    </p:extLst>
  </p:cSld>
  <p:clrMapOvr>
    <a:masterClrMapping/>
  </p:clrMapOvr>
  <p:timing>
    <p:tnLst>
      <p:par>
        <p:cTn xmlns:p14="http://schemas.microsoft.com/office/powerpoint/2010/mai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r>
              <a:rPr lang="es-ES_tradnl" sz="2200" u="sng" dirty="0">
                <a:latin typeface="Arial Black"/>
                <a:cs typeface="Arial Black"/>
              </a:rPr>
              <a:t> &gt; </a:t>
            </a:r>
            <a:r>
              <a:rPr lang="es-ES_tradnl" sz="2200" u="sng" dirty="0">
                <a:latin typeface="Arial Black"/>
                <a:cs typeface="Arial Black"/>
                <a:hlinkClick r:id="rId4"/>
              </a:rPr>
              <a:t>Binding del componente al </a:t>
            </a:r>
            <a:r>
              <a:rPr lang="es-ES_tradnl" sz="2200" u="sng" dirty="0" err="1">
                <a:latin typeface="Arial Black"/>
                <a:cs typeface="Arial Black"/>
                <a:hlinkClick r:id="rId4"/>
              </a:rPr>
              <a:t>template</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5"/>
          <a:stretch>
            <a:fillRect/>
          </a:stretch>
        </p:blipFill>
        <p:spPr>
          <a:xfrm>
            <a:off x="1742516" y="6339496"/>
            <a:ext cx="578961" cy="402755"/>
          </a:xfrm>
          <a:prstGeom prst="rect">
            <a:avLst/>
          </a:prstGeom>
        </p:spPr>
      </p:pic>
      <p:sp>
        <p:nvSpPr>
          <p:cNvPr id="14" name="Rectángulo 13"/>
          <p:cNvSpPr/>
          <p:nvPr/>
        </p:nvSpPr>
        <p:spPr>
          <a:xfrm>
            <a:off x="492433" y="1614742"/>
            <a:ext cx="8202871" cy="2239074"/>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80</a:t>
            </a:fld>
            <a:endParaRPr lang="en-US"/>
          </a:p>
        </p:txBody>
      </p:sp>
      <p:sp>
        <p:nvSpPr>
          <p:cNvPr id="15" name="Rectángulo 14"/>
          <p:cNvSpPr/>
          <p:nvPr/>
        </p:nvSpPr>
        <p:spPr>
          <a:xfrm>
            <a:off x="1069296" y="1649678"/>
            <a:ext cx="7005407" cy="4401204"/>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err="1"/>
              <a:t>class</a:t>
            </a:r>
            <a:r>
              <a:rPr lang="es-ES" sz="1400" dirty="0"/>
              <a:t> </a:t>
            </a:r>
            <a:r>
              <a:rPr lang="es-ES" sz="1400" dirty="0" err="1"/>
              <a:t>XCustom</a:t>
            </a:r>
            <a:r>
              <a:rPr lang="es-ES" sz="1400" dirty="0"/>
              <a:t> </a:t>
            </a:r>
            <a:r>
              <a:rPr lang="es-ES" sz="1400" dirty="0" err="1"/>
              <a:t>extends</a:t>
            </a:r>
            <a:r>
              <a:rPr lang="es-ES" sz="1400" dirty="0"/>
              <a:t> </a:t>
            </a:r>
            <a:r>
              <a:rPr lang="es-ES" sz="1400" dirty="0" err="1"/>
              <a:t>PolymerElement</a:t>
            </a:r>
            <a:r>
              <a:rPr lang="es-ES" sz="1400" dirty="0"/>
              <a:t> {</a:t>
            </a:r>
          </a:p>
          <a:p>
            <a:r>
              <a:rPr lang="es-ES" sz="1400" dirty="0"/>
              <a:t> </a:t>
            </a:r>
          </a:p>
          <a:p>
            <a:r>
              <a:rPr lang="es-ES" sz="1400" dirty="0"/>
              <a:t>  </a:t>
            </a:r>
            <a:r>
              <a:rPr lang="es-ES" sz="1400" dirty="0" err="1"/>
              <a:t>static</a:t>
            </a:r>
            <a:r>
              <a:rPr lang="es-ES" sz="1400" dirty="0"/>
              <a:t> </a:t>
            </a:r>
            <a:r>
              <a:rPr lang="es-ES" sz="1400" dirty="0" err="1"/>
              <a:t>get</a:t>
            </a:r>
            <a:r>
              <a:rPr lang="es-ES" sz="1400" dirty="0"/>
              <a:t> </a:t>
            </a:r>
            <a:r>
              <a:rPr lang="es-ES" sz="1400" dirty="0" err="1"/>
              <a:t>properties</a:t>
            </a:r>
            <a:r>
              <a:rPr lang="es-ES" sz="1400" dirty="0"/>
              <a:t>() {</a:t>
            </a:r>
          </a:p>
          <a:p>
            <a:r>
              <a:rPr lang="es-ES" sz="1400" dirty="0"/>
              <a:t>    </a:t>
            </a:r>
            <a:r>
              <a:rPr lang="es-ES" sz="1400" dirty="0" err="1"/>
              <a:t>return</a:t>
            </a:r>
            <a:r>
              <a:rPr lang="es-ES" sz="1400" dirty="0"/>
              <a:t> {</a:t>
            </a:r>
          </a:p>
          <a:p>
            <a:r>
              <a:rPr lang="es-ES" sz="1400" dirty="0"/>
              <a:t>      </a:t>
            </a:r>
            <a:r>
              <a:rPr lang="es-ES" sz="1400" dirty="0" err="1"/>
              <a:t>given</a:t>
            </a:r>
            <a:r>
              <a:rPr lang="es-ES" sz="1400" dirty="0"/>
              <a:t>: </a:t>
            </a:r>
            <a:r>
              <a:rPr lang="es-ES" sz="1400" dirty="0" err="1"/>
              <a:t>String</a:t>
            </a:r>
            <a:r>
              <a:rPr lang="es-ES" sz="1400" dirty="0"/>
              <a:t>,</a:t>
            </a:r>
          </a:p>
          <a:p>
            <a:r>
              <a:rPr lang="es-ES" sz="1400" dirty="0"/>
              <a:t>      </a:t>
            </a:r>
            <a:r>
              <a:rPr lang="es-ES" sz="1400" dirty="0" err="1"/>
              <a:t>family</a:t>
            </a:r>
            <a:r>
              <a:rPr lang="es-ES" sz="1400" dirty="0"/>
              <a:t>: </a:t>
            </a:r>
            <a:r>
              <a:rPr lang="es-ES" sz="1400" dirty="0" err="1"/>
              <a:t>String</a:t>
            </a:r>
            <a:endParaRPr lang="es-ES" sz="1400" dirty="0"/>
          </a:p>
          <a:p>
            <a:r>
              <a:rPr lang="es-ES" sz="1400" dirty="0"/>
              <a:t>    };</a:t>
            </a:r>
          </a:p>
          <a:p>
            <a:r>
              <a:rPr lang="es-ES" sz="1400" dirty="0"/>
              <a:t>  </a:t>
            </a:r>
            <a:r>
              <a:rPr lang="es-ES" sz="1400" dirty="0" smtClean="0"/>
              <a:t>}</a:t>
            </a:r>
            <a:endParaRPr lang="es-ES" sz="1400" dirty="0"/>
          </a:p>
          <a:p>
            <a:r>
              <a:rPr lang="es-ES" sz="1400" dirty="0"/>
              <a:t>  _</a:t>
            </a:r>
            <a:r>
              <a:rPr lang="es-ES" sz="1400" dirty="0" err="1"/>
              <a:t>formatName</a:t>
            </a:r>
            <a:r>
              <a:rPr lang="es-ES" sz="1400" dirty="0"/>
              <a:t>(</a:t>
            </a:r>
            <a:r>
              <a:rPr lang="es-ES" sz="1400" dirty="0" err="1"/>
              <a:t>given</a:t>
            </a:r>
            <a:r>
              <a:rPr lang="es-ES" sz="1400" dirty="0"/>
              <a:t>, </a:t>
            </a:r>
            <a:r>
              <a:rPr lang="es-ES" sz="1400" dirty="0" err="1"/>
              <a:t>family</a:t>
            </a:r>
            <a:r>
              <a:rPr lang="es-ES" sz="1400" dirty="0"/>
              <a:t>) {</a:t>
            </a:r>
          </a:p>
          <a:p>
            <a:r>
              <a:rPr lang="es-ES" sz="1400" dirty="0"/>
              <a:t>    </a:t>
            </a:r>
            <a:r>
              <a:rPr lang="es-ES" sz="1400" dirty="0" err="1"/>
              <a:t>return</a:t>
            </a:r>
            <a:r>
              <a:rPr lang="es-ES" sz="1400" dirty="0"/>
              <a:t> `${</a:t>
            </a:r>
            <a:r>
              <a:rPr lang="es-ES" sz="1400" dirty="0" err="1"/>
              <a:t>family</a:t>
            </a:r>
            <a:r>
              <a:rPr lang="es-ES" sz="1400" dirty="0"/>
              <a:t>}, ${</a:t>
            </a:r>
            <a:r>
              <a:rPr lang="es-ES" sz="1400" dirty="0" err="1"/>
              <a:t>given</a:t>
            </a:r>
            <a:r>
              <a:rPr lang="es-ES" sz="1400" dirty="0"/>
              <a:t>}`;</a:t>
            </a:r>
          </a:p>
          <a:p>
            <a:r>
              <a:rPr lang="es-ES" sz="1400" dirty="0"/>
              <a:t>  </a:t>
            </a:r>
            <a:r>
              <a:rPr lang="es-ES" sz="1400" dirty="0" smtClean="0"/>
              <a:t>}</a:t>
            </a:r>
            <a:endParaRPr lang="es-ES" sz="1400" dirty="0"/>
          </a:p>
          <a:p>
            <a:r>
              <a:rPr lang="es-ES" sz="1400" dirty="0"/>
              <a:t>  </a:t>
            </a:r>
            <a:r>
              <a:rPr lang="es-ES" sz="1400" dirty="0" err="1"/>
              <a:t>static</a:t>
            </a:r>
            <a:r>
              <a:rPr lang="es-ES" sz="1400" dirty="0"/>
              <a:t> </a:t>
            </a:r>
            <a:r>
              <a:rPr lang="es-ES" sz="1400" dirty="0" err="1"/>
              <a:t>get</a:t>
            </a:r>
            <a:r>
              <a:rPr lang="es-ES" sz="1400" dirty="0"/>
              <a:t> </a:t>
            </a:r>
            <a:r>
              <a:rPr lang="es-ES" sz="1400" dirty="0" err="1"/>
              <a:t>template</a:t>
            </a:r>
            <a:r>
              <a:rPr lang="es-ES" sz="1400" dirty="0"/>
              <a:t>() {</a:t>
            </a:r>
          </a:p>
          <a:p>
            <a:r>
              <a:rPr lang="es-ES" sz="1400" dirty="0"/>
              <a:t>    </a:t>
            </a:r>
            <a:r>
              <a:rPr lang="es-ES" sz="1400" dirty="0" err="1"/>
              <a:t>return</a:t>
            </a:r>
            <a:r>
              <a:rPr lang="es-ES" sz="1400" dirty="0"/>
              <a:t> </a:t>
            </a:r>
            <a:r>
              <a:rPr lang="es-ES" sz="1400" dirty="0" err="1"/>
              <a:t>html</a:t>
            </a:r>
            <a:r>
              <a:rPr lang="es-ES" sz="1400" dirty="0"/>
              <a:t>`</a:t>
            </a:r>
          </a:p>
          <a:p>
            <a:r>
              <a:rPr lang="es-ES" sz="1400" dirty="0"/>
              <a:t>     </a:t>
            </a:r>
            <a:r>
              <a:rPr lang="es-ES" sz="1400" dirty="0" err="1"/>
              <a:t>Family</a:t>
            </a:r>
            <a:r>
              <a:rPr lang="es-ES" sz="1400" dirty="0"/>
              <a:t> </a:t>
            </a:r>
            <a:r>
              <a:rPr lang="es-ES" sz="1400" dirty="0" err="1"/>
              <a:t>name</a:t>
            </a:r>
            <a:r>
              <a:rPr lang="es-ES" sz="1400" dirty="0"/>
              <a:t> [[ </a:t>
            </a:r>
            <a:r>
              <a:rPr lang="es-ES" sz="1400" dirty="0" err="1"/>
              <a:t>family</a:t>
            </a:r>
            <a:r>
              <a:rPr lang="es-ES" sz="1400" dirty="0"/>
              <a:t>]]</a:t>
            </a:r>
          </a:p>
          <a:p>
            <a:r>
              <a:rPr lang="es-ES" sz="1400" dirty="0"/>
              <a:t>     &lt;</a:t>
            </a:r>
            <a:r>
              <a:rPr lang="es-ES" sz="1400" dirty="0" err="1"/>
              <a:t>br</a:t>
            </a:r>
            <a:r>
              <a:rPr lang="es-ES" sz="1400" dirty="0"/>
              <a:t>&gt;</a:t>
            </a:r>
          </a:p>
          <a:p>
            <a:r>
              <a:rPr lang="es-ES" sz="1400" dirty="0"/>
              <a:t>     </a:t>
            </a:r>
            <a:r>
              <a:rPr lang="es-ES" sz="1400" dirty="0" err="1"/>
              <a:t>My</a:t>
            </a:r>
            <a:r>
              <a:rPr lang="es-ES" sz="1400" dirty="0"/>
              <a:t> </a:t>
            </a:r>
            <a:r>
              <a:rPr lang="es-ES" sz="1400" dirty="0" err="1"/>
              <a:t>name</a:t>
            </a:r>
            <a:r>
              <a:rPr lang="es-ES" sz="1400" dirty="0"/>
              <a:t> </a:t>
            </a:r>
            <a:r>
              <a:rPr lang="es-ES" sz="1400" dirty="0" err="1"/>
              <a:t>is</a:t>
            </a:r>
            <a:r>
              <a:rPr lang="es-ES" sz="1400" dirty="0"/>
              <a:t> &lt;</a:t>
            </a:r>
            <a:r>
              <a:rPr lang="es-ES" sz="1400" dirty="0" err="1"/>
              <a:t>span</a:t>
            </a:r>
            <a:r>
              <a:rPr lang="es-ES" sz="1400" dirty="0"/>
              <a:t>&gt;[[_</a:t>
            </a:r>
            <a:r>
              <a:rPr lang="es-ES" sz="1400" dirty="0" err="1"/>
              <a:t>formatName</a:t>
            </a:r>
            <a:r>
              <a:rPr lang="es-ES" sz="1400" dirty="0"/>
              <a:t>(</a:t>
            </a:r>
            <a:r>
              <a:rPr lang="es-ES" sz="1400" dirty="0" err="1"/>
              <a:t>given</a:t>
            </a:r>
            <a:r>
              <a:rPr lang="es-ES" sz="1400" dirty="0"/>
              <a:t>, </a:t>
            </a:r>
            <a:r>
              <a:rPr lang="es-ES" sz="1400" dirty="0" err="1"/>
              <a:t>family</a:t>
            </a:r>
            <a:r>
              <a:rPr lang="es-ES" sz="1400" dirty="0"/>
              <a:t>)]]&lt;/</a:t>
            </a:r>
            <a:r>
              <a:rPr lang="es-ES" sz="1400" dirty="0" err="1"/>
              <a:t>span</a:t>
            </a:r>
            <a:r>
              <a:rPr lang="es-ES" sz="1400" dirty="0"/>
              <a:t>&gt;</a:t>
            </a:r>
          </a:p>
          <a:p>
            <a:r>
              <a:rPr lang="es-ES" sz="1400" dirty="0"/>
              <a:t>    `;</a:t>
            </a:r>
          </a:p>
          <a:p>
            <a:r>
              <a:rPr lang="es-ES" sz="1400" dirty="0"/>
              <a:t>  } </a:t>
            </a:r>
          </a:p>
          <a:p>
            <a:r>
              <a:rPr lang="es-ES" sz="1400" dirty="0"/>
              <a:t>  </a:t>
            </a:r>
            <a:r>
              <a:rPr lang="es-ES" sz="1400" dirty="0" smtClean="0"/>
              <a:t>}</a:t>
            </a:r>
            <a:endParaRPr lang="es-ES" sz="1400" dirty="0"/>
          </a:p>
          <a:p>
            <a:r>
              <a:rPr lang="es-ES" sz="1400" dirty="0"/>
              <a:t>  </a:t>
            </a:r>
            <a:r>
              <a:rPr lang="es-ES" sz="1400" dirty="0" err="1"/>
              <a:t>customElements.define</a:t>
            </a:r>
            <a:r>
              <a:rPr lang="es-ES" sz="1400" dirty="0"/>
              <a:t>('x-</a:t>
            </a:r>
            <a:r>
              <a:rPr lang="es-ES" sz="1400" dirty="0" err="1"/>
              <a:t>custom</a:t>
            </a:r>
            <a:r>
              <a:rPr lang="es-ES" sz="1400" dirty="0"/>
              <a:t>', </a:t>
            </a:r>
            <a:r>
              <a:rPr lang="es-ES" sz="1400" dirty="0" err="1"/>
              <a:t>XCustom</a:t>
            </a:r>
            <a:r>
              <a:rPr lang="es-ES" sz="1400" dirty="0"/>
              <a:t>);</a:t>
            </a:r>
            <a:endParaRPr lang="es-ES" sz="1400" dirty="0"/>
          </a:p>
        </p:txBody>
      </p:sp>
    </p:spTree>
    <p:extLst>
      <p:ext uri="{BB962C8B-B14F-4D97-AF65-F5344CB8AC3E}">
        <p14:creationId xmlns:p14="http://schemas.microsoft.com/office/powerpoint/2010/main" val="2237905323"/>
      </p:ext>
    </p:extLst>
  </p:cSld>
  <p:clrMapOvr>
    <a:masterClrMapping/>
  </p:clrMapOvr>
  <p:timing>
    <p:tnLst>
      <p:par>
        <p:cTn xmlns:p14="http://schemas.microsoft.com/office/powerpoint/2010/mai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r>
              <a:rPr lang="es-ES_tradnl" sz="2200" u="sng" dirty="0">
                <a:latin typeface="Arial Black"/>
                <a:cs typeface="Arial Black"/>
              </a:rPr>
              <a:t> &gt; </a:t>
            </a:r>
            <a:r>
              <a:rPr lang="es-ES_tradnl" sz="2200" u="sng" dirty="0">
                <a:latin typeface="Arial Black"/>
                <a:cs typeface="Arial Black"/>
                <a:hlinkClick r:id="rId4"/>
              </a:rPr>
              <a:t>Binding entre componentes</a:t>
            </a:r>
            <a:endParaRPr lang="es-ES_tradnl" sz="2200" u="sng" dirty="0">
              <a:latin typeface="Arial Black"/>
              <a:cs typeface="Arial Black"/>
            </a:endParaRPr>
          </a:p>
        </p:txBody>
      </p:sp>
      <p:pic>
        <p:nvPicPr>
          <p:cNvPr id="13" name="Imagen 12"/>
          <p:cNvPicPr>
            <a:picLocks noChangeAspect="1"/>
          </p:cNvPicPr>
          <p:nvPr/>
        </p:nvPicPr>
        <p:blipFill>
          <a:blip r:embed="rId5"/>
          <a:stretch>
            <a:fillRect/>
          </a:stretch>
        </p:blipFill>
        <p:spPr>
          <a:xfrm>
            <a:off x="1742516" y="6339496"/>
            <a:ext cx="578961" cy="402755"/>
          </a:xfrm>
          <a:prstGeom prst="rect">
            <a:avLst/>
          </a:prstGeom>
        </p:spPr>
      </p:pic>
      <p:sp>
        <p:nvSpPr>
          <p:cNvPr id="14" name="Rectángulo 13"/>
          <p:cNvSpPr/>
          <p:nvPr/>
        </p:nvSpPr>
        <p:spPr>
          <a:xfrm>
            <a:off x="492433" y="1614742"/>
            <a:ext cx="8202871" cy="2239074"/>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81</a:t>
            </a:fld>
            <a:endParaRPr lang="en-US"/>
          </a:p>
        </p:txBody>
      </p:sp>
      <p:sp>
        <p:nvSpPr>
          <p:cNvPr id="15" name="Rectángulo 14"/>
          <p:cNvSpPr/>
          <p:nvPr/>
        </p:nvSpPr>
        <p:spPr>
          <a:xfrm>
            <a:off x="1069296" y="1649678"/>
            <a:ext cx="7005407" cy="4616648"/>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err="1" smtClean="0"/>
              <a:t>class</a:t>
            </a:r>
            <a:r>
              <a:rPr lang="es-ES" sz="1400" dirty="0" smtClean="0"/>
              <a:t> </a:t>
            </a:r>
            <a:r>
              <a:rPr lang="es-ES" sz="1400" dirty="0" err="1"/>
              <a:t>XCustom</a:t>
            </a:r>
            <a:r>
              <a:rPr lang="es-ES" sz="1400" dirty="0"/>
              <a:t> </a:t>
            </a:r>
            <a:r>
              <a:rPr lang="es-ES" sz="1400" dirty="0" err="1"/>
              <a:t>extends</a:t>
            </a:r>
            <a:r>
              <a:rPr lang="es-ES" sz="1400" dirty="0"/>
              <a:t> </a:t>
            </a:r>
            <a:r>
              <a:rPr lang="es-ES" sz="1400" dirty="0" err="1"/>
              <a:t>PolymerElement</a:t>
            </a:r>
            <a:r>
              <a:rPr lang="es-ES" sz="1400" dirty="0"/>
              <a:t> {</a:t>
            </a:r>
          </a:p>
          <a:p>
            <a:endParaRPr lang="es-ES" sz="1400" dirty="0"/>
          </a:p>
          <a:p>
            <a:r>
              <a:rPr lang="es-ES" sz="1400" dirty="0"/>
              <a:t>  </a:t>
            </a:r>
            <a:r>
              <a:rPr lang="es-ES" sz="1400" dirty="0" err="1"/>
              <a:t>static</a:t>
            </a:r>
            <a:r>
              <a:rPr lang="es-ES" sz="1400" dirty="0"/>
              <a:t> </a:t>
            </a:r>
            <a:r>
              <a:rPr lang="es-ES" sz="1400" dirty="0" err="1"/>
              <a:t>get</a:t>
            </a:r>
            <a:r>
              <a:rPr lang="es-ES" sz="1400" dirty="0"/>
              <a:t> </a:t>
            </a:r>
            <a:r>
              <a:rPr lang="es-ES" sz="1400" dirty="0" err="1"/>
              <a:t>properties</a:t>
            </a:r>
            <a:r>
              <a:rPr lang="es-ES" sz="1400" dirty="0"/>
              <a:t>() {</a:t>
            </a:r>
          </a:p>
          <a:p>
            <a:r>
              <a:rPr lang="es-ES" sz="1400" dirty="0"/>
              <a:t>    </a:t>
            </a:r>
            <a:r>
              <a:rPr lang="es-ES" sz="1400" dirty="0" err="1"/>
              <a:t>return</a:t>
            </a:r>
            <a:r>
              <a:rPr lang="es-ES" sz="1400" dirty="0"/>
              <a:t> {</a:t>
            </a:r>
          </a:p>
          <a:p>
            <a:r>
              <a:rPr lang="es-ES" sz="1400" dirty="0"/>
              <a:t>       titular: {</a:t>
            </a:r>
          </a:p>
          <a:p>
            <a:r>
              <a:rPr lang="es-ES" sz="1400" dirty="0"/>
              <a:t>      </a:t>
            </a:r>
            <a:r>
              <a:rPr lang="es-ES" sz="1400" dirty="0" err="1"/>
              <a:t>type</a:t>
            </a:r>
            <a:r>
              <a:rPr lang="es-ES" sz="1400" dirty="0"/>
              <a:t>: </a:t>
            </a:r>
            <a:r>
              <a:rPr lang="es-ES" sz="1400" dirty="0" err="1"/>
              <a:t>String</a:t>
            </a:r>
            <a:r>
              <a:rPr lang="es-ES" sz="1400" dirty="0"/>
              <a:t>,</a:t>
            </a:r>
          </a:p>
          <a:p>
            <a:r>
              <a:rPr lang="es-ES" sz="1400" dirty="0"/>
              <a:t>      </a:t>
            </a:r>
            <a:r>
              <a:rPr lang="es-ES" sz="1400" dirty="0" err="1"/>
              <a:t>value</a:t>
            </a:r>
            <a:r>
              <a:rPr lang="es-ES" sz="1400" dirty="0"/>
              <a:t>: 'Esto es un titular',</a:t>
            </a:r>
          </a:p>
          <a:p>
            <a:r>
              <a:rPr lang="es-ES" sz="1400" dirty="0"/>
              <a:t>      // </a:t>
            </a:r>
            <a:r>
              <a:rPr lang="es-ES" sz="1400" dirty="0" err="1"/>
              <a:t>readOnly</a:t>
            </a:r>
            <a:r>
              <a:rPr lang="es-ES" sz="1400" dirty="0"/>
              <a:t>: true</a:t>
            </a:r>
          </a:p>
          <a:p>
            <a:r>
              <a:rPr lang="es-ES" sz="1400" dirty="0"/>
              <a:t>      }</a:t>
            </a:r>
          </a:p>
          <a:p>
            <a:r>
              <a:rPr lang="es-ES" sz="1400" dirty="0"/>
              <a:t>    };</a:t>
            </a:r>
          </a:p>
          <a:p>
            <a:r>
              <a:rPr lang="es-ES" sz="1400" dirty="0"/>
              <a:t>  </a:t>
            </a:r>
            <a:r>
              <a:rPr lang="es-ES" sz="1400" dirty="0" smtClean="0"/>
              <a:t>}</a:t>
            </a:r>
            <a:endParaRPr lang="es-ES" sz="1400" dirty="0"/>
          </a:p>
          <a:p>
            <a:r>
              <a:rPr lang="es-ES" sz="1400" dirty="0"/>
              <a:t>  </a:t>
            </a:r>
            <a:r>
              <a:rPr lang="es-ES" sz="1400" dirty="0" err="1"/>
              <a:t>static</a:t>
            </a:r>
            <a:r>
              <a:rPr lang="es-ES" sz="1400" dirty="0"/>
              <a:t> </a:t>
            </a:r>
            <a:r>
              <a:rPr lang="es-ES" sz="1400" dirty="0" err="1"/>
              <a:t>get</a:t>
            </a:r>
            <a:r>
              <a:rPr lang="es-ES" sz="1400" dirty="0"/>
              <a:t> </a:t>
            </a:r>
            <a:r>
              <a:rPr lang="es-ES" sz="1400" dirty="0" err="1"/>
              <a:t>template</a:t>
            </a:r>
            <a:r>
              <a:rPr lang="es-ES" sz="1400" dirty="0"/>
              <a:t>() {</a:t>
            </a:r>
          </a:p>
          <a:p>
            <a:r>
              <a:rPr lang="es-ES" sz="1400" dirty="0"/>
              <a:t>    </a:t>
            </a:r>
            <a:r>
              <a:rPr lang="es-ES" sz="1400" dirty="0" err="1"/>
              <a:t>return</a:t>
            </a:r>
            <a:r>
              <a:rPr lang="es-ES" sz="1400" dirty="0"/>
              <a:t> </a:t>
            </a:r>
            <a:r>
              <a:rPr lang="es-ES" sz="1400" dirty="0" err="1"/>
              <a:t>html</a:t>
            </a:r>
            <a:r>
              <a:rPr lang="es-ES" sz="1400" dirty="0"/>
              <a:t>`</a:t>
            </a:r>
          </a:p>
          <a:p>
            <a:r>
              <a:rPr lang="es-ES" sz="1400" dirty="0"/>
              <a:t> &lt;h1&gt;{{titular}}&lt;/h1&gt;</a:t>
            </a:r>
          </a:p>
          <a:p>
            <a:r>
              <a:rPr lang="es-ES" sz="1400" dirty="0"/>
              <a:t>  &lt;</a:t>
            </a:r>
            <a:r>
              <a:rPr lang="es-ES" sz="1400" dirty="0" err="1"/>
              <a:t>paper</a:t>
            </a:r>
            <a:r>
              <a:rPr lang="es-ES" sz="1400" dirty="0"/>
              <a:t>-input </a:t>
            </a:r>
            <a:r>
              <a:rPr lang="es-ES" sz="1400" dirty="0" err="1"/>
              <a:t>label</a:t>
            </a:r>
            <a:r>
              <a:rPr lang="es-ES" sz="1400" dirty="0"/>
              <a:t>="Cambia el titular - </a:t>
            </a:r>
            <a:r>
              <a:rPr lang="es-ES" sz="1400" dirty="0" err="1"/>
              <a:t>Bindeo</a:t>
            </a:r>
            <a:r>
              <a:rPr lang="es-ES" sz="1400" dirty="0"/>
              <a:t> 2 direcciones" </a:t>
            </a:r>
            <a:r>
              <a:rPr lang="es-ES" sz="1400" dirty="0" err="1"/>
              <a:t>value</a:t>
            </a:r>
            <a:r>
              <a:rPr lang="es-ES" sz="1400" dirty="0"/>
              <a:t>="{{titular}}"&gt;&lt;/</a:t>
            </a:r>
            <a:r>
              <a:rPr lang="es-ES" sz="1400" dirty="0" err="1"/>
              <a:t>paper</a:t>
            </a:r>
            <a:r>
              <a:rPr lang="es-ES" sz="1400" dirty="0"/>
              <a:t>-input&gt;</a:t>
            </a:r>
          </a:p>
          <a:p>
            <a:r>
              <a:rPr lang="es-ES" sz="1400" dirty="0"/>
              <a:t>  &lt;</a:t>
            </a:r>
            <a:r>
              <a:rPr lang="es-ES" sz="1400" dirty="0" err="1"/>
              <a:t>paper</a:t>
            </a:r>
            <a:r>
              <a:rPr lang="es-ES" sz="1400" dirty="0"/>
              <a:t>-input </a:t>
            </a:r>
            <a:r>
              <a:rPr lang="es-ES" sz="1400" dirty="0" err="1"/>
              <a:t>label</a:t>
            </a:r>
            <a:r>
              <a:rPr lang="es-ES" sz="1400" dirty="0"/>
              <a:t>="Cambia el titular - </a:t>
            </a:r>
            <a:r>
              <a:rPr lang="es-ES" sz="1400" dirty="0" err="1"/>
              <a:t>Bindeo</a:t>
            </a:r>
            <a:r>
              <a:rPr lang="es-ES" sz="1400" dirty="0"/>
              <a:t> de 1 dirección" </a:t>
            </a:r>
            <a:r>
              <a:rPr lang="es-ES" sz="1400" dirty="0" err="1"/>
              <a:t>value</a:t>
            </a:r>
            <a:r>
              <a:rPr lang="es-ES" sz="1400" dirty="0"/>
              <a:t>="[[titular]]"&gt;&lt;/</a:t>
            </a:r>
            <a:r>
              <a:rPr lang="es-ES" sz="1400" dirty="0" err="1"/>
              <a:t>paper</a:t>
            </a:r>
            <a:r>
              <a:rPr lang="es-ES" sz="1400" dirty="0"/>
              <a:t>-input&gt;</a:t>
            </a:r>
          </a:p>
          <a:p>
            <a:r>
              <a:rPr lang="es-ES" sz="1400" dirty="0"/>
              <a:t>    `;</a:t>
            </a:r>
          </a:p>
          <a:p>
            <a:r>
              <a:rPr lang="es-ES" sz="1400" dirty="0"/>
              <a:t>  </a:t>
            </a:r>
            <a:r>
              <a:rPr lang="es-ES" sz="1400" dirty="0" smtClean="0"/>
              <a:t>}</a:t>
            </a:r>
            <a:endParaRPr lang="es-ES" sz="1400" dirty="0"/>
          </a:p>
          <a:p>
            <a:r>
              <a:rPr lang="es-ES" sz="1400" dirty="0"/>
              <a:t>}</a:t>
            </a:r>
          </a:p>
        </p:txBody>
      </p:sp>
    </p:spTree>
    <p:extLst>
      <p:ext uri="{BB962C8B-B14F-4D97-AF65-F5344CB8AC3E}">
        <p14:creationId xmlns:p14="http://schemas.microsoft.com/office/powerpoint/2010/main" val="780027331"/>
      </p:ext>
    </p:extLst>
  </p:cSld>
  <p:clrMapOvr>
    <a:masterClrMapping/>
  </p:clrMapOvr>
  <p:timing>
    <p:tnLst>
      <p:par>
        <p:cTn xmlns:p14="http://schemas.microsoft.com/office/powerpoint/2010/mai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r>
              <a:rPr lang="es-ES_tradnl" sz="2200" u="sng" dirty="0">
                <a:latin typeface="Arial Black"/>
                <a:cs typeface="Arial Black"/>
              </a:rPr>
              <a:t> &gt; </a:t>
            </a:r>
            <a:r>
              <a:rPr lang="es-ES_tradnl" sz="2200" u="sng" dirty="0">
                <a:latin typeface="Arial Black"/>
                <a:cs typeface="Arial Black"/>
                <a:hlinkClick r:id="rId4"/>
              </a:rPr>
              <a:t>Binding a atributos</a:t>
            </a:r>
            <a:endParaRPr lang="es-ES_tradnl" sz="2200" u="sng" dirty="0">
              <a:latin typeface="Arial Black"/>
              <a:cs typeface="Arial Black"/>
            </a:endParaRPr>
          </a:p>
        </p:txBody>
      </p:sp>
      <p:pic>
        <p:nvPicPr>
          <p:cNvPr id="13" name="Imagen 12"/>
          <p:cNvPicPr>
            <a:picLocks noChangeAspect="1"/>
          </p:cNvPicPr>
          <p:nvPr/>
        </p:nvPicPr>
        <p:blipFill>
          <a:blip r:embed="rId5"/>
          <a:stretch>
            <a:fillRect/>
          </a:stretch>
        </p:blipFill>
        <p:spPr>
          <a:xfrm>
            <a:off x="1742516" y="6339496"/>
            <a:ext cx="578961" cy="402755"/>
          </a:xfrm>
          <a:prstGeom prst="rect">
            <a:avLst/>
          </a:prstGeom>
        </p:spPr>
      </p:pic>
      <p:sp>
        <p:nvSpPr>
          <p:cNvPr id="14" name="Rectángulo 13"/>
          <p:cNvSpPr/>
          <p:nvPr/>
        </p:nvSpPr>
        <p:spPr>
          <a:xfrm>
            <a:off x="492433" y="1614742"/>
            <a:ext cx="8202871" cy="2239074"/>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82</a:t>
            </a:fld>
            <a:endParaRPr lang="en-US"/>
          </a:p>
        </p:txBody>
      </p:sp>
      <p:sp>
        <p:nvSpPr>
          <p:cNvPr id="15" name="Rectángulo 14"/>
          <p:cNvSpPr/>
          <p:nvPr/>
        </p:nvSpPr>
        <p:spPr>
          <a:xfrm>
            <a:off x="1069296" y="1649678"/>
            <a:ext cx="7005407" cy="954107"/>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sz="1400" dirty="0" smtClean="0"/>
          </a:p>
          <a:p>
            <a:r>
              <a:rPr lang="es-ES" sz="1400" dirty="0" smtClean="0"/>
              <a:t>&lt;</a:t>
            </a:r>
            <a:r>
              <a:rPr lang="es-ES" sz="1400" dirty="0"/>
              <a:t>div </a:t>
            </a:r>
            <a:r>
              <a:rPr lang="es-ES" sz="1400" dirty="0" err="1"/>
              <a:t>class</a:t>
            </a:r>
            <a:r>
              <a:rPr lang="es-ES" sz="1400" dirty="0"/>
              <a:t>$="[[</a:t>
            </a:r>
            <a:r>
              <a:rPr lang="es-ES" sz="1400" dirty="0" err="1"/>
              <a:t>claseActiva</a:t>
            </a:r>
            <a:r>
              <a:rPr lang="es-ES" sz="1400" dirty="0"/>
              <a:t>]]"&gt;Tendrá un </a:t>
            </a:r>
            <a:r>
              <a:rPr lang="es-ES" sz="1400" dirty="0" err="1"/>
              <a:t>class</a:t>
            </a:r>
            <a:r>
              <a:rPr lang="es-ES" sz="1400" dirty="0"/>
              <a:t> cuyo valor se </a:t>
            </a:r>
            <a:r>
              <a:rPr lang="es-ES" sz="1400" dirty="0" err="1"/>
              <a:t>bindea</a:t>
            </a:r>
            <a:r>
              <a:rPr lang="es-ES" sz="1400" dirty="0"/>
              <a:t>&lt;/div</a:t>
            </a:r>
            <a:r>
              <a:rPr lang="es-ES" sz="1400" dirty="0" smtClean="0"/>
              <a:t>&gt;</a:t>
            </a:r>
          </a:p>
          <a:p>
            <a:endParaRPr lang="es-ES" sz="1400" dirty="0"/>
          </a:p>
          <a:p>
            <a:endParaRPr lang="es-ES" sz="1400" dirty="0"/>
          </a:p>
        </p:txBody>
      </p:sp>
      <p:sp>
        <p:nvSpPr>
          <p:cNvPr id="16" name="Rectángulo 15"/>
          <p:cNvSpPr/>
          <p:nvPr/>
        </p:nvSpPr>
        <p:spPr>
          <a:xfrm>
            <a:off x="492433" y="2707842"/>
            <a:ext cx="8202871" cy="4399667"/>
          </a:xfrm>
          <a:prstGeom prst="rect">
            <a:avLst/>
          </a:prstGeom>
        </p:spPr>
        <p:txBody>
          <a:bodyPr wrap="square">
            <a:spAutoFit/>
          </a:bodyPr>
          <a:lstStyle/>
          <a:p>
            <a:pPr marL="285750" indent="-285750" algn="just">
              <a:lnSpc>
                <a:spcPct val="130000"/>
              </a:lnSpc>
              <a:buFont typeface="Wingdings" charset="2"/>
              <a:buChar char="ü"/>
            </a:pPr>
            <a:endParaRPr lang="es-ES_tradnl" dirty="0" smtClean="0">
              <a:solidFill>
                <a:srgbClr val="FFFFFF"/>
              </a:solidFill>
              <a:latin typeface="Helvetica"/>
              <a:cs typeface="Helvetica"/>
            </a:endParaRPr>
          </a:p>
          <a:p>
            <a:pPr marL="285750" indent="-285750" algn="just">
              <a:lnSpc>
                <a:spcPct val="130000"/>
              </a:lnSpc>
              <a:buFont typeface="Wingdings" charset="2"/>
              <a:buChar char="ü"/>
            </a:pPr>
            <a:r>
              <a:rPr lang="es-ES_tradnl" dirty="0" smtClean="0">
                <a:solidFill>
                  <a:srgbClr val="FFFFFF"/>
                </a:solidFill>
                <a:latin typeface="Helvetica"/>
                <a:cs typeface="Helvetica"/>
              </a:rPr>
              <a:t>Se </a:t>
            </a:r>
            <a:r>
              <a:rPr lang="es-ES_tradnl" dirty="0">
                <a:solidFill>
                  <a:srgbClr val="FFFFFF"/>
                </a:solidFill>
                <a:latin typeface="Helvetica"/>
                <a:cs typeface="Helvetica"/>
              </a:rPr>
              <a:t>debe colocar un </a:t>
            </a:r>
            <a:r>
              <a:rPr lang="es-ES_tradnl" dirty="0">
                <a:solidFill>
                  <a:srgbClr val="B8E39D"/>
                </a:solidFill>
                <a:latin typeface="Helvetica"/>
                <a:cs typeface="Helvetica"/>
              </a:rPr>
              <a:t>$</a:t>
            </a:r>
            <a:r>
              <a:rPr lang="es-ES_tradnl" dirty="0">
                <a:solidFill>
                  <a:srgbClr val="FFFFFF"/>
                </a:solidFill>
                <a:latin typeface="Helvetica"/>
                <a:cs typeface="Helvetica"/>
              </a:rPr>
              <a:t> justo después del nombre del </a:t>
            </a:r>
            <a:r>
              <a:rPr lang="es-ES_tradnl" dirty="0" smtClean="0">
                <a:solidFill>
                  <a:srgbClr val="FFFFFF"/>
                </a:solidFill>
                <a:latin typeface="Helvetica"/>
                <a:cs typeface="Helvetica"/>
              </a:rPr>
              <a:t>atributo</a:t>
            </a:r>
            <a:r>
              <a:rPr lang="es-ES_tradnl" dirty="0">
                <a:solidFill>
                  <a:srgbClr val="FFFFFF"/>
                </a:solidFill>
                <a:latin typeface="Helvetica"/>
                <a:cs typeface="Helvetica"/>
              </a:rPr>
              <a:t> </a:t>
            </a:r>
            <a:r>
              <a:rPr lang="es-ES_tradnl" dirty="0" smtClean="0">
                <a:solidFill>
                  <a:srgbClr val="FFFFFF"/>
                </a:solidFill>
                <a:latin typeface="Helvetica"/>
                <a:cs typeface="Helvetica"/>
              </a:rPr>
              <a:t>HTML.</a:t>
            </a:r>
          </a:p>
          <a:p>
            <a:pPr marL="285750" indent="-285750" algn="just">
              <a:lnSpc>
                <a:spcPct val="130000"/>
              </a:lnSpc>
              <a:buFont typeface="Wingdings" charset="2"/>
              <a:buChar char="ü"/>
            </a:pPr>
            <a:endParaRPr lang="es-ES_tradnl" dirty="0" smtClean="0">
              <a:solidFill>
                <a:srgbClr val="FFFFFF"/>
              </a:solidFill>
              <a:latin typeface="Helvetica"/>
              <a:cs typeface="Helvetica"/>
            </a:endParaRPr>
          </a:p>
          <a:p>
            <a:pPr marL="285750" indent="-285750" algn="just">
              <a:lnSpc>
                <a:spcPct val="130000"/>
              </a:lnSpc>
              <a:buFont typeface="Wingdings" charset="2"/>
              <a:buChar char="ü"/>
            </a:pPr>
            <a:r>
              <a:rPr lang="es-ES_tradnl" dirty="0" smtClean="0">
                <a:solidFill>
                  <a:srgbClr val="FFFFFF"/>
                </a:solidFill>
                <a:latin typeface="Helvetica"/>
                <a:cs typeface="Helvetica"/>
              </a:rPr>
              <a:t>Solo permite </a:t>
            </a:r>
            <a:r>
              <a:rPr lang="es-ES_tradnl" dirty="0" err="1" smtClean="0">
                <a:solidFill>
                  <a:srgbClr val="FFFFFF"/>
                </a:solidFill>
                <a:latin typeface="Helvetica"/>
                <a:cs typeface="Helvetica"/>
              </a:rPr>
              <a:t>databinding</a:t>
            </a:r>
            <a:r>
              <a:rPr lang="es-ES_tradnl" dirty="0" smtClean="0">
                <a:solidFill>
                  <a:srgbClr val="FFFFFF"/>
                </a:solidFill>
                <a:latin typeface="Helvetica"/>
                <a:cs typeface="Helvetica"/>
              </a:rPr>
              <a:t> de una direcci</a:t>
            </a:r>
            <a:r>
              <a:rPr lang="es-ES_tradnl" dirty="0" smtClean="0">
                <a:solidFill>
                  <a:srgbClr val="FFFFFF"/>
                </a:solidFill>
                <a:latin typeface="Helvetica"/>
                <a:cs typeface="Helvetica"/>
              </a:rPr>
              <a:t>ón , para </a:t>
            </a:r>
            <a:r>
              <a:rPr lang="es-ES_tradnl" dirty="0" err="1" smtClean="0">
                <a:solidFill>
                  <a:srgbClr val="FFFFFF"/>
                </a:solidFill>
                <a:latin typeface="Helvetica"/>
                <a:cs typeface="Helvetica"/>
              </a:rPr>
              <a:t>databinding</a:t>
            </a:r>
            <a:r>
              <a:rPr lang="es-ES_tradnl" dirty="0" smtClean="0">
                <a:solidFill>
                  <a:srgbClr val="FFFFFF"/>
                </a:solidFill>
                <a:latin typeface="Helvetica"/>
                <a:cs typeface="Helvetica"/>
              </a:rPr>
              <a:t>	 direccional existen alternativas en algunos casos.</a:t>
            </a:r>
          </a:p>
          <a:p>
            <a:pPr algn="just">
              <a:lnSpc>
                <a:spcPct val="130000"/>
              </a:lnSpc>
            </a:pPr>
            <a:endParaRPr lang="es-ES_tradnl" dirty="0" smtClean="0">
              <a:solidFill>
                <a:srgbClr val="FFFFFF"/>
              </a:solidFill>
              <a:latin typeface="Helvetica"/>
              <a:cs typeface="Helvetica"/>
            </a:endParaRPr>
          </a:p>
          <a:p>
            <a:pPr marL="285750" indent="-285750" algn="just">
              <a:lnSpc>
                <a:spcPct val="130000"/>
              </a:lnSpc>
              <a:buFont typeface="Wingdings" charset="2"/>
              <a:buChar char="ü"/>
            </a:pPr>
            <a:r>
              <a:rPr lang="es-ES_tradnl" dirty="0">
                <a:solidFill>
                  <a:srgbClr val="FFFFFF"/>
                </a:solidFill>
                <a:latin typeface="Helvetica"/>
                <a:cs typeface="Helvetica"/>
              </a:rPr>
              <a:t>Internamente </a:t>
            </a:r>
            <a:r>
              <a:rPr lang="es-ES_tradnl" dirty="0" err="1">
                <a:solidFill>
                  <a:srgbClr val="FFFFFF"/>
                </a:solidFill>
                <a:latin typeface="Helvetica"/>
                <a:cs typeface="Helvetica"/>
              </a:rPr>
              <a:t>Polymer</a:t>
            </a:r>
            <a:r>
              <a:rPr lang="es-ES_tradnl" dirty="0">
                <a:solidFill>
                  <a:srgbClr val="FFFFFF"/>
                </a:solidFill>
                <a:latin typeface="Helvetica"/>
                <a:cs typeface="Helvetica"/>
              </a:rPr>
              <a:t> los implementa con el método nativo </a:t>
            </a:r>
            <a:r>
              <a:rPr lang="es-ES_tradnl" dirty="0" err="1">
                <a:solidFill>
                  <a:srgbClr val="FFFFFF"/>
                </a:solidFill>
                <a:latin typeface="Helvetica"/>
                <a:cs typeface="Helvetica"/>
              </a:rPr>
              <a:t>setAttribute</a:t>
            </a:r>
            <a:r>
              <a:rPr lang="es-ES_tradnl" dirty="0">
                <a:solidFill>
                  <a:srgbClr val="FFFFFF"/>
                </a:solidFill>
                <a:latin typeface="Helvetica"/>
                <a:cs typeface="Helvetica"/>
              </a:rPr>
              <a:t>()</a:t>
            </a:r>
            <a:endParaRPr lang="es-ES_tradnl" dirty="0" smtClean="0">
              <a:solidFill>
                <a:srgbClr val="FFFFFF"/>
              </a:solidFill>
              <a:latin typeface="Helvetica"/>
              <a:cs typeface="Helvetica"/>
            </a:endParaRPr>
          </a:p>
          <a:p>
            <a:pPr algn="just">
              <a:lnSpc>
                <a:spcPct val="130000"/>
              </a:lnSpc>
            </a:pPr>
            <a:endParaRPr lang="es-ES_tradnl"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Tree>
    <p:extLst>
      <p:ext uri="{BB962C8B-B14F-4D97-AF65-F5344CB8AC3E}">
        <p14:creationId xmlns:p14="http://schemas.microsoft.com/office/powerpoint/2010/main" val="181884078"/>
      </p:ext>
    </p:extLst>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769441"/>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r>
              <a:rPr lang="es-ES_tradnl" sz="2200" u="sng" dirty="0">
                <a:latin typeface="Arial Black"/>
                <a:cs typeface="Arial Black"/>
              </a:rPr>
              <a:t> &gt; </a:t>
            </a:r>
            <a:r>
              <a:rPr lang="es-ES_tradnl" sz="2200" u="sng" dirty="0" smtClean="0">
                <a:latin typeface="Arial Black"/>
                <a:cs typeface="Arial Black"/>
                <a:hlinkClick r:id="rId4"/>
              </a:rPr>
              <a:t>Binding bidireccional con </a:t>
            </a:r>
            <a:r>
              <a:rPr lang="es-ES_tradnl" sz="2200" u="sng" dirty="0" err="1" smtClean="0">
                <a:latin typeface="Arial Black"/>
                <a:cs typeface="Arial Black"/>
                <a:hlinkClick r:id="rId4"/>
              </a:rPr>
              <a:t>notify</a:t>
            </a:r>
            <a:endParaRPr lang="es-ES_tradnl" sz="2200" u="sng" dirty="0" smtClean="0">
              <a:latin typeface="Arial Black"/>
              <a:cs typeface="Arial Black"/>
            </a:endParaRPr>
          </a:p>
          <a:p>
            <a:endParaRPr lang="es-ES_tradnl" sz="2200" u="sng" dirty="0">
              <a:latin typeface="Arial Black"/>
              <a:cs typeface="Arial Black"/>
            </a:endParaRPr>
          </a:p>
        </p:txBody>
      </p:sp>
      <p:pic>
        <p:nvPicPr>
          <p:cNvPr id="13" name="Imagen 12"/>
          <p:cNvPicPr>
            <a:picLocks noChangeAspect="1"/>
          </p:cNvPicPr>
          <p:nvPr/>
        </p:nvPicPr>
        <p:blipFill>
          <a:blip r:embed="rId5"/>
          <a:stretch>
            <a:fillRect/>
          </a:stretch>
        </p:blipFill>
        <p:spPr>
          <a:xfrm>
            <a:off x="1742516" y="6339496"/>
            <a:ext cx="578961" cy="402755"/>
          </a:xfrm>
          <a:prstGeom prst="rect">
            <a:avLst/>
          </a:prstGeom>
        </p:spPr>
      </p:pic>
      <p:sp>
        <p:nvSpPr>
          <p:cNvPr id="14" name="Rectángulo 13"/>
          <p:cNvSpPr/>
          <p:nvPr/>
        </p:nvSpPr>
        <p:spPr>
          <a:xfrm>
            <a:off x="492433" y="1614742"/>
            <a:ext cx="8202871" cy="2239074"/>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83</a:t>
            </a:fld>
            <a:endParaRPr lang="en-US"/>
          </a:p>
        </p:txBody>
      </p:sp>
      <p:sp>
        <p:nvSpPr>
          <p:cNvPr id="16" name="Rectángulo 15"/>
          <p:cNvSpPr/>
          <p:nvPr/>
        </p:nvSpPr>
        <p:spPr>
          <a:xfrm>
            <a:off x="1069296" y="1649678"/>
            <a:ext cx="7005407" cy="4616648"/>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err="1" smtClean="0"/>
              <a:t>class</a:t>
            </a:r>
            <a:r>
              <a:rPr lang="es-ES" sz="1400" dirty="0" smtClean="0"/>
              <a:t> </a:t>
            </a:r>
            <a:r>
              <a:rPr lang="es-ES" sz="1400" dirty="0" err="1"/>
              <a:t>XCustom_Padre</a:t>
            </a:r>
            <a:r>
              <a:rPr lang="es-ES" sz="1400" dirty="0"/>
              <a:t> </a:t>
            </a:r>
            <a:r>
              <a:rPr lang="es-ES" sz="1400" dirty="0" err="1"/>
              <a:t>extends</a:t>
            </a:r>
            <a:r>
              <a:rPr lang="es-ES" sz="1400" dirty="0"/>
              <a:t> </a:t>
            </a:r>
            <a:r>
              <a:rPr lang="es-ES" sz="1400" dirty="0" err="1"/>
              <a:t>PolymerElement</a:t>
            </a:r>
            <a:r>
              <a:rPr lang="es-ES" sz="1400" dirty="0"/>
              <a:t> </a:t>
            </a:r>
            <a:r>
              <a:rPr lang="es-ES" sz="1400" dirty="0" smtClean="0"/>
              <a:t>{</a:t>
            </a:r>
          </a:p>
          <a:p>
            <a:r>
              <a:rPr lang="mr-IN" sz="1400" dirty="0" smtClean="0"/>
              <a:t>…</a:t>
            </a:r>
            <a:r>
              <a:rPr lang="es-ES" sz="1400" dirty="0" smtClean="0"/>
              <a:t> </a:t>
            </a:r>
            <a:endParaRPr lang="es-ES" sz="1400" dirty="0"/>
          </a:p>
          <a:p>
            <a:r>
              <a:rPr lang="es-ES" sz="1400" dirty="0" smtClean="0"/>
              <a:t>&lt;</a:t>
            </a:r>
            <a:r>
              <a:rPr lang="es-ES" sz="1400" dirty="0"/>
              <a:t>x-</a:t>
            </a:r>
            <a:r>
              <a:rPr lang="es-ES" sz="1400" dirty="0" err="1"/>
              <a:t>custom</a:t>
            </a:r>
            <a:r>
              <a:rPr lang="es-ES" sz="1400" dirty="0"/>
              <a:t> </a:t>
            </a:r>
            <a:r>
              <a:rPr lang="es-ES" sz="1400" dirty="0" err="1"/>
              <a:t>valoracion</a:t>
            </a:r>
            <a:r>
              <a:rPr lang="es-ES" sz="1400" dirty="0"/>
              <a:t>="{{</a:t>
            </a:r>
            <a:r>
              <a:rPr lang="es-ES" sz="1400" dirty="0" err="1"/>
              <a:t>valoracion</a:t>
            </a:r>
            <a:r>
              <a:rPr lang="es-ES" sz="1400" dirty="0"/>
              <a:t>}}"&gt;&lt;/x-</a:t>
            </a:r>
            <a:r>
              <a:rPr lang="es-ES" sz="1400" dirty="0" err="1"/>
              <a:t>custom</a:t>
            </a:r>
            <a:r>
              <a:rPr lang="es-ES" sz="1400" dirty="0"/>
              <a:t>&gt;</a:t>
            </a:r>
          </a:p>
          <a:p>
            <a:r>
              <a:rPr lang="es-ES" sz="1400" dirty="0"/>
              <a:t>  Tenemos esta valoración: [[</a:t>
            </a:r>
            <a:r>
              <a:rPr lang="es-ES" sz="1400" dirty="0" err="1"/>
              <a:t>valoracion</a:t>
            </a:r>
            <a:r>
              <a:rPr lang="es-ES" sz="1400" dirty="0"/>
              <a:t>]]</a:t>
            </a:r>
          </a:p>
          <a:p>
            <a:r>
              <a:rPr lang="mr-IN" sz="1400" dirty="0" smtClean="0"/>
              <a:t>…</a:t>
            </a:r>
            <a:endParaRPr lang="es-ES_tradnl" sz="1400" dirty="0"/>
          </a:p>
          <a:p>
            <a:r>
              <a:rPr lang="es-ES" sz="1400" dirty="0" smtClean="0"/>
              <a:t>}</a:t>
            </a:r>
            <a:endParaRPr lang="es-ES" sz="1400" dirty="0"/>
          </a:p>
          <a:p>
            <a:r>
              <a:rPr lang="es-ES" sz="1400" dirty="0" err="1"/>
              <a:t>customElements.define</a:t>
            </a:r>
            <a:r>
              <a:rPr lang="es-ES" sz="1400" dirty="0"/>
              <a:t>('x-</a:t>
            </a:r>
            <a:r>
              <a:rPr lang="es-ES" sz="1400" dirty="0" err="1"/>
              <a:t>custom</a:t>
            </a:r>
            <a:r>
              <a:rPr lang="es-ES" sz="1400" dirty="0"/>
              <a:t>-padre', </a:t>
            </a:r>
            <a:r>
              <a:rPr lang="es-ES" sz="1400" dirty="0" err="1"/>
              <a:t>XCustom_Padre</a:t>
            </a:r>
            <a:r>
              <a:rPr lang="es-ES" sz="1400" dirty="0"/>
              <a:t>)</a:t>
            </a:r>
            <a:r>
              <a:rPr lang="es-ES" sz="1400" dirty="0" smtClean="0"/>
              <a:t>;</a:t>
            </a:r>
            <a:endParaRPr lang="es-ES" sz="1400" dirty="0"/>
          </a:p>
          <a:p>
            <a:endParaRPr lang="es-ES" sz="1400" dirty="0"/>
          </a:p>
          <a:p>
            <a:r>
              <a:rPr lang="es-ES" sz="1400" dirty="0" err="1"/>
              <a:t>class</a:t>
            </a:r>
            <a:r>
              <a:rPr lang="es-ES" sz="1400" dirty="0"/>
              <a:t> </a:t>
            </a:r>
            <a:r>
              <a:rPr lang="es-ES" sz="1400" dirty="0" err="1"/>
              <a:t>XCustom</a:t>
            </a:r>
            <a:r>
              <a:rPr lang="es-ES" sz="1400" dirty="0"/>
              <a:t> </a:t>
            </a:r>
            <a:r>
              <a:rPr lang="es-ES" sz="1400" dirty="0" err="1"/>
              <a:t>extends</a:t>
            </a:r>
            <a:r>
              <a:rPr lang="es-ES" sz="1400" dirty="0"/>
              <a:t> </a:t>
            </a:r>
            <a:r>
              <a:rPr lang="es-ES" sz="1400" dirty="0" err="1"/>
              <a:t>PolymerElement</a:t>
            </a:r>
            <a:r>
              <a:rPr lang="es-ES" sz="1400" dirty="0"/>
              <a:t> {</a:t>
            </a:r>
          </a:p>
          <a:p>
            <a:r>
              <a:rPr lang="es-ES" sz="1400" dirty="0"/>
              <a:t> </a:t>
            </a:r>
            <a:r>
              <a:rPr lang="es-ES" sz="1400" dirty="0" err="1" smtClean="0"/>
              <a:t>static</a:t>
            </a:r>
            <a:r>
              <a:rPr lang="es-ES" sz="1400" dirty="0" smtClean="0"/>
              <a:t> </a:t>
            </a:r>
            <a:r>
              <a:rPr lang="es-ES" sz="1400" dirty="0" err="1"/>
              <a:t>get</a:t>
            </a:r>
            <a:r>
              <a:rPr lang="es-ES" sz="1400" dirty="0"/>
              <a:t> </a:t>
            </a:r>
            <a:r>
              <a:rPr lang="es-ES" sz="1400" dirty="0" err="1"/>
              <a:t>properties</a:t>
            </a:r>
            <a:r>
              <a:rPr lang="es-ES" sz="1400" dirty="0"/>
              <a:t>() {</a:t>
            </a:r>
          </a:p>
          <a:p>
            <a:r>
              <a:rPr lang="es-ES" sz="1400" dirty="0"/>
              <a:t>    </a:t>
            </a:r>
            <a:r>
              <a:rPr lang="es-ES" sz="1400" dirty="0" err="1"/>
              <a:t>return</a:t>
            </a:r>
            <a:r>
              <a:rPr lang="es-ES" sz="1400" dirty="0"/>
              <a:t> {</a:t>
            </a:r>
          </a:p>
          <a:p>
            <a:r>
              <a:rPr lang="es-ES" sz="1400" dirty="0"/>
              <a:t>    </a:t>
            </a:r>
            <a:r>
              <a:rPr lang="es-ES" sz="1400" dirty="0" err="1"/>
              <a:t>valoracion</a:t>
            </a:r>
            <a:r>
              <a:rPr lang="es-ES" sz="1400" dirty="0"/>
              <a:t>: {</a:t>
            </a:r>
          </a:p>
          <a:p>
            <a:r>
              <a:rPr lang="es-ES" sz="1400" dirty="0"/>
              <a:t>    </a:t>
            </a:r>
            <a:r>
              <a:rPr lang="es-ES" sz="1400" dirty="0" err="1"/>
              <a:t>type</a:t>
            </a:r>
            <a:r>
              <a:rPr lang="es-ES" sz="1400" dirty="0"/>
              <a:t>: </a:t>
            </a:r>
            <a:r>
              <a:rPr lang="es-ES" sz="1400" dirty="0" err="1"/>
              <a:t>String</a:t>
            </a:r>
            <a:r>
              <a:rPr lang="es-ES" sz="1400" dirty="0"/>
              <a:t>,</a:t>
            </a:r>
          </a:p>
          <a:p>
            <a:r>
              <a:rPr lang="es-ES" sz="1400" dirty="0"/>
              <a:t>    </a:t>
            </a:r>
            <a:r>
              <a:rPr lang="es-ES" sz="1400" dirty="0" err="1"/>
              <a:t>notify</a:t>
            </a:r>
            <a:r>
              <a:rPr lang="es-ES" sz="1400" dirty="0"/>
              <a:t>: true,</a:t>
            </a:r>
          </a:p>
          <a:p>
            <a:r>
              <a:rPr lang="es-ES" sz="1400" dirty="0"/>
              <a:t>    </a:t>
            </a:r>
            <a:r>
              <a:rPr lang="es-ES" sz="1400" dirty="0" err="1"/>
              <a:t>observer</a:t>
            </a:r>
            <a:r>
              <a:rPr lang="es-ES" sz="1400" dirty="0"/>
              <a:t>: '</a:t>
            </a:r>
            <a:r>
              <a:rPr lang="es-ES" sz="1400" dirty="0" err="1"/>
              <a:t>valoracionObserver</a:t>
            </a:r>
            <a:r>
              <a:rPr lang="es-ES" sz="1400" dirty="0"/>
              <a:t>'</a:t>
            </a:r>
          </a:p>
          <a:p>
            <a:r>
              <a:rPr lang="es-ES" sz="1400" dirty="0"/>
              <a:t>    </a:t>
            </a:r>
            <a:r>
              <a:rPr lang="es-ES" sz="1400" dirty="0" smtClean="0"/>
              <a:t>}</a:t>
            </a:r>
            <a:endParaRPr lang="es-ES" sz="1400" dirty="0"/>
          </a:p>
          <a:p>
            <a:r>
              <a:rPr lang="es-ES" sz="1400" dirty="0"/>
              <a:t>  </a:t>
            </a:r>
            <a:r>
              <a:rPr lang="es-ES" sz="1400" dirty="0" err="1"/>
              <a:t>valoracionObserver</a:t>
            </a:r>
            <a:r>
              <a:rPr lang="es-ES" sz="1400" dirty="0"/>
              <a:t>(</a:t>
            </a:r>
            <a:r>
              <a:rPr lang="es-ES" sz="1400" dirty="0" err="1"/>
              <a:t>valoracion</a:t>
            </a:r>
            <a:r>
              <a:rPr lang="es-ES" sz="1400" dirty="0"/>
              <a:t>) {</a:t>
            </a:r>
          </a:p>
          <a:p>
            <a:r>
              <a:rPr lang="es-ES" sz="1400" dirty="0"/>
              <a:t>    </a:t>
            </a:r>
            <a:r>
              <a:rPr lang="es-ES" sz="1400" dirty="0" smtClean="0"/>
              <a:t>---</a:t>
            </a:r>
          </a:p>
          <a:p>
            <a:r>
              <a:rPr lang="es-ES" sz="1400" dirty="0" smtClean="0"/>
              <a:t>}</a:t>
            </a:r>
            <a:endParaRPr lang="es-ES" sz="1400" dirty="0"/>
          </a:p>
          <a:p>
            <a:r>
              <a:rPr lang="es-ES" sz="1400" dirty="0" smtClean="0"/>
              <a:t>}</a:t>
            </a:r>
            <a:endParaRPr lang="es-ES" sz="1400" dirty="0"/>
          </a:p>
          <a:p>
            <a:r>
              <a:rPr lang="es-ES" sz="1400" dirty="0"/>
              <a:t>  </a:t>
            </a:r>
            <a:r>
              <a:rPr lang="es-ES" sz="1400" dirty="0" err="1"/>
              <a:t>customElements.define</a:t>
            </a:r>
            <a:r>
              <a:rPr lang="es-ES" sz="1400" dirty="0"/>
              <a:t>('x-</a:t>
            </a:r>
            <a:r>
              <a:rPr lang="es-ES" sz="1400" dirty="0" err="1"/>
              <a:t>custom</a:t>
            </a:r>
            <a:r>
              <a:rPr lang="es-ES" sz="1400" dirty="0"/>
              <a:t>', </a:t>
            </a:r>
            <a:r>
              <a:rPr lang="es-ES" sz="1400" dirty="0" err="1"/>
              <a:t>XCustom</a:t>
            </a:r>
            <a:r>
              <a:rPr lang="es-ES" sz="1400" dirty="0"/>
              <a:t>)</a:t>
            </a:r>
            <a:r>
              <a:rPr lang="es-ES" sz="1400" dirty="0" smtClean="0"/>
              <a:t>;</a:t>
            </a:r>
            <a:endParaRPr lang="es-ES" sz="1400" dirty="0"/>
          </a:p>
        </p:txBody>
      </p:sp>
    </p:spTree>
    <p:extLst>
      <p:ext uri="{BB962C8B-B14F-4D97-AF65-F5344CB8AC3E}">
        <p14:creationId xmlns:p14="http://schemas.microsoft.com/office/powerpoint/2010/main" val="1479900833"/>
      </p:ext>
    </p:extLst>
  </p:cSld>
  <p:clrMapOvr>
    <a:masterClrMapping/>
  </p:clrMapOvr>
  <p:timing>
    <p:tnLst>
      <p:par>
        <p:cTn xmlns:p14="http://schemas.microsoft.com/office/powerpoint/2010/mai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r>
              <a:rPr lang="es-ES_tradnl" sz="2200" u="sng" dirty="0">
                <a:latin typeface="Arial Black"/>
                <a:cs typeface="Arial Black"/>
              </a:rPr>
              <a:t> &gt; Binding en elementos HTML nativos</a:t>
            </a: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2239074"/>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84</a:t>
            </a:fld>
            <a:endParaRPr lang="en-US"/>
          </a:p>
        </p:txBody>
      </p:sp>
      <p:sp>
        <p:nvSpPr>
          <p:cNvPr id="15" name="Rectángulo 14"/>
          <p:cNvSpPr/>
          <p:nvPr/>
        </p:nvSpPr>
        <p:spPr>
          <a:xfrm>
            <a:off x="492433" y="1341467"/>
            <a:ext cx="8202871" cy="5840062"/>
          </a:xfrm>
          <a:prstGeom prst="rect">
            <a:avLst/>
          </a:prstGeom>
        </p:spPr>
        <p:txBody>
          <a:bodyPr wrap="square">
            <a:spAutoFit/>
          </a:bodyPr>
          <a:lstStyle/>
          <a:p>
            <a:pPr marL="285750" indent="-285750" algn="just">
              <a:lnSpc>
                <a:spcPct val="130000"/>
              </a:lnSpc>
              <a:buFont typeface="Wingdings" charset="2"/>
              <a:buChar char="ü"/>
            </a:pPr>
            <a:endParaRPr lang="es-ES_tradnl" dirty="0" smtClean="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Tipos de elementos:</a:t>
            </a:r>
          </a:p>
          <a:p>
            <a:pPr algn="just">
              <a:lnSpc>
                <a:spcPct val="130000"/>
              </a:lnSpc>
            </a:pPr>
            <a:endParaRPr lang="es-ES_tradnl" dirty="0" smtClean="0">
              <a:solidFill>
                <a:srgbClr val="FFFFFF"/>
              </a:solidFill>
              <a:latin typeface="Helvetica"/>
              <a:cs typeface="Helvetica"/>
            </a:endParaRPr>
          </a:p>
          <a:p>
            <a:pPr marL="285750" indent="-285750" algn="just">
              <a:lnSpc>
                <a:spcPct val="130000"/>
              </a:lnSpc>
              <a:buFont typeface="Wingdings" charset="2"/>
              <a:buChar char="ü"/>
            </a:pPr>
            <a:r>
              <a:rPr lang="es-ES_tradnl" dirty="0">
                <a:solidFill>
                  <a:srgbClr val="FFFFFF"/>
                </a:solidFill>
                <a:latin typeface="Helvetica"/>
                <a:cs typeface="Helvetica"/>
              </a:rPr>
              <a:t>Elementos </a:t>
            </a:r>
            <a:r>
              <a:rPr lang="es-ES_tradnl" dirty="0" err="1">
                <a:solidFill>
                  <a:srgbClr val="FFFFFF"/>
                </a:solidFill>
                <a:latin typeface="Helvetica"/>
                <a:cs typeface="Helvetica"/>
              </a:rPr>
              <a:t>Polymer</a:t>
            </a:r>
            <a:r>
              <a:rPr lang="es-ES_tradnl" dirty="0">
                <a:solidFill>
                  <a:srgbClr val="FFFFFF"/>
                </a:solidFill>
                <a:latin typeface="Helvetica"/>
                <a:cs typeface="Helvetica"/>
              </a:rPr>
              <a:t>: son todos los </a:t>
            </a:r>
            <a:r>
              <a:rPr lang="es-ES_tradnl" dirty="0" err="1">
                <a:solidFill>
                  <a:srgbClr val="FFFFFF"/>
                </a:solidFill>
                <a:latin typeface="Helvetica"/>
                <a:cs typeface="Helvetica"/>
              </a:rPr>
              <a:t>custom</a:t>
            </a:r>
            <a:r>
              <a:rPr lang="es-ES_tradnl" dirty="0">
                <a:solidFill>
                  <a:srgbClr val="FFFFFF"/>
                </a:solidFill>
                <a:latin typeface="Helvetica"/>
                <a:cs typeface="Helvetica"/>
              </a:rPr>
              <a:t> </a:t>
            </a:r>
            <a:r>
              <a:rPr lang="es-ES_tradnl" dirty="0" err="1">
                <a:solidFill>
                  <a:srgbClr val="FFFFFF"/>
                </a:solidFill>
                <a:latin typeface="Helvetica"/>
                <a:cs typeface="Helvetica"/>
              </a:rPr>
              <a:t>elements</a:t>
            </a:r>
            <a:r>
              <a:rPr lang="es-ES_tradnl" dirty="0">
                <a:solidFill>
                  <a:srgbClr val="FFFFFF"/>
                </a:solidFill>
                <a:latin typeface="Helvetica"/>
                <a:cs typeface="Helvetica"/>
              </a:rPr>
              <a:t> que han sido definidos con la librería </a:t>
            </a:r>
            <a:r>
              <a:rPr lang="es-ES_tradnl" dirty="0" err="1">
                <a:solidFill>
                  <a:srgbClr val="FFFFFF"/>
                </a:solidFill>
                <a:latin typeface="Helvetica"/>
                <a:cs typeface="Helvetica"/>
              </a:rPr>
              <a:t>Polymer</a:t>
            </a:r>
            <a:r>
              <a:rPr lang="es-ES_tradnl" dirty="0" smtClean="0">
                <a:solidFill>
                  <a:srgbClr val="FFFFFF"/>
                </a:solidFill>
                <a:latin typeface="Helvetica"/>
                <a:cs typeface="Helvetica"/>
              </a:rPr>
              <a:t>.</a:t>
            </a:r>
          </a:p>
          <a:p>
            <a:pPr marL="285750" indent="-285750" algn="just">
              <a:lnSpc>
                <a:spcPct val="130000"/>
              </a:lnSpc>
              <a:buFont typeface="Wingdings" charset="2"/>
              <a:buChar char="ü"/>
            </a:pPr>
            <a:endParaRPr lang="es-ES_tradnl" dirty="0">
              <a:solidFill>
                <a:srgbClr val="FFFFFF"/>
              </a:solidFill>
              <a:latin typeface="Helvetica"/>
              <a:cs typeface="Helvetica"/>
            </a:endParaRPr>
          </a:p>
          <a:p>
            <a:pPr marL="285750" indent="-285750" algn="just">
              <a:lnSpc>
                <a:spcPct val="130000"/>
              </a:lnSpc>
              <a:buFont typeface="Wingdings" charset="2"/>
              <a:buChar char="ü"/>
            </a:pPr>
            <a:r>
              <a:rPr lang="es-ES_tradnl" dirty="0">
                <a:solidFill>
                  <a:srgbClr val="FFFFFF"/>
                </a:solidFill>
                <a:latin typeface="Helvetica"/>
                <a:cs typeface="Helvetica"/>
              </a:rPr>
              <a:t>Elementos "Non-</a:t>
            </a:r>
            <a:r>
              <a:rPr lang="es-ES_tradnl" dirty="0" err="1">
                <a:solidFill>
                  <a:srgbClr val="FFFFFF"/>
                </a:solidFill>
                <a:latin typeface="Helvetica"/>
                <a:cs typeface="Helvetica"/>
              </a:rPr>
              <a:t>Polymer</a:t>
            </a:r>
            <a:r>
              <a:rPr lang="es-ES_tradnl" dirty="0">
                <a:solidFill>
                  <a:srgbClr val="FFFFFF"/>
                </a:solidFill>
                <a:latin typeface="Helvetica"/>
                <a:cs typeface="Helvetica"/>
              </a:rPr>
              <a:t>": son todos los elementos nativos del HTML y </a:t>
            </a:r>
            <a:r>
              <a:rPr lang="es-ES_tradnl" dirty="0" err="1">
                <a:solidFill>
                  <a:srgbClr val="FFFFFF"/>
                </a:solidFill>
                <a:latin typeface="Helvetica"/>
                <a:cs typeface="Helvetica"/>
              </a:rPr>
              <a:t>custom</a:t>
            </a:r>
            <a:r>
              <a:rPr lang="es-ES_tradnl" dirty="0">
                <a:solidFill>
                  <a:srgbClr val="FFFFFF"/>
                </a:solidFill>
                <a:latin typeface="Helvetica"/>
                <a:cs typeface="Helvetica"/>
              </a:rPr>
              <a:t> </a:t>
            </a:r>
            <a:r>
              <a:rPr lang="es-ES_tradnl" dirty="0" err="1">
                <a:solidFill>
                  <a:srgbClr val="FFFFFF"/>
                </a:solidFill>
                <a:latin typeface="Helvetica"/>
                <a:cs typeface="Helvetica"/>
              </a:rPr>
              <a:t>elements</a:t>
            </a:r>
            <a:r>
              <a:rPr lang="es-ES_tradnl" dirty="0">
                <a:solidFill>
                  <a:srgbClr val="FFFFFF"/>
                </a:solidFill>
                <a:latin typeface="Helvetica"/>
                <a:cs typeface="Helvetica"/>
              </a:rPr>
              <a:t> que </a:t>
            </a:r>
            <a:r>
              <a:rPr lang="es-ES_tradnl" dirty="0" smtClean="0">
                <a:solidFill>
                  <a:srgbClr val="FFFFFF"/>
                </a:solidFill>
                <a:latin typeface="Helvetica"/>
                <a:cs typeface="Helvetica"/>
              </a:rPr>
              <a:t>no hayan </a:t>
            </a:r>
            <a:r>
              <a:rPr lang="es-ES_tradnl" dirty="0">
                <a:solidFill>
                  <a:srgbClr val="FFFFFF"/>
                </a:solidFill>
                <a:latin typeface="Helvetica"/>
                <a:cs typeface="Helvetica"/>
              </a:rPr>
              <a:t>sido creados con </a:t>
            </a:r>
            <a:r>
              <a:rPr lang="es-ES_tradnl" dirty="0" err="1">
                <a:solidFill>
                  <a:srgbClr val="FFFFFF"/>
                </a:solidFill>
                <a:latin typeface="Helvetica"/>
                <a:cs typeface="Helvetica"/>
              </a:rPr>
              <a:t>Polymer</a:t>
            </a:r>
            <a:r>
              <a:rPr lang="es-ES_tradnl" dirty="0">
                <a:solidFill>
                  <a:srgbClr val="FFFFFF"/>
                </a:solidFill>
                <a:latin typeface="Helvetica"/>
                <a:cs typeface="Helvetica"/>
              </a:rPr>
              <a:t> específicamente, como los generados únicamente con el </a:t>
            </a:r>
            <a:r>
              <a:rPr lang="es-ES_tradnl" dirty="0" err="1" smtClean="0">
                <a:solidFill>
                  <a:srgbClr val="FFFFFF"/>
                </a:solidFill>
                <a:latin typeface="Helvetica"/>
                <a:cs typeface="Helvetica"/>
              </a:rPr>
              <a:t>estándarWeb</a:t>
            </a:r>
            <a:r>
              <a:rPr lang="es-ES_tradnl" dirty="0" smtClean="0">
                <a:solidFill>
                  <a:srgbClr val="FFFFFF"/>
                </a:solidFill>
                <a:latin typeface="Helvetica"/>
                <a:cs typeface="Helvetica"/>
              </a:rPr>
              <a:t> </a:t>
            </a:r>
            <a:r>
              <a:rPr lang="es-ES_tradnl" dirty="0" err="1">
                <a:solidFill>
                  <a:srgbClr val="FFFFFF"/>
                </a:solidFill>
                <a:latin typeface="Helvetica"/>
                <a:cs typeface="Helvetica"/>
              </a:rPr>
              <a:t>Components</a:t>
            </a:r>
            <a:r>
              <a:rPr lang="es-ES_tradnl" dirty="0">
                <a:solidFill>
                  <a:srgbClr val="FFFFFF"/>
                </a:solidFill>
                <a:latin typeface="Helvetica"/>
                <a:cs typeface="Helvetica"/>
              </a:rPr>
              <a:t>.</a:t>
            </a:r>
            <a:endParaRPr lang="es-ES_tradnl" dirty="0" smtClean="0">
              <a:solidFill>
                <a:srgbClr val="FFFFFF"/>
              </a:solidFill>
              <a:latin typeface="Helvetica"/>
              <a:cs typeface="Helvetica"/>
            </a:endParaRPr>
          </a:p>
          <a:p>
            <a:pPr algn="just">
              <a:lnSpc>
                <a:spcPct val="130000"/>
              </a:lnSpc>
            </a:pPr>
            <a:endParaRPr lang="es-ES_tradnl" dirty="0" smtClean="0">
              <a:solidFill>
                <a:srgbClr val="FFFFFF"/>
              </a:solidFill>
              <a:latin typeface="Helvetica"/>
              <a:cs typeface="Helvetica"/>
            </a:endParaRPr>
          </a:p>
          <a:p>
            <a:pPr algn="just">
              <a:lnSpc>
                <a:spcPct val="130000"/>
              </a:lnSpc>
            </a:pPr>
            <a:r>
              <a:rPr lang="es-ES_tradnl" dirty="0">
                <a:solidFill>
                  <a:srgbClr val="FFFFFF"/>
                </a:solidFill>
                <a:latin typeface="Helvetica"/>
                <a:cs typeface="Helvetica"/>
              </a:rPr>
              <a:t>Para que </a:t>
            </a:r>
            <a:r>
              <a:rPr lang="es-ES_tradnl" dirty="0" err="1">
                <a:solidFill>
                  <a:srgbClr val="FFFFFF"/>
                </a:solidFill>
                <a:latin typeface="Helvetica"/>
                <a:cs typeface="Helvetica"/>
              </a:rPr>
              <a:t>Polymer</a:t>
            </a:r>
            <a:r>
              <a:rPr lang="es-ES_tradnl" dirty="0">
                <a:solidFill>
                  <a:srgbClr val="FFFFFF"/>
                </a:solidFill>
                <a:latin typeface="Helvetica"/>
                <a:cs typeface="Helvetica"/>
              </a:rPr>
              <a:t> ponga en marcha el </a:t>
            </a:r>
            <a:r>
              <a:rPr lang="es-ES_tradnl" dirty="0" err="1">
                <a:solidFill>
                  <a:srgbClr val="FFFFFF"/>
                </a:solidFill>
                <a:latin typeface="Helvetica"/>
                <a:cs typeface="Helvetica"/>
              </a:rPr>
              <a:t>binding</a:t>
            </a:r>
            <a:r>
              <a:rPr lang="es-ES_tradnl" dirty="0">
                <a:solidFill>
                  <a:srgbClr val="FFFFFF"/>
                </a:solidFill>
                <a:latin typeface="Helvetica"/>
                <a:cs typeface="Helvetica"/>
              </a:rPr>
              <a:t> en dos direcciones, sin necesidad de las notificaciones </a:t>
            </a:r>
            <a:r>
              <a:rPr lang="es-ES_tradnl" dirty="0" smtClean="0">
                <a:solidFill>
                  <a:srgbClr val="FFFFFF"/>
                </a:solidFill>
                <a:latin typeface="Helvetica"/>
                <a:cs typeface="Helvetica"/>
              </a:rPr>
              <a:t>de eventos </a:t>
            </a:r>
            <a:r>
              <a:rPr lang="es-ES_tradnl" dirty="0">
                <a:solidFill>
                  <a:srgbClr val="FFFFFF"/>
                </a:solidFill>
                <a:latin typeface="Helvetica"/>
                <a:cs typeface="Helvetica"/>
              </a:rPr>
              <a:t>ante cambios, hay que especificar en el </a:t>
            </a:r>
            <a:r>
              <a:rPr lang="es-ES_tradnl" dirty="0" err="1">
                <a:solidFill>
                  <a:srgbClr val="FFFFFF"/>
                </a:solidFill>
                <a:latin typeface="Helvetica"/>
                <a:cs typeface="Helvetica"/>
              </a:rPr>
              <a:t>template</a:t>
            </a:r>
            <a:r>
              <a:rPr lang="es-ES_tradnl" dirty="0">
                <a:solidFill>
                  <a:srgbClr val="FFFFFF"/>
                </a:solidFill>
                <a:latin typeface="Helvetica"/>
                <a:cs typeface="Helvetica"/>
              </a:rPr>
              <a:t> el </a:t>
            </a:r>
            <a:r>
              <a:rPr lang="es-ES_tradnl" dirty="0" err="1">
                <a:solidFill>
                  <a:srgbClr val="FFFFFF"/>
                </a:solidFill>
                <a:latin typeface="Helvetica"/>
                <a:cs typeface="Helvetica"/>
              </a:rPr>
              <a:t>binding</a:t>
            </a:r>
            <a:r>
              <a:rPr lang="es-ES_tradnl" dirty="0">
                <a:solidFill>
                  <a:srgbClr val="FFFFFF"/>
                </a:solidFill>
                <a:latin typeface="Helvetica"/>
                <a:cs typeface="Helvetica"/>
              </a:rPr>
              <a:t> con una sintaxis especial.</a:t>
            </a: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Tree>
    <p:extLst>
      <p:ext uri="{BB962C8B-B14F-4D97-AF65-F5344CB8AC3E}">
        <p14:creationId xmlns:p14="http://schemas.microsoft.com/office/powerpoint/2010/main" val="3418674935"/>
      </p:ext>
    </p:extLst>
  </p:cSld>
  <p:clrMapOvr>
    <a:masterClrMapping/>
  </p:clrMapOvr>
  <p:timing>
    <p:tnLst>
      <p:par>
        <p:cTn xmlns:p14="http://schemas.microsoft.com/office/powerpoint/2010/mai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r>
              <a:rPr lang="es-ES_tradnl" sz="2200" u="sng" dirty="0">
                <a:latin typeface="Arial Black"/>
                <a:cs typeface="Arial Black"/>
              </a:rPr>
              <a:t> &gt; Binding en elementos HTML nativos</a:t>
            </a: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2239074"/>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85</a:t>
            </a:fld>
            <a:endParaRPr lang="en-US"/>
          </a:p>
        </p:txBody>
      </p:sp>
      <p:sp>
        <p:nvSpPr>
          <p:cNvPr id="15" name="Rectángulo 14"/>
          <p:cNvSpPr/>
          <p:nvPr/>
        </p:nvSpPr>
        <p:spPr>
          <a:xfrm>
            <a:off x="492433" y="1341467"/>
            <a:ext cx="8202871" cy="2959272"/>
          </a:xfrm>
          <a:prstGeom prst="rect">
            <a:avLst/>
          </a:prstGeom>
        </p:spPr>
        <p:txBody>
          <a:bodyPr wrap="square">
            <a:spAutoFit/>
          </a:bodyPr>
          <a:lstStyle/>
          <a:p>
            <a:pPr marL="285750" indent="-285750" algn="just">
              <a:lnSpc>
                <a:spcPct val="130000"/>
              </a:lnSpc>
              <a:buFont typeface="Wingdings" charset="2"/>
              <a:buChar char="ü"/>
            </a:pPr>
            <a:endParaRPr lang="es-ES_tradnl" dirty="0" smtClean="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El formato para realizar el </a:t>
            </a:r>
            <a:r>
              <a:rPr lang="es-ES_tradnl" dirty="0" err="1" smtClean="0">
                <a:solidFill>
                  <a:srgbClr val="FFFFFF"/>
                </a:solidFill>
                <a:latin typeface="Helvetica"/>
                <a:cs typeface="Helvetica"/>
              </a:rPr>
              <a:t>binding</a:t>
            </a:r>
            <a:r>
              <a:rPr lang="es-ES_tradnl" dirty="0" smtClean="0">
                <a:solidFill>
                  <a:srgbClr val="FFFFFF"/>
                </a:solidFill>
                <a:latin typeface="Helvetica"/>
                <a:cs typeface="Helvetica"/>
              </a:rPr>
              <a:t> bidireccional ser</a:t>
            </a:r>
            <a:r>
              <a:rPr lang="es-ES_tradnl" dirty="0" smtClean="0">
                <a:solidFill>
                  <a:srgbClr val="FFFFFF"/>
                </a:solidFill>
                <a:latin typeface="Helvetica"/>
                <a:cs typeface="Helvetica"/>
              </a:rPr>
              <a:t>ía:</a:t>
            </a:r>
          </a:p>
          <a:p>
            <a:pPr algn="ctr">
              <a:lnSpc>
                <a:spcPct val="130000"/>
              </a:lnSpc>
            </a:pPr>
            <a:r>
              <a:rPr lang="es-ES_tradnl" dirty="0">
                <a:solidFill>
                  <a:schemeClr val="accent5">
                    <a:lumMod val="40000"/>
                    <a:lumOff val="60000"/>
                  </a:schemeClr>
                </a:solidFill>
                <a:latin typeface="Helvetica"/>
                <a:cs typeface="Helvetica"/>
              </a:rPr>
              <a:t>target-</a:t>
            </a:r>
            <a:r>
              <a:rPr lang="es-ES_tradnl" dirty="0" err="1">
                <a:solidFill>
                  <a:schemeClr val="accent5">
                    <a:lumMod val="40000"/>
                    <a:lumOff val="60000"/>
                  </a:schemeClr>
                </a:solidFill>
                <a:latin typeface="Helvetica"/>
                <a:cs typeface="Helvetica"/>
              </a:rPr>
              <a:t>prop</a:t>
            </a:r>
            <a:r>
              <a:rPr lang="es-ES_tradnl" dirty="0">
                <a:solidFill>
                  <a:schemeClr val="accent5">
                    <a:lumMod val="40000"/>
                    <a:lumOff val="60000"/>
                  </a:schemeClr>
                </a:solidFill>
                <a:latin typeface="Helvetica"/>
                <a:cs typeface="Helvetica"/>
              </a:rPr>
              <a:t>="{{</a:t>
            </a:r>
            <a:r>
              <a:rPr lang="es-ES_tradnl" dirty="0" err="1">
                <a:solidFill>
                  <a:schemeClr val="accent5">
                    <a:lumMod val="40000"/>
                    <a:lumOff val="60000"/>
                  </a:schemeClr>
                </a:solidFill>
                <a:latin typeface="Helvetica"/>
                <a:cs typeface="Helvetica"/>
              </a:rPr>
              <a:t>hostProp</a:t>
            </a:r>
            <a:r>
              <a:rPr lang="es-ES_tradnl" dirty="0">
                <a:solidFill>
                  <a:schemeClr val="accent5">
                    <a:lumMod val="40000"/>
                    <a:lumOff val="60000"/>
                  </a:schemeClr>
                </a:solidFill>
                <a:latin typeface="Helvetica"/>
                <a:cs typeface="Helvetica"/>
              </a:rPr>
              <a:t>::target-</a:t>
            </a:r>
            <a:r>
              <a:rPr lang="es-ES_tradnl" dirty="0" err="1">
                <a:solidFill>
                  <a:schemeClr val="accent5">
                    <a:lumMod val="40000"/>
                    <a:lumOff val="60000"/>
                  </a:schemeClr>
                </a:solidFill>
                <a:latin typeface="Helvetica"/>
                <a:cs typeface="Helvetica"/>
              </a:rPr>
              <a:t>change</a:t>
            </a:r>
            <a:r>
              <a:rPr lang="es-ES_tradnl" dirty="0">
                <a:solidFill>
                  <a:schemeClr val="accent5">
                    <a:lumMod val="40000"/>
                    <a:lumOff val="60000"/>
                  </a:schemeClr>
                </a:solidFill>
                <a:latin typeface="Helvetica"/>
                <a:cs typeface="Helvetica"/>
              </a:rPr>
              <a:t>-</a:t>
            </a:r>
            <a:r>
              <a:rPr lang="es-ES_tradnl" dirty="0" err="1">
                <a:solidFill>
                  <a:schemeClr val="accent5">
                    <a:lumMod val="40000"/>
                    <a:lumOff val="60000"/>
                  </a:schemeClr>
                </a:solidFill>
                <a:latin typeface="Helvetica"/>
                <a:cs typeface="Helvetica"/>
              </a:rPr>
              <a:t>event</a:t>
            </a:r>
            <a:r>
              <a:rPr lang="es-ES_tradnl" dirty="0">
                <a:solidFill>
                  <a:schemeClr val="accent5">
                    <a:lumMod val="40000"/>
                    <a:lumOff val="60000"/>
                  </a:schemeClr>
                </a:solidFill>
                <a:latin typeface="Helvetica"/>
                <a:cs typeface="Helvetica"/>
              </a:rPr>
              <a:t>}}"</a:t>
            </a:r>
            <a:endParaRPr lang="es-ES_tradnl" dirty="0" smtClean="0">
              <a:solidFill>
                <a:schemeClr val="accent5">
                  <a:lumMod val="40000"/>
                  <a:lumOff val="6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7" name="Rectángulo 16"/>
          <p:cNvSpPr/>
          <p:nvPr/>
        </p:nvSpPr>
        <p:spPr>
          <a:xfrm>
            <a:off x="1069296" y="2773474"/>
            <a:ext cx="7005407" cy="307777"/>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a:t>&lt;input </a:t>
            </a:r>
            <a:r>
              <a:rPr lang="es-ES" sz="1400" dirty="0" err="1"/>
              <a:t>value</a:t>
            </a:r>
            <a:r>
              <a:rPr lang="es-ES" sz="1400" dirty="0"/>
              <a:t>="{{</a:t>
            </a:r>
            <a:r>
              <a:rPr lang="es-ES" sz="1400" dirty="0" err="1"/>
              <a:t>propiedadBindeada</a:t>
            </a:r>
            <a:r>
              <a:rPr lang="es-ES" sz="1400" dirty="0"/>
              <a:t>::input}}"&gt;</a:t>
            </a:r>
            <a:endParaRPr lang="es-ES" sz="1400" dirty="0" smtClean="0"/>
          </a:p>
        </p:txBody>
      </p:sp>
      <p:sp>
        <p:nvSpPr>
          <p:cNvPr id="18" name="Rectángulo 17"/>
          <p:cNvSpPr/>
          <p:nvPr/>
        </p:nvSpPr>
        <p:spPr>
          <a:xfrm>
            <a:off x="1069296" y="3376961"/>
            <a:ext cx="7005407" cy="1169551"/>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a:t>&lt;</a:t>
            </a:r>
            <a:r>
              <a:rPr lang="es-ES" sz="1400" dirty="0" err="1"/>
              <a:t>select</a:t>
            </a:r>
            <a:r>
              <a:rPr lang="es-ES" sz="1400" dirty="0"/>
              <a:t> </a:t>
            </a:r>
            <a:r>
              <a:rPr lang="es-ES" sz="1400" dirty="0" err="1"/>
              <a:t>value</a:t>
            </a:r>
            <a:r>
              <a:rPr lang="es-ES" sz="1400" dirty="0"/>
              <a:t>="{{</a:t>
            </a:r>
            <a:r>
              <a:rPr lang="es-ES" sz="1400" dirty="0" err="1"/>
              <a:t>propiedadBindeada</a:t>
            </a:r>
            <a:r>
              <a:rPr lang="es-ES" sz="1400" dirty="0"/>
              <a:t>::input}}"&gt;</a:t>
            </a:r>
          </a:p>
          <a:p>
            <a:r>
              <a:rPr lang="es-ES" sz="1400" dirty="0"/>
              <a:t>&lt;</a:t>
            </a:r>
            <a:r>
              <a:rPr lang="es-ES" sz="1400" dirty="0" err="1"/>
              <a:t>option</a:t>
            </a:r>
            <a:r>
              <a:rPr lang="es-ES" sz="1400" dirty="0"/>
              <a:t> </a:t>
            </a:r>
            <a:r>
              <a:rPr lang="es-ES" sz="1400" dirty="0" err="1"/>
              <a:t>value</a:t>
            </a:r>
            <a:r>
              <a:rPr lang="es-ES" sz="1400" dirty="0"/>
              <a:t>="1"&gt;1&lt;/</a:t>
            </a:r>
            <a:r>
              <a:rPr lang="es-ES" sz="1400" dirty="0" err="1"/>
              <a:t>option</a:t>
            </a:r>
            <a:r>
              <a:rPr lang="es-ES" sz="1400" dirty="0"/>
              <a:t>&gt;</a:t>
            </a:r>
          </a:p>
          <a:p>
            <a:r>
              <a:rPr lang="es-ES" sz="1400" dirty="0"/>
              <a:t>&lt;</a:t>
            </a:r>
            <a:r>
              <a:rPr lang="es-ES" sz="1400" dirty="0" err="1"/>
              <a:t>option</a:t>
            </a:r>
            <a:r>
              <a:rPr lang="es-ES" sz="1400" dirty="0"/>
              <a:t> </a:t>
            </a:r>
            <a:r>
              <a:rPr lang="es-ES" sz="1400" dirty="0" err="1"/>
              <a:t>value</a:t>
            </a:r>
            <a:r>
              <a:rPr lang="es-ES" sz="1400" dirty="0"/>
              <a:t>="2"&gt;2&lt;/</a:t>
            </a:r>
            <a:r>
              <a:rPr lang="es-ES" sz="1400" dirty="0" err="1"/>
              <a:t>option</a:t>
            </a:r>
            <a:r>
              <a:rPr lang="es-ES" sz="1400" dirty="0"/>
              <a:t>&gt;</a:t>
            </a:r>
          </a:p>
          <a:p>
            <a:r>
              <a:rPr lang="es-ES" sz="1400" dirty="0"/>
              <a:t>&lt;</a:t>
            </a:r>
            <a:r>
              <a:rPr lang="es-ES" sz="1400" dirty="0" err="1"/>
              <a:t>option</a:t>
            </a:r>
            <a:r>
              <a:rPr lang="es-ES" sz="1400" dirty="0"/>
              <a:t> </a:t>
            </a:r>
            <a:r>
              <a:rPr lang="es-ES" sz="1400" dirty="0" err="1"/>
              <a:t>value</a:t>
            </a:r>
            <a:r>
              <a:rPr lang="es-ES" sz="1400" dirty="0"/>
              <a:t>="3"&gt;3&lt;/</a:t>
            </a:r>
            <a:r>
              <a:rPr lang="es-ES" sz="1400" dirty="0" err="1"/>
              <a:t>option</a:t>
            </a:r>
            <a:r>
              <a:rPr lang="es-ES" sz="1400" dirty="0"/>
              <a:t>&gt;</a:t>
            </a:r>
          </a:p>
          <a:p>
            <a:r>
              <a:rPr lang="es-ES" sz="1400" dirty="0"/>
              <a:t>&lt;/</a:t>
            </a:r>
            <a:r>
              <a:rPr lang="es-ES" sz="1400" dirty="0" err="1"/>
              <a:t>select</a:t>
            </a:r>
            <a:r>
              <a:rPr lang="es-ES" sz="1400" dirty="0"/>
              <a:t>&gt;</a:t>
            </a:r>
          </a:p>
        </p:txBody>
      </p:sp>
      <p:sp>
        <p:nvSpPr>
          <p:cNvPr id="19" name="Rectángulo 18"/>
          <p:cNvSpPr/>
          <p:nvPr/>
        </p:nvSpPr>
        <p:spPr>
          <a:xfrm>
            <a:off x="1069296" y="4959675"/>
            <a:ext cx="7005407" cy="307777"/>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a:t>&lt;input </a:t>
            </a:r>
            <a:r>
              <a:rPr lang="es-ES" sz="1400" dirty="0" err="1"/>
              <a:t>type</a:t>
            </a:r>
            <a:r>
              <a:rPr lang="es-ES" sz="1400" dirty="0"/>
              <a:t>="</a:t>
            </a:r>
            <a:r>
              <a:rPr lang="es-ES" sz="1400" dirty="0" err="1"/>
              <a:t>checkbox</a:t>
            </a:r>
            <a:r>
              <a:rPr lang="es-ES" sz="1400" dirty="0"/>
              <a:t>" </a:t>
            </a:r>
            <a:r>
              <a:rPr lang="es-ES" sz="1400" dirty="0" err="1"/>
              <a:t>checked</a:t>
            </a:r>
            <a:r>
              <a:rPr lang="es-ES" sz="1400" dirty="0"/>
              <a:t>="{{</a:t>
            </a:r>
            <a:r>
              <a:rPr lang="es-ES" sz="1400" dirty="0" err="1"/>
              <a:t>propiedadBindeada</a:t>
            </a:r>
            <a:r>
              <a:rPr lang="es-ES" sz="1400" dirty="0"/>
              <a:t>::</a:t>
            </a:r>
            <a:r>
              <a:rPr lang="es-ES" sz="1400" dirty="0" err="1"/>
              <a:t>change</a:t>
            </a:r>
            <a:r>
              <a:rPr lang="es-ES" sz="1400" dirty="0"/>
              <a:t>}}"&gt;</a:t>
            </a:r>
            <a:endParaRPr lang="es-ES" sz="1400" dirty="0" smtClean="0"/>
          </a:p>
        </p:txBody>
      </p:sp>
    </p:spTree>
    <p:extLst>
      <p:ext uri="{BB962C8B-B14F-4D97-AF65-F5344CB8AC3E}">
        <p14:creationId xmlns:p14="http://schemas.microsoft.com/office/powerpoint/2010/main" val="1048480008"/>
      </p:ext>
    </p:extLst>
  </p:cSld>
  <p:clrMapOvr>
    <a:masterClrMapping/>
  </p:clrMapOvr>
  <p:timing>
    <p:tnLst>
      <p:par>
        <p:cTn xmlns:p14="http://schemas.microsoft.com/office/powerpoint/2010/mai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r>
              <a:rPr lang="es-ES_tradnl" sz="2200" u="sng" dirty="0">
                <a:latin typeface="Arial Black"/>
                <a:cs typeface="Arial Black"/>
              </a:rPr>
              <a:t> &gt; Binding en elementos HTML nativos</a:t>
            </a: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2239074"/>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86</a:t>
            </a:fld>
            <a:endParaRPr lang="en-US"/>
          </a:p>
        </p:txBody>
      </p:sp>
      <p:sp>
        <p:nvSpPr>
          <p:cNvPr id="15" name="Rectángulo 14"/>
          <p:cNvSpPr/>
          <p:nvPr/>
        </p:nvSpPr>
        <p:spPr>
          <a:xfrm>
            <a:off x="492433" y="1341467"/>
            <a:ext cx="8202871" cy="2959272"/>
          </a:xfrm>
          <a:prstGeom prst="rect">
            <a:avLst/>
          </a:prstGeom>
        </p:spPr>
        <p:txBody>
          <a:bodyPr wrap="square">
            <a:spAutoFit/>
          </a:bodyPr>
          <a:lstStyle/>
          <a:p>
            <a:pPr marL="285750" indent="-285750" algn="just">
              <a:lnSpc>
                <a:spcPct val="130000"/>
              </a:lnSpc>
              <a:buFont typeface="Wingdings" charset="2"/>
              <a:buChar char="ü"/>
            </a:pPr>
            <a:endParaRPr lang="es-ES_tradnl" dirty="0" smtClean="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Para un componente </a:t>
            </a:r>
            <a:r>
              <a:rPr lang="es-ES_tradnl" dirty="0" err="1" smtClean="0">
                <a:solidFill>
                  <a:srgbClr val="FFFFFF"/>
                </a:solidFill>
                <a:latin typeface="Helvetica"/>
                <a:cs typeface="Helvetica"/>
              </a:rPr>
              <a:t>Polymer</a:t>
            </a:r>
            <a:r>
              <a:rPr lang="es-ES_tradnl" dirty="0" smtClean="0">
                <a:solidFill>
                  <a:srgbClr val="FFFFFF"/>
                </a:solidFill>
                <a:latin typeface="Helvetica"/>
                <a:cs typeface="Helvetica"/>
              </a:rPr>
              <a:t> el uso de esta notaci</a:t>
            </a:r>
            <a:r>
              <a:rPr lang="es-ES_tradnl" dirty="0" smtClean="0">
                <a:solidFill>
                  <a:srgbClr val="FFFFFF"/>
                </a:solidFill>
                <a:latin typeface="Helvetica"/>
                <a:cs typeface="Helvetica"/>
              </a:rPr>
              <a:t>ón sería secundario ya que por defecto se monitoriza cualquier cambio en las variables independientemente del evento. </a:t>
            </a: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8" name="Rectángulo 17"/>
          <p:cNvSpPr/>
          <p:nvPr/>
        </p:nvSpPr>
        <p:spPr>
          <a:xfrm>
            <a:off x="1069296" y="3119761"/>
            <a:ext cx="7005407" cy="1169551"/>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a:t>&lt;!-- </a:t>
            </a:r>
            <a:r>
              <a:rPr lang="es-ES" sz="1400" dirty="0" err="1"/>
              <a:t>Listens</a:t>
            </a:r>
            <a:r>
              <a:rPr lang="es-ES" sz="1400" dirty="0"/>
              <a:t> </a:t>
            </a:r>
            <a:r>
              <a:rPr lang="es-ES" sz="1400" dirty="0" err="1"/>
              <a:t>for</a:t>
            </a:r>
            <a:r>
              <a:rPr lang="es-ES" sz="1400" dirty="0"/>
              <a:t> `</a:t>
            </a:r>
            <a:r>
              <a:rPr lang="es-ES" sz="1400" dirty="0" err="1"/>
              <a:t>value-changed</a:t>
            </a:r>
            <a:r>
              <a:rPr lang="es-ES" sz="1400" dirty="0"/>
              <a:t>` </a:t>
            </a:r>
            <a:r>
              <a:rPr lang="es-ES" sz="1400" dirty="0" err="1"/>
              <a:t>event</a:t>
            </a:r>
            <a:r>
              <a:rPr lang="es-ES" sz="1400" dirty="0"/>
              <a:t> --&gt;</a:t>
            </a:r>
          </a:p>
          <a:p>
            <a:r>
              <a:rPr lang="es-ES" sz="1400" dirty="0"/>
              <a:t>&lt;</a:t>
            </a:r>
            <a:r>
              <a:rPr lang="es-ES" sz="1400" dirty="0" err="1"/>
              <a:t>my-element</a:t>
            </a:r>
            <a:r>
              <a:rPr lang="es-ES" sz="1400" dirty="0"/>
              <a:t> </a:t>
            </a:r>
            <a:r>
              <a:rPr lang="es-ES" sz="1400" dirty="0" err="1"/>
              <a:t>value</a:t>
            </a:r>
            <a:r>
              <a:rPr lang="es-ES" sz="1400" dirty="0"/>
              <a:t>="{{</a:t>
            </a:r>
            <a:r>
              <a:rPr lang="es-ES" sz="1400" dirty="0" err="1"/>
              <a:t>hostValue</a:t>
            </a:r>
            <a:r>
              <a:rPr lang="es-ES" sz="1400" dirty="0"/>
              <a:t>::</a:t>
            </a:r>
            <a:r>
              <a:rPr lang="es-ES" sz="1400" dirty="0" err="1"/>
              <a:t>value-changed</a:t>
            </a:r>
            <a:r>
              <a:rPr lang="es-ES" sz="1400" dirty="0"/>
              <a:t>}}"&gt;</a:t>
            </a:r>
          </a:p>
          <a:p>
            <a:endParaRPr lang="es-ES" sz="1400" dirty="0"/>
          </a:p>
          <a:p>
            <a:r>
              <a:rPr lang="es-ES" sz="1400" dirty="0"/>
              <a:t>&lt;!-- </a:t>
            </a:r>
            <a:r>
              <a:rPr lang="es-ES" sz="1400" dirty="0" err="1"/>
              <a:t>Listens</a:t>
            </a:r>
            <a:r>
              <a:rPr lang="es-ES" sz="1400" dirty="0"/>
              <a:t> </a:t>
            </a:r>
            <a:r>
              <a:rPr lang="es-ES" sz="1400" dirty="0" err="1"/>
              <a:t>for</a:t>
            </a:r>
            <a:r>
              <a:rPr lang="es-ES" sz="1400" dirty="0"/>
              <a:t> `</a:t>
            </a:r>
            <a:r>
              <a:rPr lang="es-ES" sz="1400" dirty="0" err="1"/>
              <a:t>value-changed</a:t>
            </a:r>
            <a:r>
              <a:rPr lang="es-ES" sz="1400" dirty="0"/>
              <a:t>` </a:t>
            </a:r>
            <a:r>
              <a:rPr lang="es-ES" sz="1400" dirty="0" err="1"/>
              <a:t>event</a:t>
            </a:r>
            <a:r>
              <a:rPr lang="es-ES" sz="1400" dirty="0"/>
              <a:t> </a:t>
            </a:r>
            <a:r>
              <a:rPr lang="es-ES" sz="1400" dirty="0" err="1"/>
              <a:t>using</a:t>
            </a:r>
            <a:r>
              <a:rPr lang="es-ES" sz="1400" dirty="0"/>
              <a:t> </a:t>
            </a:r>
            <a:r>
              <a:rPr lang="es-ES" sz="1400" dirty="0" err="1"/>
              <a:t>Polymer</a:t>
            </a:r>
            <a:r>
              <a:rPr lang="es-ES" sz="1400" dirty="0"/>
              <a:t> </a:t>
            </a:r>
            <a:r>
              <a:rPr lang="es-ES" sz="1400" dirty="0" err="1"/>
              <a:t>convention</a:t>
            </a:r>
            <a:r>
              <a:rPr lang="es-ES" sz="1400" dirty="0"/>
              <a:t> </a:t>
            </a:r>
            <a:r>
              <a:rPr lang="es-ES" sz="1400" dirty="0" err="1"/>
              <a:t>by</a:t>
            </a:r>
            <a:r>
              <a:rPr lang="es-ES" sz="1400" dirty="0"/>
              <a:t> default --&gt;</a:t>
            </a:r>
          </a:p>
          <a:p>
            <a:r>
              <a:rPr lang="es-ES" sz="1400" dirty="0"/>
              <a:t>&lt;</a:t>
            </a:r>
            <a:r>
              <a:rPr lang="es-ES" sz="1400" dirty="0" err="1"/>
              <a:t>my-element</a:t>
            </a:r>
            <a:r>
              <a:rPr lang="es-ES" sz="1400" dirty="0"/>
              <a:t> </a:t>
            </a:r>
            <a:r>
              <a:rPr lang="es-ES" sz="1400" dirty="0" err="1"/>
              <a:t>value</a:t>
            </a:r>
            <a:r>
              <a:rPr lang="es-ES" sz="1400" dirty="0"/>
              <a:t>="{{</a:t>
            </a:r>
            <a:r>
              <a:rPr lang="es-ES" sz="1400" dirty="0" err="1"/>
              <a:t>hostValue</a:t>
            </a:r>
            <a:r>
              <a:rPr lang="es-ES" sz="1400" dirty="0"/>
              <a:t>}}"&gt;</a:t>
            </a:r>
          </a:p>
        </p:txBody>
      </p:sp>
    </p:spTree>
    <p:extLst>
      <p:ext uri="{BB962C8B-B14F-4D97-AF65-F5344CB8AC3E}">
        <p14:creationId xmlns:p14="http://schemas.microsoft.com/office/powerpoint/2010/main" val="2148605096"/>
      </p:ext>
    </p:extLst>
  </p:cSld>
  <p:clrMapOvr>
    <a:masterClrMapping/>
  </p:clrMapOvr>
  <p:timing>
    <p:tnLst>
      <p:par>
        <p:cTn xmlns:p14="http://schemas.microsoft.com/office/powerpoint/2010/mai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r>
              <a:rPr lang="es-ES_tradnl" sz="2200" u="sng" dirty="0" smtClean="0">
                <a:latin typeface="Arial Black"/>
                <a:cs typeface="Arial Black"/>
              </a:rPr>
              <a:t> &gt; Operador </a:t>
            </a:r>
            <a:r>
              <a:rPr lang="es-ES_tradnl" sz="2200" u="sng" dirty="0" err="1" smtClean="0">
                <a:latin typeface="Arial Black"/>
                <a:cs typeface="Arial Black"/>
              </a:rPr>
              <a:t>logico</a:t>
            </a:r>
            <a:r>
              <a:rPr lang="es-ES_tradnl" sz="2200" u="sng" dirty="0" smtClean="0">
                <a:latin typeface="Arial Black"/>
                <a:cs typeface="Arial Black"/>
              </a:rPr>
              <a:t> de negaci</a:t>
            </a:r>
            <a:r>
              <a:rPr lang="es-ES_tradnl" sz="2200" u="sng" dirty="0" smtClean="0">
                <a:latin typeface="Arial Black"/>
                <a:cs typeface="Arial Black"/>
              </a:rPr>
              <a:t>ón</a:t>
            </a:r>
            <a:endParaRPr lang="es-ES_tradnl" sz="2200" u="sng" dirty="0">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2239074"/>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87</a:t>
            </a:fld>
            <a:endParaRPr lang="en-US"/>
          </a:p>
        </p:txBody>
      </p:sp>
      <p:sp>
        <p:nvSpPr>
          <p:cNvPr id="16" name="Rectángulo 15"/>
          <p:cNvSpPr/>
          <p:nvPr/>
        </p:nvSpPr>
        <p:spPr>
          <a:xfrm>
            <a:off x="1069296" y="1649678"/>
            <a:ext cx="7005407" cy="1169551"/>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err="1"/>
              <a:t>static</a:t>
            </a:r>
            <a:r>
              <a:rPr lang="es-ES" sz="1400" dirty="0"/>
              <a:t> </a:t>
            </a:r>
            <a:r>
              <a:rPr lang="es-ES" sz="1400" dirty="0" err="1"/>
              <a:t>get</a:t>
            </a:r>
            <a:r>
              <a:rPr lang="es-ES" sz="1400" dirty="0"/>
              <a:t> </a:t>
            </a:r>
            <a:r>
              <a:rPr lang="es-ES" sz="1400" dirty="0" err="1"/>
              <a:t>template</a:t>
            </a:r>
            <a:r>
              <a:rPr lang="es-ES" sz="1400" dirty="0"/>
              <a:t>() {</a:t>
            </a:r>
          </a:p>
          <a:p>
            <a:r>
              <a:rPr lang="es-ES" sz="1400" dirty="0"/>
              <a:t>  </a:t>
            </a:r>
            <a:r>
              <a:rPr lang="es-ES" sz="1400" dirty="0" err="1"/>
              <a:t>return</a:t>
            </a:r>
            <a:r>
              <a:rPr lang="es-ES" sz="1400" dirty="0"/>
              <a:t> </a:t>
            </a:r>
            <a:r>
              <a:rPr lang="es-ES" sz="1400" dirty="0" err="1"/>
              <a:t>html</a:t>
            </a:r>
            <a:r>
              <a:rPr lang="es-ES" sz="1400" dirty="0"/>
              <a:t>`</a:t>
            </a:r>
          </a:p>
          <a:p>
            <a:r>
              <a:rPr lang="es-ES" sz="1400" dirty="0"/>
              <a:t>    &lt;</a:t>
            </a:r>
            <a:r>
              <a:rPr lang="es-ES" sz="1400" dirty="0" err="1"/>
              <a:t>my</a:t>
            </a:r>
            <a:r>
              <a:rPr lang="es-ES" sz="1400" dirty="0"/>
              <a:t>-page show-</a:t>
            </a:r>
            <a:r>
              <a:rPr lang="es-ES" sz="1400" dirty="0" err="1"/>
              <a:t>login</a:t>
            </a:r>
            <a:r>
              <a:rPr lang="es-ES" sz="1400" dirty="0"/>
              <a:t>="[[!</a:t>
            </a:r>
            <a:r>
              <a:rPr lang="es-ES" sz="1400" dirty="0" err="1"/>
              <a:t>isLoggedIn</a:t>
            </a:r>
            <a:r>
              <a:rPr lang="es-ES" sz="1400" dirty="0"/>
              <a:t>]]"&gt;&lt;/</a:t>
            </a:r>
            <a:r>
              <a:rPr lang="es-ES" sz="1400" dirty="0" err="1"/>
              <a:t>my</a:t>
            </a:r>
            <a:r>
              <a:rPr lang="es-ES" sz="1400" dirty="0"/>
              <a:t>-page&gt;</a:t>
            </a:r>
          </a:p>
          <a:p>
            <a:r>
              <a:rPr lang="es-ES" sz="1400" dirty="0"/>
              <a:t>  `;</a:t>
            </a:r>
          </a:p>
          <a:p>
            <a:r>
              <a:rPr lang="es-ES" sz="1400" dirty="0"/>
              <a:t>}</a:t>
            </a:r>
          </a:p>
        </p:txBody>
      </p:sp>
      <p:sp>
        <p:nvSpPr>
          <p:cNvPr id="15" name="Rectángulo 14"/>
          <p:cNvSpPr/>
          <p:nvPr/>
        </p:nvSpPr>
        <p:spPr>
          <a:xfrm>
            <a:off x="492433" y="2707842"/>
            <a:ext cx="8202871" cy="3319370"/>
          </a:xfrm>
          <a:prstGeom prst="rect">
            <a:avLst/>
          </a:prstGeom>
        </p:spPr>
        <p:txBody>
          <a:bodyPr wrap="square">
            <a:spAutoFit/>
          </a:bodyPr>
          <a:lstStyle/>
          <a:p>
            <a:pPr marL="285750" indent="-285750" algn="just">
              <a:lnSpc>
                <a:spcPct val="130000"/>
              </a:lnSpc>
              <a:buFont typeface="Wingdings" charset="2"/>
              <a:buChar char="ü"/>
            </a:pPr>
            <a:endParaRPr lang="es-ES_tradnl" dirty="0" smtClean="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Funciona como en JavaScript ,en este caso show-</a:t>
            </a:r>
            <a:r>
              <a:rPr lang="es-ES_tradnl" dirty="0" err="1" smtClean="0">
                <a:solidFill>
                  <a:srgbClr val="FFFFFF"/>
                </a:solidFill>
                <a:latin typeface="Helvetica"/>
                <a:cs typeface="Helvetica"/>
              </a:rPr>
              <a:t>login</a:t>
            </a:r>
            <a:r>
              <a:rPr lang="es-ES_tradnl" dirty="0" smtClean="0">
                <a:solidFill>
                  <a:srgbClr val="FFFFFF"/>
                </a:solidFill>
                <a:latin typeface="Helvetica"/>
                <a:cs typeface="Helvetica"/>
              </a:rPr>
              <a:t> (0) es false si la variable </a:t>
            </a:r>
            <a:r>
              <a:rPr lang="es-ES" dirty="0" err="1" smtClean="0"/>
              <a:t>isLoggedIn</a:t>
            </a:r>
            <a:r>
              <a:rPr lang="es-ES" dirty="0" smtClean="0"/>
              <a:t> es </a:t>
            </a:r>
            <a:r>
              <a:rPr lang="es-ES_tradnl" dirty="0" smtClean="0"/>
              <a:t>cierta(1).</a:t>
            </a:r>
          </a:p>
          <a:p>
            <a:pPr algn="just">
              <a:lnSpc>
                <a:spcPct val="130000"/>
              </a:lnSpc>
            </a:pPr>
            <a:r>
              <a:rPr lang="es-ES_tradnl" dirty="0" smtClean="0">
                <a:solidFill>
                  <a:srgbClr val="FFFFFF"/>
                </a:solidFill>
                <a:latin typeface="Helvetica"/>
                <a:cs typeface="Helvetica"/>
              </a:rPr>
              <a:t>Se suele utilizar con atributos </a:t>
            </a:r>
            <a:r>
              <a:rPr lang="es-ES_tradnl" dirty="0" err="1" smtClean="0">
                <a:solidFill>
                  <a:srgbClr val="FFFFFF"/>
                </a:solidFill>
                <a:latin typeface="Helvetica"/>
                <a:cs typeface="Helvetica"/>
              </a:rPr>
              <a:t>hidden</a:t>
            </a:r>
            <a:r>
              <a:rPr lang="es-ES_tradnl" dirty="0" smtClean="0">
                <a:solidFill>
                  <a:srgbClr val="FFFFFF"/>
                </a:solidFill>
                <a:latin typeface="Helvetica"/>
                <a:cs typeface="Helvetica"/>
              </a:rPr>
              <a:t> para mostrar/ocultar controles.</a:t>
            </a:r>
          </a:p>
          <a:p>
            <a:pPr algn="just">
              <a:lnSpc>
                <a:spcPct val="130000"/>
              </a:lnSpc>
            </a:pPr>
            <a:endParaRPr lang="es-ES_tradnl"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7" name="Rectángulo 16"/>
          <p:cNvSpPr/>
          <p:nvPr/>
        </p:nvSpPr>
        <p:spPr>
          <a:xfrm>
            <a:off x="1069296" y="4430655"/>
            <a:ext cx="7005407" cy="1169551"/>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a:t>&lt;</a:t>
            </a:r>
            <a:r>
              <a:rPr lang="es-ES" sz="1400" dirty="0" err="1"/>
              <a:t>iron-icon</a:t>
            </a:r>
            <a:r>
              <a:rPr lang="es-ES" sz="1400" dirty="0"/>
              <a:t> </a:t>
            </a:r>
            <a:r>
              <a:rPr lang="es-ES" sz="1400" dirty="0" err="1"/>
              <a:t>hidden</a:t>
            </a:r>
            <a:r>
              <a:rPr lang="es-ES" sz="1400" dirty="0"/>
              <a:t>$="[[! encendido]]" </a:t>
            </a:r>
            <a:r>
              <a:rPr lang="es-ES" sz="1400" dirty="0" err="1"/>
              <a:t>icon</a:t>
            </a:r>
            <a:r>
              <a:rPr lang="es-ES" sz="1400" dirty="0"/>
              <a:t>="</a:t>
            </a:r>
            <a:r>
              <a:rPr lang="es-ES" sz="1400" dirty="0" err="1"/>
              <a:t>icons:cloud-done</a:t>
            </a:r>
            <a:r>
              <a:rPr lang="es-ES" sz="1400" dirty="0"/>
              <a:t>"&gt;&lt;/</a:t>
            </a:r>
            <a:r>
              <a:rPr lang="es-ES" sz="1400" dirty="0" err="1"/>
              <a:t>iron-icon</a:t>
            </a:r>
            <a:r>
              <a:rPr lang="es-ES" sz="1400" dirty="0"/>
              <a:t>&gt;</a:t>
            </a:r>
          </a:p>
          <a:p>
            <a:r>
              <a:rPr lang="es-ES" sz="1400" dirty="0"/>
              <a:t>&lt;</a:t>
            </a:r>
            <a:r>
              <a:rPr lang="es-ES" sz="1400" dirty="0" err="1"/>
              <a:t>iron-icon</a:t>
            </a:r>
            <a:r>
              <a:rPr lang="es-ES" sz="1400" dirty="0"/>
              <a:t> </a:t>
            </a:r>
            <a:r>
              <a:rPr lang="es-ES" sz="1400" dirty="0" err="1"/>
              <a:t>hidden</a:t>
            </a:r>
            <a:r>
              <a:rPr lang="es-ES" sz="1400" dirty="0"/>
              <a:t>$="[[encendido]]" </a:t>
            </a:r>
            <a:r>
              <a:rPr lang="es-ES" sz="1400" dirty="0" err="1"/>
              <a:t>icon</a:t>
            </a:r>
            <a:r>
              <a:rPr lang="es-ES" sz="1400" dirty="0"/>
              <a:t>="</a:t>
            </a:r>
            <a:r>
              <a:rPr lang="es-ES" sz="1400" dirty="0" err="1"/>
              <a:t>icons:cloud-off</a:t>
            </a:r>
            <a:r>
              <a:rPr lang="es-ES" sz="1400" dirty="0"/>
              <a:t>"&gt;&lt;/</a:t>
            </a:r>
            <a:r>
              <a:rPr lang="es-ES" sz="1400" dirty="0" err="1"/>
              <a:t>iron-icon</a:t>
            </a:r>
            <a:r>
              <a:rPr lang="es-ES" sz="1400" dirty="0" smtClean="0"/>
              <a:t>&gt;</a:t>
            </a:r>
          </a:p>
          <a:p>
            <a:endParaRPr lang="es-ES" sz="1400" dirty="0"/>
          </a:p>
          <a:p>
            <a:r>
              <a:rPr lang="es-ES" sz="1400" dirty="0"/>
              <a:t>&lt;encendido-apagado&gt;&lt;/encendido-apagado&gt;</a:t>
            </a:r>
          </a:p>
          <a:p>
            <a:r>
              <a:rPr lang="es-ES" sz="1400" dirty="0"/>
              <a:t>&lt;encendido-apagado encendido&gt;&lt;/encendido-apagado&gt;</a:t>
            </a:r>
            <a:endParaRPr lang="es-ES" sz="1400" dirty="0"/>
          </a:p>
        </p:txBody>
      </p:sp>
    </p:spTree>
    <p:extLst>
      <p:ext uri="{BB962C8B-B14F-4D97-AF65-F5344CB8AC3E}">
        <p14:creationId xmlns:p14="http://schemas.microsoft.com/office/powerpoint/2010/main" val="1556481304"/>
      </p:ext>
    </p:extLst>
  </p:cSld>
  <p:clrMapOvr>
    <a:masterClrMapping/>
  </p:clrMapOvr>
  <p:timing>
    <p:tnLst>
      <p:par>
        <p:cTn xmlns:p14="http://schemas.microsoft.com/office/powerpoint/2010/mai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r>
              <a:rPr lang="es-ES_tradnl" sz="2200" u="sng" dirty="0" smtClean="0">
                <a:latin typeface="Arial Black"/>
                <a:cs typeface="Arial Black"/>
              </a:rPr>
              <a:t> &gt; </a:t>
            </a:r>
            <a:r>
              <a:rPr lang="es-ES_tradnl" sz="2200" u="sng" dirty="0" err="1" smtClean="0">
                <a:latin typeface="Arial Black"/>
                <a:cs typeface="Arial Black"/>
              </a:rPr>
              <a:t>Bindings</a:t>
            </a:r>
            <a:r>
              <a:rPr lang="es-ES_tradnl" sz="2200" u="sng" dirty="0" smtClean="0">
                <a:latin typeface="Arial Black"/>
                <a:cs typeface="Arial Black"/>
              </a:rPr>
              <a:t> Compuestos</a:t>
            </a:r>
            <a:endParaRPr lang="es-ES_tradnl" sz="2200" u="sng" dirty="0">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2239074"/>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88</a:t>
            </a:fld>
            <a:endParaRPr lang="en-US"/>
          </a:p>
        </p:txBody>
      </p:sp>
      <p:sp>
        <p:nvSpPr>
          <p:cNvPr id="15" name="Rectángulo 14"/>
          <p:cNvSpPr/>
          <p:nvPr/>
        </p:nvSpPr>
        <p:spPr>
          <a:xfrm>
            <a:off x="492433" y="1261092"/>
            <a:ext cx="8202871" cy="2959272"/>
          </a:xfrm>
          <a:prstGeom prst="rect">
            <a:avLst/>
          </a:prstGeom>
        </p:spPr>
        <p:txBody>
          <a:bodyPr wrap="square">
            <a:spAutoFit/>
          </a:bodyPr>
          <a:lstStyle/>
          <a:p>
            <a:pPr marL="285750" indent="-285750" algn="just">
              <a:lnSpc>
                <a:spcPct val="130000"/>
              </a:lnSpc>
              <a:buFont typeface="Wingdings" charset="2"/>
              <a:buChar char="ü"/>
            </a:pPr>
            <a:endParaRPr lang="es-ES_tradnl" dirty="0" smtClean="0">
              <a:solidFill>
                <a:srgbClr val="FFFFFF"/>
              </a:solidFill>
              <a:latin typeface="Helvetica"/>
              <a:cs typeface="Helvetica"/>
            </a:endParaRPr>
          </a:p>
          <a:p>
            <a:pPr algn="just">
              <a:lnSpc>
                <a:spcPct val="130000"/>
              </a:lnSpc>
            </a:pPr>
            <a:r>
              <a:rPr lang="es-ES_tradnl" dirty="0">
                <a:solidFill>
                  <a:srgbClr val="FFFFFF"/>
                </a:solidFill>
                <a:latin typeface="Helvetica"/>
                <a:cs typeface="Helvetica"/>
              </a:rPr>
              <a:t>Otra alternativa para utilizar en data </a:t>
            </a:r>
            <a:r>
              <a:rPr lang="es-ES_tradnl" dirty="0" err="1">
                <a:solidFill>
                  <a:srgbClr val="FFFFFF"/>
                </a:solidFill>
                <a:latin typeface="Helvetica"/>
                <a:cs typeface="Helvetica"/>
              </a:rPr>
              <a:t>binding</a:t>
            </a:r>
            <a:r>
              <a:rPr lang="es-ES_tradnl" dirty="0">
                <a:solidFill>
                  <a:srgbClr val="FFFFFF"/>
                </a:solidFill>
                <a:latin typeface="Helvetica"/>
                <a:cs typeface="Helvetica"/>
              </a:rPr>
              <a:t> son los </a:t>
            </a:r>
            <a:r>
              <a:rPr lang="es-ES_tradnl" dirty="0" err="1">
                <a:solidFill>
                  <a:srgbClr val="FFFFFF"/>
                </a:solidFill>
                <a:latin typeface="Helvetica"/>
                <a:cs typeface="Helvetica"/>
              </a:rPr>
              <a:t>bindings</a:t>
            </a:r>
            <a:r>
              <a:rPr lang="es-ES_tradnl" dirty="0">
                <a:solidFill>
                  <a:srgbClr val="FFFFFF"/>
                </a:solidFill>
                <a:latin typeface="Helvetica"/>
                <a:cs typeface="Helvetica"/>
              </a:rPr>
              <a:t> compuestos, que permiten concatenar </a:t>
            </a:r>
            <a:r>
              <a:rPr lang="es-ES_tradnl" dirty="0" smtClean="0">
                <a:solidFill>
                  <a:srgbClr val="FFFFFF"/>
                </a:solidFill>
                <a:latin typeface="Helvetica"/>
                <a:cs typeface="Helvetica"/>
              </a:rPr>
              <a:t>una cadena </a:t>
            </a:r>
            <a:r>
              <a:rPr lang="es-ES_tradnl" dirty="0">
                <a:solidFill>
                  <a:srgbClr val="FFFFFF"/>
                </a:solidFill>
                <a:latin typeface="Helvetica"/>
                <a:cs typeface="Helvetica"/>
              </a:rPr>
              <a:t>con el valor de una propiedad</a:t>
            </a:r>
            <a:r>
              <a:rPr lang="es-ES_tradnl" dirty="0" smtClean="0">
                <a:solidFill>
                  <a:srgbClr val="FFFFFF"/>
                </a:solidFill>
                <a:latin typeface="Helvetica"/>
                <a:cs typeface="Helvetica"/>
              </a:rPr>
              <a:t>.</a:t>
            </a:r>
          </a:p>
          <a:p>
            <a:pPr algn="just">
              <a:lnSpc>
                <a:spcPct val="130000"/>
              </a:lnSpc>
            </a:pPr>
            <a:r>
              <a:rPr lang="es-ES_tradnl" dirty="0" smtClean="0">
                <a:solidFill>
                  <a:srgbClr val="FFFFFF"/>
                </a:solidFill>
                <a:latin typeface="Helvetica"/>
                <a:cs typeface="Helvetica"/>
              </a:rPr>
              <a:t>Este tipo de </a:t>
            </a:r>
            <a:r>
              <a:rPr lang="es-ES_tradnl" dirty="0" err="1" smtClean="0">
                <a:solidFill>
                  <a:srgbClr val="FFFFFF"/>
                </a:solidFill>
                <a:latin typeface="Helvetica"/>
                <a:cs typeface="Helvetica"/>
              </a:rPr>
              <a:t>binding</a:t>
            </a:r>
            <a:r>
              <a:rPr lang="es-ES_tradnl" dirty="0" smtClean="0">
                <a:solidFill>
                  <a:srgbClr val="FFFFFF"/>
                </a:solidFill>
                <a:latin typeface="Helvetica"/>
                <a:cs typeface="Helvetica"/>
              </a:rPr>
              <a:t> con siempre de una direcci</a:t>
            </a:r>
            <a:r>
              <a:rPr lang="es-ES_tradnl" dirty="0" smtClean="0">
                <a:solidFill>
                  <a:srgbClr val="FFFFFF"/>
                </a:solidFill>
                <a:latin typeface="Helvetica"/>
                <a:cs typeface="Helvetica"/>
              </a:rPr>
              <a:t>ón.</a:t>
            </a:r>
            <a:endParaRPr lang="es-ES_tradnl"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7" name="Rectángulo 16"/>
          <p:cNvSpPr/>
          <p:nvPr/>
        </p:nvSpPr>
        <p:spPr>
          <a:xfrm>
            <a:off x="1069296" y="3225030"/>
            <a:ext cx="7005407" cy="738664"/>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a:t>&lt;</a:t>
            </a:r>
            <a:r>
              <a:rPr lang="es-ES" sz="1400" dirty="0" err="1"/>
              <a:t>img</a:t>
            </a:r>
            <a:r>
              <a:rPr lang="es-ES" sz="1400" dirty="0"/>
              <a:t> </a:t>
            </a:r>
            <a:r>
              <a:rPr lang="es-ES" sz="1400" dirty="0" err="1"/>
              <a:t>src</a:t>
            </a:r>
            <a:r>
              <a:rPr lang="es-ES" sz="1400" dirty="0"/>
              <a:t>$="</a:t>
            </a:r>
            <a:r>
              <a:rPr lang="es-ES" sz="1400" dirty="0" err="1"/>
              <a:t>https</a:t>
            </a:r>
            <a:r>
              <a:rPr lang="es-ES" sz="1400" dirty="0"/>
              <a:t>://</a:t>
            </a:r>
            <a:r>
              <a:rPr lang="es-ES" sz="1400" dirty="0" err="1"/>
              <a:t>www.example.com</a:t>
            </a:r>
            <a:r>
              <a:rPr lang="es-ES" sz="1400" dirty="0"/>
              <a:t>/</a:t>
            </a:r>
            <a:r>
              <a:rPr lang="es-ES" sz="1400" dirty="0" err="1"/>
              <a:t>profiles</a:t>
            </a:r>
            <a:r>
              <a:rPr lang="es-ES" sz="1400" dirty="0"/>
              <a:t>/[[</a:t>
            </a:r>
            <a:r>
              <a:rPr lang="es-ES" sz="1400" dirty="0" err="1"/>
              <a:t>userId</a:t>
            </a:r>
            <a:r>
              <a:rPr lang="es-ES" sz="1400" dirty="0"/>
              <a:t>]].</a:t>
            </a:r>
            <a:r>
              <a:rPr lang="es-ES" sz="1400" dirty="0" err="1"/>
              <a:t>jpg</a:t>
            </a:r>
            <a:r>
              <a:rPr lang="es-ES" sz="1400" dirty="0"/>
              <a:t>"&gt;</a:t>
            </a:r>
          </a:p>
          <a:p>
            <a:endParaRPr lang="es-ES" sz="1400" dirty="0"/>
          </a:p>
          <a:p>
            <a:r>
              <a:rPr lang="es-ES" sz="1400" dirty="0"/>
              <a:t>&lt;</a:t>
            </a:r>
            <a:r>
              <a:rPr lang="es-ES" sz="1400" dirty="0" err="1"/>
              <a:t>span</a:t>
            </a:r>
            <a:r>
              <a:rPr lang="es-ES" sz="1400" dirty="0"/>
              <a:t>&gt;</a:t>
            </a:r>
            <a:r>
              <a:rPr lang="es-ES" sz="1400" dirty="0" err="1"/>
              <a:t>Name</a:t>
            </a:r>
            <a:r>
              <a:rPr lang="es-ES" sz="1400" dirty="0"/>
              <a:t>: [[</a:t>
            </a:r>
            <a:r>
              <a:rPr lang="es-ES" sz="1400" dirty="0" err="1"/>
              <a:t>lastname</a:t>
            </a:r>
            <a:r>
              <a:rPr lang="es-ES" sz="1400" dirty="0"/>
              <a:t>]], [[</a:t>
            </a:r>
            <a:r>
              <a:rPr lang="es-ES" sz="1400" dirty="0" err="1"/>
              <a:t>firstname</a:t>
            </a:r>
            <a:r>
              <a:rPr lang="es-ES" sz="1400" dirty="0"/>
              <a:t>]]&lt;/</a:t>
            </a:r>
            <a:r>
              <a:rPr lang="es-ES" sz="1400" dirty="0" err="1"/>
              <a:t>span</a:t>
            </a:r>
            <a:r>
              <a:rPr lang="es-ES" sz="1400" dirty="0"/>
              <a:t>&gt;</a:t>
            </a:r>
          </a:p>
        </p:txBody>
      </p:sp>
    </p:spTree>
    <p:extLst>
      <p:ext uri="{BB962C8B-B14F-4D97-AF65-F5344CB8AC3E}">
        <p14:creationId xmlns:p14="http://schemas.microsoft.com/office/powerpoint/2010/main" val="633566305"/>
      </p:ext>
    </p:extLst>
  </p:cSld>
  <p:clrMapOvr>
    <a:masterClrMapping/>
  </p:clrMapOvr>
  <p:timing>
    <p:tnLst>
      <p:par>
        <p:cTn xmlns:p14="http://schemas.microsoft.com/office/powerpoint/2010/mai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DataBinding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DataBinding</a:t>
            </a:r>
            <a:r>
              <a:rPr lang="es-ES_tradnl" sz="2200" u="sng" dirty="0" smtClean="0">
                <a:latin typeface="Arial Black"/>
                <a:cs typeface="Arial Black"/>
              </a:rPr>
              <a:t> &gt; Demo</a:t>
            </a:r>
            <a:endParaRPr lang="es-ES_tradnl" sz="2200" u="sng" dirty="0">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2239074"/>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89</a:t>
            </a:fld>
            <a:endParaRPr lang="en-US"/>
          </a:p>
        </p:txBody>
      </p:sp>
      <p:sp>
        <p:nvSpPr>
          <p:cNvPr id="15" name="Rectángulo 14"/>
          <p:cNvSpPr/>
          <p:nvPr/>
        </p:nvSpPr>
        <p:spPr>
          <a:xfrm>
            <a:off x="492433" y="1261092"/>
            <a:ext cx="8202871" cy="2599173"/>
          </a:xfrm>
          <a:prstGeom prst="rect">
            <a:avLst/>
          </a:prstGeom>
        </p:spPr>
        <p:txBody>
          <a:bodyPr wrap="square">
            <a:spAutoFit/>
          </a:bodyPr>
          <a:lstStyle/>
          <a:p>
            <a:pPr marL="285750" indent="-285750" algn="just">
              <a:lnSpc>
                <a:spcPct val="130000"/>
              </a:lnSpc>
              <a:buFont typeface="Wingdings" charset="2"/>
              <a:buChar char="ü"/>
            </a:pPr>
            <a:endParaRPr lang="es-ES_tradnl" dirty="0" smtClean="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Creaci</a:t>
            </a:r>
            <a:r>
              <a:rPr lang="es-ES_tradnl" dirty="0" smtClean="0">
                <a:solidFill>
                  <a:srgbClr val="FFFFFF"/>
                </a:solidFill>
                <a:latin typeface="Helvetica"/>
                <a:cs typeface="Helvetica"/>
              </a:rPr>
              <a:t>ón de una calculadora con las operaciones básica para su encapsulamiento dentro de un componente web.</a:t>
            </a:r>
            <a:endParaRPr lang="es-ES_tradnl"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Tree>
    <p:extLst>
      <p:ext uri="{BB962C8B-B14F-4D97-AF65-F5344CB8AC3E}">
        <p14:creationId xmlns:p14="http://schemas.microsoft.com/office/powerpoint/2010/main" val="3971090084"/>
      </p:ext>
    </p:extLst>
  </p:cSld>
  <p:clrMapOvr>
    <a:masterClrMapping/>
  </p:clrMapOvr>
  <p:timing>
    <p:tnLst>
      <p:par>
        <p:cTn xmlns:p14="http://schemas.microsoft.com/office/powerpoint/2010/mai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Observadores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Observadores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759766"/>
          </a:xfrm>
          <a:prstGeom prst="rect">
            <a:avLst/>
          </a:prstGeom>
        </p:spPr>
        <p:txBody>
          <a:bodyPr wrap="square">
            <a:spAutoFit/>
          </a:bodyPr>
          <a:lstStyle/>
          <a:p>
            <a:pPr algn="just">
              <a:lnSpc>
                <a:spcPct val="130000"/>
              </a:lnSpc>
            </a:pPr>
            <a:r>
              <a:rPr lang="es-ES_tradnl" dirty="0">
                <a:solidFill>
                  <a:srgbClr val="FFFFFF"/>
                </a:solidFill>
                <a:latin typeface="Helvetica"/>
                <a:cs typeface="Helvetica"/>
              </a:rPr>
              <a:t>Los </a:t>
            </a:r>
            <a:r>
              <a:rPr lang="es-ES_tradnl" dirty="0" err="1">
                <a:solidFill>
                  <a:srgbClr val="FFFFFF"/>
                </a:solidFill>
                <a:latin typeface="Helvetica"/>
                <a:cs typeface="Helvetica"/>
              </a:rPr>
              <a:t>observers</a:t>
            </a:r>
            <a:r>
              <a:rPr lang="es-ES_tradnl" dirty="0">
                <a:solidFill>
                  <a:srgbClr val="FFFFFF"/>
                </a:solidFill>
                <a:latin typeface="Helvetica"/>
                <a:cs typeface="Helvetica"/>
              </a:rPr>
              <a:t> nos permiten estar informados de los cambios en los datos que maneja el componente, </a:t>
            </a:r>
            <a:r>
              <a:rPr lang="es-ES_tradnl" dirty="0" smtClean="0">
                <a:solidFill>
                  <a:srgbClr val="FFFFFF"/>
                </a:solidFill>
                <a:latin typeface="Helvetica"/>
                <a:cs typeface="Helvetica"/>
              </a:rPr>
              <a:t>ya sean </a:t>
            </a:r>
            <a:r>
              <a:rPr lang="es-ES_tradnl" dirty="0">
                <a:solidFill>
                  <a:srgbClr val="FFFFFF"/>
                </a:solidFill>
                <a:latin typeface="Helvetica"/>
                <a:cs typeface="Helvetica"/>
              </a:rPr>
              <a:t>propiedades comunes, propiedades de objetos, </a:t>
            </a:r>
            <a:r>
              <a:rPr lang="es-ES_tradnl" dirty="0" err="1">
                <a:solidFill>
                  <a:srgbClr val="FFFFFF"/>
                </a:solidFill>
                <a:latin typeface="Helvetica"/>
                <a:cs typeface="Helvetica"/>
              </a:rPr>
              <a:t>subpropiedades</a:t>
            </a:r>
            <a:r>
              <a:rPr lang="es-ES_tradnl" dirty="0">
                <a:solidFill>
                  <a:srgbClr val="FFFFFF"/>
                </a:solidFill>
                <a:latin typeface="Helvetica"/>
                <a:cs typeface="Helvetica"/>
              </a:rPr>
              <a:t>, o secciones de un </a:t>
            </a:r>
            <a:r>
              <a:rPr lang="es-ES_tradnl" dirty="0" err="1" smtClean="0">
                <a:solidFill>
                  <a:srgbClr val="FFFFFF"/>
                </a:solidFill>
                <a:latin typeface="Helvetica"/>
                <a:cs typeface="Helvetica"/>
              </a:rPr>
              <a:t>array</a:t>
            </a:r>
            <a:r>
              <a:rPr lang="nb-NO" dirty="0">
                <a:solidFill>
                  <a:srgbClr val="FFFFFF"/>
                </a:solidFill>
                <a:latin typeface="Helvetica"/>
                <a:cs typeface="Helvetica"/>
              </a:rPr>
              <a:t> </a:t>
            </a:r>
            <a:r>
              <a:rPr lang="nb-NO" dirty="0" smtClean="0">
                <a:solidFill>
                  <a:srgbClr val="FFFFFF"/>
                </a:solidFill>
                <a:latin typeface="Helvetica"/>
                <a:cs typeface="Helvetica"/>
              </a:rPr>
              <a:t>, de </a:t>
            </a:r>
            <a:r>
              <a:rPr lang="nb-NO" dirty="0" err="1" smtClean="0">
                <a:solidFill>
                  <a:srgbClr val="FFFFFF"/>
                </a:solidFill>
                <a:latin typeface="Helvetica"/>
                <a:cs typeface="Helvetica"/>
              </a:rPr>
              <a:t>modo</a:t>
            </a:r>
            <a:r>
              <a:rPr lang="nb-NO" dirty="0" smtClean="0">
                <a:solidFill>
                  <a:srgbClr val="FFFFFF"/>
                </a:solidFill>
                <a:latin typeface="Helvetica"/>
                <a:cs typeface="Helvetica"/>
              </a:rPr>
              <a:t> </a:t>
            </a:r>
            <a:r>
              <a:rPr lang="nb-NO" dirty="0" err="1" smtClean="0">
                <a:solidFill>
                  <a:srgbClr val="FFFFFF"/>
                </a:solidFill>
                <a:latin typeface="Helvetica"/>
                <a:cs typeface="Helvetica"/>
              </a:rPr>
              <a:t>que</a:t>
            </a:r>
            <a:r>
              <a:rPr lang="nb-NO" dirty="0" smtClean="0">
                <a:solidFill>
                  <a:srgbClr val="FFFFFF"/>
                </a:solidFill>
                <a:latin typeface="Helvetica"/>
                <a:cs typeface="Helvetica"/>
              </a:rPr>
              <a:t> si </a:t>
            </a:r>
            <a:r>
              <a:rPr lang="nb-NO" dirty="0" err="1" smtClean="0">
                <a:solidFill>
                  <a:srgbClr val="FFFFFF"/>
                </a:solidFill>
                <a:latin typeface="Helvetica"/>
                <a:cs typeface="Helvetica"/>
              </a:rPr>
              <a:t>estos</a:t>
            </a:r>
            <a:r>
              <a:rPr lang="nb-NO" dirty="0" smtClean="0">
                <a:solidFill>
                  <a:srgbClr val="FFFFFF"/>
                </a:solidFill>
                <a:latin typeface="Helvetica"/>
                <a:cs typeface="Helvetica"/>
              </a:rPr>
              <a:t> </a:t>
            </a:r>
            <a:r>
              <a:rPr lang="nb-NO" dirty="0" err="1" smtClean="0">
                <a:solidFill>
                  <a:srgbClr val="FFFFFF"/>
                </a:solidFill>
                <a:latin typeface="Helvetica"/>
                <a:cs typeface="Helvetica"/>
              </a:rPr>
              <a:t>cambian</a:t>
            </a:r>
            <a:r>
              <a:rPr lang="nb-NO" dirty="0">
                <a:solidFill>
                  <a:srgbClr val="FFFFFF"/>
                </a:solidFill>
                <a:latin typeface="Helvetica"/>
                <a:cs typeface="Helvetica"/>
              </a:rPr>
              <a:t> , </a:t>
            </a:r>
            <a:r>
              <a:rPr lang="nb-NO" dirty="0" smtClean="0">
                <a:solidFill>
                  <a:srgbClr val="FFFFFF"/>
                </a:solidFill>
                <a:latin typeface="Helvetica"/>
                <a:cs typeface="Helvetica"/>
              </a:rPr>
              <a:t>se </a:t>
            </a:r>
            <a:r>
              <a:rPr lang="nb-NO" dirty="0" err="1">
                <a:solidFill>
                  <a:srgbClr val="FFFFFF"/>
                </a:solidFill>
                <a:latin typeface="Helvetica"/>
                <a:cs typeface="Helvetica"/>
              </a:rPr>
              <a:t>pueda</a:t>
            </a:r>
            <a:r>
              <a:rPr lang="nb-NO" dirty="0">
                <a:solidFill>
                  <a:srgbClr val="FFFFFF"/>
                </a:solidFill>
                <a:latin typeface="Helvetica"/>
                <a:cs typeface="Helvetica"/>
              </a:rPr>
              <a:t> </a:t>
            </a:r>
            <a:r>
              <a:rPr lang="nb-NO" dirty="0" err="1">
                <a:solidFill>
                  <a:srgbClr val="FFFFFF"/>
                </a:solidFill>
                <a:latin typeface="Helvetica"/>
                <a:cs typeface="Helvetica"/>
              </a:rPr>
              <a:t>reaccionar</a:t>
            </a:r>
            <a:r>
              <a:rPr lang="nb-NO" dirty="0">
                <a:solidFill>
                  <a:srgbClr val="FFFFFF"/>
                </a:solidFill>
                <a:latin typeface="Helvetica"/>
                <a:cs typeface="Helvetica"/>
              </a:rPr>
              <a:t> </a:t>
            </a:r>
            <a:r>
              <a:rPr lang="nb-NO" dirty="0" err="1">
                <a:solidFill>
                  <a:srgbClr val="FFFFFF"/>
                </a:solidFill>
                <a:latin typeface="Helvetica"/>
                <a:cs typeface="Helvetica"/>
              </a:rPr>
              <a:t>ejecutando</a:t>
            </a:r>
            <a:r>
              <a:rPr lang="nb-NO" dirty="0">
                <a:solidFill>
                  <a:srgbClr val="FFFFFF"/>
                </a:solidFill>
                <a:latin typeface="Helvetica"/>
                <a:cs typeface="Helvetica"/>
              </a:rPr>
              <a:t> </a:t>
            </a:r>
            <a:r>
              <a:rPr lang="nb-NO" dirty="0" err="1">
                <a:solidFill>
                  <a:srgbClr val="FFFFFF"/>
                </a:solidFill>
                <a:latin typeface="Helvetica"/>
                <a:cs typeface="Helvetica"/>
              </a:rPr>
              <a:t>ciertas</a:t>
            </a:r>
            <a:r>
              <a:rPr lang="nb-NO" dirty="0">
                <a:solidFill>
                  <a:srgbClr val="FFFFFF"/>
                </a:solidFill>
                <a:latin typeface="Helvetica"/>
                <a:cs typeface="Helvetica"/>
              </a:rPr>
              <a:t> </a:t>
            </a:r>
            <a:r>
              <a:rPr lang="nb-NO" dirty="0" err="1">
                <a:solidFill>
                  <a:srgbClr val="FFFFFF"/>
                </a:solidFill>
                <a:latin typeface="Helvetica"/>
                <a:cs typeface="Helvetica"/>
              </a:rPr>
              <a:t>funciones</a:t>
            </a:r>
            <a:r>
              <a:rPr lang="nb-NO" dirty="0" smtClean="0">
                <a:solidFill>
                  <a:srgbClr val="FFFFFF"/>
                </a:solidFill>
                <a:latin typeface="Helvetica"/>
                <a:cs typeface="Helvetica"/>
              </a:rPr>
              <a:t>.</a:t>
            </a:r>
          </a:p>
          <a:p>
            <a:pPr algn="just">
              <a:lnSpc>
                <a:spcPct val="130000"/>
              </a:lnSpc>
            </a:pPr>
            <a:endParaRPr lang="nb-NO" dirty="0" smtClean="0">
              <a:solidFill>
                <a:srgbClr val="FFFFFF"/>
              </a:solidFill>
              <a:latin typeface="Helvetica"/>
              <a:cs typeface="Helvetica"/>
            </a:endParaRPr>
          </a:p>
          <a:p>
            <a:pPr algn="just">
              <a:lnSpc>
                <a:spcPct val="130000"/>
              </a:lnSpc>
            </a:pPr>
            <a:r>
              <a:rPr lang="nb-NO" dirty="0" smtClean="0">
                <a:solidFill>
                  <a:srgbClr val="FFFFFF"/>
                </a:solidFill>
                <a:latin typeface="Helvetica"/>
                <a:cs typeface="Helvetica"/>
              </a:rPr>
              <a:t> </a:t>
            </a:r>
            <a:r>
              <a:rPr lang="nb-NO" dirty="0" smtClean="0">
                <a:solidFill>
                  <a:srgbClr val="FFFFFF"/>
                </a:solidFill>
                <a:latin typeface="Helvetica"/>
                <a:cs typeface="Helvetica"/>
              </a:rPr>
              <a:t> </a:t>
            </a:r>
            <a:r>
              <a:rPr lang="nb-NO" dirty="0">
                <a:solidFill>
                  <a:srgbClr val="FFFFFF"/>
                </a:solidFill>
                <a:latin typeface="Helvetica"/>
                <a:cs typeface="Helvetica"/>
              </a:rPr>
              <a:t>Son, con las </a:t>
            </a:r>
            <a:r>
              <a:rPr lang="nb-NO" dirty="0" err="1">
                <a:solidFill>
                  <a:srgbClr val="FFFFFF"/>
                </a:solidFill>
                <a:latin typeface="Helvetica"/>
                <a:cs typeface="Helvetica"/>
              </a:rPr>
              <a:t>propiedades</a:t>
            </a:r>
            <a:r>
              <a:rPr lang="nb-NO" dirty="0">
                <a:solidFill>
                  <a:srgbClr val="FFFFFF"/>
                </a:solidFill>
                <a:latin typeface="Helvetica"/>
                <a:cs typeface="Helvetica"/>
              </a:rPr>
              <a:t> </a:t>
            </a:r>
            <a:r>
              <a:rPr lang="nb-NO" dirty="0" err="1">
                <a:solidFill>
                  <a:srgbClr val="FFFFFF"/>
                </a:solidFill>
                <a:latin typeface="Helvetica"/>
                <a:cs typeface="Helvetica"/>
              </a:rPr>
              <a:t>computadas</a:t>
            </a:r>
            <a:r>
              <a:rPr lang="nb-NO" dirty="0">
                <a:solidFill>
                  <a:srgbClr val="FFFFFF"/>
                </a:solidFill>
                <a:latin typeface="Helvetica"/>
                <a:cs typeface="Helvetica"/>
              </a:rPr>
              <a:t>, </a:t>
            </a:r>
            <a:r>
              <a:rPr lang="nb-NO" dirty="0" smtClean="0">
                <a:solidFill>
                  <a:srgbClr val="FFFFFF"/>
                </a:solidFill>
                <a:latin typeface="Helvetica"/>
                <a:cs typeface="Helvetica"/>
              </a:rPr>
              <a:t>las </a:t>
            </a:r>
            <a:r>
              <a:rPr lang="nb-NO" dirty="0" err="1" smtClean="0">
                <a:solidFill>
                  <a:srgbClr val="FFFFFF"/>
                </a:solidFill>
                <a:latin typeface="Helvetica"/>
                <a:cs typeface="Helvetica"/>
              </a:rPr>
              <a:t>herramientas</a:t>
            </a:r>
            <a:r>
              <a:rPr lang="nb-NO" dirty="0" smtClean="0">
                <a:solidFill>
                  <a:srgbClr val="FFFFFF"/>
                </a:solidFill>
                <a:latin typeface="Helvetica"/>
                <a:cs typeface="Helvetica"/>
              </a:rPr>
              <a:t> </a:t>
            </a:r>
            <a:r>
              <a:rPr lang="nb-NO" dirty="0" err="1">
                <a:solidFill>
                  <a:srgbClr val="FFFFFF"/>
                </a:solidFill>
                <a:latin typeface="Helvetica"/>
                <a:cs typeface="Helvetica"/>
              </a:rPr>
              <a:t>más</a:t>
            </a:r>
            <a:r>
              <a:rPr lang="nb-NO" dirty="0">
                <a:solidFill>
                  <a:srgbClr val="FFFFFF"/>
                </a:solidFill>
                <a:latin typeface="Helvetica"/>
                <a:cs typeface="Helvetica"/>
              </a:rPr>
              <a:t> </a:t>
            </a:r>
            <a:r>
              <a:rPr lang="nb-NO" dirty="0" err="1">
                <a:solidFill>
                  <a:srgbClr val="FFFFFF"/>
                </a:solidFill>
                <a:latin typeface="Helvetica"/>
                <a:cs typeface="Helvetica"/>
              </a:rPr>
              <a:t>útiles</a:t>
            </a:r>
            <a:r>
              <a:rPr lang="nb-NO" dirty="0">
                <a:solidFill>
                  <a:srgbClr val="FFFFFF"/>
                </a:solidFill>
                <a:latin typeface="Helvetica"/>
                <a:cs typeface="Helvetica"/>
              </a:rPr>
              <a:t> para </a:t>
            </a:r>
            <a:r>
              <a:rPr lang="nb-NO" dirty="0" err="1" smtClean="0">
                <a:solidFill>
                  <a:srgbClr val="FFFFFF"/>
                </a:solidFill>
                <a:latin typeface="Helvetica"/>
                <a:cs typeface="Helvetica"/>
              </a:rPr>
              <a:t>implementar</a:t>
            </a:r>
            <a:r>
              <a:rPr lang="nb-NO" dirty="0" smtClean="0">
                <a:solidFill>
                  <a:srgbClr val="FFFFFF"/>
                </a:solidFill>
                <a:latin typeface="Helvetica"/>
                <a:cs typeface="Helvetica"/>
              </a:rPr>
              <a:t> </a:t>
            </a:r>
            <a:r>
              <a:rPr lang="nb-NO" dirty="0" err="1" smtClean="0">
                <a:solidFill>
                  <a:srgbClr val="FFFFFF"/>
                </a:solidFill>
                <a:latin typeface="Helvetica"/>
                <a:cs typeface="Helvetica"/>
              </a:rPr>
              <a:t>una</a:t>
            </a:r>
            <a:r>
              <a:rPr lang="nb-NO" dirty="0" smtClean="0">
                <a:solidFill>
                  <a:srgbClr val="FFFFFF"/>
                </a:solidFill>
                <a:latin typeface="Helvetica"/>
                <a:cs typeface="Helvetica"/>
              </a:rPr>
              <a:t> </a:t>
            </a:r>
            <a:r>
              <a:rPr lang="nb-NO" dirty="0" err="1">
                <a:solidFill>
                  <a:srgbClr val="FFFFFF"/>
                </a:solidFill>
                <a:latin typeface="Helvetica"/>
                <a:cs typeface="Helvetica"/>
              </a:rPr>
              <a:t>programación</a:t>
            </a:r>
            <a:r>
              <a:rPr lang="nb-NO" dirty="0">
                <a:solidFill>
                  <a:srgbClr val="FFFFFF"/>
                </a:solidFill>
                <a:latin typeface="Helvetica"/>
                <a:cs typeface="Helvetica"/>
              </a:rPr>
              <a:t> </a:t>
            </a:r>
            <a:r>
              <a:rPr lang="nb-NO" dirty="0" err="1" smtClean="0">
                <a:solidFill>
                  <a:srgbClr val="FFFFFF"/>
                </a:solidFill>
                <a:latin typeface="Helvetica"/>
                <a:cs typeface="Helvetica"/>
              </a:rPr>
              <a:t>reactiva</a:t>
            </a:r>
            <a:r>
              <a:rPr lang="nb-NO" dirty="0" smtClean="0">
                <a:solidFill>
                  <a:srgbClr val="FFFFFF"/>
                </a:solidFill>
                <a:latin typeface="Helvetica"/>
                <a:cs typeface="Helvetica"/>
              </a:rPr>
              <a:t>.</a:t>
            </a:r>
          </a:p>
          <a:p>
            <a:pPr algn="just">
              <a:lnSpc>
                <a:spcPct val="130000"/>
              </a:lnSpc>
            </a:pPr>
            <a:endParaRPr lang="es-ES_tradnl" dirty="0" smtClean="0">
              <a:solidFill>
                <a:srgbClr val="FFFFFF"/>
              </a:solidFill>
              <a:latin typeface="Helvetica"/>
              <a:cs typeface="Helvetica"/>
              <a:hlinkClick r:id="rId5"/>
            </a:endParaRPr>
          </a:p>
          <a:p>
            <a:pPr algn="just">
              <a:lnSpc>
                <a:spcPct val="130000"/>
              </a:lnSpc>
            </a:pPr>
            <a:r>
              <a:rPr lang="es-ES_tradnl" dirty="0" smtClean="0">
                <a:solidFill>
                  <a:srgbClr val="FFFFFF"/>
                </a:solidFill>
                <a:latin typeface="Helvetica"/>
                <a:cs typeface="Helvetica"/>
                <a:hlinkClick r:id="rId5"/>
              </a:rPr>
              <a:t>https</a:t>
            </a:r>
            <a:r>
              <a:rPr lang="es-ES_tradnl" dirty="0">
                <a:solidFill>
                  <a:srgbClr val="FFFFFF"/>
                </a:solidFill>
                <a:latin typeface="Helvetica"/>
                <a:cs typeface="Helvetica"/>
                <a:hlinkClick r:id="rId5"/>
              </a:rPr>
              <a:t>://polymer-library.polymer-project.org/3.0/docs/devguide/observers</a:t>
            </a:r>
            <a:endParaRPr lang="es-ES_tradnl"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90</a:t>
            </a:fld>
            <a:endParaRPr lang="en-US"/>
          </a:p>
        </p:txBody>
      </p:sp>
    </p:spTree>
    <p:extLst>
      <p:ext uri="{BB962C8B-B14F-4D97-AF65-F5344CB8AC3E}">
        <p14:creationId xmlns:p14="http://schemas.microsoft.com/office/powerpoint/2010/main" val="2088848752"/>
      </p:ext>
    </p:extLst>
  </p:cSld>
  <p:clrMapOvr>
    <a:masterClrMapping/>
  </p:clrMapOvr>
  <p:timing>
    <p:tnLst>
      <p:par>
        <p:cTn xmlns:p14="http://schemas.microsoft.com/office/powerpoint/2010/mai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Observadores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Observadores &gt; Mutaciones en </a:t>
            </a:r>
            <a:r>
              <a:rPr lang="es-ES_tradnl" sz="2200" u="sng" dirty="0" err="1" smtClean="0">
                <a:latin typeface="Arial Black"/>
                <a:cs typeface="Arial Black"/>
              </a:rPr>
              <a:t>arrays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4399667"/>
          </a:xfrm>
          <a:prstGeom prst="rect">
            <a:avLst/>
          </a:prstGeom>
        </p:spPr>
        <p:txBody>
          <a:bodyPr wrap="square">
            <a:spAutoFit/>
          </a:bodyPr>
          <a:lstStyle/>
          <a:p>
            <a:pPr algn="just">
              <a:lnSpc>
                <a:spcPct val="130000"/>
              </a:lnSpc>
            </a:pPr>
            <a:r>
              <a:rPr lang="nb-NO" dirty="0" smtClean="0">
                <a:solidFill>
                  <a:srgbClr val="FFFFFF"/>
                </a:solidFill>
                <a:latin typeface="Helvetica"/>
                <a:cs typeface="Helvetica"/>
              </a:rPr>
              <a:t>  Los </a:t>
            </a:r>
            <a:r>
              <a:rPr lang="nb-NO" dirty="0" err="1" smtClean="0">
                <a:solidFill>
                  <a:srgbClr val="FFFFFF"/>
                </a:solidFill>
                <a:latin typeface="Helvetica"/>
                <a:cs typeface="Helvetica"/>
              </a:rPr>
              <a:t>m</a:t>
            </a:r>
            <a:r>
              <a:rPr lang="nb-NO" dirty="0" err="1" smtClean="0">
                <a:solidFill>
                  <a:srgbClr val="FFFFFF"/>
                </a:solidFill>
                <a:latin typeface="Helvetica"/>
                <a:cs typeface="Helvetica"/>
              </a:rPr>
              <a:t>étodos</a:t>
            </a:r>
            <a:r>
              <a:rPr lang="nb-NO" dirty="0" smtClean="0">
                <a:solidFill>
                  <a:srgbClr val="FFFFFF"/>
                </a:solidFill>
                <a:latin typeface="Helvetica"/>
                <a:cs typeface="Helvetica"/>
              </a:rPr>
              <a:t> </a:t>
            </a:r>
            <a:r>
              <a:rPr lang="nb-NO" dirty="0" err="1" smtClean="0">
                <a:solidFill>
                  <a:srgbClr val="FFFFFF"/>
                </a:solidFill>
                <a:latin typeface="Helvetica"/>
                <a:cs typeface="Helvetica"/>
              </a:rPr>
              <a:t>nativos</a:t>
            </a:r>
            <a:r>
              <a:rPr lang="nb-NO" dirty="0" smtClean="0">
                <a:solidFill>
                  <a:srgbClr val="FFFFFF"/>
                </a:solidFill>
                <a:latin typeface="Helvetica"/>
                <a:cs typeface="Helvetica"/>
              </a:rPr>
              <a:t> de JavaScript sobre </a:t>
            </a:r>
            <a:r>
              <a:rPr lang="nb-NO" dirty="0" err="1" smtClean="0">
                <a:solidFill>
                  <a:srgbClr val="FFFFFF"/>
                </a:solidFill>
                <a:latin typeface="Helvetica"/>
                <a:cs typeface="Helvetica"/>
              </a:rPr>
              <a:t>arrays</a:t>
            </a:r>
            <a:r>
              <a:rPr lang="nb-NO" dirty="0" smtClean="0">
                <a:solidFill>
                  <a:srgbClr val="FFFFFF"/>
                </a:solidFill>
                <a:latin typeface="Helvetica"/>
                <a:cs typeface="Helvetica"/>
              </a:rPr>
              <a:t>(</a:t>
            </a:r>
            <a:r>
              <a:rPr lang="nb-NO" dirty="0" err="1" smtClean="0">
                <a:solidFill>
                  <a:srgbClr val="FFFFFF"/>
                </a:solidFill>
                <a:latin typeface="Helvetica"/>
                <a:cs typeface="Helvetica"/>
              </a:rPr>
              <a:t>push,pull</a:t>
            </a:r>
            <a:r>
              <a:rPr lang="mr-IN" dirty="0" smtClean="0">
                <a:solidFill>
                  <a:srgbClr val="FFFFFF"/>
                </a:solidFill>
                <a:latin typeface="Helvetica"/>
                <a:cs typeface="Helvetica"/>
              </a:rPr>
              <a:t>…</a:t>
            </a:r>
            <a:r>
              <a:rPr lang="es-ES_tradnl" dirty="0" err="1" smtClean="0">
                <a:solidFill>
                  <a:srgbClr val="FFFFFF"/>
                </a:solidFill>
                <a:latin typeface="Helvetica"/>
                <a:cs typeface="Helvetica"/>
              </a:rPr>
              <a:t>etc</a:t>
            </a:r>
            <a:r>
              <a:rPr lang="es-ES_tradnl" dirty="0" smtClean="0">
                <a:solidFill>
                  <a:srgbClr val="FFFFFF"/>
                </a:solidFill>
                <a:latin typeface="Helvetica"/>
                <a:cs typeface="Helvetica"/>
              </a:rPr>
              <a:t>)</a:t>
            </a:r>
            <a:r>
              <a:rPr lang="nb-NO" dirty="0" smtClean="0">
                <a:solidFill>
                  <a:srgbClr val="FFFFFF"/>
                </a:solidFill>
                <a:latin typeface="Helvetica"/>
                <a:cs typeface="Helvetica"/>
              </a:rPr>
              <a:t> </a:t>
            </a:r>
            <a:r>
              <a:rPr lang="nb-NO" dirty="0" err="1" smtClean="0">
                <a:solidFill>
                  <a:srgbClr val="FFFFFF"/>
                </a:solidFill>
                <a:latin typeface="Helvetica"/>
                <a:cs typeface="Helvetica"/>
              </a:rPr>
              <a:t>no</a:t>
            </a:r>
            <a:r>
              <a:rPr lang="nb-NO" dirty="0" smtClean="0">
                <a:solidFill>
                  <a:srgbClr val="FFFFFF"/>
                </a:solidFill>
                <a:latin typeface="Helvetica"/>
                <a:cs typeface="Helvetica"/>
              </a:rPr>
              <a:t> </a:t>
            </a:r>
            <a:r>
              <a:rPr lang="nb-NO" dirty="0" err="1" smtClean="0">
                <a:solidFill>
                  <a:srgbClr val="FFFFFF"/>
                </a:solidFill>
                <a:latin typeface="Helvetica"/>
                <a:cs typeface="Helvetica"/>
              </a:rPr>
              <a:t>desencadenan</a:t>
            </a:r>
            <a:r>
              <a:rPr lang="nb-NO" dirty="0" smtClean="0">
                <a:solidFill>
                  <a:srgbClr val="FFFFFF"/>
                </a:solidFill>
                <a:latin typeface="Helvetica"/>
                <a:cs typeface="Helvetica"/>
              </a:rPr>
              <a:t> </a:t>
            </a:r>
            <a:r>
              <a:rPr lang="nb-NO" dirty="0">
                <a:solidFill>
                  <a:srgbClr val="FFFFFF"/>
                </a:solidFill>
                <a:latin typeface="Helvetica"/>
                <a:cs typeface="Helvetica"/>
              </a:rPr>
              <a:t>los </a:t>
            </a:r>
            <a:r>
              <a:rPr lang="nb-NO" dirty="0" err="1">
                <a:solidFill>
                  <a:srgbClr val="FFFFFF"/>
                </a:solidFill>
                <a:latin typeface="Helvetica"/>
                <a:cs typeface="Helvetica"/>
              </a:rPr>
              <a:t>mecanismos</a:t>
            </a:r>
            <a:r>
              <a:rPr lang="nb-NO" dirty="0">
                <a:solidFill>
                  <a:srgbClr val="FFFFFF"/>
                </a:solidFill>
                <a:latin typeface="Helvetica"/>
                <a:cs typeface="Helvetica"/>
              </a:rPr>
              <a:t> de binding ni </a:t>
            </a:r>
            <a:r>
              <a:rPr lang="nb-NO" dirty="0" err="1">
                <a:solidFill>
                  <a:srgbClr val="FFFFFF"/>
                </a:solidFill>
                <a:latin typeface="Helvetica"/>
                <a:cs typeface="Helvetica"/>
              </a:rPr>
              <a:t>tampoco</a:t>
            </a:r>
            <a:r>
              <a:rPr lang="nb-NO" dirty="0">
                <a:solidFill>
                  <a:srgbClr val="FFFFFF"/>
                </a:solidFill>
                <a:latin typeface="Helvetica"/>
                <a:cs typeface="Helvetica"/>
              </a:rPr>
              <a:t> </a:t>
            </a:r>
            <a:r>
              <a:rPr lang="nb-NO" dirty="0" err="1">
                <a:solidFill>
                  <a:srgbClr val="FFFFFF"/>
                </a:solidFill>
                <a:latin typeface="Helvetica"/>
                <a:cs typeface="Helvetica"/>
              </a:rPr>
              <a:t>producen</a:t>
            </a:r>
            <a:r>
              <a:rPr lang="nb-NO" dirty="0">
                <a:solidFill>
                  <a:srgbClr val="FFFFFF"/>
                </a:solidFill>
                <a:latin typeface="Helvetica"/>
                <a:cs typeface="Helvetica"/>
              </a:rPr>
              <a:t> la </a:t>
            </a:r>
            <a:r>
              <a:rPr lang="nb-NO" dirty="0" err="1">
                <a:solidFill>
                  <a:srgbClr val="FFFFFF"/>
                </a:solidFill>
                <a:latin typeface="Helvetica"/>
                <a:cs typeface="Helvetica"/>
              </a:rPr>
              <a:t>ejecución</a:t>
            </a:r>
            <a:r>
              <a:rPr lang="nb-NO" dirty="0">
                <a:solidFill>
                  <a:srgbClr val="FFFFFF"/>
                </a:solidFill>
                <a:latin typeface="Helvetica"/>
                <a:cs typeface="Helvetica"/>
              </a:rPr>
              <a:t> de los </a:t>
            </a:r>
            <a:r>
              <a:rPr lang="nb-NO" dirty="0" err="1" smtClean="0">
                <a:solidFill>
                  <a:srgbClr val="FFFFFF"/>
                </a:solidFill>
                <a:latin typeface="Helvetica"/>
                <a:cs typeface="Helvetica"/>
              </a:rPr>
              <a:t>observers</a:t>
            </a:r>
            <a:r>
              <a:rPr lang="nb-NO" dirty="0">
                <a:solidFill>
                  <a:srgbClr val="FFFFFF"/>
                </a:solidFill>
                <a:latin typeface="Helvetica"/>
                <a:cs typeface="Helvetica"/>
              </a:rPr>
              <a:t> </a:t>
            </a:r>
            <a:r>
              <a:rPr lang="nb-NO" dirty="0" smtClean="0">
                <a:solidFill>
                  <a:srgbClr val="FFFFFF"/>
                </a:solidFill>
                <a:latin typeface="Helvetica"/>
                <a:cs typeface="Helvetica"/>
              </a:rPr>
              <a:t>por </a:t>
            </a:r>
            <a:r>
              <a:rPr lang="nb-NO" dirty="0" err="1" smtClean="0">
                <a:solidFill>
                  <a:srgbClr val="FFFFFF"/>
                </a:solidFill>
                <a:latin typeface="Helvetica"/>
                <a:cs typeface="Helvetica"/>
              </a:rPr>
              <a:t>esa</a:t>
            </a:r>
            <a:r>
              <a:rPr lang="nb-NO" dirty="0" smtClean="0">
                <a:solidFill>
                  <a:srgbClr val="FFFFFF"/>
                </a:solidFill>
                <a:latin typeface="Helvetica"/>
                <a:cs typeface="Helvetica"/>
              </a:rPr>
              <a:t> </a:t>
            </a:r>
            <a:r>
              <a:rPr lang="nb-NO" dirty="0" err="1" smtClean="0">
                <a:solidFill>
                  <a:srgbClr val="FFFFFF"/>
                </a:solidFill>
                <a:latin typeface="Helvetica"/>
                <a:cs typeface="Helvetica"/>
              </a:rPr>
              <a:t>razon</a:t>
            </a:r>
            <a:r>
              <a:rPr lang="nb-NO" dirty="0">
                <a:solidFill>
                  <a:srgbClr val="FFFFFF"/>
                </a:solidFill>
                <a:latin typeface="Helvetica"/>
                <a:cs typeface="Helvetica"/>
              </a:rPr>
              <a:t> </a:t>
            </a:r>
            <a:r>
              <a:rPr lang="nb-NO" dirty="0" err="1" smtClean="0">
                <a:solidFill>
                  <a:srgbClr val="FFFFFF"/>
                </a:solidFill>
                <a:latin typeface="Helvetica"/>
                <a:cs typeface="Helvetica"/>
              </a:rPr>
              <a:t>debemos</a:t>
            </a:r>
            <a:r>
              <a:rPr lang="nb-NO" dirty="0" smtClean="0">
                <a:solidFill>
                  <a:srgbClr val="FFFFFF"/>
                </a:solidFill>
                <a:latin typeface="Helvetica"/>
                <a:cs typeface="Helvetica"/>
              </a:rPr>
              <a:t> </a:t>
            </a:r>
            <a:r>
              <a:rPr lang="nb-NO" dirty="0" err="1" smtClean="0">
                <a:solidFill>
                  <a:srgbClr val="FFFFFF"/>
                </a:solidFill>
                <a:latin typeface="Helvetica"/>
                <a:cs typeface="Helvetica"/>
              </a:rPr>
              <a:t>usar</a:t>
            </a:r>
            <a:r>
              <a:rPr lang="nb-NO" dirty="0" smtClean="0">
                <a:solidFill>
                  <a:srgbClr val="FFFFFF"/>
                </a:solidFill>
                <a:latin typeface="Helvetica"/>
                <a:cs typeface="Helvetica"/>
              </a:rPr>
              <a:t> los </a:t>
            </a:r>
            <a:r>
              <a:rPr lang="nb-NO" dirty="0" err="1" smtClean="0">
                <a:solidFill>
                  <a:srgbClr val="FFFFFF"/>
                </a:solidFill>
                <a:latin typeface="Helvetica"/>
                <a:cs typeface="Helvetica"/>
              </a:rPr>
              <a:t>propios</a:t>
            </a:r>
            <a:r>
              <a:rPr lang="nb-NO" dirty="0" smtClean="0">
                <a:solidFill>
                  <a:srgbClr val="FFFFFF"/>
                </a:solidFill>
                <a:latin typeface="Helvetica"/>
                <a:cs typeface="Helvetica"/>
              </a:rPr>
              <a:t> de Polymer</a:t>
            </a:r>
            <a:endParaRPr lang="nb-NO" dirty="0">
              <a:solidFill>
                <a:srgbClr val="FFFFFF"/>
              </a:solidFill>
              <a:latin typeface="Helvetica"/>
              <a:cs typeface="Helvetica"/>
            </a:endParaRPr>
          </a:p>
          <a:p>
            <a:pPr algn="just">
              <a:lnSpc>
                <a:spcPct val="130000"/>
              </a:lnSpc>
            </a:pPr>
            <a:r>
              <a:rPr lang="es-ES" dirty="0" smtClean="0"/>
              <a:t>Nativo : </a:t>
            </a:r>
            <a:r>
              <a:rPr lang="es-ES" dirty="0" err="1" smtClean="0"/>
              <a:t>this.valores.push</a:t>
            </a:r>
            <a:r>
              <a:rPr lang="es-ES" dirty="0"/>
              <a:t>('nuevo elemento a insertar al final del </a:t>
            </a:r>
            <a:r>
              <a:rPr lang="es-ES" dirty="0" err="1"/>
              <a:t>array</a:t>
            </a:r>
            <a:r>
              <a:rPr lang="es-ES" dirty="0"/>
              <a:t>')</a:t>
            </a:r>
            <a:r>
              <a:rPr lang="es-ES" dirty="0" smtClean="0"/>
              <a:t>;   </a:t>
            </a:r>
            <a:endParaRPr lang="nb-NO" dirty="0">
              <a:solidFill>
                <a:srgbClr val="FFFFFF"/>
              </a:solidFill>
              <a:latin typeface="Helvetica"/>
              <a:cs typeface="Helvetica"/>
            </a:endParaRPr>
          </a:p>
          <a:p>
            <a:pPr algn="just">
              <a:lnSpc>
                <a:spcPct val="130000"/>
              </a:lnSpc>
            </a:pPr>
            <a:r>
              <a:rPr lang="es-ES" dirty="0" err="1" smtClean="0"/>
              <a:t>Polymer</a:t>
            </a:r>
            <a:r>
              <a:rPr lang="es-ES" dirty="0" smtClean="0"/>
              <a:t> : </a:t>
            </a:r>
            <a:r>
              <a:rPr lang="es-ES" dirty="0" err="1" smtClean="0"/>
              <a:t>this.push</a:t>
            </a:r>
            <a:r>
              <a:rPr lang="es-ES" dirty="0"/>
              <a:t>('valores', 'nuevo elemento a insertar al final del </a:t>
            </a:r>
            <a:r>
              <a:rPr lang="es-ES" dirty="0" err="1"/>
              <a:t>array</a:t>
            </a:r>
            <a:r>
              <a:rPr lang="es-ES" dirty="0"/>
              <a:t>')</a:t>
            </a:r>
            <a:r>
              <a:rPr lang="es-ES" dirty="0" smtClean="0"/>
              <a:t>;</a:t>
            </a:r>
          </a:p>
          <a:p>
            <a:pPr algn="just">
              <a:lnSpc>
                <a:spcPct val="130000"/>
              </a:lnSpc>
            </a:pPr>
            <a:endParaRPr lang="es-ES" dirty="0">
              <a:solidFill>
                <a:srgbClr val="FFFFFF"/>
              </a:solidFill>
              <a:latin typeface="Helvetica"/>
              <a:cs typeface="Helvetica"/>
            </a:endParaRPr>
          </a:p>
          <a:p>
            <a:pPr algn="just">
              <a:lnSpc>
                <a:spcPct val="130000"/>
              </a:lnSpc>
            </a:pPr>
            <a:r>
              <a:rPr lang="es-ES_tradnl" dirty="0">
                <a:solidFill>
                  <a:srgbClr val="FFFFFF"/>
                </a:solidFill>
                <a:latin typeface="Helvetica"/>
                <a:cs typeface="Helvetica"/>
              </a:rPr>
              <a:t>Referencia </a:t>
            </a:r>
            <a:r>
              <a:rPr lang="es-ES_tradnl" dirty="0" err="1">
                <a:solidFill>
                  <a:srgbClr val="FFFFFF"/>
                </a:solidFill>
                <a:latin typeface="Helvetica"/>
                <a:cs typeface="Helvetica"/>
              </a:rPr>
              <a:t>Arrays</a:t>
            </a:r>
            <a:r>
              <a:rPr lang="es-ES_tradnl" dirty="0">
                <a:solidFill>
                  <a:srgbClr val="FFFFFF"/>
                </a:solidFill>
                <a:latin typeface="Helvetica"/>
                <a:cs typeface="Helvetica"/>
              </a:rPr>
              <a:t>:</a:t>
            </a:r>
          </a:p>
          <a:p>
            <a:pPr algn="just">
              <a:lnSpc>
                <a:spcPct val="130000"/>
              </a:lnSpc>
            </a:pPr>
            <a:r>
              <a:rPr lang="es-ES_tradnl" dirty="0">
                <a:solidFill>
                  <a:srgbClr val="FFFFFF"/>
                </a:solidFill>
                <a:latin typeface="Helvetica"/>
                <a:cs typeface="Helvetica"/>
                <a:hlinkClick r:id="rId5"/>
              </a:rPr>
              <a:t>https://polymer-library.polymer-project.org/3.0/docs/devguide/model-data#array-</a:t>
            </a:r>
            <a:r>
              <a:rPr lang="es-ES_tradnl" dirty="0" smtClean="0">
                <a:solidFill>
                  <a:srgbClr val="FFFFFF"/>
                </a:solidFill>
                <a:latin typeface="Helvetica"/>
                <a:cs typeface="Helvetica"/>
                <a:hlinkClick r:id="rId5"/>
              </a:rPr>
              <a:t>mutation</a:t>
            </a:r>
            <a:endParaRPr lang="nb-NO" dirty="0" smtClean="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91</a:t>
            </a:fld>
            <a:endParaRPr lang="en-US"/>
          </a:p>
        </p:txBody>
      </p:sp>
    </p:spTree>
    <p:extLst>
      <p:ext uri="{BB962C8B-B14F-4D97-AF65-F5344CB8AC3E}">
        <p14:creationId xmlns:p14="http://schemas.microsoft.com/office/powerpoint/2010/main" val="4099050910"/>
      </p:ext>
    </p:extLst>
  </p:cSld>
  <p:clrMapOvr>
    <a:masterClrMapping/>
  </p:clrMapOvr>
  <p:timing>
    <p:tnLst>
      <p:par>
        <p:cTn xmlns:p14="http://schemas.microsoft.com/office/powerpoint/2010/mai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Observadores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Observadores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2239074"/>
          </a:xfrm>
          <a:prstGeom prst="rect">
            <a:avLst/>
          </a:prstGeom>
        </p:spPr>
        <p:txBody>
          <a:bodyPr wrap="square">
            <a:spAutoFit/>
          </a:bodyPr>
          <a:lstStyle/>
          <a:p>
            <a:pPr algn="just">
              <a:lnSpc>
                <a:spcPct val="130000"/>
              </a:lnSpc>
            </a:pPr>
            <a:r>
              <a:rPr lang="es-ES_tradnl" dirty="0">
                <a:solidFill>
                  <a:srgbClr val="FFFFFF"/>
                </a:solidFill>
                <a:latin typeface="Helvetica"/>
                <a:cs typeface="Helvetica"/>
              </a:rPr>
              <a:t>Referencia Completa</a:t>
            </a:r>
            <a:r>
              <a:rPr lang="es-ES_tradnl" dirty="0" smtClean="0">
                <a:solidFill>
                  <a:srgbClr val="FFFFFF"/>
                </a:solidFill>
                <a:latin typeface="Helvetica"/>
                <a:cs typeface="Helvetica"/>
              </a:rPr>
              <a:t>: </a:t>
            </a: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92</a:t>
            </a:fld>
            <a:endParaRPr lang="en-US"/>
          </a:p>
        </p:txBody>
      </p:sp>
    </p:spTree>
    <p:extLst>
      <p:ext uri="{BB962C8B-B14F-4D97-AF65-F5344CB8AC3E}">
        <p14:creationId xmlns:p14="http://schemas.microsoft.com/office/powerpoint/2010/main" val="1004069029"/>
      </p:ext>
    </p:extLst>
  </p:cSld>
  <p:clrMapOvr>
    <a:masterClrMapping/>
  </p:clrMapOvr>
  <p:timing>
    <p:tnLst>
      <p:par>
        <p:cTn xmlns:p14="http://schemas.microsoft.com/office/powerpoint/2010/mai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Routing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Routing</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3679469"/>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6" name="Rectángulo 15"/>
          <p:cNvSpPr/>
          <p:nvPr/>
        </p:nvSpPr>
        <p:spPr>
          <a:xfrm>
            <a:off x="492433" y="1614742"/>
            <a:ext cx="8202871" cy="8000652"/>
          </a:xfrm>
          <a:prstGeom prst="rect">
            <a:avLst/>
          </a:prstGeom>
        </p:spPr>
        <p:txBody>
          <a:bodyPr wrap="square">
            <a:spAutoFit/>
          </a:bodyPr>
          <a:lstStyle/>
          <a:p>
            <a:pPr algn="just">
              <a:lnSpc>
                <a:spcPct val="130000"/>
              </a:lnSpc>
            </a:pPr>
            <a:r>
              <a:rPr lang="es-ES_tradnl" dirty="0" err="1" smtClean="0">
                <a:solidFill>
                  <a:srgbClr val="FFFFFF"/>
                </a:solidFill>
                <a:latin typeface="Helvetica"/>
                <a:cs typeface="Helvetica"/>
              </a:rPr>
              <a:t>Polymer</a:t>
            </a:r>
            <a:r>
              <a:rPr lang="es-ES_tradnl" dirty="0" smtClean="0">
                <a:solidFill>
                  <a:srgbClr val="FFFFFF"/>
                </a:solidFill>
                <a:latin typeface="Helvetica"/>
                <a:cs typeface="Helvetica"/>
              </a:rPr>
              <a:t> proporciona el componente </a:t>
            </a:r>
            <a:r>
              <a:rPr lang="es-ES_tradnl" dirty="0" smtClean="0">
                <a:solidFill>
                  <a:srgbClr val="CAA0E2"/>
                </a:solidFill>
                <a:latin typeface="Helvetica"/>
                <a:cs typeface="Helvetica"/>
              </a:rPr>
              <a:t>&lt;</a:t>
            </a:r>
            <a:r>
              <a:rPr lang="es-ES_tradnl" dirty="0" err="1" smtClean="0">
                <a:solidFill>
                  <a:srgbClr val="CAA0E2"/>
                </a:solidFill>
                <a:latin typeface="Helvetica"/>
                <a:cs typeface="Helvetica"/>
              </a:rPr>
              <a:t>app-route</a:t>
            </a:r>
            <a:r>
              <a:rPr lang="es-ES_tradnl" dirty="0" smtClean="0">
                <a:solidFill>
                  <a:srgbClr val="CAA0E2"/>
                </a:solidFill>
                <a:latin typeface="Helvetica"/>
                <a:cs typeface="Helvetica"/>
              </a:rPr>
              <a:t>&gt; </a:t>
            </a:r>
            <a:r>
              <a:rPr lang="es-ES_tradnl" dirty="0" smtClean="0">
                <a:solidFill>
                  <a:srgbClr val="FFFFFF"/>
                </a:solidFill>
                <a:latin typeface="Helvetica"/>
                <a:cs typeface="Helvetica"/>
              </a:rPr>
              <a:t>para poder implementar un sistema de control de ruteo para paginas </a:t>
            </a:r>
            <a:r>
              <a:rPr lang="es-ES_tradnl" dirty="0" err="1" smtClean="0">
                <a:solidFill>
                  <a:srgbClr val="FFFFFF"/>
                </a:solidFill>
                <a:latin typeface="Helvetica"/>
                <a:cs typeface="Helvetica"/>
              </a:rPr>
              <a:t>web.Este</a:t>
            </a:r>
            <a:r>
              <a:rPr lang="es-ES_tradnl" dirty="0" smtClean="0">
                <a:solidFill>
                  <a:srgbClr val="FFFFFF"/>
                </a:solidFill>
                <a:latin typeface="Helvetica"/>
                <a:cs typeface="Helvetica"/>
              </a:rPr>
              <a:t> componente esta diseñado bajo los principios que promueve </a:t>
            </a:r>
            <a:r>
              <a:rPr lang="es-ES_tradnl" dirty="0" err="1" smtClean="0">
                <a:solidFill>
                  <a:srgbClr val="FFFFFF"/>
                </a:solidFill>
                <a:latin typeface="Helvetica"/>
                <a:cs typeface="Helvetica"/>
              </a:rPr>
              <a:t>Polymer</a:t>
            </a:r>
            <a:r>
              <a:rPr lang="es-ES_tradnl" dirty="0" smtClean="0">
                <a:solidFill>
                  <a:srgbClr val="FFFFFF"/>
                </a:solidFill>
                <a:latin typeface="Helvetica"/>
                <a:cs typeface="Helvetica"/>
              </a:rPr>
              <a:t>: </a:t>
            </a:r>
            <a:r>
              <a:rPr lang="es-ES_tradnl" dirty="0" err="1" smtClean="0">
                <a:solidFill>
                  <a:srgbClr val="FFFFFF"/>
                </a:solidFill>
                <a:latin typeface="Helvetica"/>
                <a:cs typeface="Helvetica"/>
              </a:rPr>
              <a:t>encapsulación,composición</a:t>
            </a:r>
            <a:r>
              <a:rPr lang="es-ES_tradnl" dirty="0" smtClean="0">
                <a:solidFill>
                  <a:srgbClr val="FFFFFF"/>
                </a:solidFill>
                <a:latin typeface="Helvetica"/>
                <a:cs typeface="Helvetica"/>
              </a:rPr>
              <a:t> y separación de conceptos.</a:t>
            </a:r>
            <a:endParaRPr lang="nb-NO" dirty="0" smtClean="0">
              <a:solidFill>
                <a:srgbClr val="FFFFFF"/>
              </a:solidFill>
              <a:latin typeface="Helvetica"/>
              <a:cs typeface="Helvetica"/>
            </a:endParaRPr>
          </a:p>
          <a:p>
            <a:pPr algn="just">
              <a:lnSpc>
                <a:spcPct val="130000"/>
              </a:lnSpc>
            </a:pPr>
            <a:r>
              <a:rPr lang="nb-NO" dirty="0">
                <a:solidFill>
                  <a:srgbClr val="FFFFFF"/>
                </a:solidFill>
                <a:latin typeface="Helvetica"/>
                <a:cs typeface="Helvetica"/>
              </a:rPr>
              <a:t> </a:t>
            </a:r>
            <a:r>
              <a:rPr lang="nb-NO" dirty="0" smtClean="0">
                <a:solidFill>
                  <a:srgbClr val="FFFFFF"/>
                </a:solidFill>
                <a:latin typeface="Helvetica"/>
                <a:cs typeface="Helvetica"/>
              </a:rPr>
              <a:t>El </a:t>
            </a:r>
            <a:r>
              <a:rPr lang="nb-NO" dirty="0" err="1" smtClean="0">
                <a:solidFill>
                  <a:srgbClr val="FFFFFF"/>
                </a:solidFill>
                <a:latin typeface="Helvetica"/>
                <a:cs typeface="Helvetica"/>
              </a:rPr>
              <a:t>componente</a:t>
            </a:r>
            <a:r>
              <a:rPr lang="nb-NO" dirty="0" smtClean="0">
                <a:solidFill>
                  <a:srgbClr val="FFFFFF"/>
                </a:solidFill>
                <a:latin typeface="Helvetica"/>
                <a:cs typeface="Helvetica"/>
              </a:rPr>
              <a:t> </a:t>
            </a:r>
            <a:r>
              <a:rPr lang="es-ES_tradnl" dirty="0">
                <a:solidFill>
                  <a:schemeClr val="accent2">
                    <a:lumMod val="40000"/>
                    <a:lumOff val="60000"/>
                  </a:schemeClr>
                </a:solidFill>
                <a:latin typeface="Helvetica"/>
                <a:cs typeface="Helvetica"/>
              </a:rPr>
              <a:t>&lt;</a:t>
            </a:r>
            <a:r>
              <a:rPr lang="es-ES_tradnl" dirty="0" err="1">
                <a:solidFill>
                  <a:schemeClr val="accent2">
                    <a:lumMod val="40000"/>
                    <a:lumOff val="60000"/>
                  </a:schemeClr>
                </a:solidFill>
                <a:latin typeface="Helvetica"/>
                <a:cs typeface="Helvetica"/>
              </a:rPr>
              <a:t>app-route</a:t>
            </a:r>
            <a:r>
              <a:rPr lang="es-ES_tradnl" dirty="0">
                <a:solidFill>
                  <a:schemeClr val="accent2">
                    <a:lumMod val="40000"/>
                    <a:lumOff val="60000"/>
                  </a:schemeClr>
                </a:solidFill>
                <a:latin typeface="Helvetica"/>
                <a:cs typeface="Helvetica"/>
              </a:rPr>
              <a:t>&gt;  </a:t>
            </a:r>
            <a:r>
              <a:rPr lang="es-ES_tradnl" dirty="0" smtClean="0">
                <a:solidFill>
                  <a:srgbClr val="FFFFFF"/>
                </a:solidFill>
                <a:latin typeface="Helvetica"/>
                <a:cs typeface="Helvetica"/>
              </a:rPr>
              <a:t>se encarga de descomponer una ruta bajo un patrón de definición para obtener las diferentes partes que componen la ruta como son la </a:t>
            </a:r>
            <a:r>
              <a:rPr lang="es-ES_tradnl" dirty="0" err="1" smtClean="0">
                <a:solidFill>
                  <a:srgbClr val="FFFFFF"/>
                </a:solidFill>
                <a:latin typeface="Helvetica"/>
                <a:cs typeface="Helvetica"/>
              </a:rPr>
              <a:t>pagina,path</a:t>
            </a:r>
            <a:r>
              <a:rPr lang="mr-IN" dirty="0" smtClean="0">
                <a:solidFill>
                  <a:srgbClr val="FFFFFF"/>
                </a:solidFill>
                <a:latin typeface="Helvetica"/>
                <a:cs typeface="Helvetica"/>
              </a:rPr>
              <a:t>…</a:t>
            </a:r>
            <a:r>
              <a:rPr lang="es-ES_tradnl" dirty="0" smtClean="0">
                <a:solidFill>
                  <a:srgbClr val="FFFFFF"/>
                </a:solidFill>
                <a:latin typeface="Helvetica"/>
                <a:cs typeface="Helvetica"/>
              </a:rPr>
              <a:t>etc.</a:t>
            </a:r>
          </a:p>
          <a:p>
            <a:pPr algn="just">
              <a:lnSpc>
                <a:spcPct val="130000"/>
              </a:lnSpc>
            </a:pPr>
            <a:r>
              <a:rPr lang="nb-NO" dirty="0" smtClean="0">
                <a:solidFill>
                  <a:srgbClr val="FFFFFF"/>
                </a:solidFill>
                <a:latin typeface="Helvetica"/>
                <a:cs typeface="Helvetica"/>
              </a:rPr>
              <a:t> </a:t>
            </a:r>
            <a:r>
              <a:rPr lang="nb-NO" dirty="0">
                <a:solidFill>
                  <a:srgbClr val="FFFFFF"/>
                </a:solidFill>
                <a:latin typeface="Helvetica"/>
                <a:cs typeface="Helvetica"/>
              </a:rPr>
              <a:t>El </a:t>
            </a:r>
            <a:r>
              <a:rPr lang="nb-NO" dirty="0" err="1">
                <a:solidFill>
                  <a:srgbClr val="FFFFFF"/>
                </a:solidFill>
                <a:latin typeface="Helvetica"/>
                <a:cs typeface="Helvetica"/>
              </a:rPr>
              <a:t>componente</a:t>
            </a:r>
            <a:r>
              <a:rPr lang="nb-NO" dirty="0">
                <a:solidFill>
                  <a:srgbClr val="FFFFFF"/>
                </a:solidFill>
                <a:latin typeface="Helvetica"/>
                <a:cs typeface="Helvetica"/>
              </a:rPr>
              <a:t> </a:t>
            </a:r>
            <a:r>
              <a:rPr lang="es-ES_tradnl" dirty="0">
                <a:solidFill>
                  <a:schemeClr val="accent2">
                    <a:lumMod val="40000"/>
                    <a:lumOff val="60000"/>
                  </a:schemeClr>
                </a:solidFill>
                <a:latin typeface="Helvetica"/>
                <a:cs typeface="Helvetica"/>
              </a:rPr>
              <a:t>&lt;</a:t>
            </a:r>
            <a:r>
              <a:rPr lang="es-ES_tradnl" dirty="0" err="1">
                <a:solidFill>
                  <a:schemeClr val="accent2">
                    <a:lumMod val="40000"/>
                    <a:lumOff val="60000"/>
                  </a:schemeClr>
                </a:solidFill>
                <a:latin typeface="Helvetica"/>
                <a:cs typeface="Helvetica"/>
              </a:rPr>
              <a:t>app-route</a:t>
            </a:r>
            <a:r>
              <a:rPr lang="es-ES_tradnl" dirty="0">
                <a:solidFill>
                  <a:schemeClr val="accent2">
                    <a:lumMod val="40000"/>
                    <a:lumOff val="60000"/>
                  </a:schemeClr>
                </a:solidFill>
                <a:latin typeface="Helvetica"/>
                <a:cs typeface="Helvetica"/>
              </a:rPr>
              <a:t>&gt; </a:t>
            </a:r>
            <a:r>
              <a:rPr lang="es-ES_tradnl" dirty="0" smtClean="0">
                <a:solidFill>
                  <a:schemeClr val="accent2">
                    <a:lumMod val="40000"/>
                    <a:lumOff val="60000"/>
                  </a:schemeClr>
                </a:solidFill>
                <a:latin typeface="Helvetica"/>
                <a:cs typeface="Helvetica"/>
              </a:rPr>
              <a:t> </a:t>
            </a:r>
            <a:r>
              <a:rPr lang="es-ES_tradnl" dirty="0" smtClean="0">
                <a:solidFill>
                  <a:srgbClr val="FFFFFF"/>
                </a:solidFill>
                <a:latin typeface="Helvetica"/>
                <a:cs typeface="Helvetica"/>
              </a:rPr>
              <a:t>no conoce la URL de nuestra web por lo que necesita de un componente adicional  </a:t>
            </a:r>
            <a:r>
              <a:rPr lang="es-ES_tradnl" dirty="0" smtClean="0">
                <a:solidFill>
                  <a:srgbClr val="CAA0E2"/>
                </a:solidFill>
                <a:latin typeface="Helvetica"/>
                <a:cs typeface="Helvetica"/>
              </a:rPr>
              <a:t>&lt;</a:t>
            </a:r>
            <a:r>
              <a:rPr lang="es-ES_tradnl" dirty="0" err="1" smtClean="0">
                <a:solidFill>
                  <a:srgbClr val="CAA0E2"/>
                </a:solidFill>
                <a:latin typeface="Helvetica"/>
                <a:cs typeface="Helvetica"/>
              </a:rPr>
              <a:t>app-location</a:t>
            </a:r>
            <a:r>
              <a:rPr lang="es-ES_tradnl" dirty="0" smtClean="0">
                <a:solidFill>
                  <a:srgbClr val="CAA0E2"/>
                </a:solidFill>
                <a:latin typeface="Helvetica"/>
                <a:cs typeface="Helvetica"/>
              </a:rPr>
              <a:t>&gt; </a:t>
            </a:r>
            <a:r>
              <a:rPr lang="es-ES_tradnl" dirty="0" smtClean="0">
                <a:solidFill>
                  <a:srgbClr val="FFFFFF"/>
                </a:solidFill>
                <a:latin typeface="Helvetica"/>
                <a:cs typeface="Helvetica"/>
              </a:rPr>
              <a:t>para obtener esta URL mediante </a:t>
            </a:r>
            <a:r>
              <a:rPr lang="es-ES_tradnl" dirty="0" err="1" smtClean="0">
                <a:solidFill>
                  <a:srgbClr val="FFFFFF"/>
                </a:solidFill>
                <a:latin typeface="Helvetica"/>
                <a:cs typeface="Helvetica"/>
              </a:rPr>
              <a:t>databinding</a:t>
            </a:r>
            <a:r>
              <a:rPr lang="es-ES_tradnl" dirty="0" smtClean="0">
                <a:solidFill>
                  <a:srgbClr val="FFFFFF"/>
                </a:solidFill>
                <a:latin typeface="Helvetica"/>
                <a:cs typeface="Helvetica"/>
              </a:rPr>
              <a:t>.</a:t>
            </a:r>
          </a:p>
          <a:p>
            <a:pPr algn="just">
              <a:lnSpc>
                <a:spcPct val="130000"/>
              </a:lnSpc>
            </a:pPr>
            <a:r>
              <a:rPr lang="nb-NO" dirty="0" smtClean="0">
                <a:solidFill>
                  <a:srgbClr val="FFFFFF"/>
                </a:solidFill>
                <a:latin typeface="Helvetica"/>
                <a:cs typeface="Helvetica"/>
              </a:rPr>
              <a:t> Los </a:t>
            </a:r>
            <a:r>
              <a:rPr lang="nb-NO" dirty="0" err="1" smtClean="0">
                <a:solidFill>
                  <a:srgbClr val="FFFFFF"/>
                </a:solidFill>
                <a:latin typeface="Helvetica"/>
                <a:cs typeface="Helvetica"/>
              </a:rPr>
              <a:t>cambios</a:t>
            </a:r>
            <a:r>
              <a:rPr lang="nb-NO" dirty="0" smtClean="0">
                <a:solidFill>
                  <a:srgbClr val="FFFFFF"/>
                </a:solidFill>
                <a:latin typeface="Helvetica"/>
                <a:cs typeface="Helvetica"/>
              </a:rPr>
              <a:t> de ruta </a:t>
            </a:r>
            <a:r>
              <a:rPr lang="nb-NO" dirty="0" err="1" smtClean="0">
                <a:solidFill>
                  <a:srgbClr val="FFFFFF"/>
                </a:solidFill>
                <a:latin typeface="Helvetica"/>
                <a:cs typeface="Helvetica"/>
              </a:rPr>
              <a:t>pueden</a:t>
            </a:r>
            <a:r>
              <a:rPr lang="nb-NO" dirty="0" smtClean="0">
                <a:solidFill>
                  <a:srgbClr val="FFFFFF"/>
                </a:solidFill>
                <a:latin typeface="Helvetica"/>
                <a:cs typeface="Helvetica"/>
              </a:rPr>
              <a:t> ser </a:t>
            </a:r>
            <a:r>
              <a:rPr lang="nb-NO" dirty="0" err="1" smtClean="0">
                <a:solidFill>
                  <a:srgbClr val="FFFFFF"/>
                </a:solidFill>
                <a:latin typeface="Helvetica"/>
                <a:cs typeface="Helvetica"/>
              </a:rPr>
              <a:t>asociados</a:t>
            </a:r>
            <a:r>
              <a:rPr lang="nb-NO" dirty="0" smtClean="0">
                <a:solidFill>
                  <a:srgbClr val="FFFFFF"/>
                </a:solidFill>
                <a:latin typeface="Helvetica"/>
                <a:cs typeface="Helvetica"/>
              </a:rPr>
              <a:t> a </a:t>
            </a:r>
            <a:r>
              <a:rPr lang="nb-NO" dirty="0" err="1" smtClean="0">
                <a:solidFill>
                  <a:srgbClr val="FFFFFF"/>
                </a:solidFill>
                <a:latin typeface="Helvetica"/>
                <a:cs typeface="Helvetica"/>
              </a:rPr>
              <a:t>funciones</a:t>
            </a:r>
            <a:r>
              <a:rPr lang="nb-NO" dirty="0" smtClean="0">
                <a:solidFill>
                  <a:srgbClr val="FFFFFF"/>
                </a:solidFill>
                <a:latin typeface="Helvetica"/>
                <a:cs typeface="Helvetica"/>
              </a:rPr>
              <a:t> </a:t>
            </a:r>
            <a:r>
              <a:rPr lang="nb-NO" dirty="0" err="1" smtClean="0">
                <a:solidFill>
                  <a:srgbClr val="FFFFFF"/>
                </a:solidFill>
                <a:latin typeface="Helvetica"/>
                <a:cs typeface="Helvetica"/>
              </a:rPr>
              <a:t>mediante</a:t>
            </a:r>
            <a:r>
              <a:rPr lang="nb-NO" dirty="0" smtClean="0">
                <a:solidFill>
                  <a:srgbClr val="FFFFFF"/>
                </a:solidFill>
                <a:latin typeface="Helvetica"/>
                <a:cs typeface="Helvetica"/>
              </a:rPr>
              <a:t> </a:t>
            </a:r>
            <a:r>
              <a:rPr lang="nb-NO" dirty="0" err="1" smtClean="0">
                <a:solidFill>
                  <a:srgbClr val="FFFFFF"/>
                </a:solidFill>
                <a:latin typeface="Helvetica"/>
                <a:cs typeface="Helvetica"/>
              </a:rPr>
              <a:t>observers</a:t>
            </a:r>
            <a:r>
              <a:rPr lang="nb-NO" dirty="0" smtClean="0">
                <a:solidFill>
                  <a:srgbClr val="FFFFFF"/>
                </a:solidFill>
                <a:latin typeface="Helvetica"/>
                <a:cs typeface="Helvetica"/>
              </a:rPr>
              <a:t>.</a:t>
            </a: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r>
              <a:rPr lang="nb-NO" dirty="0" err="1" smtClean="0">
                <a:solidFill>
                  <a:srgbClr val="FFFFFF"/>
                </a:solidFill>
                <a:latin typeface="Helvetica"/>
                <a:cs typeface="Helvetica"/>
              </a:rPr>
              <a:t>Referencia</a:t>
            </a:r>
            <a:r>
              <a:rPr lang="nb-NO" dirty="0" smtClean="0">
                <a:solidFill>
                  <a:srgbClr val="FFFFFF"/>
                </a:solidFill>
                <a:latin typeface="Helvetica"/>
                <a:cs typeface="Helvetica"/>
              </a:rPr>
              <a:t> </a:t>
            </a:r>
            <a:r>
              <a:rPr lang="nb-NO" dirty="0" err="1" smtClean="0">
                <a:solidFill>
                  <a:srgbClr val="FFFFFF"/>
                </a:solidFill>
                <a:latin typeface="Helvetica"/>
                <a:cs typeface="Helvetica"/>
              </a:rPr>
              <a:t>Completa</a:t>
            </a:r>
            <a:r>
              <a:rPr lang="nb-NO" dirty="0" smtClean="0">
                <a:solidFill>
                  <a:srgbClr val="FFFFFF"/>
                </a:solidFill>
                <a:latin typeface="Helvetica"/>
                <a:cs typeface="Helvetica"/>
              </a:rPr>
              <a:t>: </a:t>
            </a:r>
            <a:r>
              <a:rPr lang="nb-NO" dirty="0" smtClean="0">
                <a:solidFill>
                  <a:srgbClr val="FFFFFF"/>
                </a:solidFill>
                <a:latin typeface="Helvetica"/>
                <a:cs typeface="Helvetica"/>
                <a:hlinkClick r:id="rId5"/>
              </a:rPr>
              <a:t>https://www.polymer-project.org/blog/routing</a:t>
            </a: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93</a:t>
            </a:fld>
            <a:endParaRPr lang="en-US"/>
          </a:p>
        </p:txBody>
      </p:sp>
    </p:spTree>
    <p:extLst>
      <p:ext uri="{BB962C8B-B14F-4D97-AF65-F5344CB8AC3E}">
        <p14:creationId xmlns:p14="http://schemas.microsoft.com/office/powerpoint/2010/main" val="1844900783"/>
      </p:ext>
    </p:extLst>
  </p:cSld>
  <p:clrMapOvr>
    <a:masterClrMapping/>
  </p:clrMapOvr>
  <p:timing>
    <p:tnLst>
      <p:par>
        <p:cTn xmlns:p14="http://schemas.microsoft.com/office/powerpoint/2010/mai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Routing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Routing</a:t>
            </a:r>
            <a:r>
              <a:rPr lang="es-ES_tradnl" sz="2200" u="sng" dirty="0" smtClean="0">
                <a:latin typeface="Arial Black"/>
                <a:cs typeface="Arial Black"/>
              </a:rPr>
              <a:t> &gt; Ejemplo</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3679469"/>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5" name="Rectángulo 14"/>
          <p:cNvSpPr/>
          <p:nvPr/>
        </p:nvSpPr>
        <p:spPr>
          <a:xfrm>
            <a:off x="1069296" y="1659285"/>
            <a:ext cx="7005407" cy="1600438"/>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mr-IN" sz="1400" dirty="0">
                <a:latin typeface="Calisto MT"/>
                <a:cs typeface="Calisto MT"/>
              </a:rPr>
              <a:t> &lt;app-location route="{{route}}"&gt;&lt;/app-location&gt;</a:t>
            </a:r>
          </a:p>
          <a:p>
            <a:r>
              <a:rPr lang="mr-IN" sz="1400" dirty="0">
                <a:latin typeface="Calisto MT"/>
                <a:cs typeface="Calisto MT"/>
              </a:rPr>
              <a:t>    &lt;app-route</a:t>
            </a:r>
          </a:p>
          <a:p>
            <a:r>
              <a:rPr lang="mr-IN" sz="1400" dirty="0">
                <a:latin typeface="Calisto MT"/>
                <a:cs typeface="Calisto MT"/>
              </a:rPr>
              <a:t>        route="{{route}}"</a:t>
            </a:r>
          </a:p>
          <a:p>
            <a:r>
              <a:rPr lang="mr-IN" sz="1400" dirty="0">
                <a:latin typeface="Calisto MT"/>
                <a:cs typeface="Calisto MT"/>
              </a:rPr>
              <a:t>        pattern="/:page"</a:t>
            </a:r>
          </a:p>
          <a:p>
            <a:r>
              <a:rPr lang="mr-IN" sz="1400" dirty="0">
                <a:latin typeface="Calisto MT"/>
                <a:cs typeface="Calisto MT"/>
              </a:rPr>
              <a:t>        data="{{data}}"</a:t>
            </a:r>
          </a:p>
          <a:p>
            <a:r>
              <a:rPr lang="mr-IN" sz="1400" dirty="0">
                <a:latin typeface="Calisto MT"/>
                <a:cs typeface="Calisto MT"/>
              </a:rPr>
              <a:t>        tail="{{tail}}"&gt;</a:t>
            </a:r>
          </a:p>
          <a:p>
            <a:r>
              <a:rPr lang="mr-IN" sz="1400" dirty="0">
                <a:latin typeface="Calisto MT"/>
                <a:cs typeface="Calisto MT"/>
              </a:rPr>
              <a:t>    &lt;/app-route&gt;</a:t>
            </a:r>
            <a:endParaRPr lang="es-ES" sz="1400" dirty="0">
              <a:latin typeface="Calisto MT"/>
              <a:cs typeface="Calisto MT"/>
            </a:endParaRPr>
          </a:p>
        </p:txBody>
      </p:sp>
      <p:sp>
        <p:nvSpPr>
          <p:cNvPr id="17" name="Rectángulo 16"/>
          <p:cNvSpPr/>
          <p:nvPr/>
        </p:nvSpPr>
        <p:spPr>
          <a:xfrm>
            <a:off x="368189" y="3596182"/>
            <a:ext cx="8202871" cy="1878976"/>
          </a:xfrm>
          <a:prstGeom prst="rect">
            <a:avLst/>
          </a:prstGeom>
        </p:spPr>
        <p:txBody>
          <a:bodyPr wrap="square">
            <a:spAutoFit/>
          </a:bodyPr>
          <a:lstStyle/>
          <a:p>
            <a:pPr algn="just">
              <a:lnSpc>
                <a:spcPct val="130000"/>
              </a:lnSpc>
            </a:pPr>
            <a:r>
              <a:rPr lang="es-ES_tradnl" dirty="0" smtClean="0">
                <a:solidFill>
                  <a:srgbClr val="FFFFFF"/>
                </a:solidFill>
                <a:latin typeface="Helvetica"/>
                <a:cs typeface="Helvetica"/>
              </a:rPr>
              <a:t>El componente </a:t>
            </a:r>
            <a:r>
              <a:rPr lang="es-ES_tradnl" dirty="0" smtClean="0">
                <a:solidFill>
                  <a:srgbClr val="CAA0E2"/>
                </a:solidFill>
                <a:latin typeface="Helvetica"/>
                <a:cs typeface="Helvetica"/>
              </a:rPr>
              <a:t>&lt;</a:t>
            </a:r>
            <a:r>
              <a:rPr lang="es-ES_tradnl" dirty="0" err="1" smtClean="0">
                <a:solidFill>
                  <a:srgbClr val="CAA0E2"/>
                </a:solidFill>
                <a:latin typeface="Helvetica"/>
                <a:cs typeface="Helvetica"/>
              </a:rPr>
              <a:t>app-location</a:t>
            </a:r>
            <a:r>
              <a:rPr lang="es-ES_tradnl" dirty="0" smtClean="0">
                <a:solidFill>
                  <a:srgbClr val="CAA0E2"/>
                </a:solidFill>
                <a:latin typeface="Helvetica"/>
                <a:cs typeface="Helvetica"/>
              </a:rPr>
              <a:t>&gt; </a:t>
            </a:r>
            <a:r>
              <a:rPr lang="es-ES_tradnl" dirty="0" smtClean="0">
                <a:solidFill>
                  <a:srgbClr val="FFFFFF"/>
                </a:solidFill>
                <a:latin typeface="Helvetica"/>
                <a:cs typeface="Helvetica"/>
              </a:rPr>
              <a:t>detecta un cambio en la ruta y proporciona esta al componente </a:t>
            </a:r>
            <a:r>
              <a:rPr lang="es-ES_tradnl" dirty="0" smtClean="0">
                <a:solidFill>
                  <a:srgbClr val="CAA0E2"/>
                </a:solidFill>
                <a:latin typeface="Helvetica"/>
                <a:cs typeface="Helvetica"/>
              </a:rPr>
              <a:t>&lt;</a:t>
            </a:r>
            <a:r>
              <a:rPr lang="es-ES_tradnl" dirty="0" err="1" smtClean="0">
                <a:solidFill>
                  <a:srgbClr val="CAA0E2"/>
                </a:solidFill>
                <a:latin typeface="Helvetica"/>
                <a:cs typeface="Helvetica"/>
              </a:rPr>
              <a:t>app-route</a:t>
            </a:r>
            <a:r>
              <a:rPr lang="es-ES_tradnl" dirty="0" smtClean="0">
                <a:solidFill>
                  <a:srgbClr val="CAA0E2"/>
                </a:solidFill>
                <a:latin typeface="Helvetica"/>
                <a:cs typeface="Helvetica"/>
              </a:rPr>
              <a:t>&gt; </a:t>
            </a:r>
            <a:r>
              <a:rPr lang="es-ES_tradnl" dirty="0" smtClean="0">
                <a:solidFill>
                  <a:srgbClr val="FFFFFF"/>
                </a:solidFill>
                <a:latin typeface="Helvetica"/>
                <a:cs typeface="Helvetica"/>
              </a:rPr>
              <a:t>mediante </a:t>
            </a:r>
            <a:r>
              <a:rPr lang="es-ES_tradnl" dirty="0" err="1" smtClean="0">
                <a:solidFill>
                  <a:srgbClr val="FFFFFF"/>
                </a:solidFill>
                <a:latin typeface="Helvetica"/>
                <a:cs typeface="Helvetica"/>
              </a:rPr>
              <a:t>databinding</a:t>
            </a:r>
            <a:r>
              <a:rPr lang="es-ES_tradnl" dirty="0" smtClean="0">
                <a:solidFill>
                  <a:srgbClr val="FFFFFF"/>
                </a:solidFill>
                <a:latin typeface="Helvetica"/>
                <a:cs typeface="Helvetica"/>
              </a:rPr>
              <a:t> entre componentes.</a:t>
            </a:r>
          </a:p>
          <a:p>
            <a:pPr algn="just">
              <a:lnSpc>
                <a:spcPct val="130000"/>
              </a:lnSpc>
            </a:pPr>
            <a:r>
              <a:rPr lang="es-ES_tradnl" dirty="0">
                <a:solidFill>
                  <a:srgbClr val="FFFFFF"/>
                </a:solidFill>
                <a:latin typeface="Helvetica"/>
                <a:cs typeface="Helvetica"/>
              </a:rPr>
              <a:t>El componente </a:t>
            </a:r>
            <a:r>
              <a:rPr lang="es-ES_tradnl" dirty="0">
                <a:solidFill>
                  <a:srgbClr val="CAA0E2"/>
                </a:solidFill>
                <a:latin typeface="Helvetica"/>
                <a:cs typeface="Helvetica"/>
              </a:rPr>
              <a:t>&lt;</a:t>
            </a:r>
            <a:r>
              <a:rPr lang="es-ES_tradnl" dirty="0" err="1">
                <a:solidFill>
                  <a:srgbClr val="CAA0E2"/>
                </a:solidFill>
                <a:latin typeface="Helvetica"/>
                <a:cs typeface="Helvetica"/>
              </a:rPr>
              <a:t>app-route</a:t>
            </a:r>
            <a:r>
              <a:rPr lang="es-ES_tradnl" dirty="0">
                <a:solidFill>
                  <a:srgbClr val="CAA0E2"/>
                </a:solidFill>
                <a:latin typeface="Helvetica"/>
                <a:cs typeface="Helvetica"/>
              </a:rPr>
              <a:t>&gt; </a:t>
            </a:r>
            <a:r>
              <a:rPr lang="es-ES_tradnl" dirty="0" smtClean="0">
                <a:solidFill>
                  <a:srgbClr val="CAA0E2"/>
                </a:solidFill>
                <a:latin typeface="Helvetica"/>
                <a:cs typeface="Helvetica"/>
              </a:rPr>
              <a:t> </a:t>
            </a:r>
            <a:r>
              <a:rPr lang="es-ES_tradnl" dirty="0" smtClean="0">
                <a:latin typeface="Helvetica"/>
                <a:cs typeface="Helvetica"/>
              </a:rPr>
              <a:t>procesa</a:t>
            </a:r>
            <a:r>
              <a:rPr lang="es-ES_tradnl" dirty="0" smtClean="0">
                <a:solidFill>
                  <a:srgbClr val="CAA0E2"/>
                </a:solidFill>
                <a:latin typeface="Helvetica"/>
                <a:cs typeface="Helvetica"/>
              </a:rPr>
              <a:t> </a:t>
            </a:r>
            <a:r>
              <a:rPr lang="es-ES_tradnl" dirty="0" smtClean="0">
                <a:solidFill>
                  <a:srgbClr val="FFFFFF"/>
                </a:solidFill>
                <a:latin typeface="Helvetica"/>
                <a:cs typeface="Helvetica"/>
              </a:rPr>
              <a:t>la propiedad </a:t>
            </a:r>
            <a:r>
              <a:rPr lang="es-ES_tradnl" dirty="0" err="1" smtClean="0">
                <a:solidFill>
                  <a:srgbClr val="FFFFFF"/>
                </a:solidFill>
                <a:latin typeface="Helvetica"/>
                <a:cs typeface="Helvetica"/>
              </a:rPr>
              <a:t>route.path</a:t>
            </a:r>
            <a:r>
              <a:rPr lang="es-ES_tradnl" dirty="0" smtClean="0">
                <a:solidFill>
                  <a:srgbClr val="FFFFFF"/>
                </a:solidFill>
                <a:latin typeface="Helvetica"/>
                <a:cs typeface="Helvetica"/>
              </a:rPr>
              <a:t> comparándola con el patrón declarado para obtener las propiedades </a:t>
            </a:r>
            <a:r>
              <a:rPr lang="es-ES_tradnl" dirty="0" err="1" smtClean="0">
                <a:solidFill>
                  <a:srgbClr val="FFFFFF"/>
                </a:solidFill>
                <a:latin typeface="Helvetica"/>
                <a:cs typeface="Helvetica"/>
              </a:rPr>
              <a:t>data.page</a:t>
            </a:r>
            <a:r>
              <a:rPr lang="es-ES_tradnl" dirty="0" smtClean="0">
                <a:solidFill>
                  <a:srgbClr val="FFFFFF"/>
                </a:solidFill>
                <a:latin typeface="Helvetica"/>
                <a:cs typeface="Helvetica"/>
              </a:rPr>
              <a:t> y </a:t>
            </a:r>
            <a:r>
              <a:rPr lang="es-ES_tradnl" dirty="0" err="1" smtClean="0">
                <a:solidFill>
                  <a:srgbClr val="FFFFFF"/>
                </a:solidFill>
                <a:latin typeface="Helvetica"/>
                <a:cs typeface="Helvetica"/>
              </a:rPr>
              <a:t>tail</a:t>
            </a:r>
            <a:r>
              <a:rPr lang="es-ES_tradnl" dirty="0">
                <a:solidFill>
                  <a:srgbClr val="FFFFFF"/>
                </a:solidFill>
                <a:latin typeface="Helvetica"/>
                <a:cs typeface="Helvetica"/>
              </a:rPr>
              <a:t> </a:t>
            </a:r>
            <a:r>
              <a:rPr lang="es-ES_tradnl" dirty="0" smtClean="0">
                <a:solidFill>
                  <a:srgbClr val="FFFFFF"/>
                </a:solidFill>
                <a:latin typeface="Helvetica"/>
                <a:cs typeface="Helvetica"/>
              </a:rPr>
              <a:t>que observaremos mediante </a:t>
            </a:r>
            <a:r>
              <a:rPr lang="es-ES_tradnl" dirty="0" err="1" smtClean="0">
                <a:solidFill>
                  <a:srgbClr val="FFFFFF"/>
                </a:solidFill>
                <a:latin typeface="Helvetica"/>
                <a:cs typeface="Helvetica"/>
              </a:rPr>
              <a:t>observers</a:t>
            </a:r>
            <a:r>
              <a:rPr lang="es-ES_tradnl" dirty="0" smtClean="0">
                <a:solidFill>
                  <a:srgbClr val="FFFFFF"/>
                </a:solidFill>
                <a:latin typeface="Helvetica"/>
                <a:cs typeface="Helvetica"/>
              </a:rPr>
              <a:t> u vincularemos a otros componentes.</a:t>
            </a:r>
            <a:endParaRPr lang="es-ES_tradnl"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94</a:t>
            </a:fld>
            <a:endParaRPr lang="en-US"/>
          </a:p>
        </p:txBody>
      </p:sp>
    </p:spTree>
    <p:extLst>
      <p:ext uri="{BB962C8B-B14F-4D97-AF65-F5344CB8AC3E}">
        <p14:creationId xmlns:p14="http://schemas.microsoft.com/office/powerpoint/2010/main" val="1457214029"/>
      </p:ext>
    </p:extLst>
  </p:cSld>
  <p:clrMapOvr>
    <a:masterClrMapping/>
  </p:clrMapOvr>
  <p:timing>
    <p:tnLst>
      <p:par>
        <p:cTn xmlns:p14="http://schemas.microsoft.com/office/powerpoint/2010/mai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Routing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Routing</a:t>
            </a:r>
            <a:r>
              <a:rPr lang="es-ES_tradnl" sz="2200" u="sng" dirty="0" smtClean="0">
                <a:latin typeface="Arial Black"/>
                <a:cs typeface="Arial Black"/>
              </a:rPr>
              <a:t> &gt; Ejemplo</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3679469"/>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5" name="Rectángulo 14"/>
          <p:cNvSpPr/>
          <p:nvPr/>
        </p:nvSpPr>
        <p:spPr>
          <a:xfrm>
            <a:off x="614947" y="1659285"/>
            <a:ext cx="7927473" cy="3970318"/>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a:cs typeface="Calisto MT"/>
              </a:rPr>
              <a:t> &lt;</a:t>
            </a:r>
            <a:r>
              <a:rPr lang="es-ES" sz="1400" dirty="0" err="1">
                <a:cs typeface="Calisto MT"/>
              </a:rPr>
              <a:t>app-location</a:t>
            </a:r>
            <a:r>
              <a:rPr lang="es-ES" sz="1400" dirty="0">
                <a:cs typeface="Calisto MT"/>
              </a:rPr>
              <a:t> </a:t>
            </a:r>
            <a:r>
              <a:rPr lang="es-ES" sz="1400" dirty="0" err="1">
                <a:cs typeface="Calisto MT"/>
              </a:rPr>
              <a:t>route</a:t>
            </a:r>
            <a:r>
              <a:rPr lang="es-ES" sz="1400" dirty="0">
                <a:cs typeface="Calisto MT"/>
              </a:rPr>
              <a:t>="{{</a:t>
            </a:r>
            <a:r>
              <a:rPr lang="es-ES" sz="1400" dirty="0" err="1">
                <a:cs typeface="Calisto MT"/>
              </a:rPr>
              <a:t>route</a:t>
            </a:r>
            <a:r>
              <a:rPr lang="es-ES" sz="1400" dirty="0">
                <a:cs typeface="Calisto MT"/>
              </a:rPr>
              <a:t>}}" </a:t>
            </a:r>
            <a:r>
              <a:rPr lang="es-ES" sz="1400" dirty="0" err="1">
                <a:cs typeface="Calisto MT"/>
              </a:rPr>
              <a:t>url-space-regex</a:t>
            </a:r>
            <a:r>
              <a:rPr lang="es-ES" sz="1400" dirty="0">
                <a:cs typeface="Calisto MT"/>
              </a:rPr>
              <a:t>="^[[</a:t>
            </a:r>
            <a:r>
              <a:rPr lang="es-ES" sz="1400" dirty="0" err="1">
                <a:cs typeface="Calisto MT"/>
              </a:rPr>
              <a:t>rootPath</a:t>
            </a:r>
            <a:r>
              <a:rPr lang="es-ES" sz="1400" dirty="0">
                <a:cs typeface="Calisto MT"/>
              </a:rPr>
              <a:t>]</a:t>
            </a:r>
            <a:r>
              <a:rPr lang="es-ES" sz="1400" dirty="0" smtClean="0">
                <a:cs typeface="Calisto MT"/>
              </a:rPr>
              <a:t>]”&gt;&lt;</a:t>
            </a:r>
            <a:r>
              <a:rPr lang="es-ES" sz="1400" dirty="0">
                <a:cs typeface="Calisto MT"/>
              </a:rPr>
              <a:t>/</a:t>
            </a:r>
            <a:r>
              <a:rPr lang="es-ES" sz="1400" dirty="0" err="1">
                <a:cs typeface="Calisto MT"/>
              </a:rPr>
              <a:t>app-location</a:t>
            </a:r>
            <a:r>
              <a:rPr lang="es-ES" sz="1400" dirty="0">
                <a:cs typeface="Calisto MT"/>
              </a:rPr>
              <a:t>&gt;</a:t>
            </a:r>
          </a:p>
          <a:p>
            <a:endParaRPr lang="es-ES" sz="1400" dirty="0">
              <a:cs typeface="Calisto MT"/>
            </a:endParaRPr>
          </a:p>
          <a:p>
            <a:r>
              <a:rPr lang="es-ES" sz="1400" dirty="0">
                <a:cs typeface="Calisto MT"/>
              </a:rPr>
              <a:t>      &lt;</a:t>
            </a:r>
            <a:r>
              <a:rPr lang="es-ES" sz="1400" dirty="0" err="1">
                <a:cs typeface="Calisto MT"/>
              </a:rPr>
              <a:t>app-route</a:t>
            </a:r>
            <a:r>
              <a:rPr lang="es-ES" sz="1400" dirty="0">
                <a:cs typeface="Calisto MT"/>
              </a:rPr>
              <a:t> </a:t>
            </a:r>
            <a:r>
              <a:rPr lang="es-ES" sz="1400" dirty="0" err="1">
                <a:cs typeface="Calisto MT"/>
              </a:rPr>
              <a:t>route</a:t>
            </a:r>
            <a:r>
              <a:rPr lang="es-ES" sz="1400" dirty="0">
                <a:cs typeface="Calisto MT"/>
              </a:rPr>
              <a:t>="{{</a:t>
            </a:r>
            <a:r>
              <a:rPr lang="es-ES" sz="1400" dirty="0" err="1">
                <a:cs typeface="Calisto MT"/>
              </a:rPr>
              <a:t>route</a:t>
            </a:r>
            <a:r>
              <a:rPr lang="es-ES" sz="1400" dirty="0">
                <a:cs typeface="Calisto MT"/>
              </a:rPr>
              <a:t>}}" </a:t>
            </a:r>
            <a:r>
              <a:rPr lang="es-ES" sz="1400" dirty="0" err="1">
                <a:cs typeface="Calisto MT"/>
              </a:rPr>
              <a:t>pattern</a:t>
            </a:r>
            <a:r>
              <a:rPr lang="es-ES" sz="1400" dirty="0">
                <a:cs typeface="Calisto MT"/>
              </a:rPr>
              <a:t>="[[</a:t>
            </a:r>
            <a:r>
              <a:rPr lang="es-ES" sz="1400" dirty="0" err="1">
                <a:cs typeface="Calisto MT"/>
              </a:rPr>
              <a:t>rootPath</a:t>
            </a:r>
            <a:r>
              <a:rPr lang="es-ES" sz="1400" dirty="0">
                <a:cs typeface="Calisto MT"/>
              </a:rPr>
              <a:t>]]:page" data="{{</a:t>
            </a:r>
            <a:r>
              <a:rPr lang="es-ES" sz="1400" dirty="0" err="1">
                <a:cs typeface="Calisto MT"/>
              </a:rPr>
              <a:t>routeData</a:t>
            </a:r>
            <a:r>
              <a:rPr lang="es-ES" sz="1400" dirty="0">
                <a:cs typeface="Calisto MT"/>
              </a:rPr>
              <a:t>}</a:t>
            </a:r>
            <a:r>
              <a:rPr lang="es-ES" sz="1400" dirty="0" smtClean="0">
                <a:cs typeface="Calisto MT"/>
              </a:rPr>
              <a:t>}” </a:t>
            </a:r>
            <a:r>
              <a:rPr lang="es-ES" sz="1400" dirty="0" err="1" smtClean="0">
                <a:cs typeface="Calisto MT"/>
              </a:rPr>
              <a:t>tail</a:t>
            </a:r>
            <a:r>
              <a:rPr lang="es-ES" sz="1400" dirty="0">
                <a:cs typeface="Calisto MT"/>
              </a:rPr>
              <a:t>="{{</a:t>
            </a:r>
            <a:r>
              <a:rPr lang="es-ES" sz="1400" dirty="0" err="1">
                <a:cs typeface="Calisto MT"/>
              </a:rPr>
              <a:t>subroute</a:t>
            </a:r>
            <a:r>
              <a:rPr lang="es-ES" sz="1400" dirty="0">
                <a:cs typeface="Calisto MT"/>
              </a:rPr>
              <a:t>}}"&gt;</a:t>
            </a:r>
          </a:p>
          <a:p>
            <a:r>
              <a:rPr lang="es-ES" sz="1400" dirty="0">
                <a:cs typeface="Calisto MT"/>
              </a:rPr>
              <a:t>      &lt;/</a:t>
            </a:r>
            <a:r>
              <a:rPr lang="es-ES" sz="1400" dirty="0" err="1">
                <a:cs typeface="Calisto MT"/>
              </a:rPr>
              <a:t>app-route</a:t>
            </a:r>
            <a:r>
              <a:rPr lang="es-ES" sz="1400" dirty="0" smtClean="0">
                <a:cs typeface="Calisto MT"/>
              </a:rPr>
              <a:t>&gt;</a:t>
            </a:r>
          </a:p>
          <a:p>
            <a:endParaRPr lang="es-ES" sz="1400" dirty="0">
              <a:cs typeface="Calisto MT"/>
            </a:endParaRPr>
          </a:p>
          <a:p>
            <a:r>
              <a:rPr lang="es-ES" sz="1400" dirty="0" smtClean="0">
                <a:cs typeface="Calisto MT"/>
              </a:rPr>
              <a:t>---</a:t>
            </a:r>
          </a:p>
          <a:p>
            <a:r>
              <a:rPr lang="es-ES" sz="1400" b="1" dirty="0" err="1"/>
              <a:t>static</a:t>
            </a:r>
            <a:r>
              <a:rPr lang="es-ES" sz="1400" b="1" dirty="0"/>
              <a:t> </a:t>
            </a:r>
            <a:r>
              <a:rPr lang="es-ES" sz="1400" b="1" dirty="0" err="1"/>
              <a:t>get</a:t>
            </a:r>
            <a:r>
              <a:rPr lang="es-ES" sz="1400" b="1" dirty="0"/>
              <a:t> </a:t>
            </a:r>
            <a:r>
              <a:rPr lang="es-ES" sz="1400" i="1" dirty="0" err="1"/>
              <a:t>properties</a:t>
            </a:r>
            <a:r>
              <a:rPr lang="es-ES" sz="1400" dirty="0"/>
              <a:t>() {</a:t>
            </a:r>
            <a:br>
              <a:rPr lang="es-ES" sz="1400" dirty="0"/>
            </a:br>
            <a:r>
              <a:rPr lang="es-ES" sz="1400" dirty="0"/>
              <a:t>  </a:t>
            </a:r>
            <a:r>
              <a:rPr lang="es-ES" sz="1400" b="1" dirty="0" err="1"/>
              <a:t>return</a:t>
            </a:r>
            <a:r>
              <a:rPr lang="es-ES" sz="1400" b="1" dirty="0"/>
              <a:t> </a:t>
            </a:r>
            <a:r>
              <a:rPr lang="es-ES" sz="1400" dirty="0"/>
              <a:t>{</a:t>
            </a:r>
            <a:br>
              <a:rPr lang="es-ES" sz="1400" dirty="0"/>
            </a:br>
            <a:r>
              <a:rPr lang="es-ES" sz="1400" dirty="0"/>
              <a:t>    page: {</a:t>
            </a:r>
            <a:br>
              <a:rPr lang="es-ES" sz="1400" dirty="0"/>
            </a:br>
            <a:r>
              <a:rPr lang="es-ES" sz="1400" dirty="0"/>
              <a:t>      </a:t>
            </a:r>
            <a:r>
              <a:rPr lang="es-ES" sz="1400" dirty="0" err="1"/>
              <a:t>type</a:t>
            </a:r>
            <a:r>
              <a:rPr lang="es-ES" sz="1400" dirty="0"/>
              <a:t>: </a:t>
            </a:r>
            <a:r>
              <a:rPr lang="es-ES" sz="1400" dirty="0" err="1"/>
              <a:t>String</a:t>
            </a:r>
            <a:r>
              <a:rPr lang="es-ES" sz="1400" dirty="0"/>
              <a:t>,</a:t>
            </a:r>
            <a:br>
              <a:rPr lang="es-ES" sz="1400" dirty="0"/>
            </a:br>
            <a:r>
              <a:rPr lang="es-ES" sz="1400" dirty="0"/>
              <a:t>      </a:t>
            </a:r>
            <a:r>
              <a:rPr lang="es-ES" sz="1400" dirty="0" err="1"/>
              <a:t>reflectToAttribute</a:t>
            </a:r>
            <a:r>
              <a:rPr lang="es-ES" sz="1400" dirty="0"/>
              <a:t>: </a:t>
            </a:r>
            <a:r>
              <a:rPr lang="es-ES" sz="1400" b="1" dirty="0"/>
              <a:t>true</a:t>
            </a:r>
            <a:r>
              <a:rPr lang="es-ES" sz="1400" dirty="0"/>
              <a:t>,</a:t>
            </a:r>
            <a:br>
              <a:rPr lang="es-ES" sz="1400" dirty="0"/>
            </a:br>
            <a:r>
              <a:rPr lang="es-ES" sz="1400" dirty="0"/>
              <a:t>      </a:t>
            </a:r>
            <a:r>
              <a:rPr lang="es-ES" sz="1400" dirty="0" err="1"/>
              <a:t>observer</a:t>
            </a:r>
            <a:r>
              <a:rPr lang="es-ES" sz="1400" dirty="0"/>
              <a:t>: '_</a:t>
            </a:r>
            <a:r>
              <a:rPr lang="es-ES" sz="1400" dirty="0" err="1"/>
              <a:t>pageChanged</a:t>
            </a:r>
            <a:r>
              <a:rPr lang="es-ES" sz="1400" dirty="0"/>
              <a:t>'</a:t>
            </a:r>
            <a:br>
              <a:rPr lang="es-ES" sz="1400" dirty="0"/>
            </a:br>
            <a:r>
              <a:rPr lang="es-ES" sz="1400" dirty="0"/>
              <a:t>    },</a:t>
            </a:r>
            <a:br>
              <a:rPr lang="es-ES" sz="1400" dirty="0"/>
            </a:br>
            <a:r>
              <a:rPr lang="es-ES" sz="1400" dirty="0"/>
              <a:t>    </a:t>
            </a:r>
            <a:r>
              <a:rPr lang="es-ES" sz="1400" dirty="0" err="1"/>
              <a:t>routeData</a:t>
            </a:r>
            <a:r>
              <a:rPr lang="es-ES" sz="1400" dirty="0"/>
              <a:t>: </a:t>
            </a:r>
            <a:r>
              <a:rPr lang="es-ES" sz="1400" dirty="0" err="1"/>
              <a:t>Object</a:t>
            </a:r>
            <a:r>
              <a:rPr lang="es-ES" sz="1400" dirty="0"/>
              <a:t>,</a:t>
            </a:r>
            <a:br>
              <a:rPr lang="es-ES" sz="1400" dirty="0"/>
            </a:br>
            <a:r>
              <a:rPr lang="es-ES" sz="1400" dirty="0"/>
              <a:t>    </a:t>
            </a:r>
            <a:r>
              <a:rPr lang="es-ES" sz="1400" dirty="0" err="1"/>
              <a:t>subroute</a:t>
            </a:r>
            <a:r>
              <a:rPr lang="es-ES" sz="1400" dirty="0"/>
              <a:t>: </a:t>
            </a:r>
            <a:r>
              <a:rPr lang="es-ES" sz="1400" dirty="0" err="1"/>
              <a:t>Object</a:t>
            </a:r>
            <a:r>
              <a:rPr lang="es-ES" sz="1400" dirty="0"/>
              <a:t/>
            </a:r>
            <a:br>
              <a:rPr lang="es-ES" sz="1400" dirty="0"/>
            </a:br>
            <a:r>
              <a:rPr lang="es-ES" sz="1400" dirty="0"/>
              <a:t>  };</a:t>
            </a:r>
            <a:endParaRPr lang="es-ES" sz="1400" dirty="0" smtClean="0">
              <a:cs typeface="Calisto MT"/>
            </a:endParaRPr>
          </a:p>
          <a:p>
            <a:endParaRPr lang="es-ES" sz="1400" dirty="0" smtClean="0">
              <a:cs typeface="Calisto MT"/>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95</a:t>
            </a:fld>
            <a:endParaRPr lang="en-US"/>
          </a:p>
        </p:txBody>
      </p:sp>
    </p:spTree>
    <p:extLst>
      <p:ext uri="{BB962C8B-B14F-4D97-AF65-F5344CB8AC3E}">
        <p14:creationId xmlns:p14="http://schemas.microsoft.com/office/powerpoint/2010/main" val="1273606081"/>
      </p:ext>
    </p:extLst>
  </p:cSld>
  <p:clrMapOvr>
    <a:masterClrMapping/>
  </p:clrMapOvr>
  <p:timing>
    <p:tnLst>
      <p:par>
        <p:cTn xmlns:p14="http://schemas.microsoft.com/office/powerpoint/2010/mai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Routing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Routing</a:t>
            </a:r>
            <a:r>
              <a:rPr lang="es-ES_tradnl" sz="2200" u="sng" dirty="0" smtClean="0">
                <a:latin typeface="Arial Black"/>
                <a:cs typeface="Arial Black"/>
              </a:rPr>
              <a:t> &gt; Ejemplo</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3679469"/>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5" name="Rectángulo 14"/>
          <p:cNvSpPr/>
          <p:nvPr/>
        </p:nvSpPr>
        <p:spPr>
          <a:xfrm>
            <a:off x="614947" y="1659285"/>
            <a:ext cx="7927473" cy="3970318"/>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sz="1400" dirty="0" smtClean="0">
                <a:cs typeface="Calisto MT"/>
              </a:rPr>
              <a:t> // Fijamos observadores globales</a:t>
            </a:r>
          </a:p>
          <a:p>
            <a:r>
              <a:rPr lang="es-ES" sz="1400" dirty="0" smtClean="0">
                <a:cs typeface="Calisto MT"/>
              </a:rPr>
              <a:t> </a:t>
            </a:r>
            <a:r>
              <a:rPr lang="es-ES" sz="1400" dirty="0" err="1">
                <a:cs typeface="Calisto MT"/>
              </a:rPr>
              <a:t>static</a:t>
            </a:r>
            <a:r>
              <a:rPr lang="es-ES" sz="1400" dirty="0">
                <a:cs typeface="Calisto MT"/>
              </a:rPr>
              <a:t> </a:t>
            </a:r>
            <a:r>
              <a:rPr lang="es-ES" sz="1400" dirty="0" err="1">
                <a:cs typeface="Calisto MT"/>
              </a:rPr>
              <a:t>get</a:t>
            </a:r>
            <a:r>
              <a:rPr lang="es-ES" sz="1400" dirty="0">
                <a:cs typeface="Calisto MT"/>
              </a:rPr>
              <a:t> </a:t>
            </a:r>
            <a:r>
              <a:rPr lang="es-ES" sz="1400" dirty="0" err="1">
                <a:cs typeface="Calisto MT"/>
              </a:rPr>
              <a:t>observers</a:t>
            </a:r>
            <a:r>
              <a:rPr lang="es-ES" sz="1400" dirty="0">
                <a:cs typeface="Calisto MT"/>
              </a:rPr>
              <a:t>() {</a:t>
            </a:r>
          </a:p>
          <a:p>
            <a:r>
              <a:rPr lang="es-ES" sz="1400" dirty="0">
                <a:cs typeface="Calisto MT"/>
              </a:rPr>
              <a:t>    </a:t>
            </a:r>
            <a:r>
              <a:rPr lang="es-ES" sz="1400" dirty="0" err="1">
                <a:cs typeface="Calisto MT"/>
              </a:rPr>
              <a:t>return</a:t>
            </a:r>
            <a:r>
              <a:rPr lang="es-ES" sz="1400" dirty="0">
                <a:cs typeface="Calisto MT"/>
              </a:rPr>
              <a:t> [</a:t>
            </a:r>
          </a:p>
          <a:p>
            <a:r>
              <a:rPr lang="es-ES" sz="1400" dirty="0">
                <a:cs typeface="Calisto MT"/>
              </a:rPr>
              <a:t>      '_</a:t>
            </a:r>
            <a:r>
              <a:rPr lang="es-ES" sz="1400" dirty="0" err="1">
                <a:cs typeface="Calisto MT"/>
              </a:rPr>
              <a:t>routePageChanged</a:t>
            </a:r>
            <a:r>
              <a:rPr lang="es-ES" sz="1400" dirty="0">
                <a:cs typeface="Calisto MT"/>
              </a:rPr>
              <a:t>(</a:t>
            </a:r>
            <a:r>
              <a:rPr lang="es-ES" sz="1400" dirty="0" err="1">
                <a:cs typeface="Calisto MT"/>
              </a:rPr>
              <a:t>routeData.page</a:t>
            </a:r>
            <a:r>
              <a:rPr lang="es-ES" sz="1400" dirty="0">
                <a:cs typeface="Calisto MT"/>
              </a:rPr>
              <a:t>)'</a:t>
            </a:r>
          </a:p>
          <a:p>
            <a:r>
              <a:rPr lang="es-ES" sz="1400" dirty="0">
                <a:cs typeface="Calisto MT"/>
              </a:rPr>
              <a:t>    ];</a:t>
            </a:r>
          </a:p>
          <a:p>
            <a:r>
              <a:rPr lang="es-ES" sz="1400" dirty="0">
                <a:cs typeface="Calisto MT"/>
              </a:rPr>
              <a:t>  }</a:t>
            </a:r>
            <a:endParaRPr lang="es-ES" sz="1400" dirty="0" smtClean="0">
              <a:cs typeface="Calisto MT"/>
            </a:endParaRPr>
          </a:p>
          <a:p>
            <a:r>
              <a:rPr lang="es-ES" sz="1400" dirty="0" smtClean="0">
                <a:cs typeface="Calisto MT"/>
              </a:rPr>
              <a:t>---</a:t>
            </a:r>
          </a:p>
          <a:p>
            <a:endParaRPr lang="es-ES" sz="1400" dirty="0" smtClean="0"/>
          </a:p>
          <a:p>
            <a:r>
              <a:rPr lang="es-ES" sz="1400" dirty="0" smtClean="0"/>
              <a:t>_</a:t>
            </a:r>
            <a:r>
              <a:rPr lang="es-ES" sz="1400" dirty="0" err="1" smtClean="0"/>
              <a:t>routePageChanged</a:t>
            </a:r>
            <a:r>
              <a:rPr lang="es-ES" sz="1400" dirty="0"/>
              <a:t>(page) {</a:t>
            </a:r>
            <a:br>
              <a:rPr lang="es-ES" sz="1400" dirty="0"/>
            </a:br>
            <a:r>
              <a:rPr lang="es-ES" sz="1400" dirty="0"/>
              <a:t>   // </a:t>
            </a:r>
            <a:r>
              <a:rPr lang="es-ES" sz="1400" dirty="0" smtClean="0"/>
              <a:t>Fijamos la propiedad </a:t>
            </a:r>
            <a:r>
              <a:rPr lang="es-ES" sz="1400" dirty="0" err="1" smtClean="0"/>
              <a:t>this.page</a:t>
            </a:r>
            <a:r>
              <a:rPr lang="es-ES" sz="1400" dirty="0" smtClean="0"/>
              <a:t> -&gt; Esta cambio activara el </a:t>
            </a:r>
            <a:r>
              <a:rPr lang="es-ES" sz="1400" dirty="0" err="1" smtClean="0"/>
              <a:t>observer</a:t>
            </a:r>
            <a:r>
              <a:rPr lang="es-ES" sz="1400" dirty="0" smtClean="0"/>
              <a:t> asociado</a:t>
            </a:r>
            <a:endParaRPr lang="es-ES" sz="1400" dirty="0" smtClean="0">
              <a:cs typeface="Calisto MT"/>
            </a:endParaRPr>
          </a:p>
          <a:p>
            <a:r>
              <a:rPr lang="es-ES" sz="1400" dirty="0">
                <a:cs typeface="Calisto MT"/>
              </a:rPr>
              <a:t> </a:t>
            </a:r>
            <a:r>
              <a:rPr lang="es-ES" sz="1400" dirty="0" smtClean="0">
                <a:cs typeface="Calisto MT"/>
              </a:rPr>
              <a:t> // Cerramos cualquier persistencia existente.	</a:t>
            </a:r>
          </a:p>
          <a:p>
            <a:r>
              <a:rPr lang="es-ES" sz="1400" dirty="0" smtClean="0">
                <a:cs typeface="Calisto MT"/>
              </a:rPr>
              <a:t>}</a:t>
            </a:r>
          </a:p>
          <a:p>
            <a:endParaRPr lang="es-ES" sz="1400" dirty="0">
              <a:cs typeface="Calisto MT"/>
            </a:endParaRPr>
          </a:p>
          <a:p>
            <a:endParaRPr lang="es-ES" sz="1400" dirty="0">
              <a:cs typeface="Calisto MT"/>
            </a:endParaRPr>
          </a:p>
          <a:p>
            <a:r>
              <a:rPr lang="es-ES" sz="1400" dirty="0">
                <a:cs typeface="Calisto MT"/>
              </a:rPr>
              <a:t>  _</a:t>
            </a:r>
            <a:r>
              <a:rPr lang="es-ES" sz="1400" dirty="0" err="1">
                <a:cs typeface="Calisto MT"/>
              </a:rPr>
              <a:t>pageChanged</a:t>
            </a:r>
            <a:r>
              <a:rPr lang="es-ES" sz="1400" dirty="0">
                <a:cs typeface="Calisto MT"/>
              </a:rPr>
              <a:t>(page) {</a:t>
            </a:r>
          </a:p>
          <a:p>
            <a:r>
              <a:rPr lang="es-ES" sz="1400" dirty="0" smtClean="0">
                <a:cs typeface="Calisto MT"/>
              </a:rPr>
              <a:t>  /</a:t>
            </a:r>
            <a:r>
              <a:rPr lang="es-ES" sz="1400" dirty="0">
                <a:cs typeface="Calisto MT"/>
              </a:rPr>
              <a:t>/ Mediante un  </a:t>
            </a:r>
            <a:r>
              <a:rPr lang="es-ES" sz="1400" dirty="0" err="1">
                <a:cs typeface="Calisto MT"/>
              </a:rPr>
              <a:t>switch</a:t>
            </a:r>
            <a:r>
              <a:rPr lang="es-ES" sz="1400" dirty="0">
                <a:cs typeface="Calisto MT"/>
              </a:rPr>
              <a:t> (page) </a:t>
            </a:r>
            <a:r>
              <a:rPr lang="es-ES" sz="1400" dirty="0" smtClean="0">
                <a:cs typeface="Calisto MT"/>
              </a:rPr>
              <a:t> comprobamos que pagina es para importar el </a:t>
            </a:r>
            <a:r>
              <a:rPr lang="es-ES" sz="1400" dirty="0" err="1" smtClean="0">
                <a:cs typeface="Calisto MT"/>
              </a:rPr>
              <a:t>js</a:t>
            </a:r>
            <a:r>
              <a:rPr lang="es-ES" sz="1400" dirty="0" smtClean="0">
                <a:cs typeface="Calisto MT"/>
              </a:rPr>
              <a:t> asociado a esta pagina </a:t>
            </a:r>
          </a:p>
          <a:p>
            <a:r>
              <a:rPr lang="es-ES" sz="1400" dirty="0">
                <a:cs typeface="Calisto MT"/>
              </a:rPr>
              <a:t> </a:t>
            </a:r>
            <a:r>
              <a:rPr lang="es-ES" sz="1400" dirty="0" smtClean="0">
                <a:cs typeface="Calisto MT"/>
              </a:rPr>
              <a:t>// o mostramos una pagina </a:t>
            </a:r>
            <a:r>
              <a:rPr lang="es-ES" sz="1400" dirty="0" err="1" smtClean="0">
                <a:cs typeface="Calisto MT"/>
              </a:rPr>
              <a:t>genéica</a:t>
            </a:r>
            <a:r>
              <a:rPr lang="es-ES" sz="1400" dirty="0" smtClean="0">
                <a:cs typeface="Calisto MT"/>
              </a:rPr>
              <a:t> para controlar un error 404.</a:t>
            </a:r>
          </a:p>
          <a:p>
            <a:r>
              <a:rPr lang="es-ES" sz="1400" dirty="0">
                <a:cs typeface="Calisto MT"/>
              </a:rPr>
              <a:t>}</a:t>
            </a:r>
            <a:endParaRPr lang="es-ES" sz="1400" dirty="0" smtClean="0">
              <a:cs typeface="Calisto MT"/>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96</a:t>
            </a:fld>
            <a:endParaRPr lang="en-US"/>
          </a:p>
        </p:txBody>
      </p:sp>
    </p:spTree>
    <p:extLst>
      <p:ext uri="{BB962C8B-B14F-4D97-AF65-F5344CB8AC3E}">
        <p14:creationId xmlns:p14="http://schemas.microsoft.com/office/powerpoint/2010/main" val="2168070643"/>
      </p:ext>
    </p:extLst>
  </p:cSld>
  <p:clrMapOvr>
    <a:masterClrMapping/>
  </p:clrMapOvr>
  <p:timing>
    <p:tnLst>
      <p:par>
        <p:cTn xmlns:p14="http://schemas.microsoft.com/office/powerpoint/2010/mai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Añadir Componentes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Añadir Componentes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3679469"/>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7" name="Rectángulo 16"/>
          <p:cNvSpPr/>
          <p:nvPr/>
        </p:nvSpPr>
        <p:spPr>
          <a:xfrm>
            <a:off x="368189" y="1601450"/>
            <a:ext cx="8202871" cy="4399667"/>
          </a:xfrm>
          <a:prstGeom prst="rect">
            <a:avLst/>
          </a:prstGeom>
        </p:spPr>
        <p:txBody>
          <a:bodyPr wrap="square">
            <a:spAutoFit/>
          </a:bodyPr>
          <a:lstStyle/>
          <a:p>
            <a:pPr marL="342900" indent="-342900" algn="just">
              <a:lnSpc>
                <a:spcPct val="130000"/>
              </a:lnSpc>
              <a:buFont typeface="+mj-lt"/>
              <a:buAutoNum type="arabicPeriod"/>
            </a:pPr>
            <a:r>
              <a:rPr lang="es-ES_tradnl" dirty="0">
                <a:solidFill>
                  <a:srgbClr val="FFFFFF"/>
                </a:solidFill>
                <a:latin typeface="Helvetica"/>
                <a:cs typeface="Helvetica"/>
              </a:rPr>
              <a:t>Elegir un componente dentro de la librería de </a:t>
            </a:r>
            <a:r>
              <a:rPr lang="es-ES_tradnl" dirty="0" err="1">
                <a:solidFill>
                  <a:srgbClr val="FFFFFF"/>
                </a:solidFill>
                <a:latin typeface="Helvetica"/>
                <a:cs typeface="Helvetica"/>
              </a:rPr>
              <a:t>webcomponents.org</a:t>
            </a:r>
            <a:r>
              <a:rPr lang="es-ES_tradnl" dirty="0">
                <a:solidFill>
                  <a:srgbClr val="FFFFFF"/>
                </a:solidFill>
                <a:latin typeface="Helvetica"/>
                <a:cs typeface="Helvetica"/>
              </a:rPr>
              <a:t>.</a:t>
            </a:r>
          </a:p>
          <a:p>
            <a:pPr marL="342900" indent="-342900" algn="just">
              <a:lnSpc>
                <a:spcPct val="130000"/>
              </a:lnSpc>
              <a:buFont typeface="+mj-lt"/>
              <a:buAutoNum type="arabicPeriod"/>
            </a:pPr>
            <a:r>
              <a:rPr lang="es-ES_tradnl" dirty="0">
                <a:solidFill>
                  <a:srgbClr val="FFFFFF"/>
                </a:solidFill>
                <a:latin typeface="Helvetica"/>
                <a:cs typeface="Helvetica"/>
              </a:rPr>
              <a:t>Realizar la importación de la dependencia en formato </a:t>
            </a:r>
            <a:r>
              <a:rPr lang="es-ES_tradnl" dirty="0" err="1">
                <a:solidFill>
                  <a:srgbClr val="FFFFFF"/>
                </a:solidFill>
                <a:latin typeface="Helvetica"/>
                <a:cs typeface="Helvetica"/>
              </a:rPr>
              <a:t>npm</a:t>
            </a:r>
            <a:r>
              <a:rPr lang="es-ES_tradnl" dirty="0">
                <a:solidFill>
                  <a:srgbClr val="FFFFFF"/>
                </a:solidFill>
                <a:latin typeface="Helvetica"/>
                <a:cs typeface="Helvetica"/>
              </a:rPr>
              <a:t>:</a:t>
            </a:r>
          </a:p>
          <a:p>
            <a:pPr marL="342900" indent="-342900" algn="just">
              <a:lnSpc>
                <a:spcPct val="130000"/>
              </a:lnSpc>
              <a:buFont typeface="+mj-lt"/>
              <a:buAutoNum type="arabicPeriod"/>
            </a:pPr>
            <a:r>
              <a:rPr lang="es-ES_tradnl" dirty="0">
                <a:solidFill>
                  <a:schemeClr val="accent5">
                    <a:lumMod val="40000"/>
                    <a:lumOff val="60000"/>
                  </a:schemeClr>
                </a:solidFill>
                <a:latin typeface="Helvetica"/>
                <a:cs typeface="Helvetica"/>
              </a:rPr>
              <a:t>	</a:t>
            </a:r>
            <a:r>
              <a:rPr lang="es-ES_tradnl" dirty="0" err="1">
                <a:solidFill>
                  <a:schemeClr val="accent5">
                    <a:lumMod val="40000"/>
                    <a:lumOff val="60000"/>
                  </a:schemeClr>
                </a:solidFill>
                <a:latin typeface="Helvetica"/>
                <a:cs typeface="Helvetica"/>
              </a:rPr>
              <a:t>npm</a:t>
            </a:r>
            <a:r>
              <a:rPr lang="es-ES_tradnl" dirty="0">
                <a:solidFill>
                  <a:schemeClr val="accent5">
                    <a:lumMod val="40000"/>
                    <a:lumOff val="60000"/>
                  </a:schemeClr>
                </a:solidFill>
                <a:latin typeface="Helvetica"/>
                <a:cs typeface="Helvetica"/>
              </a:rPr>
              <a:t> </a:t>
            </a:r>
            <a:r>
              <a:rPr lang="es-ES_tradnl" dirty="0" err="1">
                <a:solidFill>
                  <a:schemeClr val="accent5">
                    <a:lumMod val="40000"/>
                    <a:lumOff val="60000"/>
                  </a:schemeClr>
                </a:solidFill>
                <a:latin typeface="Helvetica"/>
                <a:cs typeface="Helvetica"/>
              </a:rPr>
              <a:t>install</a:t>
            </a:r>
            <a:r>
              <a:rPr lang="es-ES_tradnl" dirty="0">
                <a:solidFill>
                  <a:schemeClr val="accent5">
                    <a:lumMod val="40000"/>
                    <a:lumOff val="60000"/>
                  </a:schemeClr>
                </a:solidFill>
                <a:latin typeface="Helvetica"/>
                <a:cs typeface="Helvetica"/>
              </a:rPr>
              <a:t> --</a:t>
            </a:r>
            <a:r>
              <a:rPr lang="es-ES_tradnl" dirty="0" err="1">
                <a:solidFill>
                  <a:schemeClr val="accent5">
                    <a:lumMod val="40000"/>
                    <a:lumOff val="60000"/>
                  </a:schemeClr>
                </a:solidFill>
                <a:latin typeface="Helvetica"/>
                <a:cs typeface="Helvetica"/>
              </a:rPr>
              <a:t>save</a:t>
            </a:r>
            <a:r>
              <a:rPr lang="es-ES_tradnl" dirty="0">
                <a:solidFill>
                  <a:schemeClr val="accent5">
                    <a:lumMod val="40000"/>
                    <a:lumOff val="60000"/>
                  </a:schemeClr>
                </a:solidFill>
                <a:latin typeface="Helvetica"/>
                <a:cs typeface="Helvetica"/>
              </a:rPr>
              <a:t> @</a:t>
            </a:r>
            <a:r>
              <a:rPr lang="es-ES_tradnl" dirty="0" err="1">
                <a:solidFill>
                  <a:schemeClr val="accent5">
                    <a:lumMod val="40000"/>
                    <a:lumOff val="60000"/>
                  </a:schemeClr>
                </a:solidFill>
                <a:latin typeface="Helvetica"/>
                <a:cs typeface="Helvetica"/>
              </a:rPr>
              <a:t>polymer</a:t>
            </a:r>
            <a:r>
              <a:rPr lang="es-ES_tradnl" dirty="0">
                <a:solidFill>
                  <a:schemeClr val="accent5">
                    <a:lumMod val="40000"/>
                    <a:lumOff val="60000"/>
                  </a:schemeClr>
                </a:solidFill>
                <a:latin typeface="Helvetica"/>
                <a:cs typeface="Helvetica"/>
              </a:rPr>
              <a:t>/</a:t>
            </a:r>
            <a:r>
              <a:rPr lang="es-ES_tradnl" dirty="0" err="1">
                <a:solidFill>
                  <a:schemeClr val="accent5">
                    <a:lumMod val="40000"/>
                    <a:lumOff val="60000"/>
                  </a:schemeClr>
                </a:solidFill>
                <a:latin typeface="Helvetica"/>
                <a:cs typeface="Helvetica"/>
              </a:rPr>
              <a:t>paper</a:t>
            </a:r>
            <a:r>
              <a:rPr lang="es-ES_tradnl" dirty="0">
                <a:solidFill>
                  <a:schemeClr val="accent5">
                    <a:lumMod val="40000"/>
                    <a:lumOff val="60000"/>
                  </a:schemeClr>
                </a:solidFill>
                <a:latin typeface="Helvetica"/>
                <a:cs typeface="Helvetica"/>
              </a:rPr>
              <a:t>-slider</a:t>
            </a:r>
          </a:p>
          <a:p>
            <a:pPr marL="342900" indent="-342900" algn="just">
              <a:lnSpc>
                <a:spcPct val="130000"/>
              </a:lnSpc>
              <a:buFont typeface="+mj-lt"/>
              <a:buAutoNum type="arabicPeriod"/>
            </a:pPr>
            <a:r>
              <a:rPr lang="es-ES_tradnl" dirty="0">
                <a:solidFill>
                  <a:srgbClr val="FFFFFF"/>
                </a:solidFill>
                <a:latin typeface="Helvetica"/>
                <a:cs typeface="Helvetica"/>
              </a:rPr>
              <a:t>Comprobamos que la dependencia se ha instalado correctamente dentro del directorio </a:t>
            </a:r>
            <a:r>
              <a:rPr lang="es-ES_tradnl" dirty="0" err="1">
                <a:solidFill>
                  <a:srgbClr val="FFFFFF"/>
                </a:solidFill>
                <a:latin typeface="Helvetica"/>
                <a:cs typeface="Helvetica"/>
              </a:rPr>
              <a:t>node_modules</a:t>
            </a:r>
            <a:r>
              <a:rPr lang="es-ES_tradnl" dirty="0">
                <a:solidFill>
                  <a:srgbClr val="FFFFFF"/>
                </a:solidFill>
                <a:latin typeface="Helvetica"/>
                <a:cs typeface="Helvetica"/>
              </a:rPr>
              <a:t> y nos fijamos en la ruta.</a:t>
            </a:r>
          </a:p>
          <a:p>
            <a:pPr marL="342900" indent="-342900" algn="just">
              <a:lnSpc>
                <a:spcPct val="130000"/>
              </a:lnSpc>
              <a:buFont typeface="+mj-lt"/>
              <a:buAutoNum type="arabicPeriod"/>
            </a:pPr>
            <a:r>
              <a:rPr lang="es-ES_tradnl" dirty="0">
                <a:solidFill>
                  <a:srgbClr val="FFFFFF"/>
                </a:solidFill>
                <a:latin typeface="Helvetica"/>
                <a:cs typeface="Helvetica"/>
              </a:rPr>
              <a:t>Seguimos las instrucciones de la pagina del componente para añadir la dependencia dentro de nuestro código y adaptamos el </a:t>
            </a:r>
            <a:r>
              <a:rPr lang="es-ES_tradnl" dirty="0" err="1">
                <a:solidFill>
                  <a:srgbClr val="FFFFFF"/>
                </a:solidFill>
                <a:latin typeface="Helvetica"/>
                <a:cs typeface="Helvetica"/>
              </a:rPr>
              <a:t>import</a:t>
            </a:r>
            <a:r>
              <a:rPr lang="es-ES_tradnl" dirty="0">
                <a:solidFill>
                  <a:srgbClr val="FFFFFF"/>
                </a:solidFill>
                <a:latin typeface="Helvetica"/>
                <a:cs typeface="Helvetica"/>
              </a:rPr>
              <a:t> si fuese necesario:</a:t>
            </a:r>
          </a:p>
          <a:p>
            <a:pPr algn="just">
              <a:lnSpc>
                <a:spcPct val="130000"/>
              </a:lnSpc>
            </a:pPr>
            <a:r>
              <a:rPr lang="es-ES_tradnl" dirty="0">
                <a:solidFill>
                  <a:srgbClr val="FFFFFF"/>
                </a:solidFill>
                <a:latin typeface="Helvetica"/>
                <a:cs typeface="Helvetica"/>
              </a:rPr>
              <a:t>	</a:t>
            </a:r>
            <a:r>
              <a:rPr lang="es-ES_tradnl" dirty="0" err="1">
                <a:solidFill>
                  <a:schemeClr val="accent5">
                    <a:lumMod val="40000"/>
                    <a:lumOff val="60000"/>
                  </a:schemeClr>
                </a:solidFill>
                <a:latin typeface="Helvetica"/>
                <a:cs typeface="Helvetica"/>
              </a:rPr>
              <a:t>import</a:t>
            </a:r>
            <a:r>
              <a:rPr lang="es-ES_tradnl" dirty="0">
                <a:solidFill>
                  <a:schemeClr val="accent5">
                    <a:lumMod val="40000"/>
                    <a:lumOff val="60000"/>
                  </a:schemeClr>
                </a:solidFill>
                <a:latin typeface="Helvetica"/>
                <a:cs typeface="Helvetica"/>
              </a:rPr>
              <a:t> '@</a:t>
            </a:r>
            <a:r>
              <a:rPr lang="es-ES_tradnl" dirty="0" err="1">
                <a:solidFill>
                  <a:schemeClr val="accent5">
                    <a:lumMod val="40000"/>
                    <a:lumOff val="60000"/>
                  </a:schemeClr>
                </a:solidFill>
                <a:latin typeface="Helvetica"/>
                <a:cs typeface="Helvetica"/>
              </a:rPr>
              <a:t>polymer</a:t>
            </a:r>
            <a:r>
              <a:rPr lang="es-ES_tradnl" dirty="0">
                <a:solidFill>
                  <a:schemeClr val="accent5">
                    <a:lumMod val="40000"/>
                    <a:lumOff val="60000"/>
                  </a:schemeClr>
                </a:solidFill>
                <a:latin typeface="Helvetica"/>
                <a:cs typeface="Helvetica"/>
              </a:rPr>
              <a:t>/</a:t>
            </a:r>
            <a:r>
              <a:rPr lang="es-ES_tradnl" dirty="0" err="1">
                <a:solidFill>
                  <a:schemeClr val="accent5">
                    <a:lumMod val="40000"/>
                    <a:lumOff val="60000"/>
                  </a:schemeClr>
                </a:solidFill>
                <a:latin typeface="Helvetica"/>
                <a:cs typeface="Helvetica"/>
              </a:rPr>
              <a:t>paper</a:t>
            </a:r>
            <a:r>
              <a:rPr lang="es-ES_tradnl" dirty="0">
                <a:solidFill>
                  <a:schemeClr val="accent5">
                    <a:lumMod val="40000"/>
                    <a:lumOff val="60000"/>
                  </a:schemeClr>
                </a:solidFill>
                <a:latin typeface="Helvetica"/>
                <a:cs typeface="Helvetica"/>
              </a:rPr>
              <a:t>-slider/</a:t>
            </a:r>
            <a:r>
              <a:rPr lang="es-ES_tradnl" dirty="0" err="1">
                <a:solidFill>
                  <a:schemeClr val="accent5">
                    <a:lumMod val="40000"/>
                    <a:lumOff val="60000"/>
                  </a:schemeClr>
                </a:solidFill>
                <a:latin typeface="Helvetica"/>
                <a:cs typeface="Helvetica"/>
              </a:rPr>
              <a:t>paper-slider.js</a:t>
            </a:r>
            <a:r>
              <a:rPr lang="es-ES_tradnl" dirty="0">
                <a:solidFill>
                  <a:schemeClr val="accent5">
                    <a:lumMod val="40000"/>
                    <a:lumOff val="60000"/>
                  </a:schemeClr>
                </a:solidFill>
                <a:latin typeface="Helvetica"/>
                <a:cs typeface="Helvetica"/>
              </a:rPr>
              <a:t>’    </a:t>
            </a:r>
            <a:endParaRPr lang="es-ES_tradnl" dirty="0">
              <a:solidFill>
                <a:srgbClr val="FFFFFF"/>
              </a:solidFill>
              <a:latin typeface="Helvetica"/>
              <a:cs typeface="Helvetica"/>
            </a:endParaRPr>
          </a:p>
          <a:p>
            <a:pPr algn="just">
              <a:lnSpc>
                <a:spcPct val="130000"/>
              </a:lnSpc>
            </a:pPr>
            <a:r>
              <a:rPr lang="es-ES_tradnl" dirty="0" smtClean="0">
                <a:solidFill>
                  <a:schemeClr val="accent5">
                    <a:lumMod val="40000"/>
                    <a:lumOff val="60000"/>
                  </a:schemeClr>
                </a:solidFill>
                <a:latin typeface="Helvetica"/>
                <a:cs typeface="Helvetica"/>
              </a:rPr>
              <a:t> </a:t>
            </a:r>
            <a:endParaRPr lang="es-ES_tradnl" dirty="0">
              <a:solidFill>
                <a:srgbClr val="FFFFFF"/>
              </a:solidFill>
              <a:latin typeface="Helvetica"/>
              <a:cs typeface="Helvetica"/>
            </a:endParaRPr>
          </a:p>
          <a:p>
            <a:pPr lvl="1" algn="just">
              <a:lnSpc>
                <a:spcPct val="130000"/>
              </a:lnSpc>
            </a:pPr>
            <a:r>
              <a:rPr lang="es-ES_tradnl" dirty="0" smtClean="0">
                <a:solidFill>
                  <a:schemeClr val="accent5">
                    <a:lumMod val="40000"/>
                    <a:lumOff val="60000"/>
                  </a:schemeClr>
                </a:solidFill>
                <a:latin typeface="Helvetica"/>
                <a:cs typeface="Helvetica"/>
              </a:rPr>
              <a:t>	</a:t>
            </a:r>
            <a:endParaRPr lang="es-ES_tradnl" dirty="0">
              <a:solidFill>
                <a:schemeClr val="accent5">
                  <a:lumMod val="40000"/>
                  <a:lumOff val="60000"/>
                </a:schemeClr>
              </a:solidFill>
              <a:latin typeface="Helvetica"/>
              <a:cs typeface="Helvetica"/>
            </a:endParaRPr>
          </a:p>
          <a:p>
            <a:pPr lvl="1" algn="just">
              <a:lnSpc>
                <a:spcPct val="130000"/>
              </a:lnSpc>
            </a:pPr>
            <a:endParaRPr lang="es-ES_tradnl" dirty="0" smtClean="0">
              <a:solidFill>
                <a:schemeClr val="accent5">
                  <a:lumMod val="40000"/>
                  <a:lumOff val="60000"/>
                </a:schemeClr>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97</a:t>
            </a:fld>
            <a:endParaRPr lang="en-US"/>
          </a:p>
        </p:txBody>
      </p:sp>
    </p:spTree>
    <p:extLst>
      <p:ext uri="{BB962C8B-B14F-4D97-AF65-F5344CB8AC3E}">
        <p14:creationId xmlns:p14="http://schemas.microsoft.com/office/powerpoint/2010/main" val="1581244471"/>
      </p:ext>
    </p:extLst>
  </p:cSld>
  <p:clrMapOvr>
    <a:masterClrMapping/>
  </p:clrMapOvr>
  <p:timing>
    <p:tnLst>
      <p:par>
        <p:cTn xmlns:p14="http://schemas.microsoft.com/office/powerpoint/2010/mai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Añadir Componentes</a:t>
            </a:r>
            <a:endParaRPr lang="es-ES" sz="2000" dirty="0">
              <a:solidFill>
                <a:srgbClr val="FFFFFF"/>
              </a:solidFill>
              <a:latin typeface="Helvetica"/>
              <a:cs typeface="Helvetica"/>
            </a:endParaRPr>
          </a:p>
        </p:txBody>
      </p:sp>
      <p:sp>
        <p:nvSpPr>
          <p:cNvPr id="25" name="Rectángulo 24"/>
          <p:cNvSpPr/>
          <p:nvPr/>
        </p:nvSpPr>
        <p:spPr>
          <a:xfrm>
            <a:off x="505396" y="1036937"/>
            <a:ext cx="8189908" cy="769441"/>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smtClean="0">
                <a:latin typeface="Arial Black"/>
                <a:cs typeface="Arial Black"/>
              </a:rPr>
              <a:t>Añadir Componentes &gt; Gestionar  Duplicidad de dependencias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4" name="Rectángulo 13"/>
          <p:cNvSpPr/>
          <p:nvPr/>
        </p:nvSpPr>
        <p:spPr>
          <a:xfrm>
            <a:off x="492433" y="1614742"/>
            <a:ext cx="8202871" cy="3679469"/>
          </a:xfrm>
          <a:prstGeom prst="rect">
            <a:avLst/>
          </a:prstGeom>
        </p:spPr>
        <p:txBody>
          <a:bodyPr wrap="square">
            <a:spAutoFit/>
          </a:bodyPr>
          <a:lstStyle/>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marL="285750" indent="-285750" algn="just">
              <a:lnSpc>
                <a:spcPct val="130000"/>
              </a:lnSpc>
              <a:buFont typeface="Arial"/>
              <a:buChar char="•"/>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a:p>
            <a:pPr algn="just">
              <a:lnSpc>
                <a:spcPct val="130000"/>
              </a:lnSpc>
            </a:pPr>
            <a:endParaRPr lang="nb-NO" dirty="0" smtClean="0">
              <a:solidFill>
                <a:schemeClr val="accent5">
                  <a:lumMod val="60000"/>
                  <a:lumOff val="40000"/>
                </a:schemeClr>
              </a:solidFill>
              <a:latin typeface="Helvetica"/>
              <a:cs typeface="Helvetica"/>
            </a:endParaRPr>
          </a:p>
          <a:p>
            <a:pPr algn="just">
              <a:lnSpc>
                <a:spcPct val="130000"/>
              </a:lnSpc>
            </a:pPr>
            <a:endParaRPr lang="nb-NO" dirty="0" smtClean="0">
              <a:solidFill>
                <a:srgbClr val="FFFFFF"/>
              </a:solidFill>
              <a:latin typeface="Helvetica"/>
              <a:cs typeface="Helvetica"/>
            </a:endParaRPr>
          </a:p>
          <a:p>
            <a:pPr algn="just">
              <a:lnSpc>
                <a:spcPct val="130000"/>
              </a:lnSpc>
            </a:pPr>
            <a:endParaRPr lang="nb-NO" dirty="0">
              <a:solidFill>
                <a:srgbClr val="FFFFFF"/>
              </a:solidFill>
              <a:latin typeface="Helvetica"/>
              <a:cs typeface="Helvetica"/>
            </a:endParaRPr>
          </a:p>
        </p:txBody>
      </p:sp>
      <p:sp>
        <p:nvSpPr>
          <p:cNvPr id="17" name="Rectángulo 16"/>
          <p:cNvSpPr/>
          <p:nvPr/>
        </p:nvSpPr>
        <p:spPr>
          <a:xfrm>
            <a:off x="368189" y="1816986"/>
            <a:ext cx="8202871" cy="4759766"/>
          </a:xfrm>
          <a:prstGeom prst="rect">
            <a:avLst/>
          </a:prstGeom>
        </p:spPr>
        <p:txBody>
          <a:bodyPr wrap="square">
            <a:spAutoFit/>
          </a:bodyPr>
          <a:lstStyle/>
          <a:p>
            <a:pPr algn="just">
              <a:lnSpc>
                <a:spcPct val="130000"/>
              </a:lnSpc>
            </a:pPr>
            <a:r>
              <a:rPr lang="es-ES_tradnl" dirty="0" smtClean="0">
                <a:solidFill>
                  <a:srgbClr val="FFFFFF"/>
                </a:solidFill>
                <a:latin typeface="Helvetica"/>
                <a:cs typeface="Helvetica"/>
              </a:rPr>
              <a:t>Es posible que al ir añadiendo nuevos componentes se produzca alguna duplicidad en </a:t>
            </a:r>
            <a:r>
              <a:rPr lang="es-ES_tradnl" dirty="0">
                <a:solidFill>
                  <a:srgbClr val="FFFFFF"/>
                </a:solidFill>
                <a:latin typeface="Helvetica"/>
                <a:cs typeface="Helvetica"/>
              </a:rPr>
              <a:t>las dependencias (</a:t>
            </a:r>
            <a:r>
              <a:rPr lang="es-ES_tradnl" dirty="0" err="1">
                <a:solidFill>
                  <a:srgbClr val="FFFFFF"/>
                </a:solidFill>
                <a:latin typeface="Helvetica"/>
                <a:cs typeface="Helvetica"/>
              </a:rPr>
              <a:t>package-</a:t>
            </a:r>
            <a:r>
              <a:rPr lang="es-ES_tradnl" dirty="0" err="1" smtClean="0">
                <a:solidFill>
                  <a:srgbClr val="FFFFFF"/>
                </a:solidFill>
                <a:latin typeface="Helvetica"/>
                <a:cs typeface="Helvetica"/>
              </a:rPr>
              <a:t>lock.json</a:t>
            </a:r>
            <a:r>
              <a:rPr lang="es-ES_tradnl" dirty="0" smtClean="0">
                <a:solidFill>
                  <a:srgbClr val="FFFFFF"/>
                </a:solidFill>
                <a:latin typeface="Helvetica"/>
                <a:cs typeface="Helvetica"/>
              </a:rPr>
              <a:t>).</a:t>
            </a:r>
          </a:p>
          <a:p>
            <a:pPr algn="just">
              <a:lnSpc>
                <a:spcPct val="130000"/>
              </a:lnSpc>
            </a:pPr>
            <a:endParaRPr lang="es-ES_tradnl" dirty="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El error típico que </a:t>
            </a:r>
            <a:r>
              <a:rPr lang="es-ES_tradnl" u="sng" dirty="0" smtClean="0">
                <a:solidFill>
                  <a:srgbClr val="FFFFFF"/>
                </a:solidFill>
                <a:latin typeface="Helvetica"/>
                <a:cs typeface="Helvetica"/>
              </a:rPr>
              <a:t>aparece por la consola del navegador </a:t>
            </a:r>
            <a:r>
              <a:rPr lang="es-ES_tradnl" dirty="0" smtClean="0">
                <a:solidFill>
                  <a:srgbClr val="FFFFFF"/>
                </a:solidFill>
                <a:latin typeface="Helvetica"/>
                <a:cs typeface="Helvetica"/>
              </a:rPr>
              <a:t>es el siguiente:</a:t>
            </a:r>
          </a:p>
          <a:p>
            <a:pPr algn="just">
              <a:lnSpc>
                <a:spcPct val="130000"/>
              </a:lnSpc>
            </a:pPr>
            <a:endParaRPr lang="es-ES_tradnl" dirty="0">
              <a:solidFill>
                <a:srgbClr val="FFFFFF"/>
              </a:solidFill>
              <a:latin typeface="Helvetica"/>
              <a:cs typeface="Helvetica"/>
            </a:endParaRPr>
          </a:p>
          <a:p>
            <a:pPr algn="just">
              <a:lnSpc>
                <a:spcPct val="130000"/>
              </a:lnSpc>
            </a:pPr>
            <a:endParaRPr lang="es-ES_tradnl" dirty="0" smtClean="0">
              <a:solidFill>
                <a:srgbClr val="FFFFFF"/>
              </a:solidFill>
              <a:latin typeface="Helvetica"/>
              <a:cs typeface="Helvetica"/>
            </a:endParaRPr>
          </a:p>
          <a:p>
            <a:pPr algn="just">
              <a:lnSpc>
                <a:spcPct val="130000"/>
              </a:lnSpc>
            </a:pPr>
            <a:endParaRPr lang="es-ES_tradnl" dirty="0">
              <a:solidFill>
                <a:srgbClr val="FFFFFF"/>
              </a:solidFill>
              <a:latin typeface="Helvetica"/>
              <a:cs typeface="Helvetica"/>
            </a:endParaRPr>
          </a:p>
          <a:p>
            <a:pPr algn="just">
              <a:lnSpc>
                <a:spcPct val="130000"/>
              </a:lnSpc>
            </a:pPr>
            <a:endParaRPr lang="es-ES_tradnl" dirty="0" smtClean="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Sino queremos buscar la duplicidad (normalmente es </a:t>
            </a:r>
            <a:r>
              <a:rPr lang="es-ES_tradnl" dirty="0" err="1" smtClean="0">
                <a:solidFill>
                  <a:srgbClr val="FFFFFF"/>
                </a:solidFill>
                <a:latin typeface="Helvetica"/>
                <a:cs typeface="Helvetica"/>
              </a:rPr>
              <a:t>polymer-legacy.js</a:t>
            </a:r>
            <a:r>
              <a:rPr lang="es-ES_tradnl" dirty="0" smtClean="0">
                <a:solidFill>
                  <a:srgbClr val="FFFFFF"/>
                </a:solidFill>
                <a:latin typeface="Helvetica"/>
                <a:cs typeface="Helvetica"/>
              </a:rPr>
              <a:t>) podemos hacer una recarga completa de dependencias desde cero:</a:t>
            </a:r>
          </a:p>
          <a:p>
            <a:pPr marL="342900" indent="-342900" algn="just">
              <a:lnSpc>
                <a:spcPct val="130000"/>
              </a:lnSpc>
              <a:buFont typeface="+mj-lt"/>
              <a:buAutoNum type="arabicPeriod"/>
            </a:pPr>
            <a:r>
              <a:rPr lang="es-ES_tradnl" dirty="0" smtClean="0">
                <a:solidFill>
                  <a:srgbClr val="FFFFFF"/>
                </a:solidFill>
                <a:latin typeface="Helvetica"/>
                <a:cs typeface="Helvetica"/>
              </a:rPr>
              <a:t>Borrado completo del directorio </a:t>
            </a:r>
            <a:r>
              <a:rPr lang="es-ES_tradnl" dirty="0" err="1" smtClean="0">
                <a:solidFill>
                  <a:schemeClr val="accent5">
                    <a:lumMod val="40000"/>
                    <a:lumOff val="60000"/>
                  </a:schemeClr>
                </a:solidFill>
                <a:latin typeface="Helvetica"/>
                <a:cs typeface="Helvetica"/>
              </a:rPr>
              <a:t>node_modules</a:t>
            </a:r>
            <a:r>
              <a:rPr lang="es-ES_tradnl" dirty="0" smtClean="0">
                <a:solidFill>
                  <a:srgbClr val="FFFFFF"/>
                </a:solidFill>
                <a:latin typeface="Helvetica"/>
                <a:cs typeface="Helvetica"/>
              </a:rPr>
              <a:t> y </a:t>
            </a:r>
            <a:r>
              <a:rPr lang="es-ES_tradnl" dirty="0" err="1" smtClean="0">
                <a:solidFill>
                  <a:srgbClr val="B8E39D"/>
                </a:solidFill>
                <a:latin typeface="Helvetica"/>
                <a:cs typeface="Helvetica"/>
              </a:rPr>
              <a:t>package-lock.json</a:t>
            </a:r>
            <a:endParaRPr lang="es-ES_tradnl" dirty="0">
              <a:solidFill>
                <a:srgbClr val="B8E39D"/>
              </a:solidFill>
              <a:latin typeface="Helvetica"/>
              <a:cs typeface="Helvetica"/>
            </a:endParaRPr>
          </a:p>
          <a:p>
            <a:pPr marL="342900" indent="-342900" algn="just">
              <a:lnSpc>
                <a:spcPct val="130000"/>
              </a:lnSpc>
              <a:buFont typeface="+mj-lt"/>
              <a:buAutoNum type="arabicPeriod"/>
            </a:pPr>
            <a:r>
              <a:rPr lang="es-ES_tradnl" dirty="0" smtClean="0">
                <a:solidFill>
                  <a:srgbClr val="FFFFFF"/>
                </a:solidFill>
                <a:latin typeface="Helvetica"/>
                <a:cs typeface="Helvetica"/>
              </a:rPr>
              <a:t>Forzamos la instalación de dependencias con </a:t>
            </a:r>
            <a:r>
              <a:rPr lang="es-ES_tradnl" dirty="0" err="1" smtClean="0">
                <a:solidFill>
                  <a:srgbClr val="B8E39D"/>
                </a:solidFill>
                <a:latin typeface="Helvetica"/>
                <a:cs typeface="Helvetica"/>
              </a:rPr>
              <a:t>node</a:t>
            </a:r>
            <a:r>
              <a:rPr lang="es-ES_tradnl" dirty="0" smtClean="0">
                <a:solidFill>
                  <a:srgbClr val="B8E39D"/>
                </a:solidFill>
                <a:latin typeface="Helvetica"/>
                <a:cs typeface="Helvetica"/>
              </a:rPr>
              <a:t> i</a:t>
            </a:r>
          </a:p>
          <a:p>
            <a:pPr lvl="1" algn="just">
              <a:lnSpc>
                <a:spcPct val="130000"/>
              </a:lnSpc>
            </a:pPr>
            <a:endParaRPr lang="es-ES_tradnl" dirty="0" smtClean="0">
              <a:solidFill>
                <a:schemeClr val="accent5">
                  <a:lumMod val="40000"/>
                  <a:lumOff val="60000"/>
                </a:schemeClr>
              </a:solidFill>
              <a:latin typeface="Helvetica"/>
              <a:cs typeface="Helvetica"/>
            </a:endParaRPr>
          </a:p>
        </p:txBody>
      </p:sp>
      <p:sp>
        <p:nvSpPr>
          <p:cNvPr id="15" name="Rectángulo 14"/>
          <p:cNvSpPr/>
          <p:nvPr/>
        </p:nvSpPr>
        <p:spPr>
          <a:xfrm>
            <a:off x="882138" y="3558225"/>
            <a:ext cx="7005407" cy="923330"/>
          </a:xfrm>
          <a:prstGeom prst="rect">
            <a:avLst/>
          </a:prstGeom>
          <a:solidFill>
            <a:schemeClr val="bg2">
              <a:lumMod val="25000"/>
              <a:lumOff val="75000"/>
            </a:schemeClr>
          </a:solidFill>
          <a:ln w="12700" cmpd="sng">
            <a:solidFill>
              <a:srgbClr val="FF0000"/>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 dirty="0" err="1" smtClean="0">
                <a:solidFill>
                  <a:srgbClr val="F44B5B"/>
                </a:solidFill>
                <a:cs typeface="Calisto MT"/>
              </a:rPr>
              <a:t>Uncaught</a:t>
            </a:r>
            <a:r>
              <a:rPr lang="es-ES" dirty="0" smtClean="0">
                <a:solidFill>
                  <a:srgbClr val="F44B5B"/>
                </a:solidFill>
                <a:cs typeface="Calisto MT"/>
              </a:rPr>
              <a:t> </a:t>
            </a:r>
            <a:r>
              <a:rPr lang="es-ES" dirty="0" err="1">
                <a:solidFill>
                  <a:srgbClr val="F44B5B"/>
                </a:solidFill>
                <a:cs typeface="Calisto MT"/>
              </a:rPr>
              <a:t>DOMException</a:t>
            </a:r>
            <a:r>
              <a:rPr lang="es-ES" dirty="0">
                <a:solidFill>
                  <a:srgbClr val="F44B5B"/>
                </a:solidFill>
                <a:cs typeface="Calisto MT"/>
              </a:rPr>
              <a:t>: </a:t>
            </a:r>
            <a:r>
              <a:rPr lang="es-ES" dirty="0" err="1">
                <a:solidFill>
                  <a:srgbClr val="F44B5B"/>
                </a:solidFill>
                <a:cs typeface="Calisto MT"/>
              </a:rPr>
              <a:t>Failed</a:t>
            </a:r>
            <a:r>
              <a:rPr lang="es-ES" dirty="0">
                <a:solidFill>
                  <a:srgbClr val="F44B5B"/>
                </a:solidFill>
                <a:cs typeface="Calisto MT"/>
              </a:rPr>
              <a:t> </a:t>
            </a:r>
            <a:r>
              <a:rPr lang="es-ES" dirty="0" err="1">
                <a:solidFill>
                  <a:srgbClr val="F44B5B"/>
                </a:solidFill>
                <a:cs typeface="Calisto MT"/>
              </a:rPr>
              <a:t>to</a:t>
            </a:r>
            <a:r>
              <a:rPr lang="es-ES" dirty="0">
                <a:solidFill>
                  <a:srgbClr val="F44B5B"/>
                </a:solidFill>
                <a:cs typeface="Calisto MT"/>
              </a:rPr>
              <a:t> </a:t>
            </a:r>
            <a:r>
              <a:rPr lang="es-ES" dirty="0" err="1">
                <a:solidFill>
                  <a:srgbClr val="F44B5B"/>
                </a:solidFill>
                <a:cs typeface="Calisto MT"/>
              </a:rPr>
              <a:t>execute</a:t>
            </a:r>
            <a:r>
              <a:rPr lang="es-ES" dirty="0">
                <a:solidFill>
                  <a:srgbClr val="F44B5B"/>
                </a:solidFill>
                <a:cs typeface="Calisto MT"/>
              </a:rPr>
              <a:t> 'define' </a:t>
            </a:r>
            <a:r>
              <a:rPr lang="es-ES" dirty="0" err="1">
                <a:solidFill>
                  <a:srgbClr val="F44B5B"/>
                </a:solidFill>
                <a:cs typeface="Calisto MT"/>
              </a:rPr>
              <a:t>on</a:t>
            </a:r>
            <a:r>
              <a:rPr lang="es-ES" dirty="0">
                <a:solidFill>
                  <a:srgbClr val="F44B5B"/>
                </a:solidFill>
                <a:cs typeface="Calisto MT"/>
              </a:rPr>
              <a:t> '</a:t>
            </a:r>
            <a:r>
              <a:rPr lang="es-ES" dirty="0" err="1">
                <a:solidFill>
                  <a:srgbClr val="F44B5B"/>
                </a:solidFill>
                <a:cs typeface="Calisto MT"/>
              </a:rPr>
              <a:t>CustomElementRegistry</a:t>
            </a:r>
            <a:r>
              <a:rPr lang="es-ES" dirty="0">
                <a:solidFill>
                  <a:srgbClr val="F44B5B"/>
                </a:solidFill>
                <a:cs typeface="Calisto MT"/>
              </a:rPr>
              <a:t>': </a:t>
            </a:r>
            <a:r>
              <a:rPr lang="es-ES" dirty="0" err="1">
                <a:solidFill>
                  <a:srgbClr val="F44B5B"/>
                </a:solidFill>
                <a:cs typeface="Calisto MT"/>
              </a:rPr>
              <a:t>this</a:t>
            </a:r>
            <a:r>
              <a:rPr lang="es-ES" dirty="0">
                <a:solidFill>
                  <a:srgbClr val="F44B5B"/>
                </a:solidFill>
                <a:cs typeface="Calisto MT"/>
              </a:rPr>
              <a:t> </a:t>
            </a:r>
            <a:r>
              <a:rPr lang="es-ES" dirty="0" err="1">
                <a:solidFill>
                  <a:srgbClr val="F44B5B"/>
                </a:solidFill>
                <a:cs typeface="Calisto MT"/>
              </a:rPr>
              <a:t>name</a:t>
            </a:r>
            <a:r>
              <a:rPr lang="es-ES" dirty="0">
                <a:solidFill>
                  <a:srgbClr val="F44B5B"/>
                </a:solidFill>
                <a:cs typeface="Calisto MT"/>
              </a:rPr>
              <a:t> has </a:t>
            </a:r>
            <a:r>
              <a:rPr lang="es-ES" dirty="0" err="1">
                <a:solidFill>
                  <a:srgbClr val="F44B5B"/>
                </a:solidFill>
                <a:cs typeface="Calisto MT"/>
              </a:rPr>
              <a:t>already</a:t>
            </a:r>
            <a:r>
              <a:rPr lang="es-ES" dirty="0">
                <a:solidFill>
                  <a:srgbClr val="F44B5B"/>
                </a:solidFill>
                <a:cs typeface="Calisto MT"/>
              </a:rPr>
              <a:t> </a:t>
            </a:r>
            <a:r>
              <a:rPr lang="es-ES" dirty="0" err="1">
                <a:solidFill>
                  <a:srgbClr val="F44B5B"/>
                </a:solidFill>
                <a:cs typeface="Calisto MT"/>
              </a:rPr>
              <a:t>been</a:t>
            </a:r>
            <a:r>
              <a:rPr lang="es-ES" dirty="0">
                <a:solidFill>
                  <a:srgbClr val="F44B5B"/>
                </a:solidFill>
                <a:cs typeface="Calisto MT"/>
              </a:rPr>
              <a:t> </a:t>
            </a:r>
            <a:r>
              <a:rPr lang="es-ES" dirty="0" err="1">
                <a:solidFill>
                  <a:srgbClr val="F44B5B"/>
                </a:solidFill>
                <a:cs typeface="Calisto MT"/>
              </a:rPr>
              <a:t>used</a:t>
            </a:r>
            <a:r>
              <a:rPr lang="es-ES" dirty="0">
                <a:solidFill>
                  <a:srgbClr val="F44B5B"/>
                </a:solidFill>
                <a:cs typeface="Calisto MT"/>
              </a:rPr>
              <a:t> </a:t>
            </a:r>
            <a:r>
              <a:rPr lang="es-ES" dirty="0" err="1">
                <a:solidFill>
                  <a:srgbClr val="F44B5B"/>
                </a:solidFill>
                <a:cs typeface="Calisto MT"/>
              </a:rPr>
              <a:t>with</a:t>
            </a:r>
            <a:r>
              <a:rPr lang="es-ES" dirty="0">
                <a:solidFill>
                  <a:srgbClr val="F44B5B"/>
                </a:solidFill>
                <a:cs typeface="Calisto MT"/>
              </a:rPr>
              <a:t> </a:t>
            </a:r>
            <a:r>
              <a:rPr lang="es-ES" dirty="0" err="1">
                <a:solidFill>
                  <a:srgbClr val="F44B5B"/>
                </a:solidFill>
                <a:cs typeface="Calisto MT"/>
              </a:rPr>
              <a:t>this</a:t>
            </a:r>
            <a:r>
              <a:rPr lang="es-ES" dirty="0">
                <a:solidFill>
                  <a:srgbClr val="F44B5B"/>
                </a:solidFill>
                <a:cs typeface="Calisto MT"/>
              </a:rPr>
              <a:t> </a:t>
            </a:r>
            <a:r>
              <a:rPr lang="es-ES" dirty="0" err="1">
                <a:solidFill>
                  <a:srgbClr val="F44B5B"/>
                </a:solidFill>
                <a:cs typeface="Calisto MT"/>
              </a:rPr>
              <a:t>registry</a:t>
            </a:r>
            <a:r>
              <a:rPr lang="es-ES" dirty="0">
                <a:solidFill>
                  <a:srgbClr val="F44B5B"/>
                </a:solidFill>
                <a:cs typeface="Calisto MT"/>
              </a:rPr>
              <a:t> </a:t>
            </a: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98</a:t>
            </a:fld>
            <a:endParaRPr lang="en-US"/>
          </a:p>
        </p:txBody>
      </p:sp>
    </p:spTree>
    <p:extLst>
      <p:ext uri="{BB962C8B-B14F-4D97-AF65-F5344CB8AC3E}">
        <p14:creationId xmlns:p14="http://schemas.microsoft.com/office/powerpoint/2010/main" val="2178537808"/>
      </p:ext>
    </p:extLst>
  </p:cSld>
  <p:clrMapOvr>
    <a:masterClrMapping/>
  </p:clrMapOvr>
  <p:timing>
    <p:tnLst>
      <p:par>
        <p:cTn xmlns:p14="http://schemas.microsoft.com/office/powerpoint/2010/mai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Busqueda</a:t>
            </a:r>
            <a:r>
              <a:rPr lang="es-ES" sz="2000" dirty="0" smtClean="0">
                <a:solidFill>
                  <a:srgbClr val="FFFFFF"/>
                </a:solidFill>
                <a:latin typeface="Helvetica"/>
                <a:ea typeface="Lucida Grande"/>
                <a:cs typeface="Helvetica"/>
              </a:rPr>
              <a:t> de elementos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Busqueda</a:t>
            </a:r>
            <a:r>
              <a:rPr lang="es-ES_tradnl" sz="2200" u="sng" dirty="0" smtClean="0">
                <a:latin typeface="Arial Black"/>
                <a:cs typeface="Arial Black"/>
              </a:rPr>
              <a:t> de elementos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7" name="Rectángulo 16"/>
          <p:cNvSpPr/>
          <p:nvPr/>
        </p:nvSpPr>
        <p:spPr>
          <a:xfrm>
            <a:off x="505396" y="1534766"/>
            <a:ext cx="8065664" cy="4399667"/>
          </a:xfrm>
          <a:prstGeom prst="rect">
            <a:avLst/>
          </a:prstGeom>
        </p:spPr>
        <p:txBody>
          <a:bodyPr wrap="square">
            <a:spAutoFit/>
          </a:bodyPr>
          <a:lstStyle/>
          <a:p>
            <a:pPr algn="just">
              <a:lnSpc>
                <a:spcPct val="130000"/>
              </a:lnSpc>
            </a:pPr>
            <a:r>
              <a:rPr lang="es-ES_tradnl" dirty="0" err="1" smtClean="0">
                <a:solidFill>
                  <a:srgbClr val="FFFFFF"/>
                </a:solidFill>
                <a:latin typeface="Helvetica"/>
                <a:cs typeface="Helvetica"/>
              </a:rPr>
              <a:t>Polymer</a:t>
            </a:r>
            <a:r>
              <a:rPr lang="es-ES_tradnl" dirty="0" smtClean="0">
                <a:solidFill>
                  <a:srgbClr val="FFFFFF"/>
                </a:solidFill>
                <a:latin typeface="Helvetica"/>
                <a:cs typeface="Helvetica"/>
              </a:rPr>
              <a:t> permite un acceso rápido a los </a:t>
            </a:r>
            <a:r>
              <a:rPr lang="es-ES_tradnl" u="sng" dirty="0" smtClean="0">
                <a:solidFill>
                  <a:srgbClr val="FFFFFF"/>
                </a:solidFill>
                <a:latin typeface="Helvetica"/>
                <a:cs typeface="Helvetica"/>
              </a:rPr>
              <a:t>elementos de su DOM local </a:t>
            </a:r>
            <a:r>
              <a:rPr lang="es-ES_tradnl" dirty="0" smtClean="0">
                <a:solidFill>
                  <a:srgbClr val="FFFFFF"/>
                </a:solidFill>
                <a:latin typeface="Helvetica"/>
                <a:cs typeface="Helvetica"/>
              </a:rPr>
              <a:t>siempre y cuando estos cuenten con la propiedad </a:t>
            </a:r>
            <a:r>
              <a:rPr lang="es-ES_tradnl" dirty="0" smtClean="0">
                <a:solidFill>
                  <a:srgbClr val="B8E39D"/>
                </a:solidFill>
                <a:latin typeface="Helvetica"/>
                <a:cs typeface="Helvetica"/>
              </a:rPr>
              <a:t>id </a:t>
            </a:r>
            <a:r>
              <a:rPr lang="es-ES_tradnl" dirty="0" smtClean="0">
                <a:solidFill>
                  <a:srgbClr val="FFFFFF"/>
                </a:solidFill>
                <a:latin typeface="Helvetica"/>
                <a:cs typeface="Helvetica"/>
              </a:rPr>
              <a:t>declarada.</a:t>
            </a:r>
          </a:p>
          <a:p>
            <a:pPr algn="just">
              <a:lnSpc>
                <a:spcPct val="130000"/>
              </a:lnSpc>
            </a:pPr>
            <a:endParaRPr lang="es-ES_tradnl" dirty="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  La vía abreviado de </a:t>
            </a:r>
            <a:r>
              <a:rPr lang="es-ES_tradnl" dirty="0" err="1" smtClean="0">
                <a:solidFill>
                  <a:srgbClr val="FFFFFF"/>
                </a:solidFill>
                <a:latin typeface="Helvetica"/>
                <a:cs typeface="Helvetica"/>
              </a:rPr>
              <a:t>Polymer</a:t>
            </a:r>
            <a:r>
              <a:rPr lang="es-ES_tradnl" dirty="0" smtClean="0">
                <a:solidFill>
                  <a:srgbClr val="FFFFFF"/>
                </a:solidFill>
                <a:latin typeface="Helvetica"/>
                <a:cs typeface="Helvetica"/>
              </a:rPr>
              <a:t> </a:t>
            </a:r>
            <a:r>
              <a:rPr lang="es-ES_tradnl" dirty="0">
                <a:solidFill>
                  <a:srgbClr val="FFFFFF"/>
                </a:solidFill>
                <a:latin typeface="Helvetica"/>
                <a:cs typeface="Helvetica"/>
              </a:rPr>
              <a:t>sería mediante </a:t>
            </a:r>
            <a:r>
              <a:rPr lang="es-ES_tradnl" dirty="0" err="1">
                <a:solidFill>
                  <a:srgbClr val="B8E39D"/>
                </a:solidFill>
                <a:latin typeface="Helvetica"/>
                <a:cs typeface="Helvetica"/>
              </a:rPr>
              <a:t>this</a:t>
            </a:r>
            <a:r>
              <a:rPr lang="es-ES_tradnl" dirty="0">
                <a:solidFill>
                  <a:srgbClr val="B8E39D"/>
                </a:solidFill>
                <a:latin typeface="Helvetica"/>
                <a:cs typeface="Helvetica"/>
              </a:rPr>
              <a:t>.</a:t>
            </a:r>
            <a:r>
              <a:rPr lang="es-ES_tradnl" dirty="0" smtClean="0">
                <a:solidFill>
                  <a:srgbClr val="B8E39D"/>
                </a:solidFill>
                <a:latin typeface="Helvetica"/>
                <a:cs typeface="Helvetica"/>
              </a:rPr>
              <a:t>$.id</a:t>
            </a:r>
            <a:r>
              <a:rPr lang="es-ES_tradnl" dirty="0" smtClean="0">
                <a:solidFill>
                  <a:srgbClr val="FFFFFF"/>
                </a:solidFill>
                <a:latin typeface="Helvetica"/>
                <a:cs typeface="Helvetica"/>
              </a:rPr>
              <a:t>. De esta forma podemos evitar el uso de </a:t>
            </a:r>
            <a:r>
              <a:rPr lang="es-ES_tradnl" dirty="0">
                <a:solidFill>
                  <a:srgbClr val="FFFFFF"/>
                </a:solidFill>
                <a:latin typeface="Helvetica"/>
                <a:cs typeface="Helvetica"/>
              </a:rPr>
              <a:t>la función </a:t>
            </a:r>
            <a:r>
              <a:rPr lang="es-ES_tradnl" dirty="0" err="1" smtClean="0">
                <a:solidFill>
                  <a:srgbClr val="FFFFFF"/>
                </a:solidFill>
                <a:latin typeface="Helvetica"/>
                <a:cs typeface="Helvetica"/>
              </a:rPr>
              <a:t>this.shadowRoot.querySelector</a:t>
            </a:r>
            <a:r>
              <a:rPr lang="es-ES_tradnl" dirty="0">
                <a:solidFill>
                  <a:srgbClr val="FFFFFF"/>
                </a:solidFill>
                <a:latin typeface="Helvetica"/>
                <a:cs typeface="Helvetica"/>
              </a:rPr>
              <a:t>(</a:t>
            </a:r>
            <a:r>
              <a:rPr lang="es-ES_tradnl" dirty="0" smtClean="0">
                <a:solidFill>
                  <a:srgbClr val="FFFFFF"/>
                </a:solidFill>
                <a:latin typeface="Helvetica"/>
                <a:cs typeface="Helvetica"/>
              </a:rPr>
              <a:t>).</a:t>
            </a:r>
          </a:p>
          <a:p>
            <a:pPr algn="just">
              <a:lnSpc>
                <a:spcPct val="130000"/>
              </a:lnSpc>
            </a:pPr>
            <a:endParaRPr lang="es-ES_tradnl" dirty="0" smtClean="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Importante la diferencia entre: </a:t>
            </a:r>
          </a:p>
          <a:p>
            <a:pPr algn="ctr">
              <a:lnSpc>
                <a:spcPct val="130000"/>
              </a:lnSpc>
            </a:pPr>
            <a:r>
              <a:rPr lang="es-ES_tradnl" dirty="0" err="1" smtClean="0">
                <a:solidFill>
                  <a:srgbClr val="FFFFFF"/>
                </a:solidFill>
                <a:latin typeface="Helvetica"/>
                <a:cs typeface="Helvetica"/>
              </a:rPr>
              <a:t>this.querySelector</a:t>
            </a:r>
            <a:r>
              <a:rPr lang="es-ES_tradnl" dirty="0">
                <a:solidFill>
                  <a:srgbClr val="FFFFFF"/>
                </a:solidFill>
                <a:latin typeface="Helvetica"/>
                <a:cs typeface="Helvetica"/>
              </a:rPr>
              <a:t>(</a:t>
            </a:r>
            <a:r>
              <a:rPr lang="es-ES_tradnl" dirty="0" smtClean="0">
                <a:solidFill>
                  <a:srgbClr val="FFFFFF"/>
                </a:solidFill>
                <a:latin typeface="Helvetica"/>
                <a:cs typeface="Helvetica"/>
              </a:rPr>
              <a:t>) &lt;-&gt; </a:t>
            </a:r>
            <a:r>
              <a:rPr lang="es-ES_tradnl" dirty="0" err="1" smtClean="0">
                <a:solidFill>
                  <a:srgbClr val="FFFFFF"/>
                </a:solidFill>
                <a:latin typeface="Helvetica"/>
                <a:cs typeface="Helvetica"/>
              </a:rPr>
              <a:t>document.querySelector</a:t>
            </a:r>
            <a:r>
              <a:rPr lang="es-ES_tradnl" dirty="0">
                <a:solidFill>
                  <a:srgbClr val="FFFFFF"/>
                </a:solidFill>
                <a:latin typeface="Helvetica"/>
                <a:cs typeface="Helvetica"/>
              </a:rPr>
              <a:t>() </a:t>
            </a:r>
          </a:p>
          <a:p>
            <a:pPr algn="just">
              <a:lnSpc>
                <a:spcPct val="130000"/>
              </a:lnSpc>
            </a:pPr>
            <a:endParaRPr lang="es-ES_tradnl" dirty="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Con </a:t>
            </a:r>
            <a:r>
              <a:rPr lang="es-ES_tradnl" dirty="0" err="1" smtClean="0">
                <a:solidFill>
                  <a:srgbClr val="FFFFFF"/>
                </a:solidFill>
                <a:latin typeface="Helvetica"/>
                <a:cs typeface="Helvetica"/>
              </a:rPr>
              <a:t>this</a:t>
            </a:r>
            <a:r>
              <a:rPr lang="es-ES_tradnl" dirty="0" smtClean="0">
                <a:solidFill>
                  <a:srgbClr val="FFFFFF"/>
                </a:solidFill>
                <a:latin typeface="Helvetica"/>
                <a:cs typeface="Helvetica"/>
              </a:rPr>
              <a:t> encontraríamos el elemento aunque este encapsulado en el Shadow Dom. En cualquier momento podemos visualizar </a:t>
            </a:r>
            <a:r>
              <a:rPr lang="es-ES_tradnl" dirty="0" err="1" smtClean="0">
                <a:solidFill>
                  <a:srgbClr val="B8E39D"/>
                </a:solidFill>
                <a:latin typeface="Helvetica"/>
                <a:cs typeface="Helvetica"/>
              </a:rPr>
              <a:t>this</a:t>
            </a:r>
            <a:r>
              <a:rPr lang="es-ES_tradnl" dirty="0" smtClean="0">
                <a:solidFill>
                  <a:srgbClr val="B8E39D"/>
                </a:solidFill>
                <a:latin typeface="Helvetica"/>
                <a:cs typeface="Helvetica"/>
              </a:rPr>
              <a:t>.$ </a:t>
            </a:r>
            <a:r>
              <a:rPr lang="es-ES_tradnl" dirty="0" smtClean="0">
                <a:solidFill>
                  <a:srgbClr val="FFFFFF"/>
                </a:solidFill>
                <a:latin typeface="Helvetica"/>
                <a:cs typeface="Helvetica"/>
              </a:rPr>
              <a:t>por consola para ver su contenido.</a:t>
            </a:r>
            <a:endParaRPr lang="es-ES_tradnl" dirty="0">
              <a:solidFill>
                <a:srgbClr val="FFFFFF"/>
              </a:solidFill>
              <a:latin typeface="Helvetica"/>
              <a:cs typeface="Helvetica"/>
            </a:endParaRPr>
          </a:p>
        </p:txBody>
      </p:sp>
      <p:sp>
        <p:nvSpPr>
          <p:cNvPr id="11" name="Marcador de número de diapositiva 10"/>
          <p:cNvSpPr>
            <a:spLocks noGrp="1"/>
          </p:cNvSpPr>
          <p:nvPr>
            <p:ph type="sldNum" sz="quarter" idx="12"/>
          </p:nvPr>
        </p:nvSpPr>
        <p:spPr/>
        <p:txBody>
          <a:bodyPr/>
          <a:lstStyle/>
          <a:p>
            <a:fld id="{9C1F5A0A-F6FC-4FFD-9B49-0DA8697211D9}" type="slidenum">
              <a:rPr lang="en-US" smtClean="0"/>
              <a:t>99</a:t>
            </a:fld>
            <a:endParaRPr lang="en-US"/>
          </a:p>
        </p:txBody>
      </p:sp>
    </p:spTree>
    <p:extLst>
      <p:ext uri="{BB962C8B-B14F-4D97-AF65-F5344CB8AC3E}">
        <p14:creationId xmlns:p14="http://schemas.microsoft.com/office/powerpoint/2010/main" val="2430030779"/>
      </p:ext>
    </p:extLst>
  </p:cSld>
  <p:clrMapOvr>
    <a:masterClrMapping/>
  </p:clrMapOvr>
  <p:timing>
    <p:tnLst>
      <p:par>
        <p:cTn xmlns:p14="http://schemas.microsoft.com/office/powerpoint/2010/mai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smtClean="0">
                <a:solidFill>
                  <a:srgbClr val="FFFFFF"/>
                </a:solidFill>
                <a:latin typeface="Helvetica"/>
                <a:ea typeface="Lucida Grande"/>
                <a:cs typeface="Helvetica"/>
              </a:rPr>
              <a:t>Online Tools</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OnLine</a:t>
            </a:r>
            <a:r>
              <a:rPr lang="es-ES_tradnl" sz="2200" u="sng" dirty="0" smtClean="0">
                <a:latin typeface="Arial Black"/>
                <a:cs typeface="Arial Black"/>
              </a:rPr>
              <a:t> </a:t>
            </a:r>
            <a:r>
              <a:rPr lang="es-ES_tradnl" sz="2200" u="sng" dirty="0">
                <a:latin typeface="Arial Black"/>
                <a:cs typeface="Arial Black"/>
              </a:rPr>
              <a:t>Tools &gt; : </a:t>
            </a:r>
            <a:r>
              <a:rPr lang="es-ES_tradnl" sz="2200" u="sng" dirty="0" err="1" smtClean="0">
                <a:latin typeface="Arial Black"/>
                <a:cs typeface="Arial Black"/>
              </a:rPr>
              <a:t>StackBlitz</a:t>
            </a:r>
            <a:r>
              <a:rPr lang="es-ES_tradnl" sz="2200" u="sng" dirty="0" smtClean="0">
                <a:latin typeface="Arial Black"/>
                <a:cs typeface="Arial Black"/>
              </a:rPr>
              <a:t> / </a:t>
            </a:r>
            <a:r>
              <a:rPr lang="es-ES_tradnl" sz="2200" u="sng" dirty="0" err="1">
                <a:latin typeface="Arial Black"/>
                <a:cs typeface="Arial Black"/>
              </a:rPr>
              <a:t>Glitch</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100</a:t>
            </a:fld>
            <a:endParaRPr lang="en-US"/>
          </a:p>
        </p:txBody>
      </p:sp>
      <p:pic>
        <p:nvPicPr>
          <p:cNvPr id="3" name="Imagen 2"/>
          <p:cNvPicPr>
            <a:picLocks noChangeAspect="1"/>
          </p:cNvPicPr>
          <p:nvPr/>
        </p:nvPicPr>
        <p:blipFill rotWithShape="1">
          <a:blip r:embed="rId5"/>
          <a:srcRect l="3955" t="14741" r="4119" b="5881"/>
          <a:stretch/>
        </p:blipFill>
        <p:spPr>
          <a:xfrm>
            <a:off x="719666" y="1876778"/>
            <a:ext cx="5707981" cy="2992382"/>
          </a:xfrm>
          <a:prstGeom prst="rect">
            <a:avLst/>
          </a:prstGeom>
        </p:spPr>
      </p:pic>
      <p:pic>
        <p:nvPicPr>
          <p:cNvPr id="14" name="Imagen 13"/>
          <p:cNvPicPr>
            <a:picLocks noChangeAspect="1"/>
          </p:cNvPicPr>
          <p:nvPr/>
        </p:nvPicPr>
        <p:blipFill>
          <a:blip r:embed="rId6"/>
          <a:stretch>
            <a:fillRect/>
          </a:stretch>
        </p:blipFill>
        <p:spPr>
          <a:xfrm>
            <a:off x="2497665" y="2629198"/>
            <a:ext cx="5856111" cy="3096982"/>
          </a:xfrm>
          <a:prstGeom prst="rect">
            <a:avLst/>
          </a:prstGeom>
        </p:spPr>
      </p:pic>
    </p:spTree>
    <p:extLst>
      <p:ext uri="{BB962C8B-B14F-4D97-AF65-F5344CB8AC3E}">
        <p14:creationId xmlns:p14="http://schemas.microsoft.com/office/powerpoint/2010/main" val="3074147258"/>
      </p:ext>
    </p:extLst>
  </p:cSld>
  <p:clrMapOvr>
    <a:masterClrMapping/>
  </p:clrMapOvr>
  <p:timing>
    <p:tnLst>
      <p:par>
        <p:cTn xmlns:p14="http://schemas.microsoft.com/office/powerpoint/2010/mai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Styling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Styling</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101</a:t>
            </a:fld>
            <a:endParaRPr lang="en-US"/>
          </a:p>
        </p:txBody>
      </p:sp>
      <p:sp>
        <p:nvSpPr>
          <p:cNvPr id="14" name="Rectángulo 13"/>
          <p:cNvSpPr/>
          <p:nvPr/>
        </p:nvSpPr>
        <p:spPr>
          <a:xfrm>
            <a:off x="505396" y="1534766"/>
            <a:ext cx="8065664" cy="5479963"/>
          </a:xfrm>
          <a:prstGeom prst="rect">
            <a:avLst/>
          </a:prstGeom>
        </p:spPr>
        <p:txBody>
          <a:bodyPr wrap="square">
            <a:spAutoFit/>
          </a:bodyPr>
          <a:lstStyle/>
          <a:p>
            <a:pPr algn="just">
              <a:lnSpc>
                <a:spcPct val="130000"/>
              </a:lnSpc>
            </a:pPr>
            <a:r>
              <a:rPr lang="es-ES_tradnl" dirty="0" err="1" smtClean="0">
                <a:solidFill>
                  <a:srgbClr val="FFFFFF"/>
                </a:solidFill>
                <a:latin typeface="Helvetica"/>
                <a:cs typeface="Helvetica"/>
              </a:rPr>
              <a:t>Polymer</a:t>
            </a:r>
            <a:r>
              <a:rPr lang="es-ES_tradnl" dirty="0" smtClean="0">
                <a:solidFill>
                  <a:srgbClr val="FFFFFF"/>
                </a:solidFill>
                <a:latin typeface="Helvetica"/>
                <a:cs typeface="Helvetica"/>
              </a:rPr>
              <a:t> presenta unos estilos predefinidos basados en Material </a:t>
            </a:r>
            <a:r>
              <a:rPr lang="es-ES_tradnl" dirty="0" err="1" smtClean="0">
                <a:solidFill>
                  <a:srgbClr val="FFFFFF"/>
                </a:solidFill>
                <a:latin typeface="Helvetica"/>
                <a:cs typeface="Helvetica"/>
              </a:rPr>
              <a:t>Design</a:t>
            </a:r>
            <a:r>
              <a:rPr lang="es-ES_tradnl" dirty="0">
                <a:solidFill>
                  <a:srgbClr val="FFFFFF"/>
                </a:solidFill>
                <a:latin typeface="Helvetica"/>
                <a:cs typeface="Helvetica"/>
              </a:rPr>
              <a:t> (</a:t>
            </a:r>
            <a:r>
              <a:rPr lang="es-ES_tradnl" dirty="0">
                <a:solidFill>
                  <a:srgbClr val="FFFFFF"/>
                </a:solidFill>
                <a:latin typeface="Helvetica"/>
                <a:cs typeface="Helvetica"/>
                <a:hlinkClick r:id="rId5"/>
              </a:rPr>
              <a:t>https://material.io</a:t>
            </a:r>
            <a:r>
              <a:rPr lang="es-ES_tradnl" dirty="0" smtClean="0">
                <a:solidFill>
                  <a:srgbClr val="FFFFFF"/>
                </a:solidFill>
                <a:latin typeface="Helvetica"/>
                <a:cs typeface="Helvetica"/>
                <a:hlinkClick r:id="rId5"/>
              </a:rPr>
              <a:t>/</a:t>
            </a:r>
            <a:r>
              <a:rPr lang="es-ES_tradnl" dirty="0" smtClean="0">
                <a:solidFill>
                  <a:srgbClr val="FFFFFF"/>
                </a:solidFill>
                <a:latin typeface="Helvetica"/>
                <a:cs typeface="Helvetica"/>
              </a:rPr>
              <a:t>) en </a:t>
            </a:r>
            <a:r>
              <a:rPr lang="es-ES_tradnl" dirty="0" smtClean="0">
                <a:solidFill>
                  <a:srgbClr val="FFFFFF"/>
                </a:solidFill>
                <a:latin typeface="Helvetica"/>
                <a:cs typeface="Helvetica"/>
              </a:rPr>
              <a:t>sus componentes que pueden ser personalizados mediante CSS </a:t>
            </a:r>
            <a:r>
              <a:rPr lang="es-ES_tradnl" dirty="0" err="1">
                <a:solidFill>
                  <a:srgbClr val="FFFFFF"/>
                </a:solidFill>
                <a:latin typeface="Helvetica"/>
                <a:cs typeface="Helvetica"/>
              </a:rPr>
              <a:t>e</a:t>
            </a:r>
            <a:r>
              <a:rPr lang="es-ES_tradnl" dirty="0" err="1" smtClean="0">
                <a:solidFill>
                  <a:srgbClr val="FFFFFF"/>
                </a:solidFill>
                <a:latin typeface="Helvetica"/>
                <a:cs typeface="Helvetica"/>
              </a:rPr>
              <a:t>standar</a:t>
            </a:r>
            <a:r>
              <a:rPr lang="es-ES_tradnl" dirty="0" smtClean="0">
                <a:solidFill>
                  <a:srgbClr val="FFFFFF"/>
                </a:solidFill>
                <a:latin typeface="Helvetica"/>
                <a:cs typeface="Helvetica"/>
              </a:rPr>
              <a:t> o haciendo uso de los estilos predefinidos en las </a:t>
            </a:r>
            <a:r>
              <a:rPr lang="es-ES_tradnl" dirty="0" err="1" smtClean="0">
                <a:solidFill>
                  <a:srgbClr val="FFFFFF"/>
                </a:solidFill>
                <a:latin typeface="Helvetica"/>
                <a:cs typeface="Helvetica"/>
              </a:rPr>
              <a:t>librerias</a:t>
            </a:r>
            <a:r>
              <a:rPr lang="es-ES_tradnl" dirty="0" smtClean="0">
                <a:solidFill>
                  <a:srgbClr val="FFFFFF"/>
                </a:solidFill>
                <a:latin typeface="Helvetica"/>
                <a:cs typeface="Helvetica"/>
              </a:rPr>
              <a:t> de </a:t>
            </a:r>
            <a:r>
              <a:rPr lang="es-ES_tradnl" dirty="0" err="1" smtClean="0">
                <a:solidFill>
                  <a:srgbClr val="FFFFFF"/>
                </a:solidFill>
                <a:latin typeface="Helvetica"/>
                <a:cs typeface="Helvetica"/>
              </a:rPr>
              <a:t>Polymer</a:t>
            </a:r>
            <a:r>
              <a:rPr lang="es-ES_tradnl" dirty="0" smtClean="0">
                <a:solidFill>
                  <a:srgbClr val="FFFFFF"/>
                </a:solidFill>
                <a:latin typeface="Helvetica"/>
                <a:cs typeface="Helvetica"/>
              </a:rPr>
              <a:t>.</a:t>
            </a:r>
          </a:p>
          <a:p>
            <a:pPr algn="just">
              <a:lnSpc>
                <a:spcPct val="130000"/>
              </a:lnSpc>
            </a:pPr>
            <a:endParaRPr lang="es-ES_tradnl" dirty="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  El componente </a:t>
            </a:r>
            <a:r>
              <a:rPr lang="es-ES_tradnl" dirty="0" err="1" smtClean="0">
                <a:solidFill>
                  <a:srgbClr val="B8E39D"/>
                </a:solidFill>
                <a:latin typeface="Helvetica"/>
                <a:cs typeface="Helvetica"/>
              </a:rPr>
              <a:t>paper-styles</a:t>
            </a:r>
            <a:r>
              <a:rPr lang="es-ES_tradnl" dirty="0" smtClean="0">
                <a:solidFill>
                  <a:srgbClr val="B8E39D"/>
                </a:solidFill>
                <a:latin typeface="Helvetica"/>
                <a:cs typeface="Helvetica"/>
              </a:rPr>
              <a:t> </a:t>
            </a:r>
            <a:r>
              <a:rPr lang="es-ES_tradnl" dirty="0" smtClean="0">
                <a:solidFill>
                  <a:srgbClr val="FFFFFF"/>
                </a:solidFill>
                <a:latin typeface="Helvetica"/>
                <a:cs typeface="Helvetica"/>
              </a:rPr>
              <a:t>encapsula los estilos predefinidos del resto de los componentes de la librería de </a:t>
            </a:r>
            <a:r>
              <a:rPr lang="es-ES_tradnl" dirty="0" err="1" smtClean="0">
                <a:solidFill>
                  <a:srgbClr val="FFFFFF"/>
                </a:solidFill>
                <a:latin typeface="Helvetica"/>
                <a:cs typeface="Helvetica"/>
              </a:rPr>
              <a:t>Polymer</a:t>
            </a:r>
            <a:r>
              <a:rPr lang="es-ES_tradnl" dirty="0" smtClean="0">
                <a:solidFill>
                  <a:srgbClr val="FFFFFF"/>
                </a:solidFill>
                <a:latin typeface="Helvetica"/>
                <a:cs typeface="Helvetica"/>
              </a:rPr>
              <a:t>.</a:t>
            </a:r>
          </a:p>
          <a:p>
            <a:pPr algn="just">
              <a:lnSpc>
                <a:spcPct val="130000"/>
              </a:lnSpc>
            </a:pPr>
            <a:r>
              <a:rPr lang="es-ES_tradnl" dirty="0" smtClean="0">
                <a:solidFill>
                  <a:srgbClr val="FFFFFF"/>
                </a:solidFill>
                <a:latin typeface="Helvetica"/>
                <a:cs typeface="Helvetica"/>
              </a:rPr>
              <a:t>  Tenemos los ficheros:</a:t>
            </a:r>
          </a:p>
          <a:p>
            <a:pPr marL="285750" indent="-285750" algn="just">
              <a:lnSpc>
                <a:spcPct val="130000"/>
              </a:lnSpc>
              <a:buFont typeface="Wingdings" charset="2"/>
              <a:buChar char="§"/>
            </a:pPr>
            <a:r>
              <a:rPr lang="es-ES_tradnl" dirty="0" err="1" smtClean="0">
                <a:solidFill>
                  <a:srgbClr val="FFFFFF"/>
                </a:solidFill>
                <a:latin typeface="Helvetica"/>
                <a:cs typeface="Helvetica"/>
              </a:rPr>
              <a:t>color.js</a:t>
            </a:r>
            <a:r>
              <a:rPr lang="es-ES_tradnl" dirty="0" smtClean="0">
                <a:solidFill>
                  <a:srgbClr val="FFFFFF"/>
                </a:solidFill>
                <a:latin typeface="Helvetica"/>
                <a:cs typeface="Helvetica"/>
              </a:rPr>
              <a:t>: Paletas de colores.</a:t>
            </a:r>
          </a:p>
          <a:p>
            <a:pPr marL="285750" indent="-285750" algn="just">
              <a:lnSpc>
                <a:spcPct val="130000"/>
              </a:lnSpc>
              <a:buFont typeface="Wingdings" charset="2"/>
              <a:buChar char="§"/>
            </a:pPr>
            <a:r>
              <a:rPr lang="es-ES_tradnl" dirty="0" err="1">
                <a:solidFill>
                  <a:srgbClr val="FFFFFF"/>
                </a:solidFill>
                <a:latin typeface="Helvetica"/>
                <a:cs typeface="Helvetica"/>
              </a:rPr>
              <a:t>typography.js</a:t>
            </a:r>
            <a:r>
              <a:rPr lang="es-ES_tradnl" dirty="0" smtClean="0">
                <a:solidFill>
                  <a:srgbClr val="FFFFFF"/>
                </a:solidFill>
                <a:latin typeface="Helvetica"/>
                <a:cs typeface="Helvetica"/>
              </a:rPr>
              <a:t>: Fuentes utilizadas por Material </a:t>
            </a:r>
            <a:r>
              <a:rPr lang="es-ES_tradnl" dirty="0" err="1" smtClean="0">
                <a:solidFill>
                  <a:srgbClr val="FFFFFF"/>
                </a:solidFill>
                <a:latin typeface="Helvetica"/>
                <a:cs typeface="Helvetica"/>
              </a:rPr>
              <a:t>Design</a:t>
            </a:r>
            <a:r>
              <a:rPr lang="es-ES_tradnl" dirty="0" smtClean="0">
                <a:solidFill>
                  <a:srgbClr val="FFFFFF"/>
                </a:solidFill>
                <a:latin typeface="Helvetica"/>
                <a:cs typeface="Helvetica"/>
              </a:rPr>
              <a:t>.</a:t>
            </a:r>
          </a:p>
          <a:p>
            <a:pPr marL="285750" indent="-285750" algn="just">
              <a:lnSpc>
                <a:spcPct val="130000"/>
              </a:lnSpc>
              <a:buFont typeface="Wingdings" charset="2"/>
              <a:buChar char="§"/>
            </a:pPr>
            <a:r>
              <a:rPr lang="es-ES_tradnl" dirty="0" err="1" smtClean="0">
                <a:solidFill>
                  <a:srgbClr val="FFFFFF"/>
                </a:solidFill>
                <a:latin typeface="Helvetica"/>
                <a:cs typeface="Helvetica"/>
              </a:rPr>
              <a:t>default</a:t>
            </a:r>
            <a:r>
              <a:rPr lang="es-ES_tradnl" dirty="0" err="1">
                <a:solidFill>
                  <a:srgbClr val="FFFFFF"/>
                </a:solidFill>
                <a:latin typeface="Helvetica"/>
                <a:cs typeface="Helvetica"/>
              </a:rPr>
              <a:t>-theme.js</a:t>
            </a:r>
            <a:r>
              <a:rPr lang="es-ES_tradnl" dirty="0" err="1" smtClean="0">
                <a:solidFill>
                  <a:srgbClr val="FFFFFF"/>
                </a:solidFill>
                <a:latin typeface="Helvetica"/>
                <a:cs typeface="Helvetica"/>
              </a:rPr>
              <a:t>:Temas</a:t>
            </a:r>
            <a:r>
              <a:rPr lang="es-ES_tradnl" dirty="0" smtClean="0">
                <a:solidFill>
                  <a:srgbClr val="FFFFFF"/>
                </a:solidFill>
                <a:latin typeface="Helvetica"/>
                <a:cs typeface="Helvetica"/>
              </a:rPr>
              <a:t> de Material </a:t>
            </a:r>
            <a:r>
              <a:rPr lang="es-ES_tradnl" dirty="0" err="1" smtClean="0">
                <a:solidFill>
                  <a:srgbClr val="FFFFFF"/>
                </a:solidFill>
                <a:latin typeface="Helvetica"/>
                <a:cs typeface="Helvetica"/>
              </a:rPr>
              <a:t>Design</a:t>
            </a:r>
            <a:r>
              <a:rPr lang="es-ES_tradnl" dirty="0" smtClean="0">
                <a:solidFill>
                  <a:srgbClr val="FFFFFF"/>
                </a:solidFill>
                <a:latin typeface="Helvetica"/>
                <a:cs typeface="Helvetica"/>
              </a:rPr>
              <a:t>.</a:t>
            </a:r>
          </a:p>
          <a:p>
            <a:pPr marL="285750" indent="-285750" algn="just">
              <a:lnSpc>
                <a:spcPct val="130000"/>
              </a:lnSpc>
              <a:buFont typeface="Wingdings" charset="2"/>
              <a:buChar char="§"/>
            </a:pPr>
            <a:r>
              <a:rPr lang="es-ES_tradnl" dirty="0" err="1">
                <a:solidFill>
                  <a:srgbClr val="FFFFFF"/>
                </a:solidFill>
                <a:latin typeface="Helvetica"/>
                <a:cs typeface="Helvetica"/>
              </a:rPr>
              <a:t>shadow.js</a:t>
            </a:r>
            <a:r>
              <a:rPr lang="es-ES_tradnl" dirty="0" smtClean="0">
                <a:solidFill>
                  <a:srgbClr val="FFFFFF"/>
                </a:solidFill>
                <a:latin typeface="Helvetica"/>
                <a:cs typeface="Helvetica"/>
              </a:rPr>
              <a:t>: </a:t>
            </a:r>
            <a:r>
              <a:rPr lang="es-ES_tradnl" dirty="0" err="1" smtClean="0">
                <a:solidFill>
                  <a:srgbClr val="FFFFFF"/>
                </a:solidFill>
                <a:latin typeface="Helvetica"/>
                <a:cs typeface="Helvetica"/>
              </a:rPr>
              <a:t>C</a:t>
            </a:r>
            <a:r>
              <a:rPr lang="es-ES_tradnl" dirty="0" err="1" smtClean="0">
                <a:solidFill>
                  <a:srgbClr val="FFFFFF"/>
                </a:solidFill>
                <a:latin typeface="Helvetica"/>
                <a:cs typeface="Helvetica"/>
              </a:rPr>
              <a:t>ónfiguracion</a:t>
            </a:r>
            <a:r>
              <a:rPr lang="es-ES_tradnl" dirty="0" smtClean="0">
                <a:solidFill>
                  <a:srgbClr val="FFFFFF"/>
                </a:solidFill>
                <a:latin typeface="Helvetica"/>
                <a:cs typeface="Helvetica"/>
              </a:rPr>
              <a:t> de sombreados de Material </a:t>
            </a:r>
            <a:r>
              <a:rPr lang="es-ES_tradnl" dirty="0" err="1" smtClean="0">
                <a:solidFill>
                  <a:srgbClr val="FFFFFF"/>
                </a:solidFill>
                <a:latin typeface="Helvetica"/>
                <a:cs typeface="Helvetica"/>
              </a:rPr>
              <a:t>Design</a:t>
            </a:r>
            <a:r>
              <a:rPr lang="es-ES_tradnl" dirty="0" smtClean="0">
                <a:solidFill>
                  <a:srgbClr val="FFFFFF"/>
                </a:solidFill>
                <a:latin typeface="Helvetica"/>
                <a:cs typeface="Helvetica"/>
              </a:rPr>
              <a:t>.</a:t>
            </a:r>
          </a:p>
          <a:p>
            <a:pPr marL="285750" indent="-285750" algn="just">
              <a:lnSpc>
                <a:spcPct val="130000"/>
              </a:lnSpc>
              <a:buFont typeface="Wingdings" charset="2"/>
              <a:buChar char="§"/>
            </a:pPr>
            <a:r>
              <a:rPr lang="es-ES_tradnl" dirty="0">
                <a:solidFill>
                  <a:srgbClr val="FFFFFF"/>
                </a:solidFill>
                <a:latin typeface="Helvetica"/>
                <a:cs typeface="Helvetica"/>
              </a:rPr>
              <a:t>demo-</a:t>
            </a:r>
            <a:r>
              <a:rPr lang="es-ES_tradnl" dirty="0" err="1" smtClean="0">
                <a:solidFill>
                  <a:srgbClr val="FFFFFF"/>
                </a:solidFill>
                <a:latin typeface="Helvetica"/>
                <a:cs typeface="Helvetica"/>
              </a:rPr>
              <a:t>pages.js</a:t>
            </a:r>
            <a:r>
              <a:rPr lang="es-ES_tradnl" dirty="0" smtClean="0">
                <a:solidFill>
                  <a:srgbClr val="FFFFFF"/>
                </a:solidFill>
                <a:latin typeface="Helvetica"/>
                <a:cs typeface="Helvetica"/>
              </a:rPr>
              <a:t>: Temas personalizados .</a:t>
            </a:r>
            <a:endParaRPr lang="es-ES_tradnl" dirty="0">
              <a:solidFill>
                <a:srgbClr val="FFFFFF"/>
              </a:solidFill>
              <a:latin typeface="Helvetica"/>
              <a:cs typeface="Helvetica"/>
            </a:endParaRPr>
          </a:p>
          <a:p>
            <a:pPr marL="285750" indent="-285750" algn="just">
              <a:lnSpc>
                <a:spcPct val="130000"/>
              </a:lnSpc>
              <a:buFont typeface="Wingdings" charset="2"/>
              <a:buChar char="§"/>
            </a:pPr>
            <a:endParaRPr lang="es-ES_tradnl" dirty="0">
              <a:solidFill>
                <a:srgbClr val="FFFFFF"/>
              </a:solidFill>
              <a:latin typeface="Helvetica"/>
              <a:cs typeface="Helvetica"/>
            </a:endParaRPr>
          </a:p>
          <a:p>
            <a:pPr algn="just">
              <a:lnSpc>
                <a:spcPct val="130000"/>
              </a:lnSpc>
            </a:pPr>
            <a:endParaRPr lang="es-ES_tradnl" dirty="0">
              <a:solidFill>
                <a:srgbClr val="FFFFFF"/>
              </a:solidFill>
              <a:latin typeface="Helvetica"/>
              <a:cs typeface="Helvetica"/>
            </a:endParaRPr>
          </a:p>
        </p:txBody>
      </p:sp>
    </p:spTree>
    <p:extLst>
      <p:ext uri="{BB962C8B-B14F-4D97-AF65-F5344CB8AC3E}">
        <p14:creationId xmlns:p14="http://schemas.microsoft.com/office/powerpoint/2010/main" val="3838762271"/>
      </p:ext>
    </p:extLst>
  </p:cSld>
  <p:clrMapOvr>
    <a:masterClrMapping/>
  </p:clrMapOvr>
  <p:timing>
    <p:tnLst>
      <p:par>
        <p:cTn xmlns:p14="http://schemas.microsoft.com/office/powerpoint/2010/mai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Styling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Styling</a:t>
            </a:r>
            <a:r>
              <a:rPr lang="es-ES_tradnl" sz="2200" u="sng" dirty="0" smtClean="0">
                <a:latin typeface="Arial Black"/>
                <a:cs typeface="Arial Black"/>
              </a:rPr>
              <a:t> &gt; Selectores CSS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102</a:t>
            </a:fld>
            <a:endParaRPr lang="en-US"/>
          </a:p>
        </p:txBody>
      </p:sp>
      <p:sp>
        <p:nvSpPr>
          <p:cNvPr id="14" name="Rectángulo 13"/>
          <p:cNvSpPr/>
          <p:nvPr/>
        </p:nvSpPr>
        <p:spPr>
          <a:xfrm>
            <a:off x="505396" y="1534766"/>
            <a:ext cx="8065664" cy="6200161"/>
          </a:xfrm>
          <a:prstGeom prst="rect">
            <a:avLst/>
          </a:prstGeom>
        </p:spPr>
        <p:txBody>
          <a:bodyPr wrap="square">
            <a:spAutoFit/>
          </a:bodyPr>
          <a:lstStyle/>
          <a:p>
            <a:pPr algn="just">
              <a:lnSpc>
                <a:spcPct val="130000"/>
              </a:lnSpc>
            </a:pPr>
            <a:r>
              <a:rPr lang="es-ES_tradnl" dirty="0" err="1" smtClean="0">
                <a:solidFill>
                  <a:srgbClr val="FFFFFF"/>
                </a:solidFill>
                <a:latin typeface="Helvetica"/>
                <a:cs typeface="Helvetica"/>
              </a:rPr>
              <a:t>Polymer</a:t>
            </a:r>
            <a:r>
              <a:rPr lang="es-ES_tradnl" dirty="0" smtClean="0">
                <a:solidFill>
                  <a:srgbClr val="FFFFFF"/>
                </a:solidFill>
                <a:latin typeface="Helvetica"/>
                <a:cs typeface="Helvetica"/>
              </a:rPr>
              <a:t> presenta varios selectores CSS propios:</a:t>
            </a:r>
          </a:p>
          <a:p>
            <a:pPr algn="just">
              <a:lnSpc>
                <a:spcPct val="130000"/>
              </a:lnSpc>
            </a:pPr>
            <a:endParaRPr lang="es-ES_tradnl" dirty="0" smtClean="0">
              <a:solidFill>
                <a:srgbClr val="FFFFFF"/>
              </a:solidFill>
              <a:latin typeface="Helvetica"/>
              <a:cs typeface="Helvetica"/>
            </a:endParaRPr>
          </a:p>
          <a:p>
            <a:pPr algn="just">
              <a:lnSpc>
                <a:spcPct val="130000"/>
              </a:lnSpc>
            </a:pPr>
            <a:r>
              <a:rPr lang="es-ES_tradnl" dirty="0" smtClean="0">
                <a:solidFill>
                  <a:srgbClr val="B8E39D"/>
                </a:solidFill>
                <a:latin typeface="Helvetica"/>
                <a:cs typeface="Helvetica"/>
              </a:rPr>
              <a:t>:</a:t>
            </a:r>
            <a:r>
              <a:rPr lang="es-ES_tradnl" dirty="0" err="1" smtClean="0">
                <a:solidFill>
                  <a:srgbClr val="B8E39D"/>
                </a:solidFill>
                <a:latin typeface="Helvetica"/>
                <a:cs typeface="Helvetica"/>
              </a:rPr>
              <a:t>root</a:t>
            </a:r>
            <a:r>
              <a:rPr lang="es-ES_tradnl" dirty="0" smtClean="0">
                <a:solidFill>
                  <a:srgbClr val="B8E39D"/>
                </a:solidFill>
                <a:latin typeface="Helvetica"/>
                <a:cs typeface="Helvetica"/>
              </a:rPr>
              <a:t> </a:t>
            </a:r>
            <a:r>
              <a:rPr lang="es-ES_tradnl" dirty="0" smtClean="0">
                <a:solidFill>
                  <a:srgbClr val="FFFFFF"/>
                </a:solidFill>
                <a:latin typeface="Helvetica"/>
                <a:cs typeface="Helvetica"/>
              </a:rPr>
              <a:t>-&gt; Selector de aplica a nivel de la </a:t>
            </a:r>
            <a:r>
              <a:rPr lang="es-ES_tradnl" dirty="0" err="1" smtClean="0">
                <a:solidFill>
                  <a:srgbClr val="FFFFFF"/>
                </a:solidFill>
                <a:latin typeface="Helvetica"/>
                <a:cs typeface="Helvetica"/>
              </a:rPr>
              <a:t>raiz</a:t>
            </a:r>
            <a:r>
              <a:rPr lang="es-ES_tradnl" dirty="0" smtClean="0">
                <a:solidFill>
                  <a:srgbClr val="FFFFFF"/>
                </a:solidFill>
                <a:latin typeface="Helvetica"/>
                <a:cs typeface="Helvetica"/>
              </a:rPr>
              <a:t> del DOM.</a:t>
            </a:r>
          </a:p>
          <a:p>
            <a:pPr algn="just">
              <a:lnSpc>
                <a:spcPct val="130000"/>
              </a:lnSpc>
            </a:pPr>
            <a:r>
              <a:rPr lang="es-ES_tradnl" dirty="0" smtClean="0">
                <a:solidFill>
                  <a:srgbClr val="B8E39D"/>
                </a:solidFill>
                <a:latin typeface="Helvetica"/>
                <a:cs typeface="Helvetica"/>
              </a:rPr>
              <a:t>:host </a:t>
            </a:r>
            <a:r>
              <a:rPr lang="es-ES_tradnl" dirty="0" smtClean="0">
                <a:latin typeface="Helvetica"/>
                <a:cs typeface="Helvetica"/>
              </a:rPr>
              <a:t>-&gt; Aplica a los componentes descendientes hacia abajo</a:t>
            </a:r>
          </a:p>
          <a:p>
            <a:pPr algn="just">
              <a:lnSpc>
                <a:spcPct val="130000"/>
              </a:lnSpc>
            </a:pPr>
            <a:endParaRPr lang="es-ES_tradnl" dirty="0" smtClean="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De manera adicional tenemos:</a:t>
            </a:r>
          </a:p>
          <a:p>
            <a:pPr algn="just">
              <a:lnSpc>
                <a:spcPct val="130000"/>
              </a:lnSpc>
            </a:pPr>
            <a:endParaRPr lang="es-ES_tradnl" dirty="0">
              <a:solidFill>
                <a:srgbClr val="FFFFFF"/>
              </a:solidFill>
              <a:latin typeface="Helvetica"/>
              <a:cs typeface="Helvetica"/>
            </a:endParaRPr>
          </a:p>
          <a:p>
            <a:pPr algn="just">
              <a:lnSpc>
                <a:spcPct val="130000"/>
              </a:lnSpc>
            </a:pPr>
            <a:r>
              <a:rPr lang="es-ES_tradnl" dirty="0" smtClean="0">
                <a:solidFill>
                  <a:schemeClr val="accent5">
                    <a:lumMod val="40000"/>
                    <a:lumOff val="60000"/>
                  </a:schemeClr>
                </a:solidFill>
                <a:latin typeface="Helvetica"/>
                <a:cs typeface="Helvetica"/>
              </a:rPr>
              <a:t>Var() -</a:t>
            </a:r>
            <a:r>
              <a:rPr lang="es-ES_tradnl" dirty="0" smtClean="0">
                <a:latin typeface="Helvetica"/>
                <a:cs typeface="Helvetica"/>
              </a:rPr>
              <a:t>&gt; Permite utilizar variables ya definidas</a:t>
            </a:r>
          </a:p>
          <a:p>
            <a:pPr algn="just">
              <a:lnSpc>
                <a:spcPct val="130000"/>
              </a:lnSpc>
            </a:pPr>
            <a:r>
              <a:rPr lang="es-ES_tradnl" dirty="0" smtClean="0">
                <a:solidFill>
                  <a:schemeClr val="accent2">
                    <a:lumMod val="40000"/>
                    <a:lumOff val="60000"/>
                  </a:schemeClr>
                </a:solidFill>
                <a:latin typeface="Helvetica"/>
                <a:cs typeface="Helvetica"/>
              </a:rPr>
              <a:t>             </a:t>
            </a:r>
            <a:r>
              <a:rPr lang="es-ES_tradnl" i="1" dirty="0" err="1" smtClean="0">
                <a:solidFill>
                  <a:schemeClr val="accent2">
                    <a:lumMod val="40000"/>
                    <a:lumOff val="60000"/>
                  </a:schemeClr>
                </a:solidFill>
              </a:rPr>
              <a:t>background</a:t>
            </a:r>
            <a:r>
              <a:rPr lang="es-ES_tradnl" i="1" dirty="0">
                <a:solidFill>
                  <a:schemeClr val="accent2">
                    <a:lumMod val="40000"/>
                    <a:lumOff val="60000"/>
                  </a:schemeClr>
                </a:solidFill>
              </a:rPr>
              <a:t>-color: </a:t>
            </a:r>
            <a:r>
              <a:rPr lang="es-ES_tradnl" b="1" i="1" dirty="0" err="1">
                <a:solidFill>
                  <a:schemeClr val="accent2">
                    <a:lumMod val="40000"/>
                    <a:lumOff val="60000"/>
                  </a:schemeClr>
                </a:solidFill>
              </a:rPr>
              <a:t>var</a:t>
            </a:r>
            <a:r>
              <a:rPr lang="es-ES_tradnl" i="1" dirty="0">
                <a:solidFill>
                  <a:schemeClr val="accent2">
                    <a:lumMod val="40000"/>
                    <a:lumOff val="60000"/>
                  </a:schemeClr>
                </a:solidFill>
              </a:rPr>
              <a:t>(--</a:t>
            </a:r>
            <a:r>
              <a:rPr lang="es-ES_tradnl" i="1" dirty="0" err="1">
                <a:solidFill>
                  <a:schemeClr val="accent2">
                    <a:lumMod val="40000"/>
                    <a:lumOff val="60000"/>
                  </a:schemeClr>
                </a:solidFill>
              </a:rPr>
              <a:t>app</a:t>
            </a:r>
            <a:r>
              <a:rPr lang="es-ES_tradnl" i="1" dirty="0">
                <a:solidFill>
                  <a:schemeClr val="accent2">
                    <a:lumMod val="40000"/>
                    <a:lumOff val="60000"/>
                  </a:schemeClr>
                </a:solidFill>
              </a:rPr>
              <a:t>-</a:t>
            </a:r>
            <a:r>
              <a:rPr lang="es-ES_tradnl" i="1" dirty="0" err="1">
                <a:solidFill>
                  <a:schemeClr val="accent2">
                    <a:lumMod val="40000"/>
                    <a:lumOff val="60000"/>
                  </a:schemeClr>
                </a:solidFill>
              </a:rPr>
              <a:t>primary</a:t>
            </a:r>
            <a:r>
              <a:rPr lang="es-ES_tradnl" i="1" dirty="0">
                <a:solidFill>
                  <a:schemeClr val="accent2">
                    <a:lumMod val="40000"/>
                    <a:lumOff val="60000"/>
                  </a:schemeClr>
                </a:solidFill>
              </a:rPr>
              <a:t>-color)</a:t>
            </a:r>
            <a:r>
              <a:rPr lang="es-ES_tradnl" i="1" dirty="0">
                <a:solidFill>
                  <a:schemeClr val="accent2">
                    <a:lumMod val="40000"/>
                    <a:lumOff val="60000"/>
                  </a:schemeClr>
                </a:solidFill>
              </a:rPr>
              <a:t>;</a:t>
            </a:r>
            <a:endParaRPr lang="es-ES_tradnl" i="1" dirty="0" smtClean="0">
              <a:solidFill>
                <a:schemeClr val="accent2">
                  <a:lumMod val="40000"/>
                  <a:lumOff val="60000"/>
                </a:schemeClr>
              </a:solidFill>
              <a:latin typeface="Helvetica"/>
              <a:cs typeface="Helvetica"/>
            </a:endParaRPr>
          </a:p>
          <a:p>
            <a:pPr algn="just">
              <a:lnSpc>
                <a:spcPct val="130000"/>
              </a:lnSpc>
            </a:pPr>
            <a:endParaRPr lang="es-ES_tradnl" dirty="0">
              <a:latin typeface="Helvetica"/>
              <a:cs typeface="Helvetica"/>
            </a:endParaRPr>
          </a:p>
          <a:p>
            <a:pPr>
              <a:lnSpc>
                <a:spcPct val="130000"/>
              </a:lnSpc>
            </a:pPr>
            <a:r>
              <a:rPr lang="es-ES_tradnl" dirty="0">
                <a:latin typeface="Helvetica"/>
                <a:cs typeface="Helvetica"/>
              </a:rPr>
              <a:t>Referencia Completa: </a:t>
            </a:r>
            <a:r>
              <a:rPr lang="es-ES_tradnl" dirty="0">
                <a:latin typeface="Helvetica"/>
                <a:cs typeface="Helvetica"/>
                <a:hlinkClick r:id="rId5"/>
              </a:rPr>
              <a:t>https://polymer-library.polymer-project.org/3.0/docs/devguide/style-shadow-</a:t>
            </a:r>
            <a:r>
              <a:rPr lang="es-ES_tradnl" dirty="0" smtClean="0">
                <a:latin typeface="Helvetica"/>
                <a:cs typeface="Helvetica"/>
                <a:hlinkClick r:id="rId5"/>
              </a:rPr>
              <a:t>dom</a:t>
            </a:r>
            <a:endParaRPr lang="es-ES_tradnl" dirty="0" smtClean="0">
              <a:latin typeface="Helvetica"/>
              <a:cs typeface="Helvetica"/>
            </a:endParaRPr>
          </a:p>
          <a:p>
            <a:pPr algn="just">
              <a:lnSpc>
                <a:spcPct val="130000"/>
              </a:lnSpc>
            </a:pPr>
            <a:endParaRPr lang="es-ES_tradnl" dirty="0" smtClean="0">
              <a:latin typeface="Helvetica"/>
              <a:cs typeface="Helvetica"/>
            </a:endParaRPr>
          </a:p>
          <a:p>
            <a:pPr algn="just">
              <a:lnSpc>
                <a:spcPct val="130000"/>
              </a:lnSpc>
            </a:pPr>
            <a:endParaRPr lang="es-ES_tradnl" dirty="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  </a:t>
            </a:r>
            <a:endParaRPr lang="es-ES_tradnl" dirty="0">
              <a:solidFill>
                <a:srgbClr val="FFFFFF"/>
              </a:solidFill>
              <a:latin typeface="Helvetica"/>
              <a:cs typeface="Helvetica"/>
            </a:endParaRPr>
          </a:p>
          <a:p>
            <a:pPr algn="just">
              <a:lnSpc>
                <a:spcPct val="130000"/>
              </a:lnSpc>
            </a:pPr>
            <a:endParaRPr lang="es-ES_tradnl" dirty="0">
              <a:solidFill>
                <a:srgbClr val="FFFFFF"/>
              </a:solidFill>
              <a:latin typeface="Helvetica"/>
              <a:cs typeface="Helvetica"/>
            </a:endParaRPr>
          </a:p>
        </p:txBody>
      </p:sp>
    </p:spTree>
    <p:extLst>
      <p:ext uri="{BB962C8B-B14F-4D97-AF65-F5344CB8AC3E}">
        <p14:creationId xmlns:p14="http://schemas.microsoft.com/office/powerpoint/2010/main" val="689380153"/>
      </p:ext>
    </p:extLst>
  </p:cSld>
  <p:clrMapOvr>
    <a:masterClrMapping/>
  </p:clrMapOvr>
  <p:timing>
    <p:tnLst>
      <p:par>
        <p:cTn xmlns:p14="http://schemas.microsoft.com/office/powerpoint/2010/mai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Styling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Styling</a:t>
            </a:r>
            <a:r>
              <a:rPr lang="es-ES_tradnl" sz="2200" u="sng" dirty="0" smtClean="0">
                <a:latin typeface="Arial Black"/>
                <a:cs typeface="Arial Black"/>
              </a:rPr>
              <a:t> </a:t>
            </a:r>
            <a:r>
              <a:rPr lang="es-ES_tradnl" sz="2200" u="sng" dirty="0">
                <a:latin typeface="Arial Black"/>
                <a:cs typeface="Arial Black"/>
              </a:rPr>
              <a:t>&gt; </a:t>
            </a:r>
            <a:r>
              <a:rPr lang="es-ES_tradnl" sz="2200" u="sng" dirty="0" err="1" smtClean="0">
                <a:latin typeface="Arial Black"/>
                <a:cs typeface="Arial Black"/>
              </a:rPr>
              <a:t>Custom</a:t>
            </a:r>
            <a:r>
              <a:rPr lang="es-ES_tradnl" sz="2200" u="sng" dirty="0" smtClean="0">
                <a:latin typeface="Arial Black"/>
                <a:cs typeface="Arial Black"/>
              </a:rPr>
              <a:t> </a:t>
            </a:r>
            <a:r>
              <a:rPr lang="es-ES_tradnl" sz="2200" u="sng" dirty="0">
                <a:latin typeface="Arial Black"/>
                <a:cs typeface="Arial Black"/>
              </a:rPr>
              <a:t>CSS </a:t>
            </a:r>
            <a:r>
              <a:rPr lang="es-ES_tradnl" sz="2200" u="sng" dirty="0" err="1">
                <a:latin typeface="Arial Black"/>
                <a:cs typeface="Arial Black"/>
              </a:rPr>
              <a:t>mixins</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103</a:t>
            </a:fld>
            <a:endParaRPr lang="en-US"/>
          </a:p>
        </p:txBody>
      </p:sp>
      <p:sp>
        <p:nvSpPr>
          <p:cNvPr id="14" name="Rectángulo 13"/>
          <p:cNvSpPr/>
          <p:nvPr/>
        </p:nvSpPr>
        <p:spPr>
          <a:xfrm>
            <a:off x="505396" y="1534766"/>
            <a:ext cx="8065664" cy="4759766"/>
          </a:xfrm>
          <a:prstGeom prst="rect">
            <a:avLst/>
          </a:prstGeom>
        </p:spPr>
        <p:txBody>
          <a:bodyPr wrap="square">
            <a:spAutoFit/>
          </a:bodyPr>
          <a:lstStyle/>
          <a:p>
            <a:pPr algn="just">
              <a:lnSpc>
                <a:spcPct val="130000"/>
              </a:lnSpc>
            </a:pPr>
            <a:r>
              <a:rPr lang="es-ES_tradnl" dirty="0" smtClean="0">
                <a:solidFill>
                  <a:schemeClr val="accent5">
                    <a:lumMod val="40000"/>
                    <a:lumOff val="60000"/>
                  </a:schemeClr>
                </a:solidFill>
                <a:latin typeface="Helvetica"/>
                <a:cs typeface="Helvetica"/>
              </a:rPr>
              <a:t>@</a:t>
            </a:r>
            <a:r>
              <a:rPr lang="es-ES_tradnl" dirty="0" err="1" smtClean="0">
                <a:solidFill>
                  <a:schemeClr val="accent5">
                    <a:lumMod val="40000"/>
                    <a:lumOff val="60000"/>
                  </a:schemeClr>
                </a:solidFill>
                <a:latin typeface="Helvetica"/>
                <a:cs typeface="Helvetica"/>
              </a:rPr>
              <a:t>apply</a:t>
            </a:r>
            <a:r>
              <a:rPr lang="es-ES_tradnl" dirty="0" smtClean="0">
                <a:solidFill>
                  <a:schemeClr val="accent5">
                    <a:lumMod val="40000"/>
                    <a:lumOff val="60000"/>
                  </a:schemeClr>
                </a:solidFill>
                <a:latin typeface="Helvetica"/>
                <a:cs typeface="Helvetica"/>
              </a:rPr>
              <a:t>()</a:t>
            </a:r>
            <a:r>
              <a:rPr lang="es-ES_tradnl" dirty="0" smtClean="0">
                <a:solidFill>
                  <a:schemeClr val="accent5">
                    <a:lumMod val="40000"/>
                    <a:lumOff val="60000"/>
                  </a:schemeClr>
                </a:solidFill>
                <a:latin typeface="Helvetica"/>
                <a:cs typeface="Helvetica"/>
              </a:rPr>
              <a:t> -</a:t>
            </a:r>
            <a:r>
              <a:rPr lang="es-ES_tradnl" dirty="0" smtClean="0">
                <a:latin typeface="Helvetica"/>
                <a:cs typeface="Helvetica"/>
              </a:rPr>
              <a:t>&gt; Permite implementar el concepto de </a:t>
            </a:r>
            <a:r>
              <a:rPr lang="es-ES_tradnl" dirty="0" err="1" smtClean="0">
                <a:latin typeface="Helvetica"/>
                <a:cs typeface="Helvetica"/>
              </a:rPr>
              <a:t>mixins</a:t>
            </a:r>
            <a:r>
              <a:rPr lang="es-ES_tradnl" dirty="0" smtClean="0">
                <a:latin typeface="Helvetica"/>
                <a:cs typeface="Helvetica"/>
              </a:rPr>
              <a:t> que definen  un conjunto de propiedades CSS como una propiedad personalizada.</a:t>
            </a:r>
            <a:endParaRPr lang="es-ES_tradnl" dirty="0" smtClean="0">
              <a:latin typeface="Helvetica"/>
              <a:cs typeface="Helvetica"/>
            </a:endParaRPr>
          </a:p>
          <a:p>
            <a:pPr algn="just">
              <a:lnSpc>
                <a:spcPct val="130000"/>
              </a:lnSpc>
            </a:pPr>
            <a:endParaRPr lang="es-ES_tradnl" dirty="0">
              <a:latin typeface="Helvetica"/>
              <a:cs typeface="Helvetica"/>
            </a:endParaRPr>
          </a:p>
          <a:p>
            <a:pPr algn="just">
              <a:lnSpc>
                <a:spcPct val="130000"/>
              </a:lnSpc>
            </a:pPr>
            <a:endParaRPr lang="es-ES_tradnl" dirty="0" smtClean="0">
              <a:latin typeface="Helvetica"/>
              <a:cs typeface="Helvetica"/>
            </a:endParaRPr>
          </a:p>
          <a:p>
            <a:pPr algn="just">
              <a:lnSpc>
                <a:spcPct val="130000"/>
              </a:lnSpc>
            </a:pPr>
            <a:endParaRPr lang="es-ES_tradnl" dirty="0">
              <a:latin typeface="Helvetica"/>
              <a:cs typeface="Helvetica"/>
            </a:endParaRPr>
          </a:p>
          <a:p>
            <a:pPr>
              <a:lnSpc>
                <a:spcPct val="130000"/>
              </a:lnSpc>
            </a:pPr>
            <a:endParaRPr lang="es-ES_tradnl" dirty="0" smtClean="0">
              <a:latin typeface="Helvetica"/>
              <a:cs typeface="Helvetica"/>
            </a:endParaRPr>
          </a:p>
          <a:p>
            <a:pPr>
              <a:lnSpc>
                <a:spcPct val="130000"/>
              </a:lnSpc>
            </a:pPr>
            <a:endParaRPr lang="es-ES_tradnl" dirty="0">
              <a:latin typeface="Helvetica"/>
              <a:cs typeface="Helvetica"/>
            </a:endParaRPr>
          </a:p>
          <a:p>
            <a:pPr>
              <a:lnSpc>
                <a:spcPct val="130000"/>
              </a:lnSpc>
            </a:pPr>
            <a:endParaRPr lang="es-ES_tradnl" dirty="0" smtClean="0">
              <a:latin typeface="Helvetica"/>
              <a:cs typeface="Helvetica"/>
            </a:endParaRPr>
          </a:p>
          <a:p>
            <a:pPr>
              <a:lnSpc>
                <a:spcPct val="130000"/>
              </a:lnSpc>
            </a:pPr>
            <a:endParaRPr lang="es-ES_tradnl" dirty="0">
              <a:latin typeface="Helvetica"/>
              <a:cs typeface="Helvetica"/>
            </a:endParaRPr>
          </a:p>
          <a:p>
            <a:pPr algn="just">
              <a:lnSpc>
                <a:spcPct val="130000"/>
              </a:lnSpc>
            </a:pPr>
            <a:endParaRPr lang="es-ES_tradnl" dirty="0" smtClean="0">
              <a:latin typeface="Helvetica"/>
              <a:cs typeface="Helvetica"/>
            </a:endParaRPr>
          </a:p>
          <a:p>
            <a:pPr algn="just">
              <a:lnSpc>
                <a:spcPct val="130000"/>
              </a:lnSpc>
            </a:pPr>
            <a:endParaRPr lang="es-ES_tradnl" dirty="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  </a:t>
            </a:r>
            <a:endParaRPr lang="es-ES_tradnl" dirty="0">
              <a:solidFill>
                <a:srgbClr val="FFFFFF"/>
              </a:solidFill>
              <a:latin typeface="Helvetica"/>
              <a:cs typeface="Helvetica"/>
            </a:endParaRPr>
          </a:p>
          <a:p>
            <a:pPr algn="just">
              <a:lnSpc>
                <a:spcPct val="130000"/>
              </a:lnSpc>
            </a:pPr>
            <a:endParaRPr lang="es-ES_tradnl" dirty="0">
              <a:solidFill>
                <a:srgbClr val="FFFFFF"/>
              </a:solidFill>
              <a:latin typeface="Helvetica"/>
              <a:cs typeface="Helvetica"/>
            </a:endParaRPr>
          </a:p>
        </p:txBody>
      </p:sp>
      <p:sp>
        <p:nvSpPr>
          <p:cNvPr id="15" name="Rectángulo 14"/>
          <p:cNvSpPr/>
          <p:nvPr/>
        </p:nvSpPr>
        <p:spPr>
          <a:xfrm>
            <a:off x="643587" y="2985176"/>
            <a:ext cx="7927473" cy="2246769"/>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mr-IN" sz="1400" dirty="0" smtClean="0">
                <a:cs typeface="Calisto MT"/>
              </a:rPr>
              <a:t>selector {</a:t>
            </a:r>
            <a:endParaRPr lang="mr-IN" sz="1400" dirty="0">
              <a:cs typeface="Calisto MT"/>
            </a:endParaRPr>
          </a:p>
          <a:p>
            <a:r>
              <a:rPr lang="mr-IN" sz="1400" dirty="0">
                <a:cs typeface="Calisto MT"/>
              </a:rPr>
              <a:t>  --mixin-name: {</a:t>
            </a:r>
          </a:p>
          <a:p>
            <a:r>
              <a:rPr lang="mr-IN" sz="1400" dirty="0">
                <a:cs typeface="Calisto MT"/>
              </a:rPr>
              <a:t>    /* rules */</a:t>
            </a:r>
          </a:p>
          <a:p>
            <a:r>
              <a:rPr lang="mr-IN" sz="1400" dirty="0">
                <a:cs typeface="Calisto MT"/>
              </a:rPr>
              <a:t>  };</a:t>
            </a:r>
          </a:p>
          <a:p>
            <a:r>
              <a:rPr lang="mr-IN" sz="1400" dirty="0" smtClean="0">
                <a:cs typeface="Calisto MT"/>
              </a:rPr>
              <a:t>}</a:t>
            </a:r>
            <a:endParaRPr lang="es-ES_tradnl" sz="1400" dirty="0" smtClean="0">
              <a:cs typeface="Calisto MT"/>
            </a:endParaRPr>
          </a:p>
          <a:p>
            <a:endParaRPr lang="es-ES_tradnl" sz="1400" dirty="0" smtClean="0">
              <a:cs typeface="Calisto MT"/>
            </a:endParaRPr>
          </a:p>
          <a:p>
            <a:r>
              <a:rPr lang="es-ES_tradnl" sz="1400" dirty="0">
                <a:cs typeface="Calisto MT"/>
              </a:rPr>
              <a:t>selector {</a:t>
            </a:r>
          </a:p>
          <a:p>
            <a:r>
              <a:rPr lang="es-ES_tradnl" sz="1400" dirty="0">
                <a:cs typeface="Calisto MT"/>
              </a:rPr>
              <a:t>  @</a:t>
            </a:r>
            <a:r>
              <a:rPr lang="es-ES_tradnl" sz="1400" dirty="0" err="1">
                <a:cs typeface="Calisto MT"/>
              </a:rPr>
              <a:t>apply</a:t>
            </a:r>
            <a:r>
              <a:rPr lang="es-ES_tradnl" sz="1400" dirty="0">
                <a:cs typeface="Calisto MT"/>
              </a:rPr>
              <a:t> --</a:t>
            </a:r>
            <a:r>
              <a:rPr lang="es-ES_tradnl" sz="1400" dirty="0" err="1">
                <a:cs typeface="Calisto MT"/>
              </a:rPr>
              <a:t>mixin-name</a:t>
            </a:r>
            <a:r>
              <a:rPr lang="es-ES_tradnl" sz="1400" dirty="0">
                <a:cs typeface="Calisto MT"/>
              </a:rPr>
              <a:t>;</a:t>
            </a:r>
          </a:p>
          <a:p>
            <a:r>
              <a:rPr lang="es-ES_tradnl" sz="1400" dirty="0">
                <a:cs typeface="Calisto MT"/>
              </a:rPr>
              <a:t>}</a:t>
            </a:r>
            <a:endParaRPr lang="es-ES_tradnl" sz="1400" dirty="0">
              <a:cs typeface="Calisto MT"/>
            </a:endParaRPr>
          </a:p>
          <a:p>
            <a:endParaRPr lang="es-ES" sz="1400" dirty="0" smtClean="0">
              <a:cs typeface="Calisto MT"/>
            </a:endParaRPr>
          </a:p>
        </p:txBody>
      </p:sp>
    </p:spTree>
    <p:extLst>
      <p:ext uri="{BB962C8B-B14F-4D97-AF65-F5344CB8AC3E}">
        <p14:creationId xmlns:p14="http://schemas.microsoft.com/office/powerpoint/2010/main" val="2032607568"/>
      </p:ext>
    </p:extLst>
  </p:cSld>
  <p:clrMapOvr>
    <a:masterClrMapping/>
  </p:clrMapOvr>
  <p:timing>
    <p:tnLst>
      <p:par>
        <p:cTn xmlns:p14="http://schemas.microsoft.com/office/powerpoint/2010/mai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lumMod val="75000"/>
                <a:lumOff val="25000"/>
              </a:schemeClr>
            </a:gs>
            <a:gs pos="100000">
              <a:schemeClr val="bg1"/>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CuadroTexto 3"/>
          <p:cNvSpPr txBox="1"/>
          <p:nvPr/>
        </p:nvSpPr>
        <p:spPr>
          <a:xfrm>
            <a:off x="3615484" y="3213574"/>
            <a:ext cx="184666" cy="369332"/>
          </a:xfrm>
          <a:prstGeom prst="rect">
            <a:avLst/>
          </a:prstGeom>
          <a:noFill/>
        </p:spPr>
        <p:txBody>
          <a:bodyPr wrap="none" rtlCol="0">
            <a:spAutoFit/>
          </a:bodyPr>
          <a:lstStyle/>
          <a:p>
            <a:endParaRPr lang="es-ES" dirty="0"/>
          </a:p>
        </p:txBody>
      </p:sp>
      <p:sp>
        <p:nvSpPr>
          <p:cNvPr id="6" name="CuadroTexto 5"/>
          <p:cNvSpPr txBox="1"/>
          <p:nvPr/>
        </p:nvSpPr>
        <p:spPr>
          <a:xfrm>
            <a:off x="0" y="6155030"/>
            <a:ext cx="9144000" cy="702969"/>
          </a:xfrm>
          <a:prstGeom prst="rect">
            <a:avLst/>
          </a:prstGeom>
          <a:solidFill>
            <a:schemeClr val="bg1">
              <a:lumMod val="95000"/>
              <a:lumOff val="5000"/>
            </a:schemeClr>
          </a:solidFill>
        </p:spPr>
        <p:txBody>
          <a:bodyPr wrap="square" rtlCol="0">
            <a:spAutoFit/>
          </a:bodyPr>
          <a:lstStyle/>
          <a:p>
            <a:endParaRPr lang="es-ES" dirty="0"/>
          </a:p>
        </p:txBody>
      </p:sp>
      <p:sp>
        <p:nvSpPr>
          <p:cNvPr id="8" name="CuadroTexto 7"/>
          <p:cNvSpPr txBox="1"/>
          <p:nvPr/>
        </p:nvSpPr>
        <p:spPr>
          <a:xfrm>
            <a:off x="0" y="6155030"/>
            <a:ext cx="9144000" cy="845582"/>
          </a:xfrm>
          <a:prstGeom prst="rect">
            <a:avLst/>
          </a:prstGeom>
          <a:solidFill>
            <a:schemeClr val="bg1">
              <a:lumMod val="95000"/>
              <a:lumOff val="5000"/>
            </a:schemeClr>
          </a:solidFill>
        </p:spPr>
        <p:txBody>
          <a:bodyPr wrap="square" rtlCol="0">
            <a:spAutoFit/>
          </a:bodyPr>
          <a:lstStyle/>
          <a:p>
            <a:endParaRPr lang="es-ES" dirty="0"/>
          </a:p>
        </p:txBody>
      </p:sp>
      <p:sp>
        <p:nvSpPr>
          <p:cNvPr id="2" name="Rectángulo 1"/>
          <p:cNvSpPr/>
          <p:nvPr/>
        </p:nvSpPr>
        <p:spPr>
          <a:xfrm>
            <a:off x="7537539" y="6397962"/>
            <a:ext cx="1429899" cy="338554"/>
          </a:xfrm>
          <a:prstGeom prst="rect">
            <a:avLst/>
          </a:prstGeom>
        </p:spPr>
        <p:txBody>
          <a:bodyPr wrap="square">
            <a:spAutoFit/>
          </a:bodyPr>
          <a:lstStyle/>
          <a:p>
            <a:pPr algn="ctr"/>
            <a:r>
              <a:rPr lang="es-ES" sz="1600" u="sng" dirty="0" smtClean="0">
                <a:latin typeface="Helvetica"/>
                <a:ea typeface="Lucida Grande"/>
                <a:cs typeface="Helvetica"/>
              </a:rPr>
              <a:t>@</a:t>
            </a:r>
            <a:r>
              <a:rPr lang="es-ES" sz="1600" u="sng" dirty="0" err="1" smtClean="0">
                <a:latin typeface="Helvetica"/>
                <a:ea typeface="Lucida Grande"/>
                <a:cs typeface="Helvetica"/>
              </a:rPr>
              <a:t>fmaralv</a:t>
            </a:r>
            <a:endParaRPr lang="es-ES" sz="1600" u="sng" dirty="0">
              <a:latin typeface="Helvetica"/>
              <a:cs typeface="Helvetica"/>
            </a:endParaRPr>
          </a:p>
        </p:txBody>
      </p:sp>
      <p:sp>
        <p:nvSpPr>
          <p:cNvPr id="7" name="Rectángulo 6"/>
          <p:cNvSpPr/>
          <p:nvPr/>
        </p:nvSpPr>
        <p:spPr>
          <a:xfrm>
            <a:off x="142545" y="6353528"/>
            <a:ext cx="1756407" cy="369332"/>
          </a:xfrm>
          <a:prstGeom prst="rect">
            <a:avLst/>
          </a:prstGeom>
        </p:spPr>
        <p:txBody>
          <a:bodyPr wrap="square">
            <a:spAutoFit/>
          </a:bodyPr>
          <a:lstStyle/>
          <a:p>
            <a:pPr algn="ctr"/>
            <a:r>
              <a:rPr lang="es-ES" dirty="0" err="1" smtClean="0">
                <a:latin typeface="Arial Black"/>
                <a:ea typeface="Lucida Grande"/>
                <a:cs typeface="Arial Black"/>
              </a:rPr>
              <a:t>Polymer</a:t>
            </a:r>
            <a:endParaRPr lang="es-ES" dirty="0">
              <a:latin typeface="Arial Black"/>
              <a:cs typeface="Arial Black"/>
            </a:endParaRPr>
          </a:p>
        </p:txBody>
      </p:sp>
      <p:pic>
        <p:nvPicPr>
          <p:cNvPr id="5" name="Imagen 4"/>
          <p:cNvPicPr>
            <a:picLocks noChangeAspect="1"/>
          </p:cNvPicPr>
          <p:nvPr/>
        </p:nvPicPr>
        <p:blipFill>
          <a:blip r:embed="rId3"/>
          <a:stretch>
            <a:fillRect/>
          </a:stretch>
        </p:blipFill>
        <p:spPr>
          <a:xfrm>
            <a:off x="7511621" y="6444114"/>
            <a:ext cx="252000" cy="252000"/>
          </a:xfrm>
          <a:prstGeom prst="rect">
            <a:avLst/>
          </a:prstGeom>
        </p:spPr>
      </p:pic>
      <p:sp>
        <p:nvSpPr>
          <p:cNvPr id="9" name="CuadroTexto 8"/>
          <p:cNvSpPr txBox="1"/>
          <p:nvPr/>
        </p:nvSpPr>
        <p:spPr>
          <a:xfrm>
            <a:off x="0" y="-25796"/>
            <a:ext cx="9143999" cy="907057"/>
          </a:xfrm>
          <a:prstGeom prst="rect">
            <a:avLst/>
          </a:prstGeom>
          <a:solidFill>
            <a:schemeClr val="bg1">
              <a:lumMod val="95000"/>
              <a:lumOff val="5000"/>
            </a:schemeClr>
          </a:solidFill>
        </p:spPr>
        <p:txBody>
          <a:bodyPr wrap="square" rtlCol="0">
            <a:spAutoFit/>
          </a:bodyPr>
          <a:lstStyle/>
          <a:p>
            <a:endParaRPr lang="es-ES" dirty="0"/>
          </a:p>
        </p:txBody>
      </p:sp>
      <p:sp>
        <p:nvSpPr>
          <p:cNvPr id="10" name="Rectángulo 9"/>
          <p:cNvSpPr/>
          <p:nvPr/>
        </p:nvSpPr>
        <p:spPr>
          <a:xfrm>
            <a:off x="142543" y="256085"/>
            <a:ext cx="8552761" cy="430887"/>
          </a:xfrm>
          <a:prstGeom prst="rect">
            <a:avLst/>
          </a:prstGeom>
          <a:solidFill>
            <a:schemeClr val="bg1"/>
          </a:solidFill>
        </p:spPr>
        <p:txBody>
          <a:bodyPr wrap="square">
            <a:spAutoFit/>
          </a:bodyPr>
          <a:lstStyle/>
          <a:p>
            <a:r>
              <a:rPr lang="es-ES" sz="2200" dirty="0" smtClean="0">
                <a:solidFill>
                  <a:srgbClr val="FF6600"/>
                </a:solidFill>
                <a:latin typeface="Helvetica"/>
                <a:ea typeface="Lucida Grande"/>
                <a:cs typeface="Helvetica"/>
              </a:rPr>
              <a:t>Componentes </a:t>
            </a:r>
            <a:r>
              <a:rPr lang="es-ES" sz="2200" dirty="0" err="1" smtClean="0">
                <a:solidFill>
                  <a:srgbClr val="FF6600"/>
                </a:solidFill>
                <a:latin typeface="Helvetica"/>
                <a:ea typeface="Lucida Grande"/>
                <a:cs typeface="Helvetica"/>
              </a:rPr>
              <a:t>Polymer</a:t>
            </a:r>
            <a:r>
              <a:rPr lang="es-ES" sz="2200" dirty="0" smtClean="0">
                <a:solidFill>
                  <a:srgbClr val="FF6600"/>
                </a:solidFill>
                <a:latin typeface="Helvetica"/>
                <a:ea typeface="Lucida Grande"/>
                <a:cs typeface="Helvetica"/>
              </a:rPr>
              <a:t> </a:t>
            </a:r>
            <a:r>
              <a:rPr lang="es-ES" sz="2000" dirty="0" smtClean="0">
                <a:solidFill>
                  <a:schemeClr val="bg2">
                    <a:lumMod val="50000"/>
                    <a:lumOff val="50000"/>
                  </a:schemeClr>
                </a:solidFill>
                <a:latin typeface="Helvetica"/>
                <a:ea typeface="Lucida Grande"/>
                <a:cs typeface="Helvetica"/>
              </a:rPr>
              <a:t>&gt; </a:t>
            </a:r>
            <a:r>
              <a:rPr lang="es-ES" sz="2000" dirty="0">
                <a:solidFill>
                  <a:srgbClr val="FFFFFF"/>
                </a:solidFill>
                <a:latin typeface="Helvetica"/>
                <a:ea typeface="Lucida Grande"/>
                <a:cs typeface="Helvetica"/>
              </a:rPr>
              <a:t> </a:t>
            </a:r>
            <a:r>
              <a:rPr lang="es-ES" sz="2000" dirty="0" err="1" smtClean="0">
                <a:solidFill>
                  <a:srgbClr val="FFFFFF"/>
                </a:solidFill>
                <a:latin typeface="Helvetica"/>
                <a:ea typeface="Lucida Grande"/>
                <a:cs typeface="Helvetica"/>
              </a:rPr>
              <a:t>Styling</a:t>
            </a:r>
            <a:endParaRPr lang="es-ES" sz="2000" dirty="0">
              <a:solidFill>
                <a:srgbClr val="FFFFFF"/>
              </a:solidFill>
              <a:latin typeface="Helvetica"/>
              <a:cs typeface="Helvetica"/>
            </a:endParaRPr>
          </a:p>
        </p:txBody>
      </p:sp>
      <p:sp>
        <p:nvSpPr>
          <p:cNvPr id="25" name="Rectángulo 24"/>
          <p:cNvSpPr/>
          <p:nvPr/>
        </p:nvSpPr>
        <p:spPr>
          <a:xfrm>
            <a:off x="505396" y="1036937"/>
            <a:ext cx="8189908" cy="430887"/>
          </a:xfrm>
          <a:prstGeom prst="rect">
            <a:avLst/>
          </a:prstGeom>
        </p:spPr>
        <p:txBody>
          <a:bodyPr wrap="square">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r>
              <a:rPr lang="es-ES_tradnl" sz="2200" u="sng" dirty="0" err="1" smtClean="0">
                <a:latin typeface="Arial Black"/>
                <a:cs typeface="Arial Black"/>
              </a:rPr>
              <a:t>Styling</a:t>
            </a:r>
            <a:r>
              <a:rPr lang="es-ES_tradnl" sz="2200" u="sng" dirty="0" smtClean="0">
                <a:latin typeface="Arial Black"/>
                <a:cs typeface="Arial Black"/>
              </a:rPr>
              <a:t> </a:t>
            </a:r>
            <a:r>
              <a:rPr lang="es-ES_tradnl" sz="2200" u="sng" dirty="0">
                <a:latin typeface="Arial Black"/>
                <a:cs typeface="Arial Black"/>
              </a:rPr>
              <a:t>&gt; </a:t>
            </a:r>
            <a:r>
              <a:rPr lang="es-ES_tradnl" sz="2200" u="sng" dirty="0" smtClean="0">
                <a:latin typeface="Arial Black"/>
                <a:cs typeface="Arial Black"/>
              </a:rPr>
              <a:t>Slots	</a:t>
            </a:r>
            <a:endParaRPr lang="es-ES" sz="2200" u="sng" dirty="0" smtClean="0">
              <a:solidFill>
                <a:srgbClr val="94D66C"/>
              </a:solidFill>
              <a:latin typeface="Arial Black"/>
              <a:cs typeface="Arial Black"/>
            </a:endParaRPr>
          </a:p>
        </p:txBody>
      </p:sp>
      <p:pic>
        <p:nvPicPr>
          <p:cNvPr id="13" name="Imagen 12"/>
          <p:cNvPicPr>
            <a:picLocks noChangeAspect="1"/>
          </p:cNvPicPr>
          <p:nvPr/>
        </p:nvPicPr>
        <p:blipFill>
          <a:blip r:embed="rId4"/>
          <a:stretch>
            <a:fillRect/>
          </a:stretch>
        </p:blipFill>
        <p:spPr>
          <a:xfrm>
            <a:off x="1742516" y="6339496"/>
            <a:ext cx="578961" cy="402755"/>
          </a:xfrm>
          <a:prstGeom prst="rect">
            <a:avLst/>
          </a:prstGeom>
        </p:spPr>
      </p:pic>
      <p:sp>
        <p:nvSpPr>
          <p:cNvPr id="11" name="Marcador de número de diapositiva 10"/>
          <p:cNvSpPr>
            <a:spLocks noGrp="1"/>
          </p:cNvSpPr>
          <p:nvPr>
            <p:ph type="sldNum" sz="quarter" idx="12"/>
          </p:nvPr>
        </p:nvSpPr>
        <p:spPr/>
        <p:txBody>
          <a:bodyPr/>
          <a:lstStyle/>
          <a:p>
            <a:fld id="{9C1F5A0A-F6FC-4FFD-9B49-0DA8697211D9}" type="slidenum">
              <a:rPr lang="en-US" smtClean="0"/>
              <a:t>104</a:t>
            </a:fld>
            <a:endParaRPr lang="en-US"/>
          </a:p>
        </p:txBody>
      </p:sp>
      <p:sp>
        <p:nvSpPr>
          <p:cNvPr id="14" name="Rectángulo 13"/>
          <p:cNvSpPr/>
          <p:nvPr/>
        </p:nvSpPr>
        <p:spPr>
          <a:xfrm>
            <a:off x="505396" y="1534766"/>
            <a:ext cx="8065664" cy="5119865"/>
          </a:xfrm>
          <a:prstGeom prst="rect">
            <a:avLst/>
          </a:prstGeom>
        </p:spPr>
        <p:txBody>
          <a:bodyPr wrap="square">
            <a:spAutoFit/>
          </a:bodyPr>
          <a:lstStyle/>
          <a:p>
            <a:pPr algn="just">
              <a:lnSpc>
                <a:spcPct val="130000"/>
              </a:lnSpc>
            </a:pPr>
            <a:r>
              <a:rPr lang="es-ES_tradnl" dirty="0" smtClean="0">
                <a:latin typeface="Helvetica"/>
                <a:cs typeface="Helvetica"/>
              </a:rPr>
              <a:t>Los Slots  permiten crear “apartados” para que posteriormente se pueda realizar  personalizaciones mediante inyecci</a:t>
            </a:r>
            <a:r>
              <a:rPr lang="es-ES_tradnl" dirty="0" smtClean="0">
                <a:latin typeface="Helvetica"/>
                <a:cs typeface="Helvetica"/>
              </a:rPr>
              <a:t>ón </a:t>
            </a:r>
            <a:r>
              <a:rPr lang="es-ES_tradnl" dirty="0" err="1" smtClean="0">
                <a:latin typeface="Helvetica"/>
                <a:cs typeface="Helvetica"/>
              </a:rPr>
              <a:t>html</a:t>
            </a:r>
            <a:r>
              <a:rPr lang="es-ES_tradnl" dirty="0" smtClean="0">
                <a:latin typeface="Helvetica"/>
                <a:cs typeface="Helvetica"/>
              </a:rPr>
              <a:t>.</a:t>
            </a:r>
          </a:p>
          <a:p>
            <a:pPr algn="just">
              <a:lnSpc>
                <a:spcPct val="130000"/>
              </a:lnSpc>
            </a:pPr>
            <a:endParaRPr lang="es-ES_tradnl" dirty="0" smtClean="0">
              <a:latin typeface="Helvetica"/>
              <a:cs typeface="Helvetica"/>
            </a:endParaRPr>
          </a:p>
          <a:p>
            <a:pPr algn="just">
              <a:lnSpc>
                <a:spcPct val="130000"/>
              </a:lnSpc>
            </a:pPr>
            <a:endParaRPr lang="es-ES_tradnl" dirty="0" smtClean="0">
              <a:latin typeface="Helvetica"/>
              <a:cs typeface="Helvetica"/>
            </a:endParaRPr>
          </a:p>
          <a:p>
            <a:pPr algn="just">
              <a:lnSpc>
                <a:spcPct val="130000"/>
              </a:lnSpc>
            </a:pPr>
            <a:endParaRPr lang="es-ES_tradnl" dirty="0">
              <a:latin typeface="Helvetica"/>
              <a:cs typeface="Helvetica"/>
            </a:endParaRPr>
          </a:p>
          <a:p>
            <a:pPr>
              <a:lnSpc>
                <a:spcPct val="130000"/>
              </a:lnSpc>
            </a:pPr>
            <a:endParaRPr lang="es-ES_tradnl" dirty="0" smtClean="0">
              <a:latin typeface="Helvetica"/>
              <a:cs typeface="Helvetica"/>
            </a:endParaRPr>
          </a:p>
          <a:p>
            <a:pPr>
              <a:lnSpc>
                <a:spcPct val="130000"/>
              </a:lnSpc>
            </a:pPr>
            <a:endParaRPr lang="es-ES_tradnl" dirty="0">
              <a:latin typeface="Helvetica"/>
              <a:cs typeface="Helvetica"/>
            </a:endParaRPr>
          </a:p>
          <a:p>
            <a:pPr>
              <a:lnSpc>
                <a:spcPct val="130000"/>
              </a:lnSpc>
            </a:pPr>
            <a:endParaRPr lang="es-ES_tradnl" dirty="0" smtClean="0">
              <a:latin typeface="Helvetica"/>
              <a:cs typeface="Helvetica"/>
            </a:endParaRPr>
          </a:p>
          <a:p>
            <a:pPr algn="just">
              <a:lnSpc>
                <a:spcPct val="130000"/>
              </a:lnSpc>
            </a:pPr>
            <a:endParaRPr lang="es-ES_tradnl" dirty="0" smtClean="0">
              <a:latin typeface="Helvetica"/>
              <a:cs typeface="Helvetica"/>
            </a:endParaRPr>
          </a:p>
          <a:p>
            <a:pPr algn="just">
              <a:lnSpc>
                <a:spcPct val="130000"/>
              </a:lnSpc>
            </a:pPr>
            <a:endParaRPr lang="es-ES_tradnl" dirty="0" smtClean="0">
              <a:solidFill>
                <a:srgbClr val="FFFFFF"/>
              </a:solidFill>
              <a:latin typeface="Helvetica"/>
              <a:cs typeface="Helvetica"/>
            </a:endParaRPr>
          </a:p>
          <a:p>
            <a:pPr algn="just">
              <a:lnSpc>
                <a:spcPct val="130000"/>
              </a:lnSpc>
            </a:pPr>
            <a:r>
              <a:rPr lang="es-ES_tradnl" dirty="0">
                <a:solidFill>
                  <a:srgbClr val="FFFFFF"/>
                </a:solidFill>
                <a:latin typeface="Helvetica"/>
                <a:cs typeface="Helvetica"/>
              </a:rPr>
              <a:t>Referencia: </a:t>
            </a:r>
            <a:r>
              <a:rPr lang="es-ES_tradnl" dirty="0">
                <a:solidFill>
                  <a:srgbClr val="FFFFFF"/>
                </a:solidFill>
                <a:latin typeface="Helvetica"/>
                <a:cs typeface="Helvetica"/>
                <a:hlinkClick r:id="rId5"/>
              </a:rPr>
              <a:t>https://alligator.io/web-components/composing-slots-named-slots</a:t>
            </a:r>
            <a:r>
              <a:rPr lang="es-ES_tradnl" dirty="0" smtClean="0">
                <a:solidFill>
                  <a:srgbClr val="FFFFFF"/>
                </a:solidFill>
                <a:latin typeface="Helvetica"/>
                <a:cs typeface="Helvetica"/>
                <a:hlinkClick r:id="rId5"/>
              </a:rPr>
              <a:t>/</a:t>
            </a:r>
            <a:endParaRPr lang="es-ES_tradnl" dirty="0" smtClean="0">
              <a:solidFill>
                <a:srgbClr val="FFFFFF"/>
              </a:solidFill>
              <a:latin typeface="Helvetica"/>
              <a:cs typeface="Helvetica"/>
            </a:endParaRPr>
          </a:p>
          <a:p>
            <a:pPr algn="just">
              <a:lnSpc>
                <a:spcPct val="130000"/>
              </a:lnSpc>
            </a:pPr>
            <a:endParaRPr lang="es-ES_tradnl" dirty="0">
              <a:solidFill>
                <a:srgbClr val="FFFFFF"/>
              </a:solidFill>
              <a:latin typeface="Helvetica"/>
              <a:cs typeface="Helvetica"/>
            </a:endParaRPr>
          </a:p>
          <a:p>
            <a:pPr algn="just">
              <a:lnSpc>
                <a:spcPct val="130000"/>
              </a:lnSpc>
            </a:pPr>
            <a:r>
              <a:rPr lang="es-ES_tradnl" dirty="0" smtClean="0">
                <a:solidFill>
                  <a:srgbClr val="FFFFFF"/>
                </a:solidFill>
                <a:latin typeface="Helvetica"/>
                <a:cs typeface="Helvetica"/>
              </a:rPr>
              <a:t>  </a:t>
            </a:r>
            <a:endParaRPr lang="es-ES_tradnl" dirty="0">
              <a:solidFill>
                <a:srgbClr val="FFFFFF"/>
              </a:solidFill>
              <a:latin typeface="Helvetica"/>
              <a:cs typeface="Helvetica"/>
            </a:endParaRPr>
          </a:p>
          <a:p>
            <a:pPr algn="just">
              <a:lnSpc>
                <a:spcPct val="130000"/>
              </a:lnSpc>
            </a:pPr>
            <a:endParaRPr lang="es-ES_tradnl" dirty="0">
              <a:solidFill>
                <a:srgbClr val="FFFFFF"/>
              </a:solidFill>
              <a:latin typeface="Helvetica"/>
              <a:cs typeface="Helvetica"/>
            </a:endParaRPr>
          </a:p>
        </p:txBody>
      </p:sp>
      <p:sp>
        <p:nvSpPr>
          <p:cNvPr id="15" name="Rectángulo 14"/>
          <p:cNvSpPr/>
          <p:nvPr/>
        </p:nvSpPr>
        <p:spPr>
          <a:xfrm>
            <a:off x="643587" y="2567243"/>
            <a:ext cx="7927473" cy="2031325"/>
          </a:xfrm>
          <a:prstGeom prst="rect">
            <a:avLst/>
          </a:prstGeom>
          <a:solidFill>
            <a:schemeClr val="bg2">
              <a:lumMod val="75000"/>
              <a:lumOff val="25000"/>
            </a:schemeClr>
          </a:solidFill>
          <a:ln w="12700" cmpd="sng">
            <a:solidFill>
              <a:srgbClr val="3366FF"/>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mr-IN" sz="1400" dirty="0" smtClean="0">
                <a:cs typeface="Calisto MT"/>
              </a:rPr>
              <a:t>…</a:t>
            </a:r>
            <a:endParaRPr lang="es-ES_tradnl" sz="1400" dirty="0" smtClean="0">
              <a:cs typeface="Calisto MT"/>
            </a:endParaRPr>
          </a:p>
          <a:p>
            <a:r>
              <a:rPr lang="es-ES" sz="1400" dirty="0" smtClean="0">
                <a:cs typeface="Calisto MT"/>
              </a:rPr>
              <a:t>&lt;</a:t>
            </a:r>
            <a:r>
              <a:rPr lang="es-ES" sz="1400" dirty="0">
                <a:cs typeface="Calisto MT"/>
              </a:rPr>
              <a:t>slot&gt;&lt;/slot&gt;</a:t>
            </a:r>
            <a:endParaRPr lang="es-ES_tradnl" sz="1400" dirty="0" smtClean="0">
              <a:cs typeface="Calisto MT"/>
            </a:endParaRPr>
          </a:p>
          <a:p>
            <a:r>
              <a:rPr lang="mr-IN" sz="1400" dirty="0" smtClean="0">
                <a:cs typeface="Calisto MT"/>
              </a:rPr>
              <a:t>…</a:t>
            </a:r>
            <a:endParaRPr lang="es-ES_tradnl" sz="1400" dirty="0" smtClean="0">
              <a:cs typeface="Calisto MT"/>
            </a:endParaRPr>
          </a:p>
          <a:p>
            <a:endParaRPr lang="es-ES_tradnl" sz="1400" dirty="0" smtClean="0">
              <a:cs typeface="Calisto MT"/>
            </a:endParaRPr>
          </a:p>
          <a:p>
            <a:r>
              <a:rPr lang="es-ES_tradnl" sz="1400" dirty="0">
                <a:cs typeface="Calisto MT"/>
              </a:rPr>
              <a:t>&lt;</a:t>
            </a:r>
            <a:r>
              <a:rPr lang="es-ES_tradnl" sz="1400" dirty="0" err="1">
                <a:cs typeface="Calisto MT"/>
              </a:rPr>
              <a:t>my</a:t>
            </a:r>
            <a:r>
              <a:rPr lang="es-ES_tradnl" sz="1400" dirty="0">
                <a:cs typeface="Calisto MT"/>
              </a:rPr>
              <a:t>-</a:t>
            </a:r>
            <a:r>
              <a:rPr lang="es-ES_tradnl" sz="1400" dirty="0" err="1">
                <a:cs typeface="Calisto MT"/>
              </a:rPr>
              <a:t>info</a:t>
            </a:r>
            <a:r>
              <a:rPr lang="es-ES_tradnl" sz="1400" dirty="0">
                <a:cs typeface="Calisto MT"/>
              </a:rPr>
              <a:t>-box&gt;</a:t>
            </a:r>
          </a:p>
          <a:p>
            <a:r>
              <a:rPr lang="es-ES_tradnl" sz="1400" dirty="0">
                <a:cs typeface="Calisto MT"/>
              </a:rPr>
              <a:t>  &lt;p&gt;</a:t>
            </a:r>
            <a:r>
              <a:rPr lang="es-ES_tradnl" sz="1400" dirty="0" err="1">
                <a:cs typeface="Calisto MT"/>
              </a:rPr>
              <a:t>I'm</a:t>
            </a:r>
            <a:r>
              <a:rPr lang="es-ES_tradnl" sz="1400" dirty="0">
                <a:cs typeface="Calisto MT"/>
              </a:rPr>
              <a:t> </a:t>
            </a:r>
            <a:r>
              <a:rPr lang="es-ES_tradnl" sz="1400" dirty="0" err="1">
                <a:cs typeface="Calisto MT"/>
              </a:rPr>
              <a:t>slotted</a:t>
            </a:r>
            <a:r>
              <a:rPr lang="es-ES_tradnl" sz="1400" dirty="0">
                <a:cs typeface="Calisto MT"/>
              </a:rPr>
              <a:t> </a:t>
            </a:r>
            <a:r>
              <a:rPr lang="es-ES_tradnl" sz="1400" dirty="0" err="1">
                <a:cs typeface="Calisto MT"/>
              </a:rPr>
              <a:t>content</a:t>
            </a:r>
            <a:r>
              <a:rPr lang="es-ES_tradnl" sz="1400" dirty="0">
                <a:cs typeface="Calisto MT"/>
              </a:rPr>
              <a:t>!&lt;/p&gt;</a:t>
            </a:r>
          </a:p>
          <a:p>
            <a:r>
              <a:rPr lang="es-ES_tradnl" sz="1400" dirty="0">
                <a:cs typeface="Calisto MT"/>
              </a:rPr>
              <a:t>&lt;/</a:t>
            </a:r>
            <a:r>
              <a:rPr lang="es-ES_tradnl" sz="1400" dirty="0" err="1">
                <a:cs typeface="Calisto MT"/>
              </a:rPr>
              <a:t>my</a:t>
            </a:r>
            <a:r>
              <a:rPr lang="es-ES_tradnl" sz="1400" dirty="0">
                <a:cs typeface="Calisto MT"/>
              </a:rPr>
              <a:t>-</a:t>
            </a:r>
            <a:r>
              <a:rPr lang="es-ES_tradnl" sz="1400" dirty="0" err="1">
                <a:cs typeface="Calisto MT"/>
              </a:rPr>
              <a:t>info</a:t>
            </a:r>
            <a:r>
              <a:rPr lang="es-ES_tradnl" sz="1400" dirty="0">
                <a:cs typeface="Calisto MT"/>
              </a:rPr>
              <a:t>-box</a:t>
            </a:r>
            <a:r>
              <a:rPr lang="es-ES_tradnl" sz="1400" dirty="0" smtClean="0">
                <a:cs typeface="Calisto MT"/>
              </a:rPr>
              <a:t>&gt;</a:t>
            </a:r>
          </a:p>
          <a:p>
            <a:r>
              <a:rPr lang="es-ES_tradnl" sz="1400" dirty="0" smtClean="0">
                <a:cs typeface="Calisto MT"/>
              </a:rPr>
              <a:t>-..</a:t>
            </a:r>
            <a:endParaRPr lang="es-ES_tradnl" sz="1400" dirty="0">
              <a:cs typeface="Calisto MT"/>
            </a:endParaRPr>
          </a:p>
          <a:p>
            <a:r>
              <a:rPr lang="es-ES_tradnl" sz="1400" dirty="0" smtClean="0">
                <a:cs typeface="Calisto MT"/>
              </a:rPr>
              <a:t>&lt;</a:t>
            </a:r>
            <a:r>
              <a:rPr lang="es-ES_tradnl" sz="1400" dirty="0" err="1" smtClean="0">
                <a:cs typeface="Calisto MT"/>
              </a:rPr>
              <a:t>my</a:t>
            </a:r>
            <a:r>
              <a:rPr lang="es-ES_tradnl" sz="1400" dirty="0">
                <a:cs typeface="Calisto MT"/>
              </a:rPr>
              <a:t>-</a:t>
            </a:r>
            <a:r>
              <a:rPr lang="es-ES_tradnl" sz="1400" dirty="0" err="1">
                <a:cs typeface="Calisto MT"/>
              </a:rPr>
              <a:t>info</a:t>
            </a:r>
            <a:r>
              <a:rPr lang="es-ES_tradnl" sz="1400" dirty="0">
                <a:cs typeface="Calisto MT"/>
              </a:rPr>
              <a:t>-box&gt;&lt;/</a:t>
            </a:r>
            <a:r>
              <a:rPr lang="es-ES_tradnl" sz="1400" dirty="0" err="1">
                <a:cs typeface="Calisto MT"/>
              </a:rPr>
              <a:t>my</a:t>
            </a:r>
            <a:r>
              <a:rPr lang="es-ES_tradnl" sz="1400" dirty="0">
                <a:cs typeface="Calisto MT"/>
              </a:rPr>
              <a:t>-</a:t>
            </a:r>
            <a:r>
              <a:rPr lang="es-ES_tradnl" sz="1400" dirty="0" err="1">
                <a:cs typeface="Calisto MT"/>
              </a:rPr>
              <a:t>info</a:t>
            </a:r>
            <a:r>
              <a:rPr lang="es-ES_tradnl" sz="1400" dirty="0">
                <a:cs typeface="Calisto MT"/>
              </a:rPr>
              <a:t>-box&gt;</a:t>
            </a:r>
            <a:endParaRPr lang="es-ES" sz="1400" dirty="0" smtClean="0">
              <a:cs typeface="Calisto MT"/>
            </a:endParaRPr>
          </a:p>
        </p:txBody>
      </p:sp>
    </p:spTree>
    <p:extLst>
      <p:ext uri="{BB962C8B-B14F-4D97-AF65-F5344CB8AC3E}">
        <p14:creationId xmlns:p14="http://schemas.microsoft.com/office/powerpoint/2010/main" val="358303207"/>
      </p:ext>
    </p:extLst>
  </p:cSld>
  <p:clrMapOvr>
    <a:masterClrMapping/>
  </p:clrMapOvr>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Artículo">
  <a:themeElements>
    <a:clrScheme name="Personalizar 2">
      <a:dk1>
        <a:sysClr val="windowText" lastClr="000000"/>
      </a:dk1>
      <a:lt1>
        <a:sysClr val="window" lastClr="FFFFFF"/>
      </a:lt1>
      <a:dk2>
        <a:srgbClr val="212121"/>
      </a:dk2>
      <a:lt2>
        <a:srgbClr val="CDD4D7"/>
      </a:lt2>
      <a:accent1>
        <a:srgbClr val="1D86CD"/>
      </a:accent1>
      <a:accent2>
        <a:srgbClr val="732E9A"/>
      </a:accent2>
      <a:accent3>
        <a:srgbClr val="B50B1B"/>
      </a:accent3>
      <a:accent4>
        <a:srgbClr val="E8950E"/>
      </a:accent4>
      <a:accent5>
        <a:srgbClr val="55992B"/>
      </a:accent5>
      <a:accent6>
        <a:srgbClr val="2C9C89"/>
      </a:accent6>
      <a:hlink>
        <a:srgbClr val="4191B1"/>
      </a:hlink>
      <a:folHlink>
        <a:srgbClr val="F8CE8A"/>
      </a:folHlink>
    </a:clrScheme>
    <a:fontScheme name="Story">
      <a:majorFont>
        <a:latin typeface="Calisto MT"/>
        <a:ea typeface=""/>
        <a:cs typeface=""/>
        <a:font script="Jpan" typeface="ＭＳ Ｐ明朝"/>
        <a:font script="Hans" typeface="宋体"/>
        <a:font script="Hant" typeface="新細明體"/>
      </a:majorFont>
      <a:minorFont>
        <a:latin typeface="Calisto MT"/>
        <a:ea typeface=""/>
        <a:cs typeface=""/>
        <a:font script="Jpan" typeface="ＭＳ Ｐ明朝"/>
        <a:font script="Hans" typeface="宋体"/>
        <a:font script="Hant" typeface="新細明體"/>
      </a:minorFont>
    </a:fontScheme>
    <a:fmtScheme name="Story">
      <a:fillStyleLst>
        <a:solidFill>
          <a:schemeClr val="phClr"/>
        </a:solidFill>
        <a:blipFill rotWithShape="1">
          <a:blip xmlns:r="http://schemas.openxmlformats.org/officeDocument/2006/relationships" r:embed="rId1">
            <a:duotone>
              <a:schemeClr val="phClr">
                <a:shade val="10000"/>
                <a:satMod val="150000"/>
                <a:lumMod val="120000"/>
              </a:schemeClr>
              <a:schemeClr val="phClr">
                <a:satMod val="350000"/>
                <a:lumMod val="150000"/>
              </a:schemeClr>
            </a:duotone>
          </a:blip>
          <a:tile tx="0" ty="0" sx="20000" sy="20000" flip="none" algn="ctr"/>
        </a:blipFill>
        <a:gradFill rotWithShape="1">
          <a:gsLst>
            <a:gs pos="0">
              <a:schemeClr val="phClr">
                <a:shade val="20000"/>
                <a:satMod val="130000"/>
              </a:schemeClr>
            </a:gs>
            <a:gs pos="50000">
              <a:schemeClr val="phClr">
                <a:shade val="90000"/>
                <a:satMod val="130000"/>
              </a:schemeClr>
            </a:gs>
            <a:gs pos="100000">
              <a:schemeClr val="phClr">
                <a:shade val="100000"/>
                <a:satMod val="200000"/>
                <a:lumMod val="120000"/>
              </a:schemeClr>
            </a:gs>
          </a:gsLst>
          <a:lin ang="16200000" scaled="0"/>
        </a:gradFill>
      </a:fillStyleLst>
      <a:lnStyleLst>
        <a:ln w="6350" cap="flat" cmpd="sng" algn="ctr">
          <a:solidFill>
            <a:schemeClr val="phClr">
              <a:shade val="95000"/>
              <a:satMod val="105000"/>
            </a:schemeClr>
          </a:solidFill>
          <a:prstDash val="solid"/>
        </a:ln>
        <a:ln w="19050"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outerShdw blurRad="88900" dist="50800" dir="2100000" sx="104000" sy="104000" algn="br" rotWithShape="0">
              <a:srgbClr val="000000">
                <a:alpha val="55000"/>
              </a:srgbClr>
            </a:outerShdw>
          </a:effectLst>
        </a:effectStyle>
        <a:effectStyle>
          <a:effectLst>
            <a:outerShdw blurRad="127000" dist="63500" dir="5400000" sx="103000" sy="103000" rotWithShape="0">
              <a:srgbClr val="000000">
                <a:alpha val="75000"/>
              </a:srgbClr>
            </a:outerShdw>
          </a:effectLst>
          <a:scene3d>
            <a:camera prst="perspectiveFront" fov="3000000"/>
            <a:lightRig rig="balanced" dir="t">
              <a:rot lat="0" lon="0" rev="18000000"/>
            </a:lightRig>
          </a:scene3d>
          <a:sp3d prstMaterial="plastic">
            <a:bevelT w="254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2">
            <a:duotone>
              <a:schemeClr val="phClr">
                <a:shade val="10000"/>
                <a:satMod val="150000"/>
              </a:schemeClr>
              <a:schemeClr val="phClr">
                <a:tint val="60000"/>
                <a:satMod val="400000"/>
                <a:lumMod val="11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Artículo.thmx</Template>
  <TotalTime>28575</TotalTime>
  <Words>15087</Words>
  <Application>Microsoft Macintosh PowerPoint</Application>
  <PresentationFormat>Presentación en pantalla (4:3)</PresentationFormat>
  <Paragraphs>2229</Paragraphs>
  <Slides>104</Slides>
  <Notes>104</Notes>
  <HiddenSlides>0</HiddenSlides>
  <MMClips>0</MMClips>
  <ScaleCrop>false</ScaleCrop>
  <HeadingPairs>
    <vt:vector size="4" baseType="variant">
      <vt:variant>
        <vt:lpstr>Tema</vt:lpstr>
      </vt:variant>
      <vt:variant>
        <vt:i4>1</vt:i4>
      </vt:variant>
      <vt:variant>
        <vt:lpstr>Títulos de diapositiva</vt:lpstr>
      </vt:variant>
      <vt:variant>
        <vt:i4>104</vt:i4>
      </vt:variant>
    </vt:vector>
  </HeadingPairs>
  <TitlesOfParts>
    <vt:vector size="105" baseType="lpstr">
      <vt:lpstr>Artículo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fmaralv</dc:creator>
  <cp:lastModifiedBy>fmaralv</cp:lastModifiedBy>
  <cp:revision>411</cp:revision>
  <dcterms:created xsi:type="dcterms:W3CDTF">2014-04-04T16:20:36Z</dcterms:created>
  <dcterms:modified xsi:type="dcterms:W3CDTF">2018-11-20T02:40:35Z</dcterms:modified>
</cp:coreProperties>
</file>